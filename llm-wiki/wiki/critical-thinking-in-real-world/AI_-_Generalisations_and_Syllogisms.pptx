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1123" r:id="rId3"/>
    <p:sldId id="1117" r:id="rId4"/>
    <p:sldId id="1118" r:id="rId5"/>
    <p:sldId id="260" r:id="rId6"/>
    <p:sldId id="1119" r:id="rId7"/>
    <p:sldId id="259" r:id="rId8"/>
    <p:sldId id="1120" r:id="rId9"/>
    <p:sldId id="1124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266" autoAdjust="0"/>
  </p:normalViewPr>
  <p:slideViewPr>
    <p:cSldViewPr snapToGrid="0">
      <p:cViewPr varScale="1">
        <p:scale>
          <a:sx n="89" d="100"/>
          <a:sy n="89" d="100"/>
        </p:scale>
        <p:origin x="14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72C0C-944B-4B0F-B4D3-2C069AB78A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DD4BC-D1F8-4936-8B5A-A21A2E1F1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1F9E-6BB7-EC3E-AE8F-70E508FD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32E4E-FBC3-D48B-5C3B-11E250CAC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48A73-EACB-5509-F7F0-01F3AE249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0616D-4B02-2053-3008-43EB03A1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ECB36-A58E-4747-2902-161E3719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0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6016-452A-624D-EF7F-4DDB49D67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2F357-6CE5-66DE-6368-9C2C5FAF5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95D7A-BE19-8C16-D841-D0B94B6D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04DD3-2D77-F421-6696-3981A6E3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19215-B507-E81C-7B23-9553C59C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1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E9CA-0020-E62B-4E75-80C0D6DB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7CFD2-DFDE-4035-84F2-5ED726054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5B11A-BA5D-083E-466C-D3E8C71C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42DFC-1EAC-D2C6-62DA-B38C5CEDB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B4A4F-6540-C1B6-7119-87E78012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98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3D39-66FE-41BF-1972-09A86B7B1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E9C81-AECE-CA60-741D-B4744AD07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DD24C-ECBE-8955-7B07-1D94E2503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A56F7-9E73-7320-011E-5A2210C6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A0DDA-BF1B-6C7D-897F-EFE70052F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58CD2-72FF-365A-CD2E-B7892BBA5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D2CC-49D5-475C-2989-D55537DFD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4CE78-804F-766C-453A-BD92FB41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21172-A917-A58B-3AE6-773E1412E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A8D43-702C-DF30-DE38-1ACEDDC7D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928AC9-763A-2B9C-C3DF-2732883F1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8CB1E2-3AB2-EF57-FEE1-AD32249A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C7E7D0-2742-0538-D452-4C8C95504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20E05-AEA7-1354-5B9C-3B8AF1E9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7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F9A1-CBC4-7B85-2976-337BB8AD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410AAD-B9F3-13F3-95DA-AD5DC8AC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F3CCF-A347-D319-B1E9-A770FA5C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1222B-159C-3387-AC1E-9098AC90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8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138B58-5063-F6C2-EAB2-45579A99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914A0-6127-8F6E-470D-B82404F3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695AC-D107-3484-CFF7-0B5C839F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3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12E6-2D0B-47CF-7141-76F26720A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3D37E-3FA6-3911-6598-631F65262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58825-B583-EDEE-24FB-BBBB36B60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8344A-22C1-2253-2A2C-FB8D0706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18A46-4242-F4A3-90FC-BBF5C3189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543D7-2B43-6A92-5404-98A9448A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3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90EA-DC2A-297B-748B-0D54DBD4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A3C24-732B-5821-EA4A-E464CD164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A4035-DB32-41FA-6B1D-6086A797A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4B06C-6A52-E7D6-FB8B-E6A3F7BA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46A75-0A3C-57E1-7A09-7E095CE8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8BD87-2E87-783B-B103-5F63946C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6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5E5D-F4F7-AED7-919C-68CEAC1C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FC5EE-AD54-C0D7-B3F5-2A7EDF941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E9D4-6057-51A2-3CB5-FC2293029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A838F-EF51-E238-DDF8-9DAFEF7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4D84A-5E47-D2B1-D4E8-536464F0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6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BBB49-9171-FF75-BFCA-FB69A78F5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AB559-C7CD-3877-AED7-BECCE583A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D68F8-92EE-32AB-2625-71EE52118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29241-00DA-591F-CD27-C051C6883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67F38-B3A3-1379-3B1C-44C80AB6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93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37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615B6-07E9-4DCD-364F-F7F81F08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049B3-8F5C-811C-84D8-FCD6DC42C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7E07C-0EAF-F0EF-8440-D5CD2E16E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BFE9E-05A6-4E5B-8CE9-DAC427511C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9238E-280C-C7E4-1454-403710B49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A394F-DF64-96E4-97B2-8174F684A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1CC33-DB6E-48CF-A775-2467062A126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35235-DB76-D02F-8812-63589867F4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8425" y="63500"/>
            <a:ext cx="13557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332380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uchicago.edu/story/ai-biased-against-speakers-african-american-english-study-find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86C2-DCD5-8707-ED13-D69D1ACAFA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AI: </a:t>
            </a:r>
            <a:r>
              <a:rPr lang="en-US" dirty="0" err="1"/>
              <a:t>Generalisations</a:t>
            </a:r>
            <a:r>
              <a:rPr lang="en-US" dirty="0"/>
              <a:t> and Syllogisms</a:t>
            </a:r>
          </a:p>
        </p:txBody>
      </p:sp>
    </p:spTree>
    <p:extLst>
      <p:ext uri="{BB962C8B-B14F-4D97-AF65-F5344CB8AC3E}">
        <p14:creationId xmlns:p14="http://schemas.microsoft.com/office/powerpoint/2010/main" val="3845386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91440"/>
            <a:ext cx="8714232" cy="859536"/>
          </a:xfrm>
          <a:custGeom>
            <a:avLst/>
            <a:gdLst/>
            <a:ahLst/>
            <a:cxnLst/>
            <a:rect l="l" t="t" r="r" b="b"/>
            <a:pathLst>
              <a:path w="8714232" h="859536">
                <a:moveTo>
                  <a:pt x="0" y="0"/>
                </a:moveTo>
                <a:lnTo>
                  <a:pt x="8302752" y="0"/>
                </a:lnTo>
                <a:lnTo>
                  <a:pt x="8714232" y="411480"/>
                </a:lnTo>
                <a:lnTo>
                  <a:pt x="8714232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661160" y="91440"/>
            <a:ext cx="8229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note on generative AI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4000" y="6473952"/>
            <a:ext cx="8860536" cy="329184"/>
          </a:xfrm>
          <a:custGeom>
            <a:avLst/>
            <a:gdLst/>
            <a:ahLst/>
            <a:cxnLst/>
            <a:rect l="l" t="t" r="r" b="b"/>
            <a:pathLst>
              <a:path w="8860536" h="329184">
                <a:moveTo>
                  <a:pt x="0" y="0"/>
                </a:moveTo>
                <a:lnTo>
                  <a:pt x="8723376" y="0"/>
                </a:lnTo>
                <a:lnTo>
                  <a:pt x="8860536" y="137160"/>
                </a:lnTo>
                <a:lnTo>
                  <a:pt x="8860536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1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chatbots work? 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981200" y="1920240"/>
            <a:ext cx="2514600" cy="274320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27000" tIns="152400" rIns="152400" bIns="127000" rtlCol="0" anchor="t"/>
          <a:lstStyle/>
          <a:p>
            <a:r>
              <a:rPr lang="en-US" sz="24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Learn</a:t>
            </a:r>
            <a:endParaRPr lang="en-US" sz="24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Reads a very large amount of text and code, and learns which pieces of text tend to follow which.</a:t>
            </a:r>
          </a:p>
          <a:p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Associative Learning</a:t>
            </a:r>
            <a:endParaRPr lang="en-US" sz="2400" b="1" dirty="0"/>
          </a:p>
        </p:txBody>
      </p:sp>
      <p:sp>
        <p:nvSpPr>
          <p:cNvPr id="8" name="Shape 6"/>
          <p:cNvSpPr/>
          <p:nvPr/>
        </p:nvSpPr>
        <p:spPr>
          <a:xfrm>
            <a:off x="4523232" y="3108960"/>
            <a:ext cx="283464" cy="365760"/>
          </a:xfrm>
          <a:prstGeom prst="rightArrow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38700" y="1920240"/>
            <a:ext cx="2514600" cy="274320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27000" tIns="152400" rIns="152400" bIns="127000" rtlCol="0" anchor="t"/>
          <a:lstStyle/>
          <a:p>
            <a:r>
              <a:rPr lang="en-US" sz="24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Tune</a:t>
            </a:r>
            <a:endParaRPr lang="en-US" sz="24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training with human feedback teaches it to answer like an assistant, not just to continue text.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Reinforcement Learning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80732" y="3108960"/>
            <a:ext cx="283464" cy="365760"/>
          </a:xfrm>
          <a:prstGeom prst="rightArrow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696200" y="1920240"/>
            <a:ext cx="2514600" cy="274320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27000" tIns="152400" rIns="152400" bIns="127000" rtlCol="0" anchor="t"/>
          <a:lstStyle/>
          <a:p>
            <a:r>
              <a:rPr lang="en-US" sz="24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Answer</a:t>
            </a:r>
            <a:endParaRPr lang="en-US" sz="24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a reply piece by piece, drawing each piece from probabilities. Ask twice and you may get different replies.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981200" y="5440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chatbots also search the web before answering.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98120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 Lambert (2026), post-training lecture; Anthropic (2025), interpretability research. The “≈” tags treat steps 1 and 3 as arguments; see the next slides.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91440"/>
            <a:ext cx="8714232" cy="859536"/>
          </a:xfrm>
          <a:custGeom>
            <a:avLst/>
            <a:gdLst/>
            <a:ahLst/>
            <a:cxnLst/>
            <a:rect l="l" t="t" r="r" b="b"/>
            <a:pathLst>
              <a:path w="8714232" h="859536">
                <a:moveTo>
                  <a:pt x="0" y="0"/>
                </a:moveTo>
                <a:lnTo>
                  <a:pt x="8302752" y="0"/>
                </a:lnTo>
                <a:lnTo>
                  <a:pt x="8714232" y="411480"/>
                </a:lnTo>
                <a:lnTo>
                  <a:pt x="8714232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661160" y="91440"/>
            <a:ext cx="8229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Learning: an inductive generalisation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4000" y="6473952"/>
            <a:ext cx="8860536" cy="329184"/>
          </a:xfrm>
          <a:custGeom>
            <a:avLst/>
            <a:gdLst/>
            <a:ahLst/>
            <a:cxnLst/>
            <a:rect l="l" t="t" r="r" b="b"/>
            <a:pathLst>
              <a:path w="8860536" h="329184">
                <a:moveTo>
                  <a:pt x="0" y="0"/>
                </a:moveTo>
                <a:lnTo>
                  <a:pt x="8723376" y="0"/>
                </a:lnTo>
                <a:lnTo>
                  <a:pt x="8860536" y="137160"/>
                </a:lnTo>
                <a:lnTo>
                  <a:pt x="8860536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1200" y="1143000"/>
            <a:ext cx="8229600" cy="91440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27000" tIns="127000" rIns="127000" bIns="127000" rtlCol="0" anchor="ctr"/>
          <a:lstStyle/>
          <a:p>
            <a:r>
              <a:rPr lang="en-US" sz="14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Premise 1 (observed cases)</a:t>
            </a:r>
            <a:endParaRPr lang="en-US" sz="1400" dirty="0"/>
          </a:p>
          <a:p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huge sample of training text, text that starts “The sky is” is usually followed by “blue”.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08632" y="2274005"/>
            <a:ext cx="8229600" cy="914400"/>
          </a:xfrm>
          <a:prstGeom prst="rect">
            <a:avLst/>
          </a:prstGeom>
          <a:solidFill>
            <a:srgbClr val="0099CC"/>
          </a:solidFill>
          <a:ln/>
        </p:spPr>
        <p:txBody>
          <a:bodyPr wrap="square" lIns="127000" tIns="127000" rIns="127000" bIns="12700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400" dirty="0"/>
          </a:p>
          <a:p>
            <a:r>
              <a:rPr lang="en-US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So, probably, in human writing generally, “The sky is” is usually followed by “blue”.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020922" y="328721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example: the real pattern is more varied (“The sky is the limit”). Training sources: Lambert (2026).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81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strong is the generalisation?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91440"/>
            <a:ext cx="8714232" cy="859536"/>
          </a:xfrm>
          <a:custGeom>
            <a:avLst/>
            <a:gdLst/>
            <a:ahLst/>
            <a:cxnLst/>
            <a:rect l="l" t="t" r="r" b="b"/>
            <a:pathLst>
              <a:path w="8714232" h="859536">
                <a:moveTo>
                  <a:pt x="0" y="0"/>
                </a:moveTo>
                <a:lnTo>
                  <a:pt x="8302752" y="0"/>
                </a:lnTo>
                <a:lnTo>
                  <a:pt x="8714232" y="411480"/>
                </a:lnTo>
                <a:lnTo>
                  <a:pt x="8714232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661160" y="91440"/>
            <a:ext cx="8229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Answering: a statistical syllogism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4000" y="6473952"/>
            <a:ext cx="8860536" cy="329184"/>
          </a:xfrm>
          <a:custGeom>
            <a:avLst/>
            <a:gdLst/>
            <a:ahLst/>
            <a:cxnLst/>
            <a:rect l="l" t="t" r="r" b="b"/>
            <a:pathLst>
              <a:path w="8860536" h="329184">
                <a:moveTo>
                  <a:pt x="0" y="0"/>
                </a:moveTo>
                <a:lnTo>
                  <a:pt x="8723376" y="0"/>
                </a:lnTo>
                <a:lnTo>
                  <a:pt x="8860536" y="137160"/>
                </a:lnTo>
                <a:lnTo>
                  <a:pt x="8860536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1200" y="1143000"/>
            <a:ext cx="8229600" cy="86868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27000" tIns="127000" rIns="127000" bIns="127000" rtlCol="0" anchor="ctr"/>
          <a:lstStyle/>
          <a:p>
            <a:r>
              <a:rPr lang="en-US" sz="14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Premise 1 (the pattern it learned)</a:t>
            </a:r>
            <a:endParaRPr lang="en-US" sz="14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text that starts “The sky is” continues with “blue”.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81200" y="2103120"/>
            <a:ext cx="8229600" cy="73152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27000" tIns="127000" rIns="127000" bIns="127000" rtlCol="0" anchor="ctr"/>
          <a:lstStyle/>
          <a:p>
            <a:r>
              <a:rPr lang="en-US" sz="14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Premise 2 (this case)</a:t>
            </a:r>
            <a:endParaRPr lang="en-US" sz="14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text starts “The sky is”.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81200" y="2926080"/>
            <a:ext cx="8229600" cy="868680"/>
          </a:xfrm>
          <a:prstGeom prst="rect">
            <a:avLst/>
          </a:prstGeom>
          <a:solidFill>
            <a:srgbClr val="0099CC"/>
          </a:solidFill>
          <a:ln/>
        </p:spPr>
        <p:txBody>
          <a:bodyPr wrap="square" lIns="127000" tIns="127000" rIns="127000" bIns="12700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400" dirty="0"/>
          </a:p>
          <a:p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 this text will probably continue with “blue”.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981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example.</a:t>
            </a:r>
            <a:endParaRPr lang="en-US" sz="13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1B19B5B-5110-7AB9-CB59-576CB6E68B3B}"/>
              </a:ext>
            </a:extLst>
          </p:cNvPr>
          <p:cNvSpPr txBox="1"/>
          <p:nvPr/>
        </p:nvSpPr>
        <p:spPr>
          <a:xfrm>
            <a:off x="1981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strong is the syllogism?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91440"/>
            <a:ext cx="8714232" cy="859536"/>
          </a:xfrm>
          <a:custGeom>
            <a:avLst/>
            <a:gdLst/>
            <a:ahLst/>
            <a:cxnLst/>
            <a:rect l="l" t="t" r="r" b="b"/>
            <a:pathLst>
              <a:path w="8714232" h="859536">
                <a:moveTo>
                  <a:pt x="0" y="0"/>
                </a:moveTo>
                <a:lnTo>
                  <a:pt x="8302752" y="0"/>
                </a:lnTo>
                <a:lnTo>
                  <a:pt x="8714232" y="411480"/>
                </a:lnTo>
                <a:lnTo>
                  <a:pt x="8714232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661160" y="91440"/>
            <a:ext cx="8229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Similar problems, then?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4000" y="6473952"/>
            <a:ext cx="8860536" cy="329184"/>
          </a:xfrm>
          <a:custGeom>
            <a:avLst/>
            <a:gdLst/>
            <a:ahLst/>
            <a:cxnLst/>
            <a:rect l="l" t="t" r="r" b="b"/>
            <a:pathLst>
              <a:path w="8860536" h="329184">
                <a:moveTo>
                  <a:pt x="0" y="0"/>
                </a:moveTo>
                <a:lnTo>
                  <a:pt x="8723376" y="0"/>
                </a:lnTo>
                <a:lnTo>
                  <a:pt x="8860536" y="137160"/>
                </a:lnTo>
                <a:lnTo>
                  <a:pt x="8860536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1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means chatbots are prone to the </a:t>
            </a:r>
            <a:r>
              <a:rPr lang="en-US" sz="2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errors</a:t>
            </a: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other inductive </a:t>
            </a:r>
            <a:r>
              <a:rPr lang="en-US" sz="22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generalisations</a:t>
            </a: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syllogisms!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981200" y="2011680"/>
            <a:ext cx="8229600" cy="1280160"/>
          </a:xfrm>
          <a:prstGeom prst="rect">
            <a:avLst/>
          </a:prstGeom>
          <a:solidFill>
            <a:srgbClr val="E5F3FA"/>
          </a:solidFill>
          <a:ln w="12700">
            <a:solidFill>
              <a:srgbClr val="E5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18360" y="2377440"/>
            <a:ext cx="548640" cy="548640"/>
          </a:xfrm>
          <a:prstGeom prst="ellipse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183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849880" y="205740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Hasty generalisation by </a:t>
            </a: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sample</a:t>
            </a:r>
            <a:endParaRPr lang="en-US" sz="20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text it learned from has too little on the topic.</a:t>
            </a:r>
            <a:endParaRPr lang="en-US" sz="2000" dirty="0"/>
          </a:p>
          <a:p>
            <a:r>
              <a:rPr lang="en-US" sz="14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e.g. a rarely mentioned person or event: a confident answer may be false.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427720" y="2377440"/>
            <a:ext cx="1691640" cy="548640"/>
          </a:xfrm>
          <a:prstGeom prst="rect">
            <a:avLst/>
          </a:prstGeom>
          <a:solidFill>
            <a:srgbClr val="0099CC"/>
          </a:solidFill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inductive generalisation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81200" y="3383280"/>
            <a:ext cx="8229600" cy="1280160"/>
          </a:xfrm>
          <a:prstGeom prst="rect">
            <a:avLst/>
          </a:prstGeom>
          <a:solidFill>
            <a:srgbClr val="E5F3FA"/>
          </a:solidFill>
          <a:ln w="12700">
            <a:solidFill>
              <a:srgbClr val="E5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18360" y="3749040"/>
            <a:ext cx="548640" cy="548640"/>
          </a:xfrm>
          <a:prstGeom prst="ellipse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1183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849880" y="342900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Hasty generalisation by </a:t>
            </a: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biased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sample</a:t>
            </a:r>
            <a:endParaRPr lang="en-US" sz="20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text it learned from does not fairly represent the variation in the topic;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alternatively,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human trainers are biased..</a:t>
            </a:r>
            <a:endParaRPr lang="en-US" sz="2000" dirty="0"/>
          </a:p>
          <a:p>
            <a:r>
              <a:rPr lang="en-US" sz="14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e.g. some groups’ views poorly reflected. Human raters are a sample too.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27720" y="3749040"/>
            <a:ext cx="1691640" cy="548640"/>
          </a:xfrm>
          <a:prstGeom prst="rect">
            <a:avLst/>
          </a:prstGeom>
          <a:solidFill>
            <a:srgbClr val="0099CC"/>
          </a:solidFill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inductive generalisation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81200" y="4754880"/>
            <a:ext cx="8229600" cy="1280160"/>
          </a:xfrm>
          <a:prstGeom prst="rect">
            <a:avLst/>
          </a:prstGeom>
          <a:solidFill>
            <a:srgbClr val="E5F3FA"/>
          </a:solidFill>
          <a:ln w="12700">
            <a:solidFill>
              <a:srgbClr val="E5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118360" y="5120640"/>
            <a:ext cx="548640" cy="548640"/>
          </a:xfrm>
          <a:prstGeom prst="ellipse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11836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2849880" y="480060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reference-class problem</a:t>
            </a:r>
            <a:endParaRPr lang="en-US" sz="20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class does this case belong to? Different classes support different conclusions.</a:t>
            </a:r>
            <a:endParaRPr lang="en-US" sz="2000" dirty="0"/>
          </a:p>
          <a:p>
            <a:r>
              <a:rPr lang="en-US" sz="14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e.g. “Why is X true?” vs “Is X true?”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27720" y="5120640"/>
            <a:ext cx="1691640" cy="548640"/>
          </a:xfrm>
          <a:prstGeom prst="rect">
            <a:avLst/>
          </a:prstGeom>
          <a:solidFill>
            <a:srgbClr val="0099CC"/>
          </a:solidFill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syllogism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98120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 Kalai et al. (2025); Santurkar et al. (2023). A lens for judging answers, not a full account of how chatbots go wrong.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91440"/>
            <a:ext cx="8714232" cy="859536"/>
          </a:xfrm>
          <a:custGeom>
            <a:avLst/>
            <a:gdLst/>
            <a:ahLst/>
            <a:cxnLst/>
            <a:rect l="l" t="t" r="r" b="b"/>
            <a:pathLst>
              <a:path w="8714232" h="859536">
                <a:moveTo>
                  <a:pt x="0" y="0"/>
                </a:moveTo>
                <a:lnTo>
                  <a:pt x="8302752" y="0"/>
                </a:lnTo>
                <a:lnTo>
                  <a:pt x="8714232" y="411480"/>
                </a:lnTo>
                <a:lnTo>
                  <a:pt x="8714232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661160" y="91440"/>
            <a:ext cx="8229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Bias, again…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4000" y="6473952"/>
            <a:ext cx="8860536" cy="329184"/>
          </a:xfrm>
          <a:custGeom>
            <a:avLst/>
            <a:gdLst/>
            <a:ahLst/>
            <a:cxnLst/>
            <a:rect l="l" t="t" r="r" b="b"/>
            <a:pathLst>
              <a:path w="8860536" h="329184">
                <a:moveTo>
                  <a:pt x="0" y="0"/>
                </a:moveTo>
                <a:lnTo>
                  <a:pt x="8723376" y="0"/>
                </a:lnTo>
                <a:lnTo>
                  <a:pt x="8860536" y="137160"/>
                </a:lnTo>
                <a:lnTo>
                  <a:pt x="8860536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1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 only the dialect, and the models judged the speaker differently.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98120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meaning, two dialects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13588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the model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2188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the likely words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81200" y="2194560"/>
            <a:ext cx="2834640" cy="109728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01600" tIns="101600" rIns="101600" bIns="101600" rtlCol="0" anchor="ctr"/>
          <a:lstStyle/>
          <a:p>
            <a:r>
              <a:rPr lang="en-US" sz="12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American English</a:t>
            </a:r>
            <a:endParaRPr lang="en-US" sz="1200" dirty="0"/>
          </a:p>
          <a:p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“I am so happy when I wake up from a bad dream because they feel too real”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81200" y="3474720"/>
            <a:ext cx="2834640" cy="109728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01600" tIns="101600" rIns="101600" bIns="101600" rtlCol="0" anchor="ctr"/>
          <a:lstStyle/>
          <a:p>
            <a:r>
              <a:rPr lang="en-US" sz="12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African American English</a:t>
            </a:r>
            <a:endParaRPr lang="en-US" sz="1200" dirty="0"/>
          </a:p>
          <a:p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“I be so happy when I wake up from a bad dream cus they be feelin too real”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3272" y="2606040"/>
            <a:ext cx="256032" cy="292608"/>
          </a:xfrm>
          <a:prstGeom prst="rightArrow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3272" y="3886200"/>
            <a:ext cx="256032" cy="292608"/>
          </a:xfrm>
          <a:prstGeom prst="rightArrow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135880" y="2194560"/>
            <a:ext cx="1965960" cy="2377440"/>
          </a:xfrm>
          <a:prstGeom prst="rect">
            <a:avLst/>
          </a:prstGeom>
          <a:solidFill>
            <a:srgbClr val="0099CC"/>
          </a:solidFill>
          <a:ln/>
        </p:spPr>
        <p:txBody>
          <a:bodyPr wrap="square" lIns="127000" tIns="127000" rIns="127000" bIns="12700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completes:</a:t>
            </a:r>
            <a:endParaRPr lang="en-US" sz="1300" dirty="0"/>
          </a:p>
          <a:p>
            <a:pPr algn="ctr"/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“A person who says [text] is …”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29272" y="3246120"/>
            <a:ext cx="256032" cy="292608"/>
          </a:xfrm>
          <a:prstGeom prst="rightArrow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21880" y="2194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the standard-English text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421880" y="242316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brilliant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27720" y="2441448"/>
            <a:ext cx="1399032" cy="13716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421880" y="261518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27720" y="2633472"/>
            <a:ext cx="411480" cy="13716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21880" y="2807208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27720" y="2825496"/>
            <a:ext cx="1645920" cy="13716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421880" y="2999232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lazy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27720" y="3017520"/>
            <a:ext cx="296266" cy="13716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421880" y="319125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stupid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27720" y="3209544"/>
            <a:ext cx="362102" cy="13716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421880" y="3474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the African American English text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421880" y="370332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brilliant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27720" y="3721608"/>
            <a:ext cx="329184" cy="1371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421880" y="389534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27720" y="3913632"/>
            <a:ext cx="822960" cy="1371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421880" y="4087368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27720" y="4105656"/>
            <a:ext cx="329184" cy="1371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421880" y="4279392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lazy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27720" y="4297680"/>
            <a:ext cx="1645920" cy="1371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421880" y="447141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stupid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27720" y="4489704"/>
            <a:ext cx="1316736" cy="1371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421880" y="471830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Illustration of the method, not measured results.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981200" y="5029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Race is never mentioned: only the dialect changes.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tested: GPT-2, RoBERTa, T5, GPT-3.5 and GPT-4 (2019–2023).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1981200" y="5760720"/>
            <a:ext cx="8229600" cy="64008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50800" tIns="101600" rIns="101600" bIns="50800" rtlCol="0" anchor="ctr"/>
          <a:lstStyle/>
          <a:p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News story: “AI is biased against speakers of African American English, study finds”</a:t>
            </a:r>
            <a:endParaRPr lang="en-US" sz="1200" dirty="0"/>
          </a:p>
          <a:p>
            <a:r>
              <a:rPr lang="en-US" sz="1100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https://news.uchicago.edu/story/ai-biased-against-speakers-african-american-english-study-finds</a:t>
            </a:r>
            <a:endParaRPr lang="en-US" sz="1200" dirty="0"/>
          </a:p>
          <a:p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Study: Hofmann et al. (2024), Nature 633, 147–154.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91440"/>
            <a:ext cx="8714232" cy="859536"/>
          </a:xfrm>
          <a:custGeom>
            <a:avLst/>
            <a:gdLst/>
            <a:ahLst/>
            <a:cxnLst/>
            <a:rect l="l" t="t" r="r" b="b"/>
            <a:pathLst>
              <a:path w="8714232" h="859536">
                <a:moveTo>
                  <a:pt x="0" y="0"/>
                </a:moveTo>
                <a:lnTo>
                  <a:pt x="8302752" y="0"/>
                </a:lnTo>
                <a:lnTo>
                  <a:pt x="8714232" y="411480"/>
                </a:lnTo>
                <a:lnTo>
                  <a:pt x="8714232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661160" y="91440"/>
            <a:ext cx="8229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reference class problem again..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4000" y="6473952"/>
            <a:ext cx="8860536" cy="329184"/>
          </a:xfrm>
          <a:custGeom>
            <a:avLst/>
            <a:gdLst/>
            <a:ahLst/>
            <a:cxnLst/>
            <a:rect l="l" t="t" r="r" b="b"/>
            <a:pathLst>
              <a:path w="8860536" h="329184">
                <a:moveTo>
                  <a:pt x="0" y="0"/>
                </a:moveTo>
                <a:lnTo>
                  <a:pt x="8723376" y="0"/>
                </a:lnTo>
                <a:lnTo>
                  <a:pt x="8860536" y="137160"/>
                </a:lnTo>
                <a:lnTo>
                  <a:pt x="8860536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1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statistical syllogism is only as good as the class the case is placed in.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981200" y="2011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Wider class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627120" y="2011680"/>
            <a:ext cx="3749040" cy="68580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27000" tIns="127000" rIns="127000" bIns="12700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afternoon, the sky is …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67600" y="2167128"/>
            <a:ext cx="365760" cy="365760"/>
          </a:xfrm>
          <a:prstGeom prst="rightArrow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24800" y="2011680"/>
            <a:ext cx="2286000" cy="685800"/>
          </a:xfrm>
          <a:prstGeom prst="rect">
            <a:avLst/>
          </a:prstGeom>
          <a:solidFill>
            <a:srgbClr val="0099C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blue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981200" y="2971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Narrower class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27120" y="2971800"/>
            <a:ext cx="3749040" cy="68580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27000" tIns="127000" rIns="127000" bIns="12700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sunset, the sky is …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67600" y="3127248"/>
            <a:ext cx="365760" cy="365760"/>
          </a:xfrm>
          <a:prstGeom prst="rightArrow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924800" y="2971800"/>
            <a:ext cx="2286000" cy="685800"/>
          </a:xfrm>
          <a:prstGeom prst="rect">
            <a:avLst/>
          </a:prstGeom>
          <a:solidFill>
            <a:srgbClr val="0099C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 or orange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981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Illustration only, not measured probabilities.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81200" y="44805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context narrows the class and can change the likely ending.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Your wording picks the class: “Why is X true?” places your question among texts that argue for X.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Unusual question, thin class: few similar cases, so a weak first premise.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91440"/>
            <a:ext cx="8714232" cy="859536"/>
          </a:xfrm>
          <a:custGeom>
            <a:avLst/>
            <a:gdLst/>
            <a:ahLst/>
            <a:cxnLst/>
            <a:rect l="l" t="t" r="r" b="b"/>
            <a:pathLst>
              <a:path w="8714232" h="859536">
                <a:moveTo>
                  <a:pt x="0" y="0"/>
                </a:moveTo>
                <a:lnTo>
                  <a:pt x="8302752" y="0"/>
                </a:lnTo>
                <a:lnTo>
                  <a:pt x="8714232" y="411480"/>
                </a:lnTo>
                <a:lnTo>
                  <a:pt x="8714232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661160" y="91440"/>
            <a:ext cx="8229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this hold for today’s models?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4000" y="6473952"/>
            <a:ext cx="8860536" cy="329184"/>
          </a:xfrm>
          <a:custGeom>
            <a:avLst/>
            <a:gdLst/>
            <a:ahLst/>
            <a:cxnLst/>
            <a:rect l="l" t="t" r="r" b="b"/>
            <a:pathLst>
              <a:path w="8860536" h="329184">
                <a:moveTo>
                  <a:pt x="0" y="0"/>
                </a:moveTo>
                <a:lnTo>
                  <a:pt x="8723376" y="0"/>
                </a:lnTo>
                <a:lnTo>
                  <a:pt x="8860536" y="137160"/>
                </a:lnTo>
                <a:lnTo>
                  <a:pt x="8860536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81200" y="1188720"/>
            <a:ext cx="4023360" cy="3703320"/>
          </a:xfrm>
          <a:prstGeom prst="rect">
            <a:avLst/>
          </a:prstGeom>
          <a:solidFill>
            <a:srgbClr val="E5F3FA"/>
          </a:solidFill>
          <a:ln w="12700">
            <a:solidFill>
              <a:srgbClr val="E5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11836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2024 study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118360" y="17373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Hidden (covert) stereotypes about AAE speakers were more negative than any recorded human stereotypes. Stated (overt) ones about African Americans were more positive.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hypothetical trials with only a tweet as evidence: convictions 68.7% vs 62.1%, death sentences 27.7% vs 22.8%.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Larger models and feedback training did not remove the covert bias.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7440" y="1188720"/>
            <a:ext cx="4023360" cy="3703320"/>
          </a:xfrm>
          <a:prstGeom prst="rect">
            <a:avLst/>
          </a:prstGeom>
          <a:solidFill>
            <a:srgbClr val="E5F3FA"/>
          </a:solidFill>
          <a:ln w="12700">
            <a:solidFill>
              <a:srgbClr val="E5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32460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Since then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24600" y="17373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 preprints report the same direction of bias in many models.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varies by model: in a small 2025 study, Claude 3 Haiku labelled AAE more positively than two other models.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newest systems are less tested, and the method needs word probabilities that many commercial interfaces do not expose.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981200" y="5029200"/>
            <a:ext cx="8229600" cy="1005840"/>
          </a:xfrm>
          <a:prstGeom prst="rect">
            <a:avLst/>
          </a:prstGeom>
          <a:noFill/>
          <a:ln/>
        </p:spPr>
        <p:txBody>
          <a:bodyPr wrap="square" lIns="50800" tIns="0" rIns="50800" bIns="50800" rtlCol="0" anchor="ctr"/>
          <a:lstStyle/>
          <a:p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terms of the earlier slides: </a:t>
            </a: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dialect changes the reference class, and the text the model learned from links that class to negative traits (the authors’ explanation).</a:t>
            </a:r>
            <a:endParaRPr lang="en-US" sz="1700" dirty="0"/>
          </a:p>
          <a:p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effects were modest, the tasks hypothetical and the models older than today’s: a risk to test for, not a fixed fact about every model.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981200" y="6108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 Hofmann et al. (2024), Nature 633; 2026 preprints arXiv 2605.24384 and arXiv 2609.18068; AAAI 2025 symposium paper on dialectic preference bias.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91440"/>
            <a:ext cx="8714232" cy="859536"/>
          </a:xfrm>
          <a:custGeom>
            <a:avLst/>
            <a:gdLst/>
            <a:ahLst/>
            <a:cxnLst/>
            <a:rect l="l" t="t" r="r" b="b"/>
            <a:pathLst>
              <a:path w="8714232" h="859536">
                <a:moveTo>
                  <a:pt x="0" y="0"/>
                </a:moveTo>
                <a:lnTo>
                  <a:pt x="8302752" y="0"/>
                </a:lnTo>
                <a:lnTo>
                  <a:pt x="8714232" y="411480"/>
                </a:lnTo>
                <a:lnTo>
                  <a:pt x="8714232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661160" y="91440"/>
            <a:ext cx="8229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answers: the way you ask matters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4000" y="6473952"/>
            <a:ext cx="8860536" cy="329184"/>
          </a:xfrm>
          <a:custGeom>
            <a:avLst/>
            <a:gdLst/>
            <a:ahLst/>
            <a:cxnLst/>
            <a:rect l="l" t="t" r="r" b="b"/>
            <a:pathLst>
              <a:path w="8860536" h="329184">
                <a:moveTo>
                  <a:pt x="0" y="0"/>
                </a:moveTo>
                <a:lnTo>
                  <a:pt x="8723376" y="0"/>
                </a:lnTo>
                <a:lnTo>
                  <a:pt x="8860536" y="137160"/>
                </a:lnTo>
                <a:lnTo>
                  <a:pt x="8860536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1200" y="1188720"/>
            <a:ext cx="8229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Chatbots tend to go along with how a question is framed.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more certain you sound, the more they tend to agree.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often fail to challenge a wrong assumption inside the question.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same trap as “welfare” vs “assistance to the poor”.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981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Try it: ask about the same topic three ways, then compare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981200" y="4069080"/>
            <a:ext cx="2560320" cy="141732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01600" tIns="127000" rIns="127000" bIns="101600" rtlCol="0" anchor="t"/>
          <a:lstStyle/>
          <a:p>
            <a:r>
              <a:rPr lang="en-US" sz="15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Leans for</a:t>
            </a:r>
            <a:endParaRPr lang="en-US" sz="1500" dirty="0"/>
          </a:p>
          <a:p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“Why is the American Dream true?”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15840" y="4069080"/>
            <a:ext cx="2560320" cy="141732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01600" tIns="127000" rIns="127000" bIns="101600" rtlCol="0" anchor="t"/>
          <a:lstStyle/>
          <a:p>
            <a:r>
              <a:rPr lang="en-US" sz="15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Neutral</a:t>
            </a:r>
            <a:endParaRPr lang="en-US" sz="1500" dirty="0"/>
          </a:p>
          <a:p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“Is the American Dream true? Give the best case for and against.”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50480" y="4069080"/>
            <a:ext cx="2560320" cy="1417320"/>
          </a:xfrm>
          <a:prstGeom prst="rect">
            <a:avLst/>
          </a:prstGeom>
          <a:solidFill>
            <a:srgbClr val="E5F3FA"/>
          </a:solidFill>
          <a:ln/>
        </p:spPr>
        <p:txBody>
          <a:bodyPr wrap="square" lIns="101600" tIns="127000" rIns="127000" bIns="101600" rtlCol="0" anchor="t"/>
          <a:lstStyle/>
          <a:p>
            <a:r>
              <a:rPr lang="en-US" sz="1500" b="1" dirty="0">
                <a:solidFill>
                  <a:srgbClr val="0099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Leans against</a:t>
            </a:r>
            <a:endParaRPr lang="en-US" sz="1500" dirty="0"/>
          </a:p>
          <a:p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“Why is the American Dream a myth?”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981200" y="6016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 “Ask don’t tell” (2026, arXiv 2602.23971); Smith (1987) and Rasinski (1989) on “welfare” vs “assistance to the poor”.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91440"/>
            <a:ext cx="8714232" cy="859536"/>
          </a:xfrm>
          <a:custGeom>
            <a:avLst/>
            <a:gdLst/>
            <a:ahLst/>
            <a:cxnLst/>
            <a:rect l="l" t="t" r="r" b="b"/>
            <a:pathLst>
              <a:path w="8714232" h="859536">
                <a:moveTo>
                  <a:pt x="0" y="0"/>
                </a:moveTo>
                <a:lnTo>
                  <a:pt x="8302752" y="0"/>
                </a:lnTo>
                <a:lnTo>
                  <a:pt x="8714232" y="411480"/>
                </a:lnTo>
                <a:lnTo>
                  <a:pt x="8714232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661160" y="91440"/>
            <a:ext cx="8229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Checking an AI answer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4000" y="6473952"/>
            <a:ext cx="8860536" cy="329184"/>
          </a:xfrm>
          <a:custGeom>
            <a:avLst/>
            <a:gdLst/>
            <a:ahLst/>
            <a:cxnLst/>
            <a:rect l="l" t="t" r="r" b="b"/>
            <a:pathLst>
              <a:path w="8860536" h="329184">
                <a:moveTo>
                  <a:pt x="0" y="0"/>
                </a:moveTo>
                <a:lnTo>
                  <a:pt x="8723376" y="0"/>
                </a:lnTo>
                <a:lnTo>
                  <a:pt x="8860536" y="137160"/>
                </a:lnTo>
                <a:lnTo>
                  <a:pt x="8860536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81200" y="1417320"/>
            <a:ext cx="640080" cy="640080"/>
          </a:xfrm>
          <a:prstGeom prst="ellipse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81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895600" y="12344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 your claim into a question</a:t>
            </a:r>
            <a:endParaRPr lang="en-US" sz="24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Stating what you believe invites agreement. Asking a question, without implicating your belief, tends to get a straighter answer.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981200" y="2606040"/>
            <a:ext cx="640080" cy="640080"/>
          </a:xfrm>
          <a:prstGeom prst="ellipse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9812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895600" y="24231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for both sides</a:t>
            </a:r>
            <a:endParaRPr lang="en-US" sz="24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“What are the strongest arguments for and against…?”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981200" y="3794760"/>
            <a:ext cx="640080" cy="640080"/>
          </a:xfrm>
          <a:prstGeom prst="ellipse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9812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895600" y="361188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more than once, in different words</a:t>
            </a:r>
            <a:endParaRPr lang="en-US" sz="24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the answer changes with the wording, the wording is doing the work.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981200" y="4983480"/>
            <a:ext cx="640080" cy="640080"/>
          </a:xfrm>
          <a:prstGeom prst="ellipse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98120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895600" y="480060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treat it as a poll</a:t>
            </a:r>
            <a:endParaRPr lang="en-US" sz="24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answer is not a representative sample of what people think. Check real surveys.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981200" y="6035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1 is supported by “Ask don’t tell” (2026, arXiv 2602.23971). Checks 2 to 4 are sensible practice, not tested remedies.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</Words>
  <Application>Microsoft Office PowerPoint</Application>
  <PresentationFormat>Widescreen</PresentationFormat>
  <Paragraphs>135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AI: Generalisations and Syllogisms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Sovan PATRA</dc:creator>
  <cp:lastModifiedBy>Calvin YAP Jun</cp:lastModifiedBy>
  <cp:revision>2</cp:revision>
  <dcterms:created xsi:type="dcterms:W3CDTF">2026-09-27T13:47:39Z</dcterms:created>
  <dcterms:modified xsi:type="dcterms:W3CDTF">2026-09-27T19:10:37Z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SMU Classification: Restricted</vt:lpwstr>
  </property>
</Properties>
</file>