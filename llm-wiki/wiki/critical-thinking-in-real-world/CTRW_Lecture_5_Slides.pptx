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4"/>
  </p:notesMasterIdLst>
  <p:sldIdLst>
    <p:sldId id="688" r:id="rId2"/>
    <p:sldId id="258" r:id="rId3"/>
    <p:sldId id="912" r:id="rId4"/>
    <p:sldId id="913" r:id="rId5"/>
    <p:sldId id="914" r:id="rId6"/>
    <p:sldId id="915" r:id="rId7"/>
    <p:sldId id="916" r:id="rId8"/>
    <p:sldId id="917" r:id="rId9"/>
    <p:sldId id="1107" r:id="rId10"/>
    <p:sldId id="259" r:id="rId11"/>
    <p:sldId id="260" r:id="rId12"/>
    <p:sldId id="918" r:id="rId13"/>
    <p:sldId id="405" r:id="rId14"/>
    <p:sldId id="919" r:id="rId15"/>
    <p:sldId id="407" r:id="rId16"/>
    <p:sldId id="408" r:id="rId17"/>
    <p:sldId id="409" r:id="rId18"/>
    <p:sldId id="272" r:id="rId19"/>
    <p:sldId id="690" r:id="rId20"/>
    <p:sldId id="1002" r:id="rId21"/>
    <p:sldId id="411" r:id="rId22"/>
    <p:sldId id="412" r:id="rId23"/>
    <p:sldId id="422" r:id="rId24"/>
    <p:sldId id="423" r:id="rId25"/>
    <p:sldId id="424" r:id="rId26"/>
    <p:sldId id="414" r:id="rId27"/>
    <p:sldId id="415" r:id="rId28"/>
    <p:sldId id="920" r:id="rId29"/>
    <p:sldId id="417" r:id="rId30"/>
    <p:sldId id="778" r:id="rId31"/>
    <p:sldId id="420" r:id="rId32"/>
    <p:sldId id="421" r:id="rId33"/>
    <p:sldId id="656" r:id="rId34"/>
    <p:sldId id="994" r:id="rId35"/>
    <p:sldId id="996" r:id="rId36"/>
    <p:sldId id="997" r:id="rId37"/>
    <p:sldId id="1106" r:id="rId38"/>
    <p:sldId id="328" r:id="rId39"/>
    <p:sldId id="1103" r:id="rId40"/>
    <p:sldId id="1081" r:id="rId41"/>
    <p:sldId id="1083" r:id="rId42"/>
    <p:sldId id="1101" r:id="rId43"/>
    <p:sldId id="1104" r:id="rId44"/>
    <p:sldId id="991" r:id="rId45"/>
    <p:sldId id="1082" r:id="rId46"/>
    <p:sldId id="995" r:id="rId47"/>
    <p:sldId id="1105" r:id="rId48"/>
    <p:sldId id="999" r:id="rId49"/>
    <p:sldId id="1092" r:id="rId50"/>
    <p:sldId id="1093" r:id="rId51"/>
    <p:sldId id="1094" r:id="rId52"/>
    <p:sldId id="1003" r:id="rId5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FD9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447" autoAdjust="0"/>
  </p:normalViewPr>
  <p:slideViewPr>
    <p:cSldViewPr snapToGrid="0">
      <p:cViewPr varScale="1">
        <p:scale>
          <a:sx n="103" d="100"/>
          <a:sy n="103" d="100"/>
        </p:scale>
        <p:origin x="1890"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lvin YAP Jun" userId="4ec2fc60-4fad-427b-afce-17d99a6651a1" providerId="ADAL" clId="{F1B0F8C3-ECC4-49F2-889E-7662193384A6}"/>
    <pc:docChg chg="modSld">
      <pc:chgData name="Calvin YAP Jun" userId="4ec2fc60-4fad-427b-afce-17d99a6651a1" providerId="ADAL" clId="{F1B0F8C3-ECC4-49F2-889E-7662193384A6}" dt="2026-09-14T04:37:20.276" v="0" actId="20577"/>
      <pc:docMkLst>
        <pc:docMk/>
      </pc:docMkLst>
      <pc:sldChg chg="modNotesTx">
        <pc:chgData name="Calvin YAP Jun" userId="4ec2fc60-4fad-427b-afce-17d99a6651a1" providerId="ADAL" clId="{F1B0F8C3-ECC4-49F2-889E-7662193384A6}" dt="2026-09-14T04:37:20.276" v="0" actId="20577"/>
        <pc:sldMkLst>
          <pc:docMk/>
          <pc:sldMk cId="4249301824" sldId="91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EBB277-B9BF-48E9-9100-DD3DF083E1FF}" type="datetimeFigureOut">
              <a:rPr lang="en-SG" smtClean="0"/>
              <a:t>14/9/2026</a:t>
            </a:fld>
            <a:endParaRPr lang="en-SG"/>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14F7D5-AC3E-41EA-8F1A-1F53615BBCF2}" type="slidenum">
              <a:rPr lang="en-SG" smtClean="0"/>
              <a:t>‹#›</a:t>
            </a:fld>
            <a:endParaRPr lang="en-SG"/>
          </a:p>
        </p:txBody>
      </p:sp>
    </p:spTree>
    <p:extLst>
      <p:ext uri="{BB962C8B-B14F-4D97-AF65-F5344CB8AC3E}">
        <p14:creationId xmlns:p14="http://schemas.microsoft.com/office/powerpoint/2010/main" val="17007032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1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24EC0A7-676F-46F2-A04E-546AF28A165C}" type="slidenum">
              <a:rPr kumimoji="0" lang="en-GB" altLang="en-US" sz="1200" b="0" i="0" u="none" strike="noStrike" kern="1200" cap="none" spc="0" normalizeH="0" baseline="0" noProof="0" smtClean="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24872222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1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24EC0A7-676F-46F2-A04E-546AF28A165C}" type="slidenum">
              <a:rPr kumimoji="0" lang="en-GB" altLang="en-US" sz="1200" b="0" i="0" u="none" strike="noStrike" kern="1200" cap="none" spc="0" normalizeH="0" baseline="0" noProof="0" smtClean="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17869109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1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24EC0A7-676F-46F2-A04E-546AF28A165C}" type="slidenum">
              <a:rPr kumimoji="0" lang="en-GB" altLang="en-US" sz="1200" b="0" i="0" u="none" strike="noStrike" kern="1200" cap="none" spc="0" normalizeH="0" baseline="0" noProof="0" smtClean="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15114931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1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24EC0A7-676F-46F2-A04E-546AF28A165C}" type="slidenum">
              <a:rPr kumimoji="0" lang="en-GB" altLang="en-US" sz="1200" b="0" i="0" u="none" strike="noStrike" kern="1200" cap="none" spc="0" normalizeH="0" baseline="0" noProof="0" smtClean="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5163204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If you sleep with me I will marry you</a:t>
            </a:r>
          </a:p>
        </p:txBody>
      </p:sp>
      <p:sp>
        <p:nvSpPr>
          <p:cNvPr id="71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24EC0A7-676F-46F2-A04E-546AF28A165C}" type="slidenum">
              <a:rPr kumimoji="0" lang="en-GB" altLang="en-US" sz="1200" b="0" i="0" u="none" strike="noStrike" kern="1200" cap="none" spc="0" normalizeH="0" baseline="0" noProof="0" smtClean="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26107563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71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24EC0A7-676F-46F2-A04E-546AF28A165C}" type="slidenum">
              <a:rPr kumimoji="0" lang="en-GB" altLang="en-US" sz="1200" b="0" i="0" u="none" strike="noStrike" kern="1200" cap="none" spc="0" normalizeH="0" baseline="0" noProof="0" smtClean="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24656927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71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24EC0A7-676F-46F2-A04E-546AF28A165C}" type="slidenum">
              <a:rPr kumimoji="0" lang="en-GB" altLang="en-US" sz="1200" b="0" i="0" u="none" strike="noStrike" kern="1200" cap="none" spc="0" normalizeH="0" baseline="0" noProof="0" smtClean="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37295592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92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EA37A0-53CD-4660-B907-72042C651E62}" type="slidenum">
              <a:rPr kumimoji="0" lang="en-GB" altLang="en-US" sz="1200" b="0" i="0" u="none" strike="noStrike" kern="1200" cap="none" spc="0" normalizeH="0" baseline="0" noProof="0" smtClean="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38026111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12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4D43478-F814-4A93-9B8B-C3B231FEE871}" type="slidenum">
              <a:rPr kumimoji="0" lang="en-GB" altLang="en-US" sz="1200" b="0" i="0" u="none" strike="noStrike" kern="1200" cap="none" spc="0" normalizeH="0" baseline="0" noProof="0" smtClean="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17572510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92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EA37A0-53CD-4660-B907-72042C651E62}" type="slidenum">
              <a:rPr kumimoji="0" lang="en-GB" altLang="en-US" sz="1200" b="0" i="0" u="none" strike="noStrike" kern="1200" cap="none" spc="0" normalizeH="0" baseline="0" noProof="0" smtClean="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31025810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12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4D43478-F814-4A93-9B8B-C3B231FEE871}" type="slidenum">
              <a:rPr kumimoji="0" lang="en-GB" altLang="en-US" sz="1200" b="0" i="0" u="none" strike="noStrike" kern="1200" cap="none" spc="0" normalizeH="0" baseline="0" noProof="0" smtClean="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6871356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92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EA37A0-53CD-4660-B907-72042C651E62}" type="slidenum">
              <a:rPr kumimoji="0" lang="en-GB" altLang="en-US" sz="1200" b="0" i="0" u="none" strike="noStrike" kern="1200" cap="none" spc="0" normalizeH="0" baseline="0" noProof="0" smtClean="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966707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12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4D43478-F814-4A93-9B8B-C3B231FEE871}" type="slidenum">
              <a:rPr kumimoji="0" lang="en-GB" altLang="en-US" sz="1200" b="0" i="0" u="none" strike="noStrike" kern="1200" cap="none" spc="0" normalizeH="0" baseline="0" noProof="0" smtClean="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3486899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92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EA37A0-53CD-4660-B907-72042C651E62}" type="slidenum">
              <a:rPr kumimoji="0" lang="en-GB" altLang="en-US" sz="1200" b="0" i="0" u="none" strike="noStrike" kern="1200" cap="none" spc="0" normalizeH="0" baseline="0" noProof="0" smtClean="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1749105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12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4D43478-F814-4A93-9B8B-C3B231FEE871}" type="slidenum">
              <a:rPr kumimoji="0" lang="en-GB" altLang="en-US" sz="1200" b="0" i="0" u="none" strike="noStrike" kern="1200" cap="none" spc="0" normalizeH="0" baseline="0" noProof="0" smtClean="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15327451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58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D477005-24F8-4B36-95B3-03A62435FFD7}" type="slidenum">
              <a:rPr kumimoji="0" lang="en-GB" altLang="en-US" sz="1200" b="0" i="0" u="none" strike="noStrike" kern="1200" cap="none" spc="0" normalizeH="0" baseline="0" noProof="0" smtClean="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41885323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12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4D43478-F814-4A93-9B8B-C3B231FEE871}" type="slidenum">
              <a:rPr kumimoji="0" lang="en-GB" altLang="en-US" sz="1200" b="0" i="0" u="none" strike="noStrike" kern="1200" cap="none" spc="0" normalizeH="0" baseline="0" noProof="0" smtClean="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15805210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12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4D43478-F814-4A93-9B8B-C3B231FEE871}" type="slidenum">
              <a:rPr kumimoji="0" lang="en-GB" altLang="en-US" sz="1200" b="0" i="0" u="none" strike="noStrike" kern="1200" cap="none" spc="0" normalizeH="0" baseline="0" noProof="0" smtClean="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26296836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92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EA37A0-53CD-4660-B907-72042C651E62}" type="slidenum">
              <a:rPr kumimoji="0" lang="en-GB" altLang="en-US" sz="1200" b="0" i="0" u="none" strike="noStrike" kern="1200" cap="none" spc="0" normalizeH="0" baseline="0" noProof="0" smtClean="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1980079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12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4D43478-F814-4A93-9B8B-C3B231FEE871}" type="slidenum">
              <a:rPr kumimoji="0" lang="en-GB" altLang="en-US" sz="1200" b="0" i="0" u="none" strike="noStrike" kern="1200" cap="none" spc="0" normalizeH="0" baseline="0" noProof="0" smtClean="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5747796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92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EA37A0-53CD-4660-B907-72042C651E62}" type="slidenum">
              <a:rPr kumimoji="0" lang="en-GB" altLang="en-US" sz="1200" b="0" i="0" u="none" strike="noStrike" kern="1200" cap="none" spc="0" normalizeH="0" baseline="0" noProof="0" smtClean="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35355027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12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4D43478-F814-4A93-9B8B-C3B231FEE871}" type="slidenum">
              <a:rPr kumimoji="0" lang="en-GB" altLang="en-US" sz="1200" b="0" i="0" u="none" strike="noStrike" kern="1200" cap="none" spc="0" normalizeH="0" baseline="0" noProof="0" smtClean="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29344737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12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4D43478-F814-4A93-9B8B-C3B231FEE871}" type="slidenum">
              <a:rPr kumimoji="0" lang="en-GB" altLang="en-US" sz="1200" b="0" i="0" u="none" strike="noStrike" kern="1200" cap="none" spc="0" normalizeH="0" baseline="0" noProof="0" smtClean="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30597583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92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EA37A0-53CD-4660-B907-72042C651E62}" type="slidenum">
              <a:rPr kumimoji="0" lang="en-GB" altLang="en-US" sz="1200" b="0" i="0" u="none" strike="noStrike" kern="1200" cap="none" spc="0" normalizeH="0" baseline="0" noProof="0" smtClean="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298986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12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4D43478-F814-4A93-9B8B-C3B231FEE871}" type="slidenum">
              <a:rPr kumimoji="0" lang="en-GB" altLang="en-US" sz="1200" b="0" i="0" u="none" strike="noStrike" kern="1200" cap="none" spc="0" normalizeH="0" baseline="0" noProof="0" smtClean="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30665285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92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EA37A0-53CD-4660-B907-72042C651E62}" type="slidenum">
              <a:rPr kumimoji="0" lang="en-GB" altLang="en-US" sz="1200" b="0" i="0" u="none" strike="noStrike" kern="1200" cap="none" spc="0" normalizeH="0" baseline="0" noProof="0" smtClean="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11215887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12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4D43478-F814-4A93-9B8B-C3B231FEE871}" type="slidenum">
              <a:rPr kumimoji="0" lang="en-GB" altLang="en-US" sz="1200" b="0" i="0" u="none" strike="noStrike" kern="1200" cap="none" spc="0" normalizeH="0" baseline="0" noProof="0" smtClean="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4755627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12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4D43478-F814-4A93-9B8B-C3B231FEE871}" type="slidenum">
              <a:rPr kumimoji="0" lang="en-GB" altLang="en-US" sz="1200" b="0" i="0" u="none" strike="noStrike" kern="1200" cap="none" spc="0" normalizeH="0" baseline="0" noProof="0" smtClean="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37180016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92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EA37A0-53CD-4660-B907-72042C651E62}" type="slidenum">
              <a:rPr kumimoji="0" lang="en-GB" altLang="en-US" sz="1200" b="0" i="0" u="none" strike="noStrike" kern="1200" cap="none" spc="0" normalizeH="0" baseline="0" noProof="0" smtClean="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26810487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12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4D43478-F814-4A93-9B8B-C3B231FEE871}" type="slidenum">
              <a:rPr kumimoji="0" lang="en-GB" altLang="en-US" sz="1200" b="0" i="0" u="none" strike="noStrike" kern="1200" cap="none" spc="0" normalizeH="0" baseline="0" noProof="0" smtClean="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15061988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700BCD50-36E5-4896-8AAD-B93CE87F145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a:extLst>
              <a:ext uri="{FF2B5EF4-FFF2-40B4-BE49-F238E27FC236}">
                <a16:creationId xmlns:a16="http://schemas.microsoft.com/office/drawing/2014/main" id="{DB771B17-28B5-4696-8F06-336A5D5A93E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0244" name="Slide Number Placeholder 3">
            <a:extLst>
              <a:ext uri="{FF2B5EF4-FFF2-40B4-BE49-F238E27FC236}">
                <a16:creationId xmlns:a16="http://schemas.microsoft.com/office/drawing/2014/main" id="{7E420FE5-4AE3-4187-8361-30709D79E7B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fontAlgn="base">
              <a:spcBef>
                <a:spcPct val="0"/>
              </a:spcBef>
              <a:spcAft>
                <a:spcPct val="0"/>
              </a:spcAft>
            </a:pPr>
            <a:fld id="{6751AEF4-09EC-44B1-8832-2997C5A2A3B9}" type="slidenum">
              <a:rPr lang="en-GB" altLang="en-US" smtClean="0">
                <a:solidFill>
                  <a:schemeClr val="hlink"/>
                </a:solidFill>
                <a:latin typeface="Times New Roman" panose="02020603050405020304" pitchFamily="18" charset="0"/>
                <a:ea typeface="MS PGothic" panose="020B0600070205080204" pitchFamily="34" charset="-128"/>
              </a:rPr>
              <a:pPr fontAlgn="base">
                <a:spcBef>
                  <a:spcPct val="0"/>
                </a:spcBef>
                <a:spcAft>
                  <a:spcPct val="0"/>
                </a:spcAft>
              </a:pPr>
              <a:t>33</a:t>
            </a:fld>
            <a:endParaRPr lang="en-GB" altLang="en-US">
              <a:solidFill>
                <a:schemeClr val="hlink"/>
              </a:solidFill>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12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4D43478-F814-4A93-9B8B-C3B231FEE871}" type="slidenum">
              <a:rPr kumimoji="0" lang="en-GB" altLang="en-US" sz="1200" b="0" i="0" u="none" strike="noStrike" kern="1200" cap="none" spc="0" normalizeH="0" baseline="0" noProof="0" smtClean="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2744885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562E5-66F4-9D63-1E7E-E54AD8A2FA30}"/>
            </a:ext>
          </a:extLst>
        </p:cNvPr>
        <p:cNvGrpSpPr/>
        <p:nvPr/>
      </p:nvGrpSpPr>
      <p:grpSpPr>
        <a:xfrm>
          <a:off x="0" y="0"/>
          <a:ext cx="0" cy="0"/>
          <a:chOff x="0" y="0"/>
          <a:chExt cx="0" cy="0"/>
        </a:xfrm>
      </p:grpSpPr>
      <p:sp>
        <p:nvSpPr>
          <p:cNvPr id="11266" name="Slide Image Placeholder 1">
            <a:extLst>
              <a:ext uri="{FF2B5EF4-FFF2-40B4-BE49-F238E27FC236}">
                <a16:creationId xmlns:a16="http://schemas.microsoft.com/office/drawing/2014/main" id="{42F78001-75FB-978C-F2CA-BE35F0EF0A9A}"/>
              </a:ext>
            </a:extLst>
          </p:cNvPr>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a:extLst>
              <a:ext uri="{FF2B5EF4-FFF2-40B4-BE49-F238E27FC236}">
                <a16:creationId xmlns:a16="http://schemas.microsoft.com/office/drawing/2014/main" id="{FB5012D7-9C5C-1AEA-67C4-43BA5A6C3A8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1268" name="Slide Number Placeholder 3">
            <a:extLst>
              <a:ext uri="{FF2B5EF4-FFF2-40B4-BE49-F238E27FC236}">
                <a16:creationId xmlns:a16="http://schemas.microsoft.com/office/drawing/2014/main" id="{F442FD34-61CC-D895-447F-C2DDED3FDD1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4D43478-F814-4A93-9B8B-C3B231FEE871}" type="slidenum">
              <a:rPr kumimoji="0" lang="en-GB" altLang="en-US" sz="1200" b="0" i="0" u="none" strike="noStrike" kern="1200" cap="none" spc="0" normalizeH="0" baseline="0" noProof="0" smtClean="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35</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8354018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4F996-7D9A-C44A-9A94-86055D9F9078}"/>
            </a:ext>
          </a:extLst>
        </p:cNvPr>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358BA4A1-12FC-790F-18FC-72D3302AE56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a:extLst>
              <a:ext uri="{FF2B5EF4-FFF2-40B4-BE49-F238E27FC236}">
                <a16:creationId xmlns:a16="http://schemas.microsoft.com/office/drawing/2014/main" id="{B71C9E6C-4D76-CA7A-7B82-85D7F2C3D8B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0244" name="Slide Number Placeholder 3">
            <a:extLst>
              <a:ext uri="{FF2B5EF4-FFF2-40B4-BE49-F238E27FC236}">
                <a16:creationId xmlns:a16="http://schemas.microsoft.com/office/drawing/2014/main" id="{25D08502-E993-225D-04F8-B523BB43960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fontAlgn="base">
              <a:spcBef>
                <a:spcPct val="0"/>
              </a:spcBef>
              <a:spcAft>
                <a:spcPct val="0"/>
              </a:spcAft>
            </a:pPr>
            <a:fld id="{6751AEF4-09EC-44B1-8832-2997C5A2A3B9}" type="slidenum">
              <a:rPr lang="en-GB" altLang="en-US" smtClean="0">
                <a:solidFill>
                  <a:schemeClr val="hlink"/>
                </a:solidFill>
                <a:latin typeface="Times New Roman" panose="02020603050405020304" pitchFamily="18" charset="0"/>
                <a:ea typeface="MS PGothic" panose="020B0600070205080204" pitchFamily="34" charset="-128"/>
              </a:rPr>
              <a:pPr fontAlgn="base">
                <a:spcBef>
                  <a:spcPct val="0"/>
                </a:spcBef>
                <a:spcAft>
                  <a:spcPct val="0"/>
                </a:spcAft>
              </a:pPr>
              <a:t>36</a:t>
            </a:fld>
            <a:endParaRPr lang="en-GB" altLang="en-US">
              <a:solidFill>
                <a:schemeClr val="hlink"/>
              </a:solidFill>
              <a:latin typeface="Times New Roman" panose="02020603050405020304" pitchFamily="18" charset="0"/>
              <a:ea typeface="MS PGothic" panose="020B0600070205080204" pitchFamily="34" charset="-128"/>
            </a:endParaRPr>
          </a:p>
        </p:txBody>
      </p:sp>
    </p:spTree>
    <p:extLst>
      <p:ext uri="{BB962C8B-B14F-4D97-AF65-F5344CB8AC3E}">
        <p14:creationId xmlns:p14="http://schemas.microsoft.com/office/powerpoint/2010/main" val="17679655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39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239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CA58B33-E1D4-4838-AD30-F145EF48641B}" type="slidenum">
              <a:rPr kumimoji="0" lang="en-GB" altLang="en-US" sz="1200" b="0" i="0" u="none" strike="noStrike" kern="1200" cap="none" spc="0" normalizeH="0" baseline="0" noProof="0" smtClean="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38</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22425961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47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E6D8D5E-BD3B-4972-BD38-0A08363FB949}" type="slidenum">
              <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39</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12709102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47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E6D8D5E-BD3B-4972-BD38-0A08363FB949}" type="slidenum">
              <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40</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5513500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47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E6D8D5E-BD3B-4972-BD38-0A08363FB949}" type="slidenum">
              <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41</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182786593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35FBB-3FD7-09AD-0ACC-F27A9AAA5056}"/>
            </a:ext>
          </a:extLst>
        </p:cNvPr>
        <p:cNvGrpSpPr/>
        <p:nvPr/>
      </p:nvGrpSpPr>
      <p:grpSpPr>
        <a:xfrm>
          <a:off x="0" y="0"/>
          <a:ext cx="0" cy="0"/>
          <a:chOff x="0" y="0"/>
          <a:chExt cx="0" cy="0"/>
        </a:xfrm>
      </p:grpSpPr>
      <p:sp>
        <p:nvSpPr>
          <p:cNvPr id="74754" name="Slide Image Placeholder 1">
            <a:extLst>
              <a:ext uri="{FF2B5EF4-FFF2-40B4-BE49-F238E27FC236}">
                <a16:creationId xmlns:a16="http://schemas.microsoft.com/office/drawing/2014/main" id="{173713AC-6A90-4948-4AA2-B6CF81139714}"/>
              </a:ext>
            </a:extLst>
          </p:cNvPr>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a:extLst>
              <a:ext uri="{FF2B5EF4-FFF2-40B4-BE49-F238E27FC236}">
                <a16:creationId xmlns:a16="http://schemas.microsoft.com/office/drawing/2014/main" id="{9634E7B1-B290-13FC-AF95-AE1B124B519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4756" name="Slide Number Placeholder 3">
            <a:extLst>
              <a:ext uri="{FF2B5EF4-FFF2-40B4-BE49-F238E27FC236}">
                <a16:creationId xmlns:a16="http://schemas.microsoft.com/office/drawing/2014/main" id="{4CD141CA-6D0A-1CFD-C22D-2371DE78A56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E6D8D5E-BD3B-4972-BD38-0A08363FB949}" type="slidenum">
              <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42</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277975443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4F996-7D9A-C44A-9A94-86055D9F9078}"/>
            </a:ext>
          </a:extLst>
        </p:cNvPr>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358BA4A1-12FC-790F-18FC-72D3302AE56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a:extLst>
              <a:ext uri="{FF2B5EF4-FFF2-40B4-BE49-F238E27FC236}">
                <a16:creationId xmlns:a16="http://schemas.microsoft.com/office/drawing/2014/main" id="{B71C9E6C-4D76-CA7A-7B82-85D7F2C3D8B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0244" name="Slide Number Placeholder 3">
            <a:extLst>
              <a:ext uri="{FF2B5EF4-FFF2-40B4-BE49-F238E27FC236}">
                <a16:creationId xmlns:a16="http://schemas.microsoft.com/office/drawing/2014/main" id="{25D08502-E993-225D-04F8-B523BB43960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fontAlgn="base">
              <a:spcBef>
                <a:spcPct val="0"/>
              </a:spcBef>
              <a:spcAft>
                <a:spcPct val="0"/>
              </a:spcAft>
            </a:pPr>
            <a:fld id="{6751AEF4-09EC-44B1-8832-2997C5A2A3B9}" type="slidenum">
              <a:rPr lang="en-GB" altLang="en-US" smtClean="0">
                <a:solidFill>
                  <a:schemeClr val="hlink"/>
                </a:solidFill>
                <a:latin typeface="Times New Roman" panose="02020603050405020304" pitchFamily="18" charset="0"/>
                <a:ea typeface="MS PGothic" panose="020B0600070205080204" pitchFamily="34" charset="-128"/>
              </a:rPr>
              <a:pPr fontAlgn="base">
                <a:spcBef>
                  <a:spcPct val="0"/>
                </a:spcBef>
                <a:spcAft>
                  <a:spcPct val="0"/>
                </a:spcAft>
              </a:pPr>
              <a:t>43</a:t>
            </a:fld>
            <a:endParaRPr lang="en-GB" altLang="en-US">
              <a:solidFill>
                <a:schemeClr val="hlink"/>
              </a:solidFill>
              <a:latin typeface="Times New Roman" panose="02020603050405020304" pitchFamily="18" charset="0"/>
              <a:ea typeface="MS PGothic" panose="020B0600070205080204" pitchFamily="34" charset="-128"/>
            </a:endParaRPr>
          </a:p>
        </p:txBody>
      </p:sp>
    </p:spTree>
    <p:extLst>
      <p:ext uri="{BB962C8B-B14F-4D97-AF65-F5344CB8AC3E}">
        <p14:creationId xmlns:p14="http://schemas.microsoft.com/office/powerpoint/2010/main" val="17679655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47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E6D8D5E-BD3B-4972-BD38-0A08363FB949}" type="slidenum">
              <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44</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156884198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47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E6D8D5E-BD3B-4972-BD38-0A08363FB949}" type="slidenum">
              <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45</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58137531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47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E6D8D5E-BD3B-4972-BD38-0A08363FB949}" type="slidenum">
              <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46</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57427621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2800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atin typeface="Calibri" charset="0"/>
            </a:endParaRPr>
          </a:p>
        </p:txBody>
      </p:sp>
      <p:sp>
        <p:nvSpPr>
          <p:cNvPr id="12800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hlink"/>
                </a:solidFill>
                <a:latin typeface="Times New Roman" charset="0"/>
                <a:ea typeface="ＭＳ Ｐゴシック" charset="0"/>
                <a:cs typeface="ＭＳ Ｐゴシック" charset="0"/>
              </a:defRPr>
            </a:lvl1pPr>
            <a:lvl2pPr marL="742950" indent="-285750" eaLnBrk="0" hangingPunct="0">
              <a:defRPr sz="2400">
                <a:solidFill>
                  <a:schemeClr val="hlink"/>
                </a:solidFill>
                <a:latin typeface="Times New Roman" charset="0"/>
                <a:ea typeface="ＭＳ Ｐゴシック" charset="0"/>
              </a:defRPr>
            </a:lvl2pPr>
            <a:lvl3pPr marL="1143000" indent="-228600" eaLnBrk="0" hangingPunct="0">
              <a:defRPr sz="2400">
                <a:solidFill>
                  <a:schemeClr val="hlink"/>
                </a:solidFill>
                <a:latin typeface="Times New Roman" charset="0"/>
                <a:ea typeface="ＭＳ Ｐゴシック" charset="0"/>
              </a:defRPr>
            </a:lvl3pPr>
            <a:lvl4pPr marL="1600200" indent="-228600" eaLnBrk="0" hangingPunct="0">
              <a:defRPr sz="2400">
                <a:solidFill>
                  <a:schemeClr val="hlink"/>
                </a:solidFill>
                <a:latin typeface="Times New Roman" charset="0"/>
                <a:ea typeface="ＭＳ Ｐゴシック" charset="0"/>
              </a:defRPr>
            </a:lvl4pPr>
            <a:lvl5pPr marL="2057400" indent="-228600" eaLnBrk="0" hangingPunct="0">
              <a:defRPr sz="2400">
                <a:solidFill>
                  <a:schemeClr val="hlink"/>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hlink"/>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hlink"/>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hlink"/>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hlink"/>
                </a:solidFill>
                <a:latin typeface="Times New Roman" charset="0"/>
                <a:ea typeface="ＭＳ Ｐゴシック" charset="0"/>
              </a:defRPr>
            </a:lvl9pPr>
          </a:lstStyle>
          <a:p>
            <a:pPr eaLnBrk="1" hangingPunct="1"/>
            <a:fld id="{ADA9FB81-1567-2C43-890D-1286C13B591C}" type="slidenum">
              <a:rPr lang="en-GB" sz="1200">
                <a:solidFill>
                  <a:srgbClr val="0000FF"/>
                </a:solidFill>
              </a:rPr>
              <a:pPr eaLnBrk="1" hangingPunct="1"/>
              <a:t>47</a:t>
            </a:fld>
            <a:endParaRPr lang="en-GB" sz="1200">
              <a:solidFill>
                <a:srgbClr val="0000FF"/>
              </a:solidFill>
            </a:endParaRPr>
          </a:p>
        </p:txBody>
      </p:sp>
    </p:spTree>
    <p:extLst>
      <p:ext uri="{BB962C8B-B14F-4D97-AF65-F5344CB8AC3E}">
        <p14:creationId xmlns:p14="http://schemas.microsoft.com/office/powerpoint/2010/main" val="133870041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47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E6D8D5E-BD3B-4972-BD38-0A08363FB949}" type="slidenum">
              <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48</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407383426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47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E6D8D5E-BD3B-4972-BD38-0A08363FB949}" type="slidenum">
              <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49</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236948396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47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E6D8D5E-BD3B-4972-BD38-0A08363FB949}" type="slidenum">
              <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50</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5265786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47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E6D8D5E-BD3B-4972-BD38-0A08363FB949}" type="slidenum">
              <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51</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51403581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47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hlink"/>
                </a:solidFill>
                <a:latin typeface="Times New Roman" panose="02020603050405020304" pitchFamily="18" charset="0"/>
                <a:ea typeface="MS PGothic" panose="020B0600070205080204" pitchFamily="34" charset="-128"/>
              </a:defRPr>
            </a:lvl1pPr>
            <a:lvl2pPr marL="742950" indent="-285750">
              <a:defRPr sz="2400">
                <a:solidFill>
                  <a:schemeClr val="hlink"/>
                </a:solidFill>
                <a:latin typeface="Times New Roman" panose="02020603050405020304" pitchFamily="18" charset="0"/>
                <a:ea typeface="MS PGothic" panose="020B0600070205080204" pitchFamily="34" charset="-128"/>
              </a:defRPr>
            </a:lvl2pPr>
            <a:lvl3pPr marL="1143000" indent="-228600">
              <a:defRPr sz="2400">
                <a:solidFill>
                  <a:schemeClr val="hlink"/>
                </a:solidFill>
                <a:latin typeface="Times New Roman" panose="02020603050405020304" pitchFamily="18" charset="0"/>
                <a:ea typeface="MS PGothic" panose="020B0600070205080204" pitchFamily="34" charset="-128"/>
              </a:defRPr>
            </a:lvl3pPr>
            <a:lvl4pPr marL="1600200" indent="-228600">
              <a:defRPr sz="2400">
                <a:solidFill>
                  <a:schemeClr val="hlink"/>
                </a:solidFill>
                <a:latin typeface="Times New Roman" panose="02020603050405020304" pitchFamily="18" charset="0"/>
                <a:ea typeface="MS PGothic" panose="020B0600070205080204" pitchFamily="34" charset="-128"/>
              </a:defRPr>
            </a:lvl4pPr>
            <a:lvl5pPr marL="2057400" indent="-228600">
              <a:defRPr sz="2400">
                <a:solidFill>
                  <a:schemeClr val="hlink"/>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hlink"/>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E6D8D5E-BD3B-4972-BD38-0A08363FB949}" type="slidenum">
              <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52</a:t>
            </a:fld>
            <a:endParaRPr kumimoji="0" lang="en-GB" altLang="en-US" sz="1200" b="0" i="0" u="none" strike="noStrike" kern="1200" cap="none" spc="0" normalizeH="0" baseline="0" noProof="0">
              <a:ln>
                <a:noFill/>
              </a:ln>
              <a:solidFill>
                <a:srgbClr val="0000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2977622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9"/>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ltLang="en-US"/>
          </a:p>
        </p:txBody>
      </p:sp>
      <p:sp>
        <p:nvSpPr>
          <p:cNvPr id="6" name="Slide Number Placeholder 5"/>
          <p:cNvSpPr>
            <a:spLocks noGrp="1"/>
          </p:cNvSpPr>
          <p:nvPr>
            <p:ph type="sldNum" sz="quarter" idx="12"/>
          </p:nvPr>
        </p:nvSpPr>
        <p:spPr/>
        <p:txBody>
          <a:bodyPr/>
          <a:lstStyle>
            <a:lvl1pPr>
              <a:defRPr/>
            </a:lvl1pPr>
          </a:lstStyle>
          <a:p>
            <a:pPr>
              <a:defRPr/>
            </a:pPr>
            <a:fld id="{8BCF1D3A-05D0-42E4-92EB-C1271D107CBC}" type="slidenum">
              <a:rPr lang="en-US" altLang="en-US"/>
              <a:pPr>
                <a:defRPr/>
              </a:pPr>
              <a:t>‹#›</a:t>
            </a:fld>
            <a:endParaRPr lang="en-US" altLang="en-US"/>
          </a:p>
        </p:txBody>
      </p:sp>
    </p:spTree>
    <p:extLst>
      <p:ext uri="{BB962C8B-B14F-4D97-AF65-F5344CB8AC3E}">
        <p14:creationId xmlns:p14="http://schemas.microsoft.com/office/powerpoint/2010/main" val="8077866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ltLang="en-US"/>
          </a:p>
        </p:txBody>
      </p:sp>
      <p:sp>
        <p:nvSpPr>
          <p:cNvPr id="6" name="Slide Number Placeholder 5"/>
          <p:cNvSpPr>
            <a:spLocks noGrp="1"/>
          </p:cNvSpPr>
          <p:nvPr>
            <p:ph type="sldNum" sz="quarter" idx="12"/>
          </p:nvPr>
        </p:nvSpPr>
        <p:spPr/>
        <p:txBody>
          <a:bodyPr/>
          <a:lstStyle>
            <a:lvl1pPr>
              <a:defRPr/>
            </a:lvl1pPr>
          </a:lstStyle>
          <a:p>
            <a:pPr>
              <a:defRPr/>
            </a:pPr>
            <a:fld id="{B30A2F61-3810-4E6A-89AA-2645B63878AC}" type="slidenum">
              <a:rPr lang="en-US" altLang="en-US"/>
              <a:pPr>
                <a:defRPr/>
              </a:pPr>
              <a:t>‹#›</a:t>
            </a:fld>
            <a:endParaRPr lang="en-US" altLang="en-US"/>
          </a:p>
        </p:txBody>
      </p:sp>
    </p:spTree>
    <p:extLst>
      <p:ext uri="{BB962C8B-B14F-4D97-AF65-F5344CB8AC3E}">
        <p14:creationId xmlns:p14="http://schemas.microsoft.com/office/powerpoint/2010/main" val="6017373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4"/>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ltLang="en-US"/>
          </a:p>
        </p:txBody>
      </p:sp>
      <p:sp>
        <p:nvSpPr>
          <p:cNvPr id="6" name="Slide Number Placeholder 5"/>
          <p:cNvSpPr>
            <a:spLocks noGrp="1"/>
          </p:cNvSpPr>
          <p:nvPr>
            <p:ph type="sldNum" sz="quarter" idx="12"/>
          </p:nvPr>
        </p:nvSpPr>
        <p:spPr/>
        <p:txBody>
          <a:bodyPr/>
          <a:lstStyle>
            <a:lvl1pPr>
              <a:defRPr/>
            </a:lvl1pPr>
          </a:lstStyle>
          <a:p>
            <a:pPr>
              <a:defRPr/>
            </a:pPr>
            <a:fld id="{D738B57B-AE4B-4E27-B1AE-9162DC403662}" type="slidenum">
              <a:rPr lang="en-US" altLang="en-US"/>
              <a:pPr>
                <a:defRPr/>
              </a:pPr>
              <a:t>‹#›</a:t>
            </a:fld>
            <a:endParaRPr lang="en-US" altLang="en-US"/>
          </a:p>
        </p:txBody>
      </p:sp>
    </p:spTree>
    <p:extLst>
      <p:ext uri="{BB962C8B-B14F-4D97-AF65-F5344CB8AC3E}">
        <p14:creationId xmlns:p14="http://schemas.microsoft.com/office/powerpoint/2010/main" val="41064879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4"/>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4"/>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US" altLang="en-US"/>
          </a:p>
        </p:txBody>
      </p:sp>
      <p:sp>
        <p:nvSpPr>
          <p:cNvPr id="7" name="Slide Number Placeholder 5"/>
          <p:cNvSpPr>
            <a:spLocks noGrp="1"/>
          </p:cNvSpPr>
          <p:nvPr>
            <p:ph type="sldNum" sz="quarter" idx="12"/>
          </p:nvPr>
        </p:nvSpPr>
        <p:spPr/>
        <p:txBody>
          <a:bodyPr/>
          <a:lstStyle>
            <a:lvl1pPr>
              <a:defRPr/>
            </a:lvl1pPr>
          </a:lstStyle>
          <a:p>
            <a:pPr>
              <a:defRPr/>
            </a:pPr>
            <a:fld id="{F975F5A4-F2D7-4801-B92D-95A5BFD91A5E}" type="slidenum">
              <a:rPr lang="en-US" altLang="en-US"/>
              <a:pPr>
                <a:defRPr/>
              </a:pPr>
              <a:t>‹#›</a:t>
            </a:fld>
            <a:endParaRPr lang="en-US" altLang="en-US"/>
          </a:p>
        </p:txBody>
      </p:sp>
    </p:spTree>
    <p:extLst>
      <p:ext uri="{BB962C8B-B14F-4D97-AF65-F5344CB8AC3E}">
        <p14:creationId xmlns:p14="http://schemas.microsoft.com/office/powerpoint/2010/main" val="2044771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7" y="1535113"/>
            <a:ext cx="4041775"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altLang="en-US"/>
          </a:p>
        </p:txBody>
      </p:sp>
      <p:sp>
        <p:nvSpPr>
          <p:cNvPr id="8" name="Footer Placeholder 4"/>
          <p:cNvSpPr>
            <a:spLocks noGrp="1"/>
          </p:cNvSpPr>
          <p:nvPr>
            <p:ph type="ftr" sz="quarter" idx="11"/>
          </p:nvPr>
        </p:nvSpPr>
        <p:spPr/>
        <p:txBody>
          <a:bodyPr/>
          <a:lstStyle>
            <a:lvl1pPr>
              <a:defRPr/>
            </a:lvl1pPr>
          </a:lstStyle>
          <a:p>
            <a:pPr>
              <a:defRPr/>
            </a:pPr>
            <a:endParaRPr lang="en-US" altLang="en-US"/>
          </a:p>
        </p:txBody>
      </p:sp>
      <p:sp>
        <p:nvSpPr>
          <p:cNvPr id="9" name="Slide Number Placeholder 5"/>
          <p:cNvSpPr>
            <a:spLocks noGrp="1"/>
          </p:cNvSpPr>
          <p:nvPr>
            <p:ph type="sldNum" sz="quarter" idx="12"/>
          </p:nvPr>
        </p:nvSpPr>
        <p:spPr/>
        <p:txBody>
          <a:bodyPr/>
          <a:lstStyle>
            <a:lvl1pPr>
              <a:defRPr/>
            </a:lvl1pPr>
          </a:lstStyle>
          <a:p>
            <a:pPr>
              <a:defRPr/>
            </a:pPr>
            <a:fld id="{64782A81-E48B-4154-B502-FF96730603D2}" type="slidenum">
              <a:rPr lang="en-US" altLang="en-US"/>
              <a:pPr>
                <a:defRPr/>
              </a:pPr>
              <a:t>‹#›</a:t>
            </a:fld>
            <a:endParaRPr lang="en-US" altLang="en-US"/>
          </a:p>
        </p:txBody>
      </p:sp>
    </p:spTree>
    <p:extLst>
      <p:ext uri="{BB962C8B-B14F-4D97-AF65-F5344CB8AC3E}">
        <p14:creationId xmlns:p14="http://schemas.microsoft.com/office/powerpoint/2010/main" val="40507528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altLang="en-US"/>
          </a:p>
        </p:txBody>
      </p:sp>
      <p:sp>
        <p:nvSpPr>
          <p:cNvPr id="4" name="Footer Placeholder 4"/>
          <p:cNvSpPr>
            <a:spLocks noGrp="1"/>
          </p:cNvSpPr>
          <p:nvPr>
            <p:ph type="ftr" sz="quarter" idx="11"/>
          </p:nvPr>
        </p:nvSpPr>
        <p:spPr/>
        <p:txBody>
          <a:bodyPr/>
          <a:lstStyle>
            <a:lvl1pPr>
              <a:defRPr/>
            </a:lvl1pPr>
          </a:lstStyle>
          <a:p>
            <a:pPr>
              <a:defRPr/>
            </a:pPr>
            <a:endParaRPr lang="en-US" altLang="en-US"/>
          </a:p>
        </p:txBody>
      </p:sp>
      <p:sp>
        <p:nvSpPr>
          <p:cNvPr id="5" name="Slide Number Placeholder 5"/>
          <p:cNvSpPr>
            <a:spLocks noGrp="1"/>
          </p:cNvSpPr>
          <p:nvPr>
            <p:ph type="sldNum" sz="quarter" idx="12"/>
          </p:nvPr>
        </p:nvSpPr>
        <p:spPr/>
        <p:txBody>
          <a:bodyPr/>
          <a:lstStyle>
            <a:lvl1pPr>
              <a:defRPr/>
            </a:lvl1pPr>
          </a:lstStyle>
          <a:p>
            <a:pPr>
              <a:defRPr/>
            </a:pPr>
            <a:fld id="{4A150630-B419-4A42-954F-112ACB49B458}" type="slidenum">
              <a:rPr lang="en-US" altLang="en-US"/>
              <a:pPr>
                <a:defRPr/>
              </a:pPr>
              <a:t>‹#›</a:t>
            </a:fld>
            <a:endParaRPr lang="en-US" altLang="en-US"/>
          </a:p>
        </p:txBody>
      </p:sp>
    </p:spTree>
    <p:extLst>
      <p:ext uri="{BB962C8B-B14F-4D97-AF65-F5344CB8AC3E}">
        <p14:creationId xmlns:p14="http://schemas.microsoft.com/office/powerpoint/2010/main" val="34513701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ltLang="en-US"/>
          </a:p>
        </p:txBody>
      </p:sp>
      <p:sp>
        <p:nvSpPr>
          <p:cNvPr id="3" name="Footer Placeholder 4"/>
          <p:cNvSpPr>
            <a:spLocks noGrp="1"/>
          </p:cNvSpPr>
          <p:nvPr>
            <p:ph type="ftr" sz="quarter" idx="11"/>
          </p:nvPr>
        </p:nvSpPr>
        <p:spPr/>
        <p:txBody>
          <a:bodyPr/>
          <a:lstStyle>
            <a:lvl1pPr>
              <a:defRPr/>
            </a:lvl1pPr>
          </a:lstStyle>
          <a:p>
            <a:pPr>
              <a:defRPr/>
            </a:pPr>
            <a:endParaRPr lang="en-US" altLang="en-US"/>
          </a:p>
        </p:txBody>
      </p:sp>
      <p:sp>
        <p:nvSpPr>
          <p:cNvPr id="4" name="Slide Number Placeholder 5"/>
          <p:cNvSpPr>
            <a:spLocks noGrp="1"/>
          </p:cNvSpPr>
          <p:nvPr>
            <p:ph type="sldNum" sz="quarter" idx="12"/>
          </p:nvPr>
        </p:nvSpPr>
        <p:spPr/>
        <p:txBody>
          <a:bodyPr/>
          <a:lstStyle>
            <a:lvl1pPr>
              <a:defRPr/>
            </a:lvl1pPr>
          </a:lstStyle>
          <a:p>
            <a:pPr>
              <a:defRPr/>
            </a:pPr>
            <a:fld id="{93A1FC86-5DAA-4F04-B5C3-4510FAF951C6}" type="slidenum">
              <a:rPr lang="en-US" altLang="en-US"/>
              <a:pPr>
                <a:defRPr/>
              </a:pPr>
              <a:t>‹#›</a:t>
            </a:fld>
            <a:endParaRPr lang="en-US" altLang="en-US"/>
          </a:p>
        </p:txBody>
      </p:sp>
    </p:spTree>
    <p:extLst>
      <p:ext uri="{BB962C8B-B14F-4D97-AF65-F5344CB8AC3E}">
        <p14:creationId xmlns:p14="http://schemas.microsoft.com/office/powerpoint/2010/main" val="3115941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US" altLang="en-US"/>
          </a:p>
        </p:txBody>
      </p:sp>
      <p:sp>
        <p:nvSpPr>
          <p:cNvPr id="7" name="Slide Number Placeholder 5"/>
          <p:cNvSpPr>
            <a:spLocks noGrp="1"/>
          </p:cNvSpPr>
          <p:nvPr>
            <p:ph type="sldNum" sz="quarter" idx="12"/>
          </p:nvPr>
        </p:nvSpPr>
        <p:spPr/>
        <p:txBody>
          <a:bodyPr/>
          <a:lstStyle>
            <a:lvl1pPr>
              <a:defRPr/>
            </a:lvl1pPr>
          </a:lstStyle>
          <a:p>
            <a:pPr>
              <a:defRPr/>
            </a:pPr>
            <a:fld id="{974B6446-8ABD-45B2-8685-F924643249C6}" type="slidenum">
              <a:rPr lang="en-US" altLang="en-US"/>
              <a:pPr>
                <a:defRPr/>
              </a:pPr>
              <a:t>‹#›</a:t>
            </a:fld>
            <a:endParaRPr lang="en-US" altLang="en-US"/>
          </a:p>
        </p:txBody>
      </p:sp>
    </p:spTree>
    <p:extLst>
      <p:ext uri="{BB962C8B-B14F-4D97-AF65-F5344CB8AC3E}">
        <p14:creationId xmlns:p14="http://schemas.microsoft.com/office/powerpoint/2010/main" val="26180778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US" altLang="en-US"/>
          </a:p>
        </p:txBody>
      </p:sp>
      <p:sp>
        <p:nvSpPr>
          <p:cNvPr id="7" name="Slide Number Placeholder 5"/>
          <p:cNvSpPr>
            <a:spLocks noGrp="1"/>
          </p:cNvSpPr>
          <p:nvPr>
            <p:ph type="sldNum" sz="quarter" idx="12"/>
          </p:nvPr>
        </p:nvSpPr>
        <p:spPr/>
        <p:txBody>
          <a:bodyPr/>
          <a:lstStyle>
            <a:lvl1pPr>
              <a:defRPr/>
            </a:lvl1pPr>
          </a:lstStyle>
          <a:p>
            <a:pPr>
              <a:defRPr/>
            </a:pPr>
            <a:fld id="{9DE3C015-2F60-49F7-B06C-FDE396BBCAA2}" type="slidenum">
              <a:rPr lang="en-US" altLang="en-US"/>
              <a:pPr>
                <a:defRPr/>
              </a:pPr>
              <a:t>‹#›</a:t>
            </a:fld>
            <a:endParaRPr lang="en-US" altLang="en-US"/>
          </a:p>
        </p:txBody>
      </p:sp>
    </p:spTree>
    <p:extLst>
      <p:ext uri="{BB962C8B-B14F-4D97-AF65-F5344CB8AC3E}">
        <p14:creationId xmlns:p14="http://schemas.microsoft.com/office/powerpoint/2010/main" val="2585008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ltLang="en-US"/>
          </a:p>
        </p:txBody>
      </p:sp>
      <p:sp>
        <p:nvSpPr>
          <p:cNvPr id="6" name="Slide Number Placeholder 5"/>
          <p:cNvSpPr>
            <a:spLocks noGrp="1"/>
          </p:cNvSpPr>
          <p:nvPr>
            <p:ph type="sldNum" sz="quarter" idx="12"/>
          </p:nvPr>
        </p:nvSpPr>
        <p:spPr/>
        <p:txBody>
          <a:bodyPr/>
          <a:lstStyle>
            <a:lvl1pPr>
              <a:defRPr/>
            </a:lvl1pPr>
          </a:lstStyle>
          <a:p>
            <a:pPr>
              <a:defRPr/>
            </a:pPr>
            <a:fld id="{FAF2EB04-A994-4F91-99FB-C6402A4518B2}" type="slidenum">
              <a:rPr lang="en-US" altLang="en-US"/>
              <a:pPr>
                <a:defRPr/>
              </a:pPr>
              <a:t>‹#›</a:t>
            </a:fld>
            <a:endParaRPr lang="en-US" altLang="en-US"/>
          </a:p>
        </p:txBody>
      </p:sp>
    </p:spTree>
    <p:extLst>
      <p:ext uri="{BB962C8B-B14F-4D97-AF65-F5344CB8AC3E}">
        <p14:creationId xmlns:p14="http://schemas.microsoft.com/office/powerpoint/2010/main" val="835659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2"/>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42"/>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ltLang="en-US"/>
          </a:p>
        </p:txBody>
      </p:sp>
      <p:sp>
        <p:nvSpPr>
          <p:cNvPr id="6" name="Slide Number Placeholder 5"/>
          <p:cNvSpPr>
            <a:spLocks noGrp="1"/>
          </p:cNvSpPr>
          <p:nvPr>
            <p:ph type="sldNum" sz="quarter" idx="12"/>
          </p:nvPr>
        </p:nvSpPr>
        <p:spPr/>
        <p:txBody>
          <a:bodyPr/>
          <a:lstStyle>
            <a:lvl1pPr>
              <a:defRPr/>
            </a:lvl1pPr>
          </a:lstStyle>
          <a:p>
            <a:pPr>
              <a:defRPr/>
            </a:pPr>
            <a:fld id="{07EB7F56-BCA8-4DF5-A492-DD3521E306E3}" type="slidenum">
              <a:rPr lang="en-US" altLang="en-US"/>
              <a:pPr>
                <a:defRPr/>
              </a:pPr>
              <a:t>‹#›</a:t>
            </a:fld>
            <a:endParaRPr lang="en-US" altLang="en-US"/>
          </a:p>
        </p:txBody>
      </p:sp>
    </p:spTree>
    <p:extLst>
      <p:ext uri="{BB962C8B-B14F-4D97-AF65-F5344CB8AC3E}">
        <p14:creationId xmlns:p14="http://schemas.microsoft.com/office/powerpoint/2010/main" val="947749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Click to edit Master title style</a:t>
            </a:r>
            <a:endParaRPr lang="en-US" altLang="en-US"/>
          </a:p>
        </p:txBody>
      </p:sp>
      <p:sp>
        <p:nvSpPr>
          <p:cNvPr id="1027" name="Text Placeholder 2"/>
          <p:cNvSpPr>
            <a:spLocks noGrp="1"/>
          </p:cNvSpPr>
          <p:nvPr>
            <p:ph type="body" idx="1"/>
          </p:nvPr>
        </p:nvSpPr>
        <p:spPr bwMode="auto">
          <a:xfrm>
            <a:off x="457200" y="1600204"/>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endParaRPr lang="en-US" altLang="en-US"/>
          </a:p>
        </p:txBody>
      </p:sp>
      <p:sp>
        <p:nvSpPr>
          <p:cNvPr id="4" name="Date Placeholder 3"/>
          <p:cNvSpPr>
            <a:spLocks noGrp="1"/>
          </p:cNvSpPr>
          <p:nvPr>
            <p:ph type="dt" sz="half" idx="2"/>
          </p:nvPr>
        </p:nvSpPr>
        <p:spPr>
          <a:xfrm>
            <a:off x="457200" y="6356354"/>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a:defRPr/>
            </a:pPr>
            <a:endParaRPr lang="en-US" altLang="en-US"/>
          </a:p>
        </p:txBody>
      </p:sp>
      <p:sp>
        <p:nvSpPr>
          <p:cNvPr id="5" name="Footer Placeholder 4"/>
          <p:cNvSpPr>
            <a:spLocks noGrp="1"/>
          </p:cNvSpPr>
          <p:nvPr>
            <p:ph type="ftr" sz="quarter" idx="3"/>
          </p:nvPr>
        </p:nvSpPr>
        <p:spPr>
          <a:xfrm>
            <a:off x="3124200" y="6356354"/>
            <a:ext cx="2895600"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a:defRPr/>
            </a:pPr>
            <a:endParaRPr lang="en-US" altLang="en-US"/>
          </a:p>
        </p:txBody>
      </p:sp>
      <p:sp>
        <p:nvSpPr>
          <p:cNvPr id="6" name="Slide Number Placeholder 5"/>
          <p:cNvSpPr>
            <a:spLocks noGrp="1"/>
          </p:cNvSpPr>
          <p:nvPr>
            <p:ph type="sldNum" sz="quarter" idx="4"/>
          </p:nvPr>
        </p:nvSpPr>
        <p:spPr>
          <a:xfrm>
            <a:off x="6553200" y="6356354"/>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smtClean="0">
                <a:solidFill>
                  <a:srgbClr val="898989"/>
                </a:solidFill>
              </a:defRPr>
            </a:lvl1pPr>
          </a:lstStyle>
          <a:p>
            <a:pPr>
              <a:defRPr/>
            </a:pPr>
            <a:fld id="{C1333BDE-453C-43DC-92F3-721F308E9618}" type="slidenum">
              <a:rPr lang="en-US" altLang="en-US"/>
              <a:pPr>
                <a:defRPr/>
              </a:pPr>
              <a:t>‹#›</a:t>
            </a:fld>
            <a:endParaRPr lang="en-US" altLang="en-US"/>
          </a:p>
        </p:txBody>
      </p:sp>
      <p:sp>
        <p:nvSpPr>
          <p:cNvPr id="2" name="MSIPCMContentMarking" descr="{&quot;HashCode&quot;:1068245140,&quot;Placement&quot;:&quot;Header&quot;,&quot;Top&quot;:0.0,&quot;Left&quot;:301.1819,&quot;SlideWidth&quot;:720,&quot;SlideHeight&quot;:540}">
            <a:extLst>
              <a:ext uri="{FF2B5EF4-FFF2-40B4-BE49-F238E27FC236}">
                <a16:creationId xmlns:a16="http://schemas.microsoft.com/office/drawing/2014/main" id="{9787CCB1-6053-BF84-C7F9-104F819ED930}"/>
              </a:ext>
            </a:extLst>
          </p:cNvPr>
          <p:cNvSpPr txBox="1"/>
          <p:nvPr userDrawn="1"/>
        </p:nvSpPr>
        <p:spPr>
          <a:xfrm>
            <a:off x="3825010" y="0"/>
            <a:ext cx="1493980" cy="228163"/>
          </a:xfrm>
          <a:prstGeom prst="rect">
            <a:avLst/>
          </a:prstGeom>
          <a:noFill/>
        </p:spPr>
        <p:txBody>
          <a:bodyPr vert="horz" wrap="square" lIns="0" tIns="0" rIns="0" bIns="0" rtlCol="0" anchor="ctr" anchorCtr="1">
            <a:spAutoFit/>
          </a:bodyPr>
          <a:lstStyle/>
          <a:p>
            <a:pPr algn="ctr">
              <a:spcBef>
                <a:spcPts val="0"/>
              </a:spcBef>
              <a:spcAft>
                <a:spcPts val="0"/>
              </a:spcAft>
            </a:pPr>
            <a:r>
              <a:rPr lang="en-SG" sz="800">
                <a:solidFill>
                  <a:srgbClr val="000000"/>
                </a:solidFill>
                <a:latin typeface="Calibri" panose="020F0502020204030204" pitchFamily="34" charset="0"/>
              </a:rPr>
              <a:t>SMU Classification: Restricted</a:t>
            </a:r>
          </a:p>
        </p:txBody>
      </p:sp>
    </p:spTree>
    <p:extLst>
      <p:ext uri="{BB962C8B-B14F-4D97-AF65-F5344CB8AC3E}">
        <p14:creationId xmlns:p14="http://schemas.microsoft.com/office/powerpoint/2010/main" val="14506494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57189" rtl="0" eaLnBrk="0" fontAlgn="base" hangingPunct="0">
        <a:spcBef>
          <a:spcPct val="0"/>
        </a:spcBef>
        <a:spcAft>
          <a:spcPct val="0"/>
        </a:spcAft>
        <a:defRPr sz="4400" kern="1200">
          <a:solidFill>
            <a:schemeClr val="tx1"/>
          </a:solidFill>
          <a:latin typeface="+mj-lt"/>
          <a:ea typeface="MS PGothic" panose="020B0600070205080204" pitchFamily="34" charset="-128"/>
          <a:cs typeface="MS PGothic" charset="0"/>
        </a:defRPr>
      </a:lvl1pPr>
      <a:lvl2pPr algn="ctr" defTabSz="457189" rtl="0" eaLnBrk="0" fontAlgn="base" hangingPunct="0">
        <a:spcBef>
          <a:spcPct val="0"/>
        </a:spcBef>
        <a:spcAft>
          <a:spcPct val="0"/>
        </a:spcAft>
        <a:defRPr sz="4400">
          <a:solidFill>
            <a:schemeClr val="tx1"/>
          </a:solidFill>
          <a:latin typeface="Calibri" charset="0"/>
          <a:ea typeface="MS PGothic" panose="020B0600070205080204" pitchFamily="34" charset="-128"/>
          <a:cs typeface="MS PGothic" charset="0"/>
        </a:defRPr>
      </a:lvl2pPr>
      <a:lvl3pPr algn="ctr" defTabSz="457189" rtl="0" eaLnBrk="0" fontAlgn="base" hangingPunct="0">
        <a:spcBef>
          <a:spcPct val="0"/>
        </a:spcBef>
        <a:spcAft>
          <a:spcPct val="0"/>
        </a:spcAft>
        <a:defRPr sz="4400">
          <a:solidFill>
            <a:schemeClr val="tx1"/>
          </a:solidFill>
          <a:latin typeface="Calibri" charset="0"/>
          <a:ea typeface="MS PGothic" panose="020B0600070205080204" pitchFamily="34" charset="-128"/>
          <a:cs typeface="MS PGothic" charset="0"/>
        </a:defRPr>
      </a:lvl3pPr>
      <a:lvl4pPr algn="ctr" defTabSz="457189" rtl="0" eaLnBrk="0" fontAlgn="base" hangingPunct="0">
        <a:spcBef>
          <a:spcPct val="0"/>
        </a:spcBef>
        <a:spcAft>
          <a:spcPct val="0"/>
        </a:spcAft>
        <a:defRPr sz="4400">
          <a:solidFill>
            <a:schemeClr val="tx1"/>
          </a:solidFill>
          <a:latin typeface="Calibri" charset="0"/>
          <a:ea typeface="MS PGothic" panose="020B0600070205080204" pitchFamily="34" charset="-128"/>
          <a:cs typeface="MS PGothic" charset="0"/>
        </a:defRPr>
      </a:lvl4pPr>
      <a:lvl5pPr algn="ctr" defTabSz="457189" rtl="0" eaLnBrk="0" fontAlgn="base" hangingPunct="0">
        <a:spcBef>
          <a:spcPct val="0"/>
        </a:spcBef>
        <a:spcAft>
          <a:spcPct val="0"/>
        </a:spcAft>
        <a:defRPr sz="4400">
          <a:solidFill>
            <a:schemeClr val="tx1"/>
          </a:solidFill>
          <a:latin typeface="Calibri" charset="0"/>
          <a:ea typeface="MS PGothic" panose="020B0600070205080204" pitchFamily="34" charset="-128"/>
          <a:cs typeface="MS PGothic" charset="0"/>
        </a:defRPr>
      </a:lvl5pPr>
      <a:lvl6pPr marL="457189" algn="ctr" defTabSz="457189"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377" algn="ctr" defTabSz="457189"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566" algn="ctr" defTabSz="457189"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754" algn="ctr" defTabSz="457189" rtl="0" fontAlgn="base">
        <a:spcBef>
          <a:spcPct val="0"/>
        </a:spcBef>
        <a:spcAft>
          <a:spcPct val="0"/>
        </a:spcAft>
        <a:defRPr sz="4400">
          <a:solidFill>
            <a:schemeClr val="tx1"/>
          </a:solidFill>
          <a:latin typeface="Calibri" charset="0"/>
          <a:ea typeface="ＭＳ Ｐゴシック" charset="0"/>
          <a:cs typeface="ＭＳ Ｐゴシック" charset="0"/>
        </a:defRPr>
      </a:lvl9pPr>
    </p:titleStyle>
    <p:bodyStyle>
      <a:lvl1pPr marL="342891" indent="-342891" algn="l" defTabSz="457189"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pitchFamily="34" charset="-128"/>
          <a:cs typeface="MS PGothic" charset="0"/>
        </a:defRPr>
      </a:lvl1pPr>
      <a:lvl2pPr marL="742932" indent="-285744" algn="l" defTabSz="457189"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S PGothic" panose="020B0600070205080204" pitchFamily="34" charset="-128"/>
          <a:cs typeface="MS PGothic" charset="0"/>
        </a:defRPr>
      </a:lvl2pPr>
      <a:lvl3pPr marL="1142971" indent="-228594" algn="l" defTabSz="457189"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pitchFamily="34" charset="-128"/>
          <a:cs typeface="MS PGothic" charset="0"/>
        </a:defRPr>
      </a:lvl3pPr>
      <a:lvl4pPr marL="1600160" indent="-228594" algn="l" defTabSz="457189"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S PGothic" charset="0"/>
        </a:defRPr>
      </a:lvl4pPr>
      <a:lvl5pPr marL="2057349" indent="-228594" algn="l" defTabSz="457189"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S PGothic" charset="0"/>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a:extLst>
              <a:ext uri="{FF2B5EF4-FFF2-40B4-BE49-F238E27FC236}">
                <a16:creationId xmlns:a16="http://schemas.microsoft.com/office/drawing/2014/main" id="{851ACAE3-8D45-4739-B398-8F17214B110E}"/>
              </a:ext>
            </a:extLst>
          </p:cNvPr>
          <p:cNvSpPr>
            <a:spLocks noGrp="1"/>
          </p:cNvSpPr>
          <p:nvPr>
            <p:ph type="subTitle" idx="1"/>
          </p:nvPr>
        </p:nvSpPr>
        <p:spPr>
          <a:xfrm>
            <a:off x="1371600" y="685800"/>
            <a:ext cx="6400800" cy="5029200"/>
          </a:xfrm>
        </p:spPr>
        <p:txBody>
          <a:bodyPr/>
          <a:lstStyle/>
          <a:p>
            <a:pPr eaLnBrk="1" hangingPunct="1"/>
            <a:r>
              <a:rPr lang="en-US" altLang="en-US" sz="6000" dirty="0">
                <a:solidFill>
                  <a:schemeClr val="tx1"/>
                </a:solidFill>
                <a:latin typeface="Times New Roman" panose="02020603050405020304" pitchFamily="18" charset="0"/>
                <a:cs typeface="Times New Roman" panose="02020603050405020304" pitchFamily="18" charset="0"/>
              </a:rPr>
              <a:t>Critical Thinking</a:t>
            </a:r>
          </a:p>
          <a:p>
            <a:pPr eaLnBrk="1" hangingPunct="1"/>
            <a:r>
              <a:rPr lang="en-US" altLang="en-US" sz="4000" dirty="0">
                <a:solidFill>
                  <a:schemeClr val="tx1"/>
                </a:solidFill>
                <a:latin typeface="Times New Roman" panose="02020603050405020304" pitchFamily="18" charset="0"/>
                <a:cs typeface="Times New Roman" panose="02020603050405020304" pitchFamily="18" charset="0"/>
              </a:rPr>
              <a:t>In the Real World</a:t>
            </a:r>
          </a:p>
          <a:p>
            <a:pPr eaLnBrk="1" hangingPunct="1"/>
            <a:endParaRPr lang="en-US" altLang="en-US" sz="4000" dirty="0">
              <a:solidFill>
                <a:schemeClr val="tx1"/>
              </a:solidFill>
              <a:latin typeface="Times New Roman" panose="02020603050405020304" pitchFamily="18" charset="0"/>
              <a:cs typeface="Times New Roman" panose="02020603050405020304" pitchFamily="18" charset="0"/>
            </a:endParaRPr>
          </a:p>
          <a:p>
            <a:pPr eaLnBrk="1" hangingPunct="1"/>
            <a:r>
              <a:rPr lang="en-US" altLang="en-US" sz="4000" dirty="0">
                <a:solidFill>
                  <a:schemeClr val="tx1"/>
                </a:solidFill>
                <a:latin typeface="Times New Roman" panose="02020603050405020304" pitchFamily="18" charset="0"/>
                <a:cs typeface="Times New Roman" panose="02020603050405020304" pitchFamily="18" charset="0"/>
              </a:rPr>
              <a:t>Seminar 5</a:t>
            </a:r>
          </a:p>
          <a:p>
            <a:pPr eaLnBrk="1" hangingPunct="1"/>
            <a:br>
              <a:rPr lang="en-US" altLang="en-US" sz="4000" b="1" dirty="0">
                <a:latin typeface="Times New Roman" panose="02020603050405020304" pitchFamily="18" charset="0"/>
                <a:cs typeface="Times New Roman" panose="02020603050405020304" pitchFamily="18" charset="0"/>
              </a:rPr>
            </a:br>
            <a:br>
              <a:rPr lang="en-US" altLang="en-US" sz="4000" b="1" dirty="0">
                <a:latin typeface="Times New Roman" panose="02020603050405020304" pitchFamily="18" charset="0"/>
                <a:cs typeface="Times New Roman" panose="02020603050405020304" pitchFamily="18" charset="0"/>
              </a:rPr>
            </a:br>
            <a:br>
              <a:rPr lang="en-US" altLang="en-US" sz="4000" b="1" dirty="0">
                <a:latin typeface="Times New Roman" panose="02020603050405020304" pitchFamily="18" charset="0"/>
                <a:cs typeface="Times New Roman" panose="02020603050405020304" pitchFamily="18" charset="0"/>
              </a:rPr>
            </a:br>
            <a:r>
              <a:rPr lang="en-US" altLang="en-US" sz="4000" b="1" dirty="0">
                <a:solidFill>
                  <a:schemeClr val="tx1"/>
                </a:solidFill>
                <a:latin typeface="Times New Roman"/>
                <a:ea typeface="MS PGothic"/>
                <a:cs typeface="Times New Roman"/>
              </a:rPr>
              <a:t>Sovan Patra</a:t>
            </a:r>
          </a:p>
        </p:txBody>
      </p:sp>
    </p:spTree>
  </p:cSld>
  <p:clrMapOvr>
    <a:masterClrMapping/>
  </p:clrMapOvr>
  <mc:AlternateContent xmlns:mc="http://schemas.openxmlformats.org/markup-compatibility/2006" xmlns:p14="http://schemas.microsoft.com/office/powerpoint/2010/main">
    <mc:Choice Requires="p14">
      <p:transition spd="slow" p14:dur="2000" advTm="70041"/>
    </mc:Choice>
    <mc:Fallback xmlns="">
      <p:transition spd="slow" advTm="70041"/>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nip and Round Single Corner Rectangle 7"/>
          <p:cNvSpPr/>
          <p:nvPr/>
        </p:nvSpPr>
        <p:spPr>
          <a:xfrm>
            <a:off x="3" y="6477001"/>
            <a:ext cx="8863013" cy="323851"/>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a:spcBef>
                <a:spcPct val="20000"/>
              </a:spcBef>
              <a:buFont typeface="Arial" panose="020B0604020202020204" pitchFamily="34" charset="0"/>
              <a:buChar char="•"/>
              <a:tabLst>
                <a:tab pos="4389438" algn="l"/>
              </a:tabLst>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tabLst>
                <a:tab pos="4389438" algn="l"/>
              </a:tabLst>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tabLst>
                <a:tab pos="4389438" algn="l"/>
              </a:tabLst>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9pPr>
          </a:lstStyle>
          <a:p>
            <a:pPr algn="r" fontAlgn="base">
              <a:spcBef>
                <a:spcPct val="0"/>
              </a:spcBef>
              <a:spcAft>
                <a:spcPct val="0"/>
              </a:spcAft>
              <a:buNone/>
              <a:defRPr/>
            </a:pPr>
            <a:fld id="{8704D032-DB13-428F-BB47-400F465B966E}" type="slidenum">
              <a:rPr lang="en-US" altLang="en-US" sz="1300">
                <a:solidFill>
                  <a:srgbClr val="FFFFFF"/>
                </a:solidFill>
                <a:latin typeface="Gill Sans MT" panose="020B0502020104020203" pitchFamily="34" charset="0"/>
              </a:rPr>
              <a:pPr algn="r" fontAlgn="base">
                <a:spcBef>
                  <a:spcPct val="0"/>
                </a:spcBef>
                <a:spcAft>
                  <a:spcPct val="0"/>
                </a:spcAft>
                <a:buNone/>
                <a:defRPr/>
              </a:pPr>
              <a:t>2</a:t>
            </a:fld>
            <a:endParaRPr lang="en-US" altLang="en-US" sz="1300" dirty="0">
              <a:solidFill>
                <a:srgbClr val="FFFFFF"/>
              </a:solidFill>
              <a:latin typeface="Gill Sans MT" panose="020B0502020104020203" pitchFamily="34" charset="0"/>
            </a:endParaRPr>
          </a:p>
        </p:txBody>
      </p:sp>
      <p:sp>
        <p:nvSpPr>
          <p:cNvPr id="9" name="Snip and Round Single Corner Rectangle 6">
            <a:extLst>
              <a:ext uri="{FF2B5EF4-FFF2-40B4-BE49-F238E27FC236}">
                <a16:creationId xmlns:a16="http://schemas.microsoft.com/office/drawing/2014/main" id="{DB9ADCB4-F609-4DF3-8150-29A1B7632E36}"/>
              </a:ext>
            </a:extLst>
          </p:cNvPr>
          <p:cNvSpPr/>
          <p:nvPr/>
        </p:nvSpPr>
        <p:spPr>
          <a:xfrm>
            <a:off x="2" y="95254"/>
            <a:ext cx="8863015" cy="860425"/>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fontAlgn="base">
              <a:spcBef>
                <a:spcPct val="0"/>
              </a:spcBef>
              <a:spcAft>
                <a:spcPct val="0"/>
              </a:spcAft>
              <a:defRPr/>
            </a:pPr>
            <a:r>
              <a:rPr lang="en-US" sz="3000" b="1" spc="-151" dirty="0">
                <a:solidFill>
                  <a:prstClr val="white"/>
                </a:solidFill>
                <a:latin typeface="Times New Roman" panose="02020603050405020304" pitchFamily="18" charset="0"/>
                <a:ea typeface="Tahoma" panose="020B0604030504040204" pitchFamily="34" charset="0"/>
                <a:cs typeface="Times New Roman" panose="02020603050405020304" pitchFamily="18" charset="0"/>
              </a:rPr>
              <a:t>A Preface</a:t>
            </a:r>
          </a:p>
        </p:txBody>
      </p:sp>
      <p:sp>
        <p:nvSpPr>
          <p:cNvPr id="4" name="TextBox 3">
            <a:extLst>
              <a:ext uri="{FF2B5EF4-FFF2-40B4-BE49-F238E27FC236}">
                <a16:creationId xmlns:a16="http://schemas.microsoft.com/office/drawing/2014/main" id="{B021987F-E292-FF27-3BAA-54553AFB2B0B}"/>
              </a:ext>
            </a:extLst>
          </p:cNvPr>
          <p:cNvSpPr txBox="1"/>
          <p:nvPr/>
        </p:nvSpPr>
        <p:spPr>
          <a:xfrm>
            <a:off x="150074" y="1398688"/>
            <a:ext cx="8253347" cy="5078313"/>
          </a:xfrm>
          <a:prstGeom prst="rect">
            <a:avLst/>
          </a:prstGeom>
          <a:noFill/>
        </p:spPr>
        <p:txBody>
          <a:bodyPr wrap="square">
            <a:spAutoFit/>
          </a:bodyPr>
          <a:lstStyle/>
          <a:p>
            <a:pPr rtl="0" fontAlgn="base">
              <a:spcBef>
                <a:spcPts val="0"/>
              </a:spcBef>
              <a:spcAft>
                <a:spcPts val="0"/>
              </a:spcAft>
              <a:buFont typeface="Arial" panose="020B0604020202020204" pitchFamily="34" charset="0"/>
              <a:buChar char="•"/>
            </a:pPr>
            <a:r>
              <a:rPr lang="en-US" sz="2400" b="1" i="0" u="none" strike="noStrike" dirty="0">
                <a:solidFill>
                  <a:srgbClr val="000000"/>
                </a:solidFill>
                <a:effectLst/>
                <a:latin typeface="Times New Roman" panose="02020603050405020304" pitchFamily="18" charset="0"/>
              </a:rPr>
              <a:t> Recall that a valid inference is necessary for an argument to be sound.</a:t>
            </a:r>
          </a:p>
          <a:p>
            <a:pPr rtl="0" fontAlgn="base">
              <a:spcBef>
                <a:spcPts val="0"/>
              </a:spcBef>
              <a:spcAft>
                <a:spcPts val="0"/>
              </a:spcAft>
            </a:pPr>
            <a:endParaRPr lang="en-US" sz="2400" b="1" dirty="0">
              <a:solidFill>
                <a:srgbClr val="000000"/>
              </a:solidFill>
              <a:latin typeface="Noto Sans Symbols"/>
            </a:endParaRPr>
          </a:p>
          <a:p>
            <a:pPr rtl="0" fontAlgn="base">
              <a:spcBef>
                <a:spcPts val="0"/>
              </a:spcBef>
              <a:spcAft>
                <a:spcPts val="0"/>
              </a:spcAft>
              <a:buFont typeface="Arial" panose="020B0604020202020204" pitchFamily="34" charset="0"/>
              <a:buChar char="•"/>
            </a:pPr>
            <a:r>
              <a:rPr lang="en-US" sz="2400" b="0" i="0" u="none" strike="noStrike" dirty="0">
                <a:solidFill>
                  <a:srgbClr val="000000"/>
                </a:solidFill>
                <a:effectLst/>
                <a:latin typeface="Times New Roman" panose="02020603050405020304" pitchFamily="18" charset="0"/>
              </a:rPr>
              <a:t> So far, we have assessed validity in a fairly intuitive manner.</a:t>
            </a:r>
          </a:p>
          <a:p>
            <a:pPr rtl="0" fontAlgn="base">
              <a:spcBef>
                <a:spcPts val="0"/>
              </a:spcBef>
              <a:spcAft>
                <a:spcPts val="0"/>
              </a:spcAft>
            </a:pPr>
            <a:endParaRPr lang="en-US" sz="2400" dirty="0">
              <a:solidFill>
                <a:srgbClr val="000000"/>
              </a:solidFill>
              <a:latin typeface="Noto Sans Symbols"/>
            </a:endParaRPr>
          </a:p>
          <a:p>
            <a:pPr rtl="0" fontAlgn="base">
              <a:spcBef>
                <a:spcPts val="0"/>
              </a:spcBef>
              <a:spcAft>
                <a:spcPts val="0"/>
              </a:spcAft>
              <a:buFont typeface="Arial" panose="020B0604020202020204" pitchFamily="34" charset="0"/>
              <a:buChar char="•"/>
            </a:pPr>
            <a:r>
              <a:rPr lang="en-US" sz="2400" b="0" i="0" u="none" strike="noStrike" dirty="0">
                <a:solidFill>
                  <a:srgbClr val="000000"/>
                </a:solidFill>
                <a:effectLst/>
                <a:latin typeface="Times New Roman" panose="02020603050405020304" pitchFamily="18" charset="0"/>
              </a:rPr>
              <a:t> Today, we look at an </a:t>
            </a:r>
            <a:r>
              <a:rPr lang="en-US" sz="2400" b="1" i="0" u="none" strike="noStrike" dirty="0">
                <a:solidFill>
                  <a:srgbClr val="000000"/>
                </a:solidFill>
                <a:effectLst/>
                <a:latin typeface="Times New Roman" panose="02020603050405020304" pitchFamily="18" charset="0"/>
              </a:rPr>
              <a:t>alternative way of establishing validity</a:t>
            </a:r>
            <a:r>
              <a:rPr lang="en-US" sz="2400" b="0" i="0" u="none" strike="noStrike" dirty="0">
                <a:solidFill>
                  <a:srgbClr val="000000"/>
                </a:solidFill>
                <a:effectLst/>
                <a:latin typeface="Times New Roman" panose="02020603050405020304" pitchFamily="18" charset="0"/>
              </a:rPr>
              <a:t>; this is done by </a:t>
            </a:r>
            <a:r>
              <a:rPr lang="en-US" sz="2400" b="1" i="0" u="none" strike="noStrike" dirty="0">
                <a:solidFill>
                  <a:srgbClr val="000000"/>
                </a:solidFill>
                <a:effectLst/>
                <a:latin typeface="Times New Roman" panose="02020603050405020304" pitchFamily="18" charset="0"/>
              </a:rPr>
              <a:t>appealing to the form of an argument</a:t>
            </a:r>
            <a:r>
              <a:rPr lang="en-US" sz="2400" b="0" i="0" u="none" strike="noStrike" dirty="0">
                <a:solidFill>
                  <a:srgbClr val="000000"/>
                </a:solidFill>
                <a:effectLst/>
                <a:latin typeface="Times New Roman" panose="02020603050405020304" pitchFamily="18" charset="0"/>
              </a:rPr>
              <a:t>.</a:t>
            </a:r>
          </a:p>
          <a:p>
            <a:pPr rtl="0" fontAlgn="base">
              <a:spcBef>
                <a:spcPts val="0"/>
              </a:spcBef>
              <a:spcAft>
                <a:spcPts val="0"/>
              </a:spcAft>
              <a:buFont typeface="Arial" panose="020B0604020202020204" pitchFamily="34" charset="0"/>
              <a:buChar char="•"/>
            </a:pPr>
            <a:endParaRPr lang="en-US" sz="2400" dirty="0">
              <a:solidFill>
                <a:srgbClr val="000000"/>
              </a:solidFill>
              <a:latin typeface="Times New Roman" panose="02020603050405020304" pitchFamily="18" charset="0"/>
            </a:endParaRPr>
          </a:p>
          <a:p>
            <a:pPr rtl="0" fontAlgn="base">
              <a:spcBef>
                <a:spcPts val="0"/>
              </a:spcBef>
              <a:spcAft>
                <a:spcPts val="0"/>
              </a:spcAft>
              <a:buFont typeface="Arial" panose="020B0604020202020204" pitchFamily="34" charset="0"/>
              <a:buChar char="•"/>
            </a:pPr>
            <a:r>
              <a:rPr lang="en-US" sz="2400" b="0" i="0" u="none" strike="noStrike" dirty="0">
                <a:solidFill>
                  <a:srgbClr val="000000"/>
                </a:solidFill>
                <a:effectLst/>
                <a:latin typeface="Times New Roman" panose="02020603050405020304" pitchFamily="18" charset="0"/>
              </a:rPr>
              <a:t> In technical terms, the elementary form of logic that deals with establishing validity by appealing to form is called </a:t>
            </a:r>
            <a:r>
              <a:rPr lang="en-US" sz="2400" b="1" i="0" u="none" strike="noStrike" dirty="0">
                <a:solidFill>
                  <a:srgbClr val="000000"/>
                </a:solidFill>
                <a:effectLst/>
                <a:latin typeface="Times New Roman" panose="02020603050405020304" pitchFamily="18" charset="0"/>
              </a:rPr>
              <a:t>propositional</a:t>
            </a:r>
            <a:r>
              <a:rPr lang="en-US" sz="2400" b="0" i="0" u="none" strike="noStrike" dirty="0">
                <a:solidFill>
                  <a:srgbClr val="000000"/>
                </a:solidFill>
                <a:effectLst/>
                <a:latin typeface="Times New Roman" panose="02020603050405020304" pitchFamily="18" charset="0"/>
              </a:rPr>
              <a:t> logic.</a:t>
            </a:r>
          </a:p>
          <a:p>
            <a:pPr rtl="0" fontAlgn="base">
              <a:spcBef>
                <a:spcPts val="0"/>
              </a:spcBef>
              <a:spcAft>
                <a:spcPts val="0"/>
              </a:spcAft>
            </a:pPr>
            <a:endParaRPr lang="en-US" sz="2400" b="0" i="0" u="none" strike="noStrike" dirty="0">
              <a:solidFill>
                <a:srgbClr val="000000"/>
              </a:solidFill>
              <a:effectLst/>
              <a:latin typeface="Noto Sans Symbols"/>
            </a:endParaRPr>
          </a:p>
          <a:p>
            <a:br>
              <a:rPr lang="en-US" dirty="0"/>
            </a:br>
            <a:endParaRPr lang="en-SG" dirty="0"/>
          </a:p>
        </p:txBody>
      </p:sp>
    </p:spTree>
    <p:extLst>
      <p:ext uri="{BB962C8B-B14F-4D97-AF65-F5344CB8AC3E}">
        <p14:creationId xmlns:p14="http://schemas.microsoft.com/office/powerpoint/2010/main" val="2375587361"/>
      </p:ext>
    </p:extLst>
  </p:cSld>
  <p:clrMapOvr>
    <a:masterClrMapping/>
  </p:clrMapOvr>
  <mc:AlternateContent xmlns:mc="http://schemas.openxmlformats.org/markup-compatibility/2006" xmlns:p14="http://schemas.microsoft.com/office/powerpoint/2010/main">
    <mc:Choice Requires="p14">
      <p:transition spd="slow" p14:dur="2000" advTm="65396"/>
    </mc:Choice>
    <mc:Fallback xmlns="">
      <p:transition spd="slow" advTm="65396"/>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nip and Round Single Corner Rectangle 7"/>
          <p:cNvSpPr/>
          <p:nvPr/>
        </p:nvSpPr>
        <p:spPr>
          <a:xfrm>
            <a:off x="3" y="6477001"/>
            <a:ext cx="8863013" cy="323851"/>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a:spcBef>
                <a:spcPct val="20000"/>
              </a:spcBef>
              <a:buFont typeface="Arial" panose="020B0604020202020204" pitchFamily="34" charset="0"/>
              <a:buChar char="•"/>
              <a:tabLst>
                <a:tab pos="4389438" algn="l"/>
              </a:tabLst>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tabLst>
                <a:tab pos="4389438" algn="l"/>
              </a:tabLst>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tabLst>
                <a:tab pos="4389438" algn="l"/>
              </a:tabLst>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9pPr>
          </a:lstStyle>
          <a:p>
            <a:pPr algn="r" fontAlgn="base">
              <a:spcBef>
                <a:spcPct val="0"/>
              </a:spcBef>
              <a:spcAft>
                <a:spcPct val="0"/>
              </a:spcAft>
              <a:buNone/>
              <a:defRPr/>
            </a:pPr>
            <a:fld id="{8704D032-DB13-428F-BB47-400F465B966E}" type="slidenum">
              <a:rPr lang="en-US" altLang="en-US" sz="1300">
                <a:solidFill>
                  <a:srgbClr val="FFFFFF"/>
                </a:solidFill>
                <a:latin typeface="Gill Sans MT" panose="020B0502020104020203" pitchFamily="34" charset="0"/>
              </a:rPr>
              <a:pPr algn="r" fontAlgn="base">
                <a:spcBef>
                  <a:spcPct val="0"/>
                </a:spcBef>
                <a:spcAft>
                  <a:spcPct val="0"/>
                </a:spcAft>
                <a:buNone/>
                <a:defRPr/>
              </a:pPr>
              <a:t>3</a:t>
            </a:fld>
            <a:endParaRPr lang="en-US" altLang="en-US" sz="1300" dirty="0">
              <a:solidFill>
                <a:srgbClr val="FFFFFF"/>
              </a:solidFill>
              <a:latin typeface="Gill Sans MT" panose="020B0502020104020203" pitchFamily="34" charset="0"/>
            </a:endParaRPr>
          </a:p>
        </p:txBody>
      </p:sp>
      <p:sp>
        <p:nvSpPr>
          <p:cNvPr id="6148" name="Rectangle 4"/>
          <p:cNvSpPr>
            <a:spLocks noGrp="1" noChangeArrowheads="1"/>
          </p:cNvSpPr>
          <p:nvPr>
            <p:ph idx="1"/>
          </p:nvPr>
        </p:nvSpPr>
        <p:spPr>
          <a:xfrm>
            <a:off x="186266" y="1011643"/>
            <a:ext cx="8676749" cy="4523582"/>
          </a:xfrm>
        </p:spPr>
        <p:txBody>
          <a:bodyPr/>
          <a:lstStyle/>
          <a:p>
            <a:pPr marL="0" indent="0" eaLnBrk="1" hangingPunct="1">
              <a:buNone/>
            </a:pPr>
            <a:r>
              <a:rPr lang="en-US" altLang="en-US" sz="2400" dirty="0">
                <a:latin typeface="Times New Roman"/>
                <a:ea typeface="MS PGothic"/>
                <a:cs typeface="Times New Roman"/>
              </a:rPr>
              <a:t>The rules of propositional logic can be applied whenever all premises and conclusions in an argument can be expressed either as ‘</a:t>
            </a:r>
            <a:r>
              <a:rPr lang="en-US" altLang="en-US" sz="2400" i="1" dirty="0">
                <a:latin typeface="Times New Roman"/>
                <a:ea typeface="MS PGothic"/>
                <a:cs typeface="Times New Roman"/>
              </a:rPr>
              <a:t>basic’ statements </a:t>
            </a:r>
            <a:r>
              <a:rPr lang="en-US" altLang="en-US" sz="2400" dirty="0">
                <a:latin typeface="Times New Roman"/>
                <a:ea typeface="MS PGothic"/>
                <a:cs typeface="Times New Roman"/>
              </a:rPr>
              <a:t>or as </a:t>
            </a:r>
            <a:r>
              <a:rPr lang="en-US" altLang="en-US" sz="2400" i="1" dirty="0">
                <a:latin typeface="Times New Roman"/>
                <a:ea typeface="MS PGothic"/>
                <a:cs typeface="Times New Roman"/>
              </a:rPr>
              <a:t>negations, disjunctions, conjunctions or conditionals </a:t>
            </a:r>
            <a:r>
              <a:rPr lang="en-US" altLang="en-US" sz="2400" dirty="0">
                <a:latin typeface="Times New Roman"/>
                <a:ea typeface="MS PGothic"/>
                <a:cs typeface="Times New Roman"/>
              </a:rPr>
              <a:t>involving the basic statements.</a:t>
            </a:r>
          </a:p>
          <a:p>
            <a:pPr marL="0" indent="0" eaLnBrk="1" hangingPunct="1">
              <a:buNone/>
            </a:pPr>
            <a:endParaRPr lang="en-US" altLang="en-US" sz="2400" dirty="0">
              <a:latin typeface="Times New Roman" panose="02020603050405020304" pitchFamily="18" charset="0"/>
              <a:cs typeface="Times New Roman" panose="02020603050405020304" pitchFamily="18" charset="0"/>
            </a:endParaRPr>
          </a:p>
          <a:p>
            <a:pPr marL="342265" indent="-342265" eaLnBrk="1" hangingPunct="1">
              <a:buFont typeface="Wingdings" panose="05000000000000000000" pitchFamily="2" charset="2"/>
              <a:buChar char="§"/>
            </a:pPr>
            <a:r>
              <a:rPr lang="en-US" altLang="en-US" sz="2400" dirty="0">
                <a:latin typeface="Times New Roman"/>
                <a:ea typeface="MS PGothic"/>
                <a:cs typeface="Times New Roman"/>
              </a:rPr>
              <a:t>If A stands for a basic statement, then its </a:t>
            </a:r>
            <a:r>
              <a:rPr lang="en-US" altLang="en-US" sz="2400" b="1" dirty="0">
                <a:latin typeface="Times New Roman"/>
                <a:ea typeface="MS PGothic"/>
                <a:cs typeface="Times New Roman"/>
              </a:rPr>
              <a:t>negation</a:t>
            </a:r>
            <a:r>
              <a:rPr lang="en-US" altLang="en-US" sz="2400" dirty="0">
                <a:latin typeface="Times New Roman"/>
                <a:ea typeface="MS PGothic"/>
                <a:cs typeface="Times New Roman"/>
              </a:rPr>
              <a:t> is </a:t>
            </a:r>
            <a:r>
              <a:rPr lang="en-US" altLang="en-US" sz="2400" i="1" dirty="0">
                <a:latin typeface="Times New Roman"/>
                <a:ea typeface="MS PGothic"/>
                <a:cs typeface="Times New Roman"/>
              </a:rPr>
              <a:t>not A</a:t>
            </a:r>
            <a:endParaRPr lang="en-US" altLang="en-US" sz="2400" dirty="0">
              <a:latin typeface="Times New Roman"/>
              <a:ea typeface="MS PGothic"/>
              <a:cs typeface="Times New Roman"/>
            </a:endParaRPr>
          </a:p>
          <a:p>
            <a:pPr marL="342265" indent="-342265" eaLnBrk="1" hangingPunct="1">
              <a:buFont typeface="Wingdings" panose="05000000000000000000" pitchFamily="2" charset="2"/>
              <a:buChar char="§"/>
            </a:pPr>
            <a:r>
              <a:rPr lang="en-US" altLang="en-US" sz="2400" dirty="0">
                <a:latin typeface="Times New Roman"/>
                <a:ea typeface="MS PGothic"/>
                <a:cs typeface="Times New Roman"/>
              </a:rPr>
              <a:t>If A and B are basic statements/negations, then a basic </a:t>
            </a:r>
            <a:r>
              <a:rPr lang="en-US" altLang="en-US" sz="2400" b="1" dirty="0">
                <a:latin typeface="Times New Roman"/>
                <a:ea typeface="MS PGothic"/>
                <a:cs typeface="Times New Roman"/>
              </a:rPr>
              <a:t>conditional</a:t>
            </a:r>
            <a:r>
              <a:rPr lang="en-US" altLang="en-US" sz="2400" dirty="0">
                <a:latin typeface="Times New Roman"/>
                <a:ea typeface="MS PGothic"/>
                <a:cs typeface="Times New Roman"/>
              </a:rPr>
              <a:t> statement is </a:t>
            </a:r>
            <a:r>
              <a:rPr lang="en-US" altLang="en-US" sz="2400" i="1" dirty="0">
                <a:latin typeface="Times New Roman"/>
                <a:ea typeface="MS PGothic"/>
                <a:cs typeface="Times New Roman"/>
              </a:rPr>
              <a:t>if A then B. </a:t>
            </a:r>
            <a:r>
              <a:rPr lang="en-US" altLang="en-US" sz="2400" dirty="0">
                <a:latin typeface="Times New Roman"/>
                <a:ea typeface="MS PGothic"/>
                <a:cs typeface="Times New Roman"/>
              </a:rPr>
              <a:t>A and B are called the </a:t>
            </a:r>
            <a:r>
              <a:rPr lang="en-US" altLang="en-US" sz="2400" i="1" dirty="0">
                <a:latin typeface="Times New Roman"/>
                <a:ea typeface="MS PGothic"/>
                <a:cs typeface="Times New Roman"/>
              </a:rPr>
              <a:t>antecedent</a:t>
            </a:r>
            <a:r>
              <a:rPr lang="en-US" altLang="en-US" sz="2400" dirty="0">
                <a:latin typeface="Times New Roman"/>
                <a:ea typeface="MS PGothic"/>
                <a:cs typeface="Times New Roman"/>
              </a:rPr>
              <a:t> and </a:t>
            </a:r>
            <a:r>
              <a:rPr lang="en-US" altLang="en-US" sz="2400" i="1" dirty="0">
                <a:latin typeface="Times New Roman"/>
                <a:ea typeface="MS PGothic"/>
                <a:cs typeface="Times New Roman"/>
              </a:rPr>
              <a:t>consequent</a:t>
            </a:r>
            <a:r>
              <a:rPr lang="en-US" altLang="en-US" sz="2400" dirty="0">
                <a:latin typeface="Times New Roman"/>
                <a:ea typeface="MS PGothic"/>
                <a:cs typeface="Times New Roman"/>
              </a:rPr>
              <a:t> of the conditional, respectively.</a:t>
            </a:r>
            <a:endParaRPr lang="en-US" altLang="en-US" sz="2400" i="1" dirty="0">
              <a:latin typeface="Times New Roman"/>
              <a:ea typeface="MS PGothic"/>
              <a:cs typeface="Times New Roman"/>
            </a:endParaRPr>
          </a:p>
          <a:p>
            <a:pPr marL="342265" indent="-342265" eaLnBrk="1" hangingPunct="1">
              <a:buFont typeface="Wingdings" panose="05000000000000000000" pitchFamily="2" charset="2"/>
              <a:buChar char="§"/>
            </a:pPr>
            <a:r>
              <a:rPr lang="en-US" altLang="en-US" sz="2400" dirty="0">
                <a:latin typeface="Times New Roman"/>
                <a:ea typeface="MS PGothic"/>
                <a:cs typeface="Times New Roman"/>
              </a:rPr>
              <a:t>If A and B are basic statements/negations, then a basic </a:t>
            </a:r>
            <a:r>
              <a:rPr lang="en-US" altLang="en-US" sz="2400" b="1" dirty="0">
                <a:latin typeface="Times New Roman"/>
                <a:ea typeface="MS PGothic"/>
                <a:cs typeface="Times New Roman"/>
              </a:rPr>
              <a:t>disjunction</a:t>
            </a:r>
            <a:r>
              <a:rPr lang="en-US" altLang="en-US" sz="2400" dirty="0">
                <a:latin typeface="Times New Roman"/>
                <a:ea typeface="MS PGothic"/>
                <a:cs typeface="Times New Roman"/>
              </a:rPr>
              <a:t> is </a:t>
            </a:r>
            <a:r>
              <a:rPr lang="en-US" altLang="en-US" sz="2400" i="1" dirty="0">
                <a:latin typeface="Times New Roman"/>
                <a:ea typeface="MS PGothic"/>
                <a:cs typeface="Times New Roman"/>
              </a:rPr>
              <a:t>either A or B. </a:t>
            </a:r>
            <a:r>
              <a:rPr lang="en-US" altLang="en-US" sz="2400" dirty="0">
                <a:latin typeface="Times New Roman"/>
                <a:ea typeface="MS PGothic"/>
                <a:cs typeface="Times New Roman"/>
              </a:rPr>
              <a:t>A and B are called the </a:t>
            </a:r>
            <a:r>
              <a:rPr lang="en-US" altLang="en-US" sz="2400" i="1" dirty="0">
                <a:latin typeface="Times New Roman"/>
                <a:ea typeface="MS PGothic"/>
                <a:cs typeface="Times New Roman"/>
              </a:rPr>
              <a:t>disjuncts</a:t>
            </a:r>
            <a:r>
              <a:rPr lang="en-US" altLang="en-US" sz="2400" dirty="0">
                <a:latin typeface="Times New Roman"/>
                <a:ea typeface="MS PGothic"/>
                <a:cs typeface="Times New Roman"/>
              </a:rPr>
              <a:t> of the disjunction.</a:t>
            </a:r>
          </a:p>
          <a:p>
            <a:pPr marL="342265" indent="-342265" eaLnBrk="1" hangingPunct="1">
              <a:buFont typeface="Wingdings" panose="05000000000000000000" pitchFamily="2" charset="2"/>
              <a:buChar char="§"/>
            </a:pPr>
            <a:r>
              <a:rPr lang="en-US" altLang="en-US" sz="2400" dirty="0">
                <a:latin typeface="Times New Roman"/>
                <a:ea typeface="MS PGothic"/>
                <a:cs typeface="Times New Roman"/>
              </a:rPr>
              <a:t>If A and B are basic statements, then a basic </a:t>
            </a:r>
            <a:r>
              <a:rPr lang="en-US" altLang="en-US" sz="2400" b="1" dirty="0">
                <a:latin typeface="Times New Roman"/>
                <a:ea typeface="MS PGothic"/>
                <a:cs typeface="Times New Roman"/>
              </a:rPr>
              <a:t>conjunction</a:t>
            </a:r>
            <a:r>
              <a:rPr lang="en-US" altLang="en-US" sz="2400" dirty="0">
                <a:latin typeface="Times New Roman"/>
                <a:ea typeface="MS PGothic"/>
                <a:cs typeface="Times New Roman"/>
              </a:rPr>
              <a:t> is </a:t>
            </a:r>
            <a:r>
              <a:rPr lang="en-US" altLang="en-US" sz="2400" i="1" dirty="0">
                <a:latin typeface="Times New Roman"/>
                <a:ea typeface="MS PGothic"/>
                <a:cs typeface="Times New Roman"/>
              </a:rPr>
              <a:t>A and B.</a:t>
            </a:r>
            <a:r>
              <a:rPr lang="en-US" altLang="en-US" sz="2400" dirty="0">
                <a:latin typeface="Times New Roman"/>
                <a:ea typeface="MS PGothic"/>
                <a:cs typeface="Times New Roman"/>
              </a:rPr>
              <a:t> A and B are called the </a:t>
            </a:r>
            <a:r>
              <a:rPr lang="en-US" altLang="en-US" sz="2400" i="1" dirty="0">
                <a:latin typeface="Times New Roman"/>
                <a:ea typeface="MS PGothic"/>
                <a:cs typeface="Times New Roman"/>
              </a:rPr>
              <a:t>conjuncts.</a:t>
            </a:r>
            <a:endParaRPr lang="en-US" altLang="en-US" sz="2400" dirty="0">
              <a:latin typeface="Times New Roman"/>
              <a:ea typeface="MS PGothic"/>
              <a:cs typeface="Times New Roman"/>
            </a:endParaRPr>
          </a:p>
          <a:p>
            <a:pPr marL="342265" indent="-342265" eaLnBrk="1" hangingPunct="1">
              <a:buFont typeface="Wingdings" panose="05000000000000000000" pitchFamily="2" charset="2"/>
              <a:buChar char="§"/>
            </a:pPr>
            <a:endParaRPr lang="en-US" altLang="en-US" sz="2400" b="1" dirty="0">
              <a:latin typeface="Times New Roman" panose="02020603050405020304" pitchFamily="18" charset="0"/>
              <a:cs typeface="Times New Roman" panose="02020603050405020304" pitchFamily="18" charset="0"/>
            </a:endParaRPr>
          </a:p>
          <a:p>
            <a:pPr marL="0" indent="0" eaLnBrk="1" hangingPunct="1">
              <a:buNone/>
            </a:pPr>
            <a:endParaRPr lang="en-US" altLang="en-US" sz="2400" b="1" dirty="0">
              <a:latin typeface="Times New Roman" panose="02020603050405020304" pitchFamily="18" charset="0"/>
              <a:cs typeface="Times New Roman" panose="02020603050405020304" pitchFamily="18" charset="0"/>
            </a:endParaRPr>
          </a:p>
        </p:txBody>
      </p:sp>
      <p:sp>
        <p:nvSpPr>
          <p:cNvPr id="9" name="Snip and Round Single Corner Rectangle 6">
            <a:extLst>
              <a:ext uri="{FF2B5EF4-FFF2-40B4-BE49-F238E27FC236}">
                <a16:creationId xmlns:a16="http://schemas.microsoft.com/office/drawing/2014/main" id="{DB9ADCB4-F609-4DF3-8150-29A1B7632E36}"/>
              </a:ext>
            </a:extLst>
          </p:cNvPr>
          <p:cNvSpPr/>
          <p:nvPr/>
        </p:nvSpPr>
        <p:spPr>
          <a:xfrm>
            <a:off x="2" y="29266"/>
            <a:ext cx="8863015" cy="860425"/>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fontAlgn="base">
              <a:spcBef>
                <a:spcPct val="0"/>
              </a:spcBef>
              <a:spcAft>
                <a:spcPct val="0"/>
              </a:spcAft>
              <a:defRPr/>
            </a:pPr>
            <a:r>
              <a:rPr lang="en-US" sz="3000" b="1" spc="-151" dirty="0">
                <a:solidFill>
                  <a:prstClr val="white"/>
                </a:solidFill>
                <a:latin typeface="Times New Roman" panose="02020603050405020304" pitchFamily="18" charset="0"/>
                <a:ea typeface="Tahoma" panose="020B0604030504040204" pitchFamily="34" charset="0"/>
                <a:cs typeface="Times New Roman" panose="02020603050405020304" pitchFamily="18" charset="0"/>
              </a:rPr>
              <a:t>Propositional Logic: A  brief  introduction</a:t>
            </a:r>
          </a:p>
        </p:txBody>
      </p:sp>
    </p:spTree>
    <p:extLst>
      <p:ext uri="{BB962C8B-B14F-4D97-AF65-F5344CB8AC3E}">
        <p14:creationId xmlns:p14="http://schemas.microsoft.com/office/powerpoint/2010/main" val="297278910"/>
      </p:ext>
    </p:extLst>
  </p:cSld>
  <p:clrMapOvr>
    <a:masterClrMapping/>
  </p:clrMapOvr>
  <mc:AlternateContent xmlns:mc="http://schemas.openxmlformats.org/markup-compatibility/2006" xmlns:p14="http://schemas.microsoft.com/office/powerpoint/2010/main">
    <mc:Choice Requires="p14">
      <p:transition spd="slow" p14:dur="2000" advTm="143300"/>
    </mc:Choice>
    <mc:Fallback xmlns="">
      <p:transition spd="slow" advTm="1433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nip and Round Single Corner Rectangle 7"/>
          <p:cNvSpPr/>
          <p:nvPr/>
        </p:nvSpPr>
        <p:spPr>
          <a:xfrm>
            <a:off x="3" y="6477001"/>
            <a:ext cx="8863013" cy="323851"/>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a:spcBef>
                <a:spcPct val="20000"/>
              </a:spcBef>
              <a:buFont typeface="Arial" panose="020B0604020202020204" pitchFamily="34" charset="0"/>
              <a:buChar char="•"/>
              <a:tabLst>
                <a:tab pos="4389438" algn="l"/>
              </a:tabLst>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tabLst>
                <a:tab pos="4389438" algn="l"/>
              </a:tabLst>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tabLst>
                <a:tab pos="4389438" algn="l"/>
              </a:tabLst>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9pPr>
          </a:lstStyle>
          <a:p>
            <a:pPr algn="r" fontAlgn="base">
              <a:spcBef>
                <a:spcPct val="0"/>
              </a:spcBef>
              <a:spcAft>
                <a:spcPct val="0"/>
              </a:spcAft>
              <a:buNone/>
              <a:defRPr/>
            </a:pPr>
            <a:fld id="{8704D032-DB13-428F-BB47-400F465B966E}" type="slidenum">
              <a:rPr lang="en-US" altLang="en-US" sz="1300">
                <a:solidFill>
                  <a:srgbClr val="FFFFFF"/>
                </a:solidFill>
                <a:latin typeface="Gill Sans MT" panose="020B0502020104020203" pitchFamily="34" charset="0"/>
              </a:rPr>
              <a:pPr algn="r" fontAlgn="base">
                <a:spcBef>
                  <a:spcPct val="0"/>
                </a:spcBef>
                <a:spcAft>
                  <a:spcPct val="0"/>
                </a:spcAft>
                <a:buNone/>
                <a:defRPr/>
              </a:pPr>
              <a:t>4</a:t>
            </a:fld>
            <a:endParaRPr lang="en-US" altLang="en-US" sz="1300" dirty="0">
              <a:solidFill>
                <a:srgbClr val="FFFFFF"/>
              </a:solidFill>
              <a:latin typeface="Gill Sans MT" panose="020B0502020104020203" pitchFamily="34" charset="0"/>
            </a:endParaRPr>
          </a:p>
        </p:txBody>
      </p:sp>
      <p:sp>
        <p:nvSpPr>
          <p:cNvPr id="6148" name="Rectangle 4"/>
          <p:cNvSpPr>
            <a:spLocks noGrp="1" noChangeArrowheads="1"/>
          </p:cNvSpPr>
          <p:nvPr>
            <p:ph idx="1"/>
          </p:nvPr>
        </p:nvSpPr>
        <p:spPr>
          <a:xfrm>
            <a:off x="186266" y="1166019"/>
            <a:ext cx="8676749" cy="4523582"/>
          </a:xfrm>
        </p:spPr>
        <p:txBody>
          <a:bodyPr/>
          <a:lstStyle/>
          <a:p>
            <a:pPr marL="0" indent="0" eaLnBrk="1" hangingPunct="1">
              <a:buNone/>
            </a:pPr>
            <a:r>
              <a:rPr lang="en-US" altLang="en-US" sz="2400" dirty="0">
                <a:latin typeface="Times New Roman"/>
                <a:ea typeface="MS PGothic"/>
                <a:cs typeface="Times New Roman"/>
              </a:rPr>
              <a:t>We begin by asking how the truth of  a ‘compound’ statement depends on the truth of the ‘basic’ statements that constitute it. </a:t>
            </a:r>
          </a:p>
          <a:p>
            <a:pPr marL="342265" indent="-342265" eaLnBrk="1" hangingPunct="1">
              <a:buFont typeface="Wingdings" panose="05000000000000000000" pitchFamily="2" charset="2"/>
              <a:buChar char="§"/>
            </a:pPr>
            <a:r>
              <a:rPr lang="en-US" altLang="en-US" sz="2400" dirty="0">
                <a:latin typeface="Times New Roman"/>
                <a:ea typeface="MS PGothic"/>
                <a:cs typeface="Times New Roman"/>
              </a:rPr>
              <a:t>An easy way of doing it is to draw a truth table.</a:t>
            </a:r>
          </a:p>
          <a:p>
            <a:pPr marL="342265" indent="-342265" eaLnBrk="1" hangingPunct="1">
              <a:buFont typeface="Wingdings" panose="05000000000000000000" pitchFamily="2" charset="2"/>
              <a:buChar char="§"/>
            </a:pPr>
            <a:endParaRPr lang="en-US" altLang="en-US" sz="2400" dirty="0">
              <a:latin typeface="Times New Roman" panose="02020603050405020304" pitchFamily="18" charset="0"/>
              <a:cs typeface="Times New Roman" panose="02020603050405020304" pitchFamily="18" charset="0"/>
            </a:endParaRPr>
          </a:p>
          <a:p>
            <a:pPr marL="0" indent="0" eaLnBrk="1" hangingPunct="1">
              <a:buNone/>
            </a:pPr>
            <a:r>
              <a:rPr lang="en-US" altLang="en-US" sz="2400" dirty="0">
                <a:latin typeface="Times New Roman"/>
                <a:ea typeface="MS PGothic"/>
                <a:cs typeface="Times New Roman"/>
              </a:rPr>
              <a:t>Lets illustrate truth tables with a </a:t>
            </a:r>
            <a:r>
              <a:rPr lang="en-US" altLang="en-US" sz="2400" dirty="0">
                <a:highlight>
                  <a:srgbClr val="FFFF00"/>
                </a:highlight>
                <a:latin typeface="Times New Roman"/>
                <a:ea typeface="MS PGothic"/>
                <a:cs typeface="Times New Roman"/>
              </a:rPr>
              <a:t>negation</a:t>
            </a:r>
            <a:r>
              <a:rPr lang="en-US" altLang="en-US" sz="2400" dirty="0">
                <a:latin typeface="Times New Roman"/>
                <a:ea typeface="MS PGothic"/>
                <a:cs typeface="Times New Roman"/>
              </a:rPr>
              <a:t>, first:</a:t>
            </a:r>
          </a:p>
          <a:p>
            <a:pPr marL="342265" indent="-342265" eaLnBrk="1" hangingPunct="1">
              <a:buFont typeface="Wingdings" panose="05000000000000000000" pitchFamily="2" charset="2"/>
              <a:buChar char="§"/>
            </a:pPr>
            <a:endParaRPr lang="en-US" altLang="en-US" sz="2400" dirty="0">
              <a:latin typeface="Times New Roman" panose="02020603050405020304" pitchFamily="18" charset="0"/>
              <a:cs typeface="Times New Roman" panose="02020603050405020304" pitchFamily="18" charset="0"/>
            </a:endParaRPr>
          </a:p>
          <a:p>
            <a:pPr marL="0" indent="0" eaLnBrk="1" hangingPunct="1">
              <a:buNone/>
            </a:pPr>
            <a:endParaRPr lang="en-US" altLang="en-US" sz="2400" dirty="0">
              <a:latin typeface="Times New Roman" panose="02020603050405020304" pitchFamily="18" charset="0"/>
              <a:cs typeface="Times New Roman" panose="02020603050405020304" pitchFamily="18" charset="0"/>
            </a:endParaRPr>
          </a:p>
          <a:p>
            <a:pPr marL="0" indent="0" eaLnBrk="1" hangingPunct="1">
              <a:buNone/>
            </a:pPr>
            <a:endParaRPr lang="en-US" altLang="en-US" sz="2400" dirty="0">
              <a:latin typeface="Times New Roman" panose="02020603050405020304" pitchFamily="18" charset="0"/>
              <a:cs typeface="Times New Roman" panose="02020603050405020304" pitchFamily="18" charset="0"/>
            </a:endParaRPr>
          </a:p>
          <a:p>
            <a:pPr marL="0" indent="0" eaLnBrk="1" hangingPunct="1">
              <a:buNone/>
            </a:pPr>
            <a:endParaRPr lang="en-US" altLang="en-US" sz="2400" dirty="0">
              <a:latin typeface="Times New Roman" panose="02020603050405020304" pitchFamily="18" charset="0"/>
              <a:cs typeface="Times New Roman" panose="02020603050405020304" pitchFamily="18" charset="0"/>
            </a:endParaRPr>
          </a:p>
          <a:p>
            <a:pPr marL="0" indent="0" eaLnBrk="1" hangingPunct="1">
              <a:buNone/>
            </a:pPr>
            <a:r>
              <a:rPr lang="en-US" altLang="en-US" sz="2400" dirty="0">
                <a:latin typeface="Times New Roman"/>
                <a:ea typeface="MS PGothic"/>
                <a:cs typeface="Times New Roman"/>
              </a:rPr>
              <a:t>So, a negation is true (false) </a:t>
            </a:r>
            <a:r>
              <a:rPr lang="en-US" altLang="en-US" sz="2400" b="1" dirty="0">
                <a:latin typeface="Times New Roman"/>
                <a:ea typeface="MS PGothic"/>
                <a:cs typeface="Times New Roman"/>
              </a:rPr>
              <a:t>if and only if</a:t>
            </a:r>
            <a:r>
              <a:rPr lang="en-US" altLang="en-US" sz="2400" dirty="0">
                <a:latin typeface="Times New Roman"/>
                <a:ea typeface="MS PGothic"/>
                <a:cs typeface="Times New Roman"/>
              </a:rPr>
              <a:t> what it is negating is false (true).</a:t>
            </a:r>
            <a:r>
              <a:rPr lang="en-US" altLang="en-US" sz="2400" b="1" dirty="0">
                <a:latin typeface="Times New Roman"/>
                <a:ea typeface="MS PGothic"/>
                <a:cs typeface="Times New Roman"/>
              </a:rPr>
              <a:t> </a:t>
            </a:r>
          </a:p>
        </p:txBody>
      </p:sp>
      <p:sp>
        <p:nvSpPr>
          <p:cNvPr id="9" name="Snip and Round Single Corner Rectangle 6">
            <a:extLst>
              <a:ext uri="{FF2B5EF4-FFF2-40B4-BE49-F238E27FC236}">
                <a16:creationId xmlns:a16="http://schemas.microsoft.com/office/drawing/2014/main" id="{DB9ADCB4-F609-4DF3-8150-29A1B7632E36}"/>
              </a:ext>
            </a:extLst>
          </p:cNvPr>
          <p:cNvSpPr/>
          <p:nvPr/>
        </p:nvSpPr>
        <p:spPr>
          <a:xfrm>
            <a:off x="2" y="29266"/>
            <a:ext cx="8863015" cy="860425"/>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fontAlgn="base">
              <a:spcBef>
                <a:spcPct val="0"/>
              </a:spcBef>
              <a:spcAft>
                <a:spcPct val="0"/>
              </a:spcAft>
              <a:defRPr/>
            </a:pPr>
            <a:r>
              <a:rPr lang="en-US" sz="3000" b="1" spc="-151" dirty="0">
                <a:solidFill>
                  <a:prstClr val="white"/>
                </a:solidFill>
                <a:latin typeface="Times New Roman" panose="02020603050405020304" pitchFamily="18" charset="0"/>
                <a:ea typeface="Tahoma" panose="020B0604030504040204" pitchFamily="34" charset="0"/>
                <a:cs typeface="Times New Roman" panose="02020603050405020304" pitchFamily="18" charset="0"/>
              </a:rPr>
              <a:t>Propositional Logic: Truth Conditions</a:t>
            </a:r>
          </a:p>
        </p:txBody>
      </p:sp>
      <p:graphicFrame>
        <p:nvGraphicFramePr>
          <p:cNvPr id="2" name="Table 2">
            <a:extLst>
              <a:ext uri="{FF2B5EF4-FFF2-40B4-BE49-F238E27FC236}">
                <a16:creationId xmlns:a16="http://schemas.microsoft.com/office/drawing/2014/main" id="{0FD88773-C0F1-4325-A66E-E062ED07F46E}"/>
              </a:ext>
            </a:extLst>
          </p:cNvPr>
          <p:cNvGraphicFramePr>
            <a:graphicFrameLocks noGrp="1"/>
          </p:cNvGraphicFramePr>
          <p:nvPr>
            <p:extLst>
              <p:ext uri="{D42A27DB-BD31-4B8C-83A1-F6EECF244321}">
                <p14:modId xmlns:p14="http://schemas.microsoft.com/office/powerpoint/2010/main" val="3491646520"/>
              </p:ext>
            </p:extLst>
          </p:nvPr>
        </p:nvGraphicFramePr>
        <p:xfrm>
          <a:off x="1524000" y="3529056"/>
          <a:ext cx="6096000" cy="109728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3760313434"/>
                    </a:ext>
                  </a:extLst>
                </a:gridCol>
                <a:gridCol w="3048000">
                  <a:extLst>
                    <a:ext uri="{9D8B030D-6E8A-4147-A177-3AD203B41FA5}">
                      <a16:colId xmlns:a16="http://schemas.microsoft.com/office/drawing/2014/main" val="3577459890"/>
                    </a:ext>
                  </a:extLst>
                </a:gridCol>
              </a:tblGrid>
              <a:tr h="358772">
                <a:tc>
                  <a:txBody>
                    <a:bodyPr/>
                    <a:lstStyle/>
                    <a:p>
                      <a:r>
                        <a:rPr lang="en-GB" dirty="0"/>
                        <a:t>                       A</a:t>
                      </a:r>
                      <a:endParaRPr lang="en-SG" dirty="0"/>
                    </a:p>
                  </a:txBody>
                  <a:tcPr/>
                </a:tc>
                <a:tc>
                  <a:txBody>
                    <a:bodyPr/>
                    <a:lstStyle/>
                    <a:p>
                      <a:r>
                        <a:rPr lang="en-GB" dirty="0"/>
                        <a:t>                  Not  A</a:t>
                      </a:r>
                      <a:endParaRPr lang="en-SG" dirty="0"/>
                    </a:p>
                  </a:txBody>
                  <a:tcPr/>
                </a:tc>
                <a:extLst>
                  <a:ext uri="{0D108BD9-81ED-4DB2-BD59-A6C34878D82A}">
                    <a16:rowId xmlns:a16="http://schemas.microsoft.com/office/drawing/2014/main" val="2253272469"/>
                  </a:ext>
                </a:extLst>
              </a:tr>
              <a:tr h="358772">
                <a:tc>
                  <a:txBody>
                    <a:bodyPr/>
                    <a:lstStyle/>
                    <a:p>
                      <a:r>
                        <a:rPr lang="en-GB" dirty="0"/>
                        <a:t>                        T</a:t>
                      </a:r>
                      <a:endParaRPr lang="en-SG" dirty="0"/>
                    </a:p>
                  </a:txBody>
                  <a:tcPr/>
                </a:tc>
                <a:tc>
                  <a:txBody>
                    <a:bodyPr/>
                    <a:lstStyle/>
                    <a:p>
                      <a:r>
                        <a:rPr lang="en-GB" dirty="0"/>
                        <a:t>                      F</a:t>
                      </a:r>
                      <a:endParaRPr lang="en-SG" dirty="0"/>
                    </a:p>
                  </a:txBody>
                  <a:tcPr/>
                </a:tc>
                <a:extLst>
                  <a:ext uri="{0D108BD9-81ED-4DB2-BD59-A6C34878D82A}">
                    <a16:rowId xmlns:a16="http://schemas.microsoft.com/office/drawing/2014/main" val="1866671445"/>
                  </a:ext>
                </a:extLst>
              </a:tr>
              <a:tr h="358772">
                <a:tc>
                  <a:txBody>
                    <a:bodyPr/>
                    <a:lstStyle/>
                    <a:p>
                      <a:r>
                        <a:rPr lang="en-GB" dirty="0"/>
                        <a:t>                         F</a:t>
                      </a:r>
                      <a:endParaRPr lang="en-SG" dirty="0"/>
                    </a:p>
                  </a:txBody>
                  <a:tcPr/>
                </a:tc>
                <a:tc>
                  <a:txBody>
                    <a:bodyPr/>
                    <a:lstStyle/>
                    <a:p>
                      <a:r>
                        <a:rPr lang="en-GB" dirty="0"/>
                        <a:t>                       T</a:t>
                      </a:r>
                      <a:endParaRPr lang="en-SG" dirty="0"/>
                    </a:p>
                  </a:txBody>
                  <a:tcPr/>
                </a:tc>
                <a:extLst>
                  <a:ext uri="{0D108BD9-81ED-4DB2-BD59-A6C34878D82A}">
                    <a16:rowId xmlns:a16="http://schemas.microsoft.com/office/drawing/2014/main" val="4253637552"/>
                  </a:ext>
                </a:extLst>
              </a:tr>
            </a:tbl>
          </a:graphicData>
        </a:graphic>
      </p:graphicFrame>
    </p:spTree>
    <p:extLst>
      <p:ext uri="{BB962C8B-B14F-4D97-AF65-F5344CB8AC3E}">
        <p14:creationId xmlns:p14="http://schemas.microsoft.com/office/powerpoint/2010/main" val="1012772198"/>
      </p:ext>
    </p:extLst>
  </p:cSld>
  <p:clrMapOvr>
    <a:masterClrMapping/>
  </p:clrMapOvr>
  <mc:AlternateContent xmlns:mc="http://schemas.openxmlformats.org/markup-compatibility/2006" xmlns:p14="http://schemas.microsoft.com/office/powerpoint/2010/main">
    <mc:Choice Requires="p14">
      <p:transition spd="slow" p14:dur="2000" advTm="80009"/>
    </mc:Choice>
    <mc:Fallback xmlns="">
      <p:transition spd="slow" advTm="80009"/>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nip and Round Single Corner Rectangle 7"/>
          <p:cNvSpPr/>
          <p:nvPr/>
        </p:nvSpPr>
        <p:spPr>
          <a:xfrm>
            <a:off x="3" y="6477001"/>
            <a:ext cx="8863013" cy="323851"/>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a:spcBef>
                <a:spcPct val="20000"/>
              </a:spcBef>
              <a:buFont typeface="Arial" panose="020B0604020202020204" pitchFamily="34" charset="0"/>
              <a:buChar char="•"/>
              <a:tabLst>
                <a:tab pos="4389438" algn="l"/>
              </a:tabLst>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tabLst>
                <a:tab pos="4389438" algn="l"/>
              </a:tabLst>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tabLst>
                <a:tab pos="4389438" algn="l"/>
              </a:tabLst>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9pPr>
          </a:lstStyle>
          <a:p>
            <a:pPr algn="r" fontAlgn="base">
              <a:spcBef>
                <a:spcPct val="0"/>
              </a:spcBef>
              <a:spcAft>
                <a:spcPct val="0"/>
              </a:spcAft>
              <a:buNone/>
              <a:defRPr/>
            </a:pPr>
            <a:fld id="{8704D032-DB13-428F-BB47-400F465B966E}" type="slidenum">
              <a:rPr lang="en-US" altLang="en-US" sz="1300">
                <a:solidFill>
                  <a:srgbClr val="FFFFFF"/>
                </a:solidFill>
                <a:latin typeface="Gill Sans MT" panose="020B0502020104020203" pitchFamily="34" charset="0"/>
              </a:rPr>
              <a:pPr algn="r" fontAlgn="base">
                <a:spcBef>
                  <a:spcPct val="0"/>
                </a:spcBef>
                <a:spcAft>
                  <a:spcPct val="0"/>
                </a:spcAft>
                <a:buNone/>
                <a:defRPr/>
              </a:pPr>
              <a:t>5</a:t>
            </a:fld>
            <a:endParaRPr lang="en-US" altLang="en-US" sz="1300" dirty="0">
              <a:solidFill>
                <a:srgbClr val="FFFFFF"/>
              </a:solidFill>
              <a:latin typeface="Gill Sans MT" panose="020B0502020104020203" pitchFamily="34" charset="0"/>
            </a:endParaRPr>
          </a:p>
        </p:txBody>
      </p:sp>
      <p:sp>
        <p:nvSpPr>
          <p:cNvPr id="6148" name="Rectangle 4"/>
          <p:cNvSpPr>
            <a:spLocks noGrp="1" noChangeArrowheads="1"/>
          </p:cNvSpPr>
          <p:nvPr>
            <p:ph idx="1"/>
          </p:nvPr>
        </p:nvSpPr>
        <p:spPr>
          <a:xfrm>
            <a:off x="186266" y="1166019"/>
            <a:ext cx="8676749" cy="4523582"/>
          </a:xfrm>
        </p:spPr>
        <p:txBody>
          <a:bodyPr/>
          <a:lstStyle/>
          <a:p>
            <a:pPr marL="0" indent="0" eaLnBrk="1" hangingPunct="1">
              <a:buNone/>
            </a:pPr>
            <a:r>
              <a:rPr lang="en-US" altLang="en-US" sz="2400" dirty="0">
                <a:latin typeface="Times New Roman"/>
                <a:ea typeface="MS PGothic"/>
                <a:cs typeface="Times New Roman"/>
              </a:rPr>
              <a:t>Now, the truth table for the </a:t>
            </a:r>
            <a:r>
              <a:rPr lang="en-US" altLang="en-US" sz="2400" dirty="0">
                <a:highlight>
                  <a:srgbClr val="FFFF00"/>
                </a:highlight>
                <a:latin typeface="Times New Roman"/>
                <a:ea typeface="MS PGothic"/>
                <a:cs typeface="Times New Roman"/>
              </a:rPr>
              <a:t>conjunction</a:t>
            </a:r>
            <a:r>
              <a:rPr lang="en-US" altLang="en-US" sz="2400" dirty="0">
                <a:latin typeface="Times New Roman"/>
                <a:ea typeface="MS PGothic"/>
                <a:cs typeface="Times New Roman"/>
              </a:rPr>
              <a:t>:</a:t>
            </a:r>
          </a:p>
          <a:p>
            <a:pPr marL="342265" indent="-342265" eaLnBrk="1" hangingPunct="1">
              <a:buFont typeface="Wingdings" panose="05000000000000000000" pitchFamily="2" charset="2"/>
              <a:buChar char="§"/>
            </a:pPr>
            <a:endParaRPr lang="en-US" altLang="en-US" sz="2400" b="1" dirty="0">
              <a:latin typeface="Times New Roman" panose="02020603050405020304" pitchFamily="18" charset="0"/>
              <a:cs typeface="Times New Roman" panose="02020603050405020304" pitchFamily="18" charset="0"/>
            </a:endParaRPr>
          </a:p>
          <a:p>
            <a:pPr marL="0" indent="0" eaLnBrk="1" hangingPunct="1">
              <a:buNone/>
            </a:pPr>
            <a:endParaRPr lang="en-US" altLang="en-US" sz="2400" b="1" dirty="0">
              <a:latin typeface="Times New Roman" panose="02020603050405020304" pitchFamily="18" charset="0"/>
              <a:cs typeface="Times New Roman" panose="02020603050405020304" pitchFamily="18" charset="0"/>
            </a:endParaRPr>
          </a:p>
          <a:p>
            <a:pPr marL="0" indent="0" eaLnBrk="1" hangingPunct="1">
              <a:buNone/>
            </a:pPr>
            <a:endParaRPr lang="en-US" altLang="en-US" sz="2400" b="1" dirty="0">
              <a:latin typeface="Times New Roman" panose="02020603050405020304" pitchFamily="18" charset="0"/>
              <a:cs typeface="Times New Roman" panose="02020603050405020304" pitchFamily="18" charset="0"/>
            </a:endParaRPr>
          </a:p>
          <a:p>
            <a:pPr marL="0" indent="0" eaLnBrk="1" hangingPunct="1">
              <a:buNone/>
            </a:pPr>
            <a:endParaRPr lang="en-US" altLang="en-US" sz="2400" b="1" dirty="0">
              <a:latin typeface="Times New Roman" panose="02020603050405020304" pitchFamily="18" charset="0"/>
              <a:cs typeface="Times New Roman" panose="02020603050405020304" pitchFamily="18" charset="0"/>
            </a:endParaRPr>
          </a:p>
        </p:txBody>
      </p:sp>
      <p:sp>
        <p:nvSpPr>
          <p:cNvPr id="9" name="Snip and Round Single Corner Rectangle 6">
            <a:extLst>
              <a:ext uri="{FF2B5EF4-FFF2-40B4-BE49-F238E27FC236}">
                <a16:creationId xmlns:a16="http://schemas.microsoft.com/office/drawing/2014/main" id="{DB9ADCB4-F609-4DF3-8150-29A1B7632E36}"/>
              </a:ext>
            </a:extLst>
          </p:cNvPr>
          <p:cNvSpPr/>
          <p:nvPr/>
        </p:nvSpPr>
        <p:spPr>
          <a:xfrm>
            <a:off x="2" y="29266"/>
            <a:ext cx="8863015" cy="860425"/>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fontAlgn="base">
              <a:spcBef>
                <a:spcPct val="0"/>
              </a:spcBef>
              <a:spcAft>
                <a:spcPct val="0"/>
              </a:spcAft>
              <a:defRPr/>
            </a:pPr>
            <a:r>
              <a:rPr lang="en-US" sz="3000" b="1" spc="-151" dirty="0">
                <a:solidFill>
                  <a:prstClr val="white"/>
                </a:solidFill>
                <a:latin typeface="Times New Roman" panose="02020603050405020304" pitchFamily="18" charset="0"/>
                <a:ea typeface="Tahoma" panose="020B0604030504040204" pitchFamily="34" charset="0"/>
                <a:cs typeface="Times New Roman" panose="02020603050405020304" pitchFamily="18" charset="0"/>
              </a:rPr>
              <a:t>Propositional Logic: Truth Conditions</a:t>
            </a:r>
          </a:p>
        </p:txBody>
      </p:sp>
      <p:graphicFrame>
        <p:nvGraphicFramePr>
          <p:cNvPr id="3" name="Table 3">
            <a:extLst>
              <a:ext uri="{FF2B5EF4-FFF2-40B4-BE49-F238E27FC236}">
                <a16:creationId xmlns:a16="http://schemas.microsoft.com/office/drawing/2014/main" id="{5B284A63-674A-4A0E-B809-5B52D9280C1E}"/>
              </a:ext>
            </a:extLst>
          </p:cNvPr>
          <p:cNvGraphicFramePr>
            <a:graphicFrameLocks noGrp="1"/>
          </p:cNvGraphicFramePr>
          <p:nvPr>
            <p:extLst>
              <p:ext uri="{D42A27DB-BD31-4B8C-83A1-F6EECF244321}">
                <p14:modId xmlns:p14="http://schemas.microsoft.com/office/powerpoint/2010/main" val="3475817663"/>
              </p:ext>
            </p:extLst>
          </p:nvPr>
        </p:nvGraphicFramePr>
        <p:xfrm>
          <a:off x="1549413" y="2025248"/>
          <a:ext cx="5764191" cy="1828800"/>
        </p:xfrm>
        <a:graphic>
          <a:graphicData uri="http://schemas.openxmlformats.org/drawingml/2006/table">
            <a:tbl>
              <a:tblPr firstRow="1" bandRow="1">
                <a:tableStyleId>{5C22544A-7EE6-4342-B048-85BDC9FD1C3A}</a:tableStyleId>
              </a:tblPr>
              <a:tblGrid>
                <a:gridCol w="1921397">
                  <a:extLst>
                    <a:ext uri="{9D8B030D-6E8A-4147-A177-3AD203B41FA5}">
                      <a16:colId xmlns:a16="http://schemas.microsoft.com/office/drawing/2014/main" val="1558583378"/>
                    </a:ext>
                  </a:extLst>
                </a:gridCol>
                <a:gridCol w="1921397">
                  <a:extLst>
                    <a:ext uri="{9D8B030D-6E8A-4147-A177-3AD203B41FA5}">
                      <a16:colId xmlns:a16="http://schemas.microsoft.com/office/drawing/2014/main" val="2897636492"/>
                    </a:ext>
                  </a:extLst>
                </a:gridCol>
                <a:gridCol w="1921397">
                  <a:extLst>
                    <a:ext uri="{9D8B030D-6E8A-4147-A177-3AD203B41FA5}">
                      <a16:colId xmlns:a16="http://schemas.microsoft.com/office/drawing/2014/main" val="3409066784"/>
                    </a:ext>
                  </a:extLst>
                </a:gridCol>
              </a:tblGrid>
              <a:tr h="175935">
                <a:tc>
                  <a:txBody>
                    <a:bodyPr/>
                    <a:lstStyle/>
                    <a:p>
                      <a:r>
                        <a:rPr lang="en-GB" dirty="0"/>
                        <a:t>              A</a:t>
                      </a:r>
                      <a:endParaRPr lang="en-SG" dirty="0"/>
                    </a:p>
                  </a:txBody>
                  <a:tcPr/>
                </a:tc>
                <a:tc>
                  <a:txBody>
                    <a:bodyPr/>
                    <a:lstStyle/>
                    <a:p>
                      <a:r>
                        <a:rPr lang="en-GB" dirty="0"/>
                        <a:t>               B</a:t>
                      </a:r>
                      <a:endParaRPr lang="en-SG" dirty="0"/>
                    </a:p>
                  </a:txBody>
                  <a:tcPr/>
                </a:tc>
                <a:tc>
                  <a:txBody>
                    <a:bodyPr/>
                    <a:lstStyle/>
                    <a:p>
                      <a:r>
                        <a:rPr lang="en-GB" dirty="0"/>
                        <a:t>          A and B</a:t>
                      </a:r>
                      <a:endParaRPr lang="en-SG" dirty="0"/>
                    </a:p>
                  </a:txBody>
                  <a:tcPr/>
                </a:tc>
                <a:extLst>
                  <a:ext uri="{0D108BD9-81ED-4DB2-BD59-A6C34878D82A}">
                    <a16:rowId xmlns:a16="http://schemas.microsoft.com/office/drawing/2014/main" val="3958162147"/>
                  </a:ext>
                </a:extLst>
              </a:tr>
              <a:tr h="175935">
                <a:tc>
                  <a:txBody>
                    <a:bodyPr/>
                    <a:lstStyle/>
                    <a:p>
                      <a:r>
                        <a:rPr lang="en-GB" dirty="0"/>
                        <a:t>               T</a:t>
                      </a:r>
                      <a:endParaRPr lang="en-SG" dirty="0"/>
                    </a:p>
                  </a:txBody>
                  <a:tcPr/>
                </a:tc>
                <a:tc>
                  <a:txBody>
                    <a:bodyPr/>
                    <a:lstStyle/>
                    <a:p>
                      <a:r>
                        <a:rPr lang="en-GB" dirty="0"/>
                        <a:t>              T</a:t>
                      </a:r>
                      <a:endParaRPr lang="en-SG" dirty="0"/>
                    </a:p>
                  </a:txBody>
                  <a:tcPr/>
                </a:tc>
                <a:tc>
                  <a:txBody>
                    <a:bodyPr/>
                    <a:lstStyle/>
                    <a:p>
                      <a:r>
                        <a:rPr lang="en-GB" dirty="0"/>
                        <a:t>               T</a:t>
                      </a:r>
                      <a:endParaRPr lang="en-SG" dirty="0"/>
                    </a:p>
                  </a:txBody>
                  <a:tcPr/>
                </a:tc>
                <a:extLst>
                  <a:ext uri="{0D108BD9-81ED-4DB2-BD59-A6C34878D82A}">
                    <a16:rowId xmlns:a16="http://schemas.microsoft.com/office/drawing/2014/main" val="3409280451"/>
                  </a:ext>
                </a:extLst>
              </a:tr>
              <a:tr h="175935">
                <a:tc>
                  <a:txBody>
                    <a:bodyPr/>
                    <a:lstStyle/>
                    <a:p>
                      <a:r>
                        <a:rPr lang="en-GB" dirty="0"/>
                        <a:t>               T</a:t>
                      </a:r>
                      <a:endParaRPr lang="en-SG" dirty="0"/>
                    </a:p>
                  </a:txBody>
                  <a:tcPr/>
                </a:tc>
                <a:tc>
                  <a:txBody>
                    <a:bodyPr/>
                    <a:lstStyle/>
                    <a:p>
                      <a:r>
                        <a:rPr lang="en-GB" dirty="0"/>
                        <a:t>              F </a:t>
                      </a:r>
                      <a:endParaRPr lang="en-SG" dirty="0"/>
                    </a:p>
                  </a:txBody>
                  <a:tcPr/>
                </a:tc>
                <a:tc>
                  <a:txBody>
                    <a:bodyPr/>
                    <a:lstStyle/>
                    <a:p>
                      <a:r>
                        <a:rPr lang="en-GB" dirty="0"/>
                        <a:t>               F</a:t>
                      </a:r>
                      <a:endParaRPr lang="en-SG" dirty="0"/>
                    </a:p>
                  </a:txBody>
                  <a:tcPr/>
                </a:tc>
                <a:extLst>
                  <a:ext uri="{0D108BD9-81ED-4DB2-BD59-A6C34878D82A}">
                    <a16:rowId xmlns:a16="http://schemas.microsoft.com/office/drawing/2014/main" val="3809634044"/>
                  </a:ext>
                </a:extLst>
              </a:tr>
              <a:tr h="175935">
                <a:tc>
                  <a:txBody>
                    <a:bodyPr/>
                    <a:lstStyle/>
                    <a:p>
                      <a:r>
                        <a:rPr lang="en-GB" dirty="0"/>
                        <a:t>               F</a:t>
                      </a:r>
                      <a:endParaRPr lang="en-SG" dirty="0"/>
                    </a:p>
                  </a:txBody>
                  <a:tcPr/>
                </a:tc>
                <a:tc>
                  <a:txBody>
                    <a:bodyPr/>
                    <a:lstStyle/>
                    <a:p>
                      <a:r>
                        <a:rPr lang="en-GB" dirty="0"/>
                        <a:t>              T</a:t>
                      </a:r>
                      <a:endParaRPr lang="en-SG" dirty="0"/>
                    </a:p>
                  </a:txBody>
                  <a:tcPr/>
                </a:tc>
                <a:tc>
                  <a:txBody>
                    <a:bodyPr/>
                    <a:lstStyle/>
                    <a:p>
                      <a:r>
                        <a:rPr lang="en-GB" dirty="0"/>
                        <a:t>               F</a:t>
                      </a:r>
                      <a:endParaRPr lang="en-SG" dirty="0"/>
                    </a:p>
                  </a:txBody>
                  <a:tcPr/>
                </a:tc>
                <a:extLst>
                  <a:ext uri="{0D108BD9-81ED-4DB2-BD59-A6C34878D82A}">
                    <a16:rowId xmlns:a16="http://schemas.microsoft.com/office/drawing/2014/main" val="2330790153"/>
                  </a:ext>
                </a:extLst>
              </a:tr>
              <a:tr h="175935">
                <a:tc>
                  <a:txBody>
                    <a:bodyPr/>
                    <a:lstStyle/>
                    <a:p>
                      <a:r>
                        <a:rPr lang="en-GB" dirty="0"/>
                        <a:t>               F</a:t>
                      </a:r>
                      <a:endParaRPr lang="en-SG" dirty="0"/>
                    </a:p>
                  </a:txBody>
                  <a:tcPr/>
                </a:tc>
                <a:tc>
                  <a:txBody>
                    <a:bodyPr/>
                    <a:lstStyle/>
                    <a:p>
                      <a:r>
                        <a:rPr lang="en-GB" dirty="0"/>
                        <a:t>              F</a:t>
                      </a:r>
                      <a:endParaRPr lang="en-SG" dirty="0"/>
                    </a:p>
                  </a:txBody>
                  <a:tcPr/>
                </a:tc>
                <a:tc>
                  <a:txBody>
                    <a:bodyPr/>
                    <a:lstStyle/>
                    <a:p>
                      <a:r>
                        <a:rPr lang="en-GB" dirty="0"/>
                        <a:t>               F</a:t>
                      </a:r>
                      <a:endParaRPr lang="en-SG" dirty="0"/>
                    </a:p>
                  </a:txBody>
                  <a:tcPr/>
                </a:tc>
                <a:extLst>
                  <a:ext uri="{0D108BD9-81ED-4DB2-BD59-A6C34878D82A}">
                    <a16:rowId xmlns:a16="http://schemas.microsoft.com/office/drawing/2014/main" val="422645974"/>
                  </a:ext>
                </a:extLst>
              </a:tr>
            </a:tbl>
          </a:graphicData>
        </a:graphic>
      </p:graphicFrame>
      <p:sp>
        <p:nvSpPr>
          <p:cNvPr id="4" name="TextBox 3">
            <a:extLst>
              <a:ext uri="{FF2B5EF4-FFF2-40B4-BE49-F238E27FC236}">
                <a16:creationId xmlns:a16="http://schemas.microsoft.com/office/drawing/2014/main" id="{5B5BCD6C-AF17-48BC-94A9-4F93E9868AAB}"/>
              </a:ext>
            </a:extLst>
          </p:cNvPr>
          <p:cNvSpPr txBox="1"/>
          <p:nvPr/>
        </p:nvSpPr>
        <p:spPr>
          <a:xfrm>
            <a:off x="280985" y="4641448"/>
            <a:ext cx="7696093" cy="830997"/>
          </a:xfrm>
          <a:prstGeom prst="rect">
            <a:avLst/>
          </a:prstGeom>
          <a:noFill/>
        </p:spPr>
        <p:txBody>
          <a:bodyPr wrap="square" lIns="91440" tIns="45720" rIns="91440" bIns="45720" rtlCol="0" anchor="t">
            <a:spAutoFit/>
          </a:bodyPr>
          <a:lstStyle/>
          <a:p>
            <a:r>
              <a:rPr lang="en-GB" sz="2400" dirty="0">
                <a:latin typeface="Times New Roman"/>
                <a:ea typeface="MS PGothic"/>
                <a:cs typeface="Times New Roman"/>
              </a:rPr>
              <a:t>So, a conjunction is true if and only if both conjuncts are true.</a:t>
            </a:r>
            <a:endParaRPr lang="en-SG" sz="2400" dirty="0">
              <a:latin typeface="Times New Roman"/>
              <a:ea typeface="MS PGothic"/>
              <a:cs typeface="Times New Roman"/>
            </a:endParaRPr>
          </a:p>
        </p:txBody>
      </p:sp>
    </p:spTree>
    <p:extLst>
      <p:ext uri="{BB962C8B-B14F-4D97-AF65-F5344CB8AC3E}">
        <p14:creationId xmlns:p14="http://schemas.microsoft.com/office/powerpoint/2010/main" val="2782765527"/>
      </p:ext>
    </p:extLst>
  </p:cSld>
  <p:clrMapOvr>
    <a:masterClrMapping/>
  </p:clrMapOvr>
  <mc:AlternateContent xmlns:mc="http://schemas.openxmlformats.org/markup-compatibility/2006" xmlns:p14="http://schemas.microsoft.com/office/powerpoint/2010/main">
    <mc:Choice Requires="p14">
      <p:transition spd="slow" p14:dur="2000" advTm="93261"/>
    </mc:Choice>
    <mc:Fallback xmlns="">
      <p:transition spd="slow" advTm="93261"/>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nip and Round Single Corner Rectangle 7"/>
          <p:cNvSpPr/>
          <p:nvPr/>
        </p:nvSpPr>
        <p:spPr>
          <a:xfrm>
            <a:off x="3" y="6477001"/>
            <a:ext cx="8863013" cy="323851"/>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a:spcBef>
                <a:spcPct val="20000"/>
              </a:spcBef>
              <a:buFont typeface="Arial" panose="020B0604020202020204" pitchFamily="34" charset="0"/>
              <a:buChar char="•"/>
              <a:tabLst>
                <a:tab pos="4389438" algn="l"/>
              </a:tabLst>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tabLst>
                <a:tab pos="4389438" algn="l"/>
              </a:tabLst>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tabLst>
                <a:tab pos="4389438" algn="l"/>
              </a:tabLst>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9pPr>
          </a:lstStyle>
          <a:p>
            <a:pPr algn="r" fontAlgn="base">
              <a:spcBef>
                <a:spcPct val="0"/>
              </a:spcBef>
              <a:spcAft>
                <a:spcPct val="0"/>
              </a:spcAft>
              <a:buNone/>
              <a:defRPr/>
            </a:pPr>
            <a:fld id="{8704D032-DB13-428F-BB47-400F465B966E}" type="slidenum">
              <a:rPr lang="en-US" altLang="en-US" sz="1300">
                <a:solidFill>
                  <a:srgbClr val="FFFFFF"/>
                </a:solidFill>
                <a:latin typeface="Gill Sans MT" panose="020B0502020104020203" pitchFamily="34" charset="0"/>
              </a:rPr>
              <a:pPr algn="r" fontAlgn="base">
                <a:spcBef>
                  <a:spcPct val="0"/>
                </a:spcBef>
                <a:spcAft>
                  <a:spcPct val="0"/>
                </a:spcAft>
                <a:buNone/>
                <a:defRPr/>
              </a:pPr>
              <a:t>6</a:t>
            </a:fld>
            <a:endParaRPr lang="en-US" altLang="en-US" sz="1300" dirty="0">
              <a:solidFill>
                <a:srgbClr val="FFFFFF"/>
              </a:solidFill>
              <a:latin typeface="Gill Sans MT" panose="020B0502020104020203" pitchFamily="34" charset="0"/>
            </a:endParaRPr>
          </a:p>
        </p:txBody>
      </p:sp>
      <p:sp>
        <p:nvSpPr>
          <p:cNvPr id="6148" name="Rectangle 4"/>
          <p:cNvSpPr>
            <a:spLocks noGrp="1" noChangeArrowheads="1"/>
          </p:cNvSpPr>
          <p:nvPr>
            <p:ph idx="1"/>
          </p:nvPr>
        </p:nvSpPr>
        <p:spPr>
          <a:xfrm>
            <a:off x="186266" y="1166019"/>
            <a:ext cx="8676749" cy="4523582"/>
          </a:xfrm>
        </p:spPr>
        <p:txBody>
          <a:bodyPr/>
          <a:lstStyle/>
          <a:p>
            <a:pPr marL="0" indent="0" eaLnBrk="1" hangingPunct="1">
              <a:buNone/>
            </a:pPr>
            <a:r>
              <a:rPr lang="en-US" altLang="en-US" sz="2400" dirty="0">
                <a:latin typeface="Times New Roman"/>
                <a:ea typeface="MS PGothic"/>
                <a:cs typeface="Times New Roman"/>
              </a:rPr>
              <a:t>And, the truth table for the </a:t>
            </a:r>
            <a:r>
              <a:rPr lang="en-US" altLang="en-US" sz="2400" dirty="0">
                <a:highlight>
                  <a:srgbClr val="FFFF00"/>
                </a:highlight>
                <a:latin typeface="Times New Roman"/>
                <a:ea typeface="MS PGothic"/>
                <a:cs typeface="Times New Roman"/>
              </a:rPr>
              <a:t>conditional</a:t>
            </a:r>
            <a:r>
              <a:rPr lang="en-US" altLang="en-US" sz="2400" dirty="0">
                <a:latin typeface="Times New Roman"/>
                <a:ea typeface="MS PGothic"/>
                <a:cs typeface="Times New Roman"/>
              </a:rPr>
              <a:t>:</a:t>
            </a:r>
          </a:p>
          <a:p>
            <a:pPr marL="342265" indent="-342265" eaLnBrk="1" hangingPunct="1">
              <a:buFont typeface="Wingdings" panose="05000000000000000000" pitchFamily="2" charset="2"/>
              <a:buChar char="§"/>
            </a:pPr>
            <a:endParaRPr lang="en-US" altLang="en-US" sz="2400" b="1" dirty="0">
              <a:latin typeface="Times New Roman" panose="02020603050405020304" pitchFamily="18" charset="0"/>
              <a:cs typeface="Times New Roman" panose="02020603050405020304" pitchFamily="18" charset="0"/>
            </a:endParaRPr>
          </a:p>
          <a:p>
            <a:pPr marL="0" indent="0" eaLnBrk="1" hangingPunct="1">
              <a:buNone/>
            </a:pPr>
            <a:endParaRPr lang="en-US" altLang="en-US" sz="2400" b="1" dirty="0">
              <a:latin typeface="Times New Roman" panose="02020603050405020304" pitchFamily="18" charset="0"/>
              <a:cs typeface="Times New Roman" panose="02020603050405020304" pitchFamily="18" charset="0"/>
            </a:endParaRPr>
          </a:p>
          <a:p>
            <a:pPr marL="0" indent="0" eaLnBrk="1" hangingPunct="1">
              <a:buNone/>
            </a:pPr>
            <a:endParaRPr lang="en-US" altLang="en-US" sz="2400" b="1" dirty="0">
              <a:latin typeface="Times New Roman" panose="02020603050405020304" pitchFamily="18" charset="0"/>
              <a:cs typeface="Times New Roman" panose="02020603050405020304" pitchFamily="18" charset="0"/>
            </a:endParaRPr>
          </a:p>
          <a:p>
            <a:pPr marL="0" indent="0" eaLnBrk="1" hangingPunct="1">
              <a:buNone/>
            </a:pPr>
            <a:endParaRPr lang="en-US" altLang="en-US" sz="2400" b="1" dirty="0">
              <a:latin typeface="Times New Roman" panose="02020603050405020304" pitchFamily="18" charset="0"/>
              <a:cs typeface="Times New Roman" panose="02020603050405020304" pitchFamily="18" charset="0"/>
            </a:endParaRPr>
          </a:p>
        </p:txBody>
      </p:sp>
      <p:sp>
        <p:nvSpPr>
          <p:cNvPr id="9" name="Snip and Round Single Corner Rectangle 6">
            <a:extLst>
              <a:ext uri="{FF2B5EF4-FFF2-40B4-BE49-F238E27FC236}">
                <a16:creationId xmlns:a16="http://schemas.microsoft.com/office/drawing/2014/main" id="{DB9ADCB4-F609-4DF3-8150-29A1B7632E36}"/>
              </a:ext>
            </a:extLst>
          </p:cNvPr>
          <p:cNvSpPr/>
          <p:nvPr/>
        </p:nvSpPr>
        <p:spPr>
          <a:xfrm>
            <a:off x="2" y="29266"/>
            <a:ext cx="8863015" cy="860425"/>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fontAlgn="base">
              <a:spcBef>
                <a:spcPct val="0"/>
              </a:spcBef>
              <a:spcAft>
                <a:spcPct val="0"/>
              </a:spcAft>
              <a:defRPr/>
            </a:pPr>
            <a:r>
              <a:rPr lang="en-US" sz="3000" b="1" spc="-151" dirty="0">
                <a:solidFill>
                  <a:prstClr val="white"/>
                </a:solidFill>
                <a:latin typeface="Times New Roman" panose="02020603050405020304" pitchFamily="18" charset="0"/>
                <a:ea typeface="Tahoma" panose="020B0604030504040204" pitchFamily="34" charset="0"/>
                <a:cs typeface="Times New Roman" panose="02020603050405020304" pitchFamily="18" charset="0"/>
              </a:rPr>
              <a:t>Propositional Logic: Truth Conditions</a:t>
            </a:r>
          </a:p>
        </p:txBody>
      </p:sp>
      <p:graphicFrame>
        <p:nvGraphicFramePr>
          <p:cNvPr id="3" name="Table 3">
            <a:extLst>
              <a:ext uri="{FF2B5EF4-FFF2-40B4-BE49-F238E27FC236}">
                <a16:creationId xmlns:a16="http://schemas.microsoft.com/office/drawing/2014/main" id="{5B284A63-674A-4A0E-B809-5B52D9280C1E}"/>
              </a:ext>
            </a:extLst>
          </p:cNvPr>
          <p:cNvGraphicFramePr>
            <a:graphicFrameLocks noGrp="1"/>
          </p:cNvGraphicFramePr>
          <p:nvPr>
            <p:extLst>
              <p:ext uri="{D42A27DB-BD31-4B8C-83A1-F6EECF244321}">
                <p14:modId xmlns:p14="http://schemas.microsoft.com/office/powerpoint/2010/main" val="1686859294"/>
              </p:ext>
            </p:extLst>
          </p:nvPr>
        </p:nvGraphicFramePr>
        <p:xfrm>
          <a:off x="1543625" y="1990523"/>
          <a:ext cx="5775768" cy="1863525"/>
        </p:xfrm>
        <a:graphic>
          <a:graphicData uri="http://schemas.openxmlformats.org/drawingml/2006/table">
            <a:tbl>
              <a:tblPr firstRow="1" bandRow="1">
                <a:tableStyleId>{5C22544A-7EE6-4342-B048-85BDC9FD1C3A}</a:tableStyleId>
              </a:tblPr>
              <a:tblGrid>
                <a:gridCol w="1925256">
                  <a:extLst>
                    <a:ext uri="{9D8B030D-6E8A-4147-A177-3AD203B41FA5}">
                      <a16:colId xmlns:a16="http://schemas.microsoft.com/office/drawing/2014/main" val="1558583378"/>
                    </a:ext>
                  </a:extLst>
                </a:gridCol>
                <a:gridCol w="1925256">
                  <a:extLst>
                    <a:ext uri="{9D8B030D-6E8A-4147-A177-3AD203B41FA5}">
                      <a16:colId xmlns:a16="http://schemas.microsoft.com/office/drawing/2014/main" val="2897636492"/>
                    </a:ext>
                  </a:extLst>
                </a:gridCol>
                <a:gridCol w="1925256">
                  <a:extLst>
                    <a:ext uri="{9D8B030D-6E8A-4147-A177-3AD203B41FA5}">
                      <a16:colId xmlns:a16="http://schemas.microsoft.com/office/drawing/2014/main" val="3409066784"/>
                    </a:ext>
                  </a:extLst>
                </a:gridCol>
              </a:tblGrid>
              <a:tr h="372705">
                <a:tc>
                  <a:txBody>
                    <a:bodyPr/>
                    <a:lstStyle/>
                    <a:p>
                      <a:r>
                        <a:rPr lang="en-GB" dirty="0"/>
                        <a:t>              A</a:t>
                      </a:r>
                      <a:endParaRPr lang="en-SG" dirty="0"/>
                    </a:p>
                  </a:txBody>
                  <a:tcPr/>
                </a:tc>
                <a:tc>
                  <a:txBody>
                    <a:bodyPr/>
                    <a:lstStyle/>
                    <a:p>
                      <a:r>
                        <a:rPr lang="en-GB" dirty="0"/>
                        <a:t>               B</a:t>
                      </a:r>
                      <a:endParaRPr lang="en-SG" dirty="0"/>
                    </a:p>
                  </a:txBody>
                  <a:tcPr/>
                </a:tc>
                <a:tc>
                  <a:txBody>
                    <a:bodyPr/>
                    <a:lstStyle/>
                    <a:p>
                      <a:r>
                        <a:rPr lang="en-GB" dirty="0"/>
                        <a:t>          If A then B</a:t>
                      </a:r>
                      <a:endParaRPr lang="en-SG" dirty="0"/>
                    </a:p>
                  </a:txBody>
                  <a:tcPr/>
                </a:tc>
                <a:extLst>
                  <a:ext uri="{0D108BD9-81ED-4DB2-BD59-A6C34878D82A}">
                    <a16:rowId xmlns:a16="http://schemas.microsoft.com/office/drawing/2014/main" val="3958162147"/>
                  </a:ext>
                </a:extLst>
              </a:tr>
              <a:tr h="372705">
                <a:tc>
                  <a:txBody>
                    <a:bodyPr/>
                    <a:lstStyle/>
                    <a:p>
                      <a:r>
                        <a:rPr lang="en-GB" dirty="0"/>
                        <a:t>               T</a:t>
                      </a:r>
                      <a:endParaRPr lang="en-SG" dirty="0"/>
                    </a:p>
                  </a:txBody>
                  <a:tcPr/>
                </a:tc>
                <a:tc>
                  <a:txBody>
                    <a:bodyPr/>
                    <a:lstStyle/>
                    <a:p>
                      <a:r>
                        <a:rPr lang="en-GB" dirty="0"/>
                        <a:t>              T</a:t>
                      </a:r>
                      <a:endParaRPr lang="en-SG" dirty="0"/>
                    </a:p>
                  </a:txBody>
                  <a:tcPr/>
                </a:tc>
                <a:tc>
                  <a:txBody>
                    <a:bodyPr/>
                    <a:lstStyle/>
                    <a:p>
                      <a:r>
                        <a:rPr lang="en-GB" dirty="0"/>
                        <a:t>               T</a:t>
                      </a:r>
                      <a:endParaRPr lang="en-SG" dirty="0"/>
                    </a:p>
                  </a:txBody>
                  <a:tcPr/>
                </a:tc>
                <a:extLst>
                  <a:ext uri="{0D108BD9-81ED-4DB2-BD59-A6C34878D82A}">
                    <a16:rowId xmlns:a16="http://schemas.microsoft.com/office/drawing/2014/main" val="3409280451"/>
                  </a:ext>
                </a:extLst>
              </a:tr>
              <a:tr h="372705">
                <a:tc>
                  <a:txBody>
                    <a:bodyPr/>
                    <a:lstStyle/>
                    <a:p>
                      <a:r>
                        <a:rPr lang="en-GB" dirty="0"/>
                        <a:t>               T</a:t>
                      </a:r>
                      <a:endParaRPr lang="en-SG" dirty="0"/>
                    </a:p>
                  </a:txBody>
                  <a:tcPr/>
                </a:tc>
                <a:tc>
                  <a:txBody>
                    <a:bodyPr/>
                    <a:lstStyle/>
                    <a:p>
                      <a:r>
                        <a:rPr lang="en-GB" dirty="0"/>
                        <a:t>              F </a:t>
                      </a:r>
                      <a:endParaRPr lang="en-SG" dirty="0"/>
                    </a:p>
                  </a:txBody>
                  <a:tcPr/>
                </a:tc>
                <a:tc>
                  <a:txBody>
                    <a:bodyPr/>
                    <a:lstStyle/>
                    <a:p>
                      <a:r>
                        <a:rPr lang="en-GB" dirty="0"/>
                        <a:t>               F</a:t>
                      </a:r>
                      <a:endParaRPr lang="en-SG" dirty="0"/>
                    </a:p>
                  </a:txBody>
                  <a:tcPr/>
                </a:tc>
                <a:extLst>
                  <a:ext uri="{0D108BD9-81ED-4DB2-BD59-A6C34878D82A}">
                    <a16:rowId xmlns:a16="http://schemas.microsoft.com/office/drawing/2014/main" val="3809634044"/>
                  </a:ext>
                </a:extLst>
              </a:tr>
              <a:tr h="372705">
                <a:tc>
                  <a:txBody>
                    <a:bodyPr/>
                    <a:lstStyle/>
                    <a:p>
                      <a:r>
                        <a:rPr lang="en-GB" dirty="0"/>
                        <a:t>               F</a:t>
                      </a:r>
                      <a:endParaRPr lang="en-SG" dirty="0"/>
                    </a:p>
                  </a:txBody>
                  <a:tcPr/>
                </a:tc>
                <a:tc>
                  <a:txBody>
                    <a:bodyPr/>
                    <a:lstStyle/>
                    <a:p>
                      <a:r>
                        <a:rPr lang="en-GB" dirty="0"/>
                        <a:t>              T</a:t>
                      </a:r>
                      <a:endParaRPr lang="en-SG" dirty="0"/>
                    </a:p>
                  </a:txBody>
                  <a:tcPr/>
                </a:tc>
                <a:tc>
                  <a:txBody>
                    <a:bodyPr/>
                    <a:lstStyle/>
                    <a:p>
                      <a:r>
                        <a:rPr lang="en-GB" dirty="0"/>
                        <a:t>               T</a:t>
                      </a:r>
                      <a:endParaRPr lang="en-SG" dirty="0"/>
                    </a:p>
                  </a:txBody>
                  <a:tcPr/>
                </a:tc>
                <a:extLst>
                  <a:ext uri="{0D108BD9-81ED-4DB2-BD59-A6C34878D82A}">
                    <a16:rowId xmlns:a16="http://schemas.microsoft.com/office/drawing/2014/main" val="2330790153"/>
                  </a:ext>
                </a:extLst>
              </a:tr>
              <a:tr h="372705">
                <a:tc>
                  <a:txBody>
                    <a:bodyPr/>
                    <a:lstStyle/>
                    <a:p>
                      <a:r>
                        <a:rPr lang="en-GB" dirty="0"/>
                        <a:t>               F</a:t>
                      </a:r>
                      <a:endParaRPr lang="en-SG" dirty="0"/>
                    </a:p>
                  </a:txBody>
                  <a:tcPr/>
                </a:tc>
                <a:tc>
                  <a:txBody>
                    <a:bodyPr/>
                    <a:lstStyle/>
                    <a:p>
                      <a:r>
                        <a:rPr lang="en-GB" dirty="0"/>
                        <a:t>              F</a:t>
                      </a:r>
                      <a:endParaRPr lang="en-SG" dirty="0"/>
                    </a:p>
                  </a:txBody>
                  <a:tcPr/>
                </a:tc>
                <a:tc>
                  <a:txBody>
                    <a:bodyPr/>
                    <a:lstStyle/>
                    <a:p>
                      <a:r>
                        <a:rPr lang="en-GB" dirty="0"/>
                        <a:t>               T</a:t>
                      </a:r>
                      <a:endParaRPr lang="en-SG" dirty="0"/>
                    </a:p>
                  </a:txBody>
                  <a:tcPr/>
                </a:tc>
                <a:extLst>
                  <a:ext uri="{0D108BD9-81ED-4DB2-BD59-A6C34878D82A}">
                    <a16:rowId xmlns:a16="http://schemas.microsoft.com/office/drawing/2014/main" val="422645974"/>
                  </a:ext>
                </a:extLst>
              </a:tr>
            </a:tbl>
          </a:graphicData>
        </a:graphic>
      </p:graphicFrame>
      <p:sp>
        <p:nvSpPr>
          <p:cNvPr id="4" name="TextBox 3">
            <a:extLst>
              <a:ext uri="{FF2B5EF4-FFF2-40B4-BE49-F238E27FC236}">
                <a16:creationId xmlns:a16="http://schemas.microsoft.com/office/drawing/2014/main" id="{5B5BCD6C-AF17-48BC-94A9-4F93E9868AAB}"/>
              </a:ext>
            </a:extLst>
          </p:cNvPr>
          <p:cNvSpPr txBox="1"/>
          <p:nvPr/>
        </p:nvSpPr>
        <p:spPr>
          <a:xfrm>
            <a:off x="280985" y="4641448"/>
            <a:ext cx="7696093" cy="830997"/>
          </a:xfrm>
          <a:prstGeom prst="rect">
            <a:avLst/>
          </a:prstGeom>
          <a:noFill/>
        </p:spPr>
        <p:txBody>
          <a:bodyPr wrap="square" lIns="91440" tIns="45720" rIns="91440" bIns="45720" rtlCol="0" anchor="t">
            <a:spAutoFit/>
          </a:bodyPr>
          <a:lstStyle/>
          <a:p>
            <a:r>
              <a:rPr lang="en-GB" sz="2400" dirty="0">
                <a:latin typeface="Times New Roman"/>
                <a:ea typeface="MS PGothic"/>
                <a:cs typeface="Times New Roman"/>
              </a:rPr>
              <a:t>So, a conditional is false if the antecedent is true and the consequent is false ; it is true, otherwise.</a:t>
            </a:r>
            <a:endParaRPr lang="en-SG" sz="2400" dirty="0">
              <a:latin typeface="Times New Roman"/>
              <a:ea typeface="MS PGothic"/>
              <a:cs typeface="Times New Roman"/>
            </a:endParaRPr>
          </a:p>
        </p:txBody>
      </p:sp>
    </p:spTree>
    <p:extLst>
      <p:ext uri="{BB962C8B-B14F-4D97-AF65-F5344CB8AC3E}">
        <p14:creationId xmlns:p14="http://schemas.microsoft.com/office/powerpoint/2010/main" val="1279911234"/>
      </p:ext>
    </p:extLst>
  </p:cSld>
  <p:clrMapOvr>
    <a:masterClrMapping/>
  </p:clrMapOvr>
  <mc:AlternateContent xmlns:mc="http://schemas.openxmlformats.org/markup-compatibility/2006" xmlns:p14="http://schemas.microsoft.com/office/powerpoint/2010/main">
    <mc:Choice Requires="p14">
      <p:transition spd="slow" p14:dur="2000" advTm="124468"/>
    </mc:Choice>
    <mc:Fallback xmlns="">
      <p:transition spd="slow" advTm="124468"/>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nip and Round Single Corner Rectangle 7"/>
          <p:cNvSpPr/>
          <p:nvPr/>
        </p:nvSpPr>
        <p:spPr>
          <a:xfrm>
            <a:off x="3" y="6477001"/>
            <a:ext cx="8863013" cy="323851"/>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a:spcBef>
                <a:spcPct val="20000"/>
              </a:spcBef>
              <a:buFont typeface="Arial" panose="020B0604020202020204" pitchFamily="34" charset="0"/>
              <a:buChar char="•"/>
              <a:tabLst>
                <a:tab pos="4389438" algn="l"/>
              </a:tabLst>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tabLst>
                <a:tab pos="4389438" algn="l"/>
              </a:tabLst>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tabLst>
                <a:tab pos="4389438" algn="l"/>
              </a:tabLst>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9pPr>
          </a:lstStyle>
          <a:p>
            <a:pPr algn="r" fontAlgn="base">
              <a:spcBef>
                <a:spcPct val="0"/>
              </a:spcBef>
              <a:spcAft>
                <a:spcPct val="0"/>
              </a:spcAft>
              <a:buNone/>
              <a:defRPr/>
            </a:pPr>
            <a:fld id="{8704D032-DB13-428F-BB47-400F465B966E}" type="slidenum">
              <a:rPr lang="en-US" altLang="en-US" sz="1300">
                <a:solidFill>
                  <a:srgbClr val="FFFFFF"/>
                </a:solidFill>
                <a:latin typeface="Gill Sans MT" panose="020B0502020104020203" pitchFamily="34" charset="0"/>
              </a:rPr>
              <a:pPr algn="r" fontAlgn="base">
                <a:spcBef>
                  <a:spcPct val="0"/>
                </a:spcBef>
                <a:spcAft>
                  <a:spcPct val="0"/>
                </a:spcAft>
                <a:buNone/>
                <a:defRPr/>
              </a:pPr>
              <a:t>7</a:t>
            </a:fld>
            <a:endParaRPr lang="en-US" altLang="en-US" sz="1300" dirty="0">
              <a:solidFill>
                <a:srgbClr val="FFFFFF"/>
              </a:solidFill>
              <a:latin typeface="Gill Sans MT" panose="020B0502020104020203" pitchFamily="34" charset="0"/>
            </a:endParaRPr>
          </a:p>
        </p:txBody>
      </p:sp>
      <p:sp>
        <p:nvSpPr>
          <p:cNvPr id="6148" name="Rectangle 4"/>
          <p:cNvSpPr>
            <a:spLocks noGrp="1" noChangeArrowheads="1"/>
          </p:cNvSpPr>
          <p:nvPr>
            <p:ph idx="1"/>
          </p:nvPr>
        </p:nvSpPr>
        <p:spPr>
          <a:xfrm>
            <a:off x="186266" y="1166019"/>
            <a:ext cx="8676749" cy="5310982"/>
          </a:xfrm>
        </p:spPr>
        <p:txBody>
          <a:bodyPr/>
          <a:lstStyle/>
          <a:p>
            <a:pPr marL="0" indent="0" eaLnBrk="1" hangingPunct="1">
              <a:buNone/>
            </a:pPr>
            <a:r>
              <a:rPr lang="en-US" altLang="en-US" sz="2400" b="1" dirty="0">
                <a:latin typeface="Times New Roman" panose="02020603050405020304" pitchFamily="18" charset="0"/>
                <a:cs typeface="Times New Roman" panose="02020603050405020304" pitchFamily="18" charset="0"/>
              </a:rPr>
              <a:t>Now, the truth table for the disjunction.</a:t>
            </a:r>
          </a:p>
          <a:p>
            <a:pPr eaLnBrk="1" hangingPunct="1">
              <a:buFont typeface="Wingdings" panose="05000000000000000000" pitchFamily="2" charset="2"/>
              <a:buChar char="§"/>
            </a:pPr>
            <a:r>
              <a:rPr lang="en-US" altLang="en-US" sz="2400" b="1" dirty="0">
                <a:latin typeface="Times New Roman" panose="02020603050405020304" pitchFamily="18" charset="0"/>
                <a:cs typeface="Times New Roman" panose="02020603050405020304" pitchFamily="18" charset="0"/>
              </a:rPr>
              <a:t>This is a difficult beast: it has </a:t>
            </a:r>
            <a:r>
              <a:rPr lang="en-US" altLang="en-US" sz="2400" b="1" dirty="0">
                <a:highlight>
                  <a:srgbClr val="FFFF00"/>
                </a:highlight>
                <a:latin typeface="Times New Roman" panose="02020603050405020304" pitchFamily="18" charset="0"/>
                <a:cs typeface="Times New Roman" panose="02020603050405020304" pitchFamily="18" charset="0"/>
              </a:rPr>
              <a:t>2 different interpretations</a:t>
            </a:r>
            <a:r>
              <a:rPr lang="en-US" altLang="en-US" sz="2400" b="1" dirty="0">
                <a:latin typeface="Times New Roman" panose="02020603050405020304" pitchFamily="18" charset="0"/>
                <a:cs typeface="Times New Roman" panose="02020603050405020304" pitchFamily="18" charset="0"/>
              </a:rPr>
              <a:t>; to see the interpretations, consider the following examples.</a:t>
            </a:r>
          </a:p>
          <a:p>
            <a:pPr marL="1714469" lvl="3" indent="-457200" eaLnBrk="1" hangingPunct="1">
              <a:buFont typeface="+mj-lt"/>
              <a:buAutoNum type="alphaLcParenR"/>
            </a:pPr>
            <a:r>
              <a:rPr lang="en-US" altLang="en-US" sz="2400" dirty="0">
                <a:latin typeface="Times New Roman" panose="02020603050405020304" pitchFamily="18" charset="0"/>
                <a:cs typeface="Times New Roman" panose="02020603050405020304" pitchFamily="18" charset="0"/>
              </a:rPr>
              <a:t>Sovan is either dead or alive.</a:t>
            </a:r>
          </a:p>
          <a:p>
            <a:pPr marL="1714469" lvl="3" indent="-457200" eaLnBrk="1" hangingPunct="1">
              <a:buFont typeface="+mj-lt"/>
              <a:buAutoNum type="alphaLcParenR"/>
            </a:pPr>
            <a:r>
              <a:rPr lang="en-US" altLang="en-US" sz="2400" dirty="0">
                <a:latin typeface="Times New Roman" panose="02020603050405020304" pitchFamily="18" charset="0"/>
                <a:cs typeface="Times New Roman" panose="02020603050405020304" pitchFamily="18" charset="0"/>
              </a:rPr>
              <a:t>Sovan is either wearing a white shirt or blue denims.</a:t>
            </a:r>
          </a:p>
          <a:p>
            <a:pPr marL="1714469" lvl="3" indent="-457200" eaLnBrk="1" hangingPunct="1">
              <a:buFont typeface="+mj-lt"/>
              <a:buAutoNum type="alphaLcParenR"/>
            </a:pPr>
            <a:r>
              <a:rPr lang="en-US" altLang="en-US" sz="2400" dirty="0">
                <a:latin typeface="Times New Roman" panose="02020603050405020304" pitchFamily="18" charset="0"/>
                <a:cs typeface="Times New Roman" panose="02020603050405020304" pitchFamily="18" charset="0"/>
              </a:rPr>
              <a:t>I scored badly either because I didn’t understand the concept or the professor doesn’t like my face.</a:t>
            </a:r>
          </a:p>
          <a:p>
            <a:pPr marL="1714469" lvl="3" indent="-457200" eaLnBrk="1" hangingPunct="1">
              <a:buFont typeface="+mj-lt"/>
              <a:buAutoNum type="alphaLcParenR"/>
            </a:pPr>
            <a:r>
              <a:rPr lang="en-US" altLang="en-US" sz="2400" dirty="0">
                <a:latin typeface="Times New Roman" panose="02020603050405020304" pitchFamily="18" charset="0"/>
                <a:cs typeface="Times New Roman" panose="02020603050405020304" pitchFamily="18" charset="0"/>
              </a:rPr>
              <a:t>Sovan is dating either Emma or Gabby.</a:t>
            </a:r>
          </a:p>
          <a:p>
            <a:pPr marL="1714469" lvl="3" indent="-457200" eaLnBrk="1" hangingPunct="1">
              <a:buFont typeface="+mj-lt"/>
              <a:buAutoNum type="alphaLcParenR"/>
            </a:pPr>
            <a:r>
              <a:rPr lang="en-US" altLang="en-US" sz="2400" dirty="0">
                <a:latin typeface="Times New Roman" panose="02020603050405020304" pitchFamily="18" charset="0"/>
                <a:cs typeface="Times New Roman" panose="02020603050405020304" pitchFamily="18" charset="0"/>
              </a:rPr>
              <a:t>Sovan is married to either Emma or Gabby. </a:t>
            </a:r>
          </a:p>
          <a:p>
            <a:pPr marL="0" indent="0" eaLnBrk="1" hangingPunct="1">
              <a:buNone/>
            </a:pPr>
            <a:endParaRPr lang="en-US" altLang="en-US" sz="2400" b="1" dirty="0">
              <a:latin typeface="Times New Roman" panose="02020603050405020304" pitchFamily="18" charset="0"/>
              <a:cs typeface="Times New Roman" panose="02020603050405020304" pitchFamily="18" charset="0"/>
            </a:endParaRPr>
          </a:p>
          <a:p>
            <a:pPr marL="0" indent="0" eaLnBrk="1" hangingPunct="1">
              <a:buNone/>
            </a:pPr>
            <a:endParaRPr lang="en-US" altLang="en-US" sz="2400" b="1" dirty="0">
              <a:latin typeface="Times New Roman" panose="02020603050405020304" pitchFamily="18" charset="0"/>
              <a:cs typeface="Times New Roman" panose="02020603050405020304" pitchFamily="18" charset="0"/>
            </a:endParaRPr>
          </a:p>
          <a:p>
            <a:pPr marL="0" indent="0" eaLnBrk="1" hangingPunct="1">
              <a:buNone/>
            </a:pPr>
            <a:endParaRPr lang="en-US" altLang="en-US" sz="2400" b="1" dirty="0">
              <a:latin typeface="Times New Roman" panose="02020603050405020304" pitchFamily="18" charset="0"/>
              <a:cs typeface="Times New Roman" panose="02020603050405020304" pitchFamily="18" charset="0"/>
            </a:endParaRPr>
          </a:p>
          <a:p>
            <a:pPr marL="0" indent="0" eaLnBrk="1" hangingPunct="1">
              <a:buNone/>
            </a:pPr>
            <a:endParaRPr lang="en-US" altLang="en-US" sz="2400" b="1" dirty="0">
              <a:latin typeface="Times New Roman" panose="02020603050405020304" pitchFamily="18" charset="0"/>
              <a:cs typeface="Times New Roman" panose="02020603050405020304" pitchFamily="18" charset="0"/>
            </a:endParaRPr>
          </a:p>
          <a:p>
            <a:pPr marL="0" indent="0" eaLnBrk="1" hangingPunct="1">
              <a:buNone/>
            </a:pPr>
            <a:endParaRPr lang="en-US" altLang="en-US" sz="2400" b="1" dirty="0">
              <a:latin typeface="Times New Roman" panose="02020603050405020304" pitchFamily="18" charset="0"/>
              <a:cs typeface="Times New Roman" panose="02020603050405020304" pitchFamily="18" charset="0"/>
            </a:endParaRPr>
          </a:p>
          <a:p>
            <a:pPr marL="0" indent="0" eaLnBrk="1" hangingPunct="1">
              <a:buNone/>
            </a:pPr>
            <a:endParaRPr lang="en-US" altLang="en-US" sz="2400" b="1" dirty="0">
              <a:latin typeface="Times New Roman" panose="02020603050405020304" pitchFamily="18" charset="0"/>
              <a:cs typeface="Times New Roman" panose="02020603050405020304" pitchFamily="18" charset="0"/>
            </a:endParaRPr>
          </a:p>
          <a:p>
            <a:pPr marL="0" indent="0" eaLnBrk="1" hangingPunct="1">
              <a:buNone/>
            </a:pPr>
            <a:r>
              <a:rPr lang="en-US" altLang="en-US" sz="2400" b="1" dirty="0">
                <a:latin typeface="Times New Roman" panose="02020603050405020304" pitchFamily="18" charset="0"/>
                <a:cs typeface="Times New Roman" panose="02020603050405020304" pitchFamily="18" charset="0"/>
              </a:rPr>
              <a:t> </a:t>
            </a:r>
          </a:p>
          <a:p>
            <a:pPr marL="0" indent="0" eaLnBrk="1" hangingPunct="1">
              <a:buNone/>
            </a:pPr>
            <a:endParaRPr lang="en-US" altLang="en-US" sz="2400" b="1" dirty="0">
              <a:latin typeface="Times New Roman" panose="02020603050405020304" pitchFamily="18" charset="0"/>
              <a:cs typeface="Times New Roman" panose="02020603050405020304" pitchFamily="18" charset="0"/>
            </a:endParaRPr>
          </a:p>
          <a:p>
            <a:pPr marL="0" indent="0" eaLnBrk="1" hangingPunct="1">
              <a:buNone/>
            </a:pPr>
            <a:endParaRPr lang="en-US" altLang="en-US" sz="2400" b="1" dirty="0">
              <a:latin typeface="Times New Roman" panose="02020603050405020304" pitchFamily="18" charset="0"/>
              <a:cs typeface="Times New Roman" panose="02020603050405020304" pitchFamily="18" charset="0"/>
            </a:endParaRPr>
          </a:p>
          <a:p>
            <a:pPr marL="0" indent="0" eaLnBrk="1" hangingPunct="1">
              <a:buNone/>
            </a:pPr>
            <a:endParaRPr lang="en-US" altLang="en-US" sz="2400" b="1" dirty="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
            </a:pPr>
            <a:endParaRPr lang="en-US" altLang="en-US" sz="2400" b="1" dirty="0">
              <a:latin typeface="Times New Roman" panose="02020603050405020304" pitchFamily="18" charset="0"/>
              <a:cs typeface="Times New Roman" panose="02020603050405020304" pitchFamily="18" charset="0"/>
            </a:endParaRPr>
          </a:p>
          <a:p>
            <a:pPr marL="0" indent="0" eaLnBrk="1" hangingPunct="1">
              <a:buNone/>
            </a:pPr>
            <a:endParaRPr lang="en-US" altLang="en-US" sz="2400" b="1" dirty="0">
              <a:latin typeface="Times New Roman" panose="02020603050405020304" pitchFamily="18" charset="0"/>
              <a:cs typeface="Times New Roman" panose="02020603050405020304" pitchFamily="18" charset="0"/>
            </a:endParaRPr>
          </a:p>
          <a:p>
            <a:pPr marL="0" indent="0" eaLnBrk="1" hangingPunct="1">
              <a:buNone/>
            </a:pPr>
            <a:endParaRPr lang="en-US" altLang="en-US" sz="2400" b="1" dirty="0">
              <a:latin typeface="Times New Roman" panose="02020603050405020304" pitchFamily="18" charset="0"/>
              <a:cs typeface="Times New Roman" panose="02020603050405020304" pitchFamily="18" charset="0"/>
            </a:endParaRPr>
          </a:p>
          <a:p>
            <a:pPr marL="0" indent="0" eaLnBrk="1" hangingPunct="1">
              <a:buNone/>
            </a:pPr>
            <a:endParaRPr lang="en-US" altLang="en-US" sz="2400" b="1" dirty="0">
              <a:latin typeface="Times New Roman" panose="02020603050405020304" pitchFamily="18" charset="0"/>
              <a:cs typeface="Times New Roman" panose="02020603050405020304" pitchFamily="18" charset="0"/>
            </a:endParaRPr>
          </a:p>
        </p:txBody>
      </p:sp>
      <p:sp>
        <p:nvSpPr>
          <p:cNvPr id="9" name="Snip and Round Single Corner Rectangle 6">
            <a:extLst>
              <a:ext uri="{FF2B5EF4-FFF2-40B4-BE49-F238E27FC236}">
                <a16:creationId xmlns:a16="http://schemas.microsoft.com/office/drawing/2014/main" id="{DB9ADCB4-F609-4DF3-8150-29A1B7632E36}"/>
              </a:ext>
            </a:extLst>
          </p:cNvPr>
          <p:cNvSpPr/>
          <p:nvPr/>
        </p:nvSpPr>
        <p:spPr>
          <a:xfrm>
            <a:off x="2" y="29266"/>
            <a:ext cx="8863015" cy="860425"/>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fontAlgn="base">
              <a:spcBef>
                <a:spcPct val="0"/>
              </a:spcBef>
              <a:spcAft>
                <a:spcPct val="0"/>
              </a:spcAft>
              <a:defRPr/>
            </a:pPr>
            <a:r>
              <a:rPr lang="en-US" sz="3000" b="1" spc="-151" dirty="0">
                <a:solidFill>
                  <a:prstClr val="white"/>
                </a:solidFill>
                <a:latin typeface="Times New Roman" panose="02020603050405020304" pitchFamily="18" charset="0"/>
                <a:ea typeface="Tahoma" panose="020B0604030504040204" pitchFamily="34" charset="0"/>
                <a:cs typeface="Times New Roman" panose="02020603050405020304" pitchFamily="18" charset="0"/>
              </a:rPr>
              <a:t>Propositional Logic: Truth Conditions</a:t>
            </a:r>
          </a:p>
        </p:txBody>
      </p:sp>
      <p:sp>
        <p:nvSpPr>
          <p:cNvPr id="4" name="TextBox 3">
            <a:extLst>
              <a:ext uri="{FF2B5EF4-FFF2-40B4-BE49-F238E27FC236}">
                <a16:creationId xmlns:a16="http://schemas.microsoft.com/office/drawing/2014/main" id="{5B5BCD6C-AF17-48BC-94A9-4F93E9868AAB}"/>
              </a:ext>
            </a:extLst>
          </p:cNvPr>
          <p:cNvSpPr txBox="1"/>
          <p:nvPr/>
        </p:nvSpPr>
        <p:spPr>
          <a:xfrm>
            <a:off x="441005" y="5432112"/>
            <a:ext cx="7696093" cy="830997"/>
          </a:xfrm>
          <a:prstGeom prst="rect">
            <a:avLst/>
          </a:prstGeom>
          <a:noFill/>
        </p:spPr>
        <p:txBody>
          <a:bodyPr wrap="square" rtlCol="0">
            <a:spAutoFit/>
          </a:bodyPr>
          <a:lstStyle/>
          <a:p>
            <a:r>
              <a:rPr lang="en-GB" sz="2400" b="1" dirty="0">
                <a:latin typeface="Times New Roman" panose="02020603050405020304" pitchFamily="18" charset="0"/>
                <a:ea typeface="MS PGothic" panose="020B0600070205080204" pitchFamily="34" charset="-128"/>
                <a:cs typeface="Times New Roman" panose="02020603050405020304" pitchFamily="18" charset="0"/>
              </a:rPr>
              <a:t>So, disjunctions can be of two kinds; </a:t>
            </a:r>
            <a:r>
              <a:rPr lang="en-GB" sz="2400" b="1" dirty="0">
                <a:highlight>
                  <a:srgbClr val="FFFF00"/>
                </a:highlight>
                <a:latin typeface="Times New Roman" panose="02020603050405020304" pitchFamily="18" charset="0"/>
                <a:ea typeface="MS PGothic" panose="020B0600070205080204" pitchFamily="34" charset="-128"/>
                <a:cs typeface="Times New Roman" panose="02020603050405020304" pitchFamily="18" charset="0"/>
              </a:rPr>
              <a:t>exclusive</a:t>
            </a:r>
            <a:r>
              <a:rPr lang="en-GB" sz="2400" b="1" dirty="0">
                <a:latin typeface="Times New Roman" panose="02020603050405020304" pitchFamily="18" charset="0"/>
                <a:ea typeface="MS PGothic" panose="020B0600070205080204" pitchFamily="34" charset="-128"/>
                <a:cs typeface="Times New Roman" panose="02020603050405020304" pitchFamily="18" charset="0"/>
              </a:rPr>
              <a:t> and </a:t>
            </a:r>
            <a:r>
              <a:rPr lang="en-GB" sz="2400" b="1" dirty="0">
                <a:highlight>
                  <a:srgbClr val="FFFF00"/>
                </a:highlight>
                <a:latin typeface="Times New Roman" panose="02020603050405020304" pitchFamily="18" charset="0"/>
                <a:ea typeface="MS PGothic" panose="020B0600070205080204" pitchFamily="34" charset="-128"/>
                <a:cs typeface="Times New Roman" panose="02020603050405020304" pitchFamily="18" charset="0"/>
              </a:rPr>
              <a:t>inclusive</a:t>
            </a:r>
            <a:r>
              <a:rPr lang="en-GB" sz="2400" b="1" dirty="0">
                <a:latin typeface="Times New Roman" panose="02020603050405020304" pitchFamily="18" charset="0"/>
                <a:ea typeface="MS PGothic" panose="020B0600070205080204" pitchFamily="34" charset="-128"/>
                <a:cs typeface="Times New Roman" panose="02020603050405020304" pitchFamily="18" charset="0"/>
              </a:rPr>
              <a:t>  and their truth tables look like this:</a:t>
            </a:r>
            <a:endParaRPr lang="en-SG" sz="2400" b="1" dirty="0">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2" name="Rectangle 1">
            <a:extLst>
              <a:ext uri="{FF2B5EF4-FFF2-40B4-BE49-F238E27FC236}">
                <a16:creationId xmlns:a16="http://schemas.microsoft.com/office/drawing/2014/main" id="{DADA698E-953A-5F07-9C19-AA823B9755C3}"/>
              </a:ext>
            </a:extLst>
          </p:cNvPr>
          <p:cNvSpPr/>
          <p:nvPr/>
        </p:nvSpPr>
        <p:spPr>
          <a:xfrm>
            <a:off x="849086" y="3352801"/>
            <a:ext cx="7772400" cy="1981200"/>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058168267"/>
      </p:ext>
    </p:extLst>
  </p:cSld>
  <p:clrMapOvr>
    <a:masterClrMapping/>
  </p:clrMapOvr>
  <mc:AlternateContent xmlns:mc="http://schemas.openxmlformats.org/markup-compatibility/2006" xmlns:p14="http://schemas.microsoft.com/office/powerpoint/2010/main">
    <mc:Choice Requires="p14">
      <p:transition spd="slow" p14:dur="2000" advTm="205611"/>
    </mc:Choice>
    <mc:Fallback xmlns="">
      <p:transition spd="slow" advTm="205611"/>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nip and Round Single Corner Rectangle 7"/>
          <p:cNvSpPr/>
          <p:nvPr/>
        </p:nvSpPr>
        <p:spPr>
          <a:xfrm>
            <a:off x="3" y="6477001"/>
            <a:ext cx="8863013" cy="323851"/>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a:spcBef>
                <a:spcPct val="20000"/>
              </a:spcBef>
              <a:buFont typeface="Arial" panose="020B0604020202020204" pitchFamily="34" charset="0"/>
              <a:buChar char="•"/>
              <a:tabLst>
                <a:tab pos="4389438" algn="l"/>
              </a:tabLst>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tabLst>
                <a:tab pos="4389438" algn="l"/>
              </a:tabLst>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tabLst>
                <a:tab pos="4389438" algn="l"/>
              </a:tabLst>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9pPr>
          </a:lstStyle>
          <a:p>
            <a:pPr algn="r" fontAlgn="base">
              <a:spcBef>
                <a:spcPct val="0"/>
              </a:spcBef>
              <a:spcAft>
                <a:spcPct val="0"/>
              </a:spcAft>
              <a:buNone/>
              <a:defRPr/>
            </a:pPr>
            <a:fld id="{8704D032-DB13-428F-BB47-400F465B966E}" type="slidenum">
              <a:rPr lang="en-US" altLang="en-US" sz="1300">
                <a:solidFill>
                  <a:srgbClr val="FFFFFF"/>
                </a:solidFill>
                <a:latin typeface="Gill Sans MT" panose="020B0502020104020203" pitchFamily="34" charset="0"/>
              </a:rPr>
              <a:pPr algn="r" fontAlgn="base">
                <a:spcBef>
                  <a:spcPct val="0"/>
                </a:spcBef>
                <a:spcAft>
                  <a:spcPct val="0"/>
                </a:spcAft>
                <a:buNone/>
                <a:defRPr/>
              </a:pPr>
              <a:t>8</a:t>
            </a:fld>
            <a:endParaRPr lang="en-US" altLang="en-US" sz="1300" dirty="0">
              <a:solidFill>
                <a:srgbClr val="FFFFFF"/>
              </a:solidFill>
              <a:latin typeface="Gill Sans MT" panose="020B0502020104020203" pitchFamily="34" charset="0"/>
            </a:endParaRPr>
          </a:p>
        </p:txBody>
      </p:sp>
      <p:sp>
        <p:nvSpPr>
          <p:cNvPr id="6148" name="Rectangle 4"/>
          <p:cNvSpPr>
            <a:spLocks noGrp="1" noChangeArrowheads="1"/>
          </p:cNvSpPr>
          <p:nvPr>
            <p:ph idx="1"/>
          </p:nvPr>
        </p:nvSpPr>
        <p:spPr>
          <a:xfrm>
            <a:off x="186266" y="1166019"/>
            <a:ext cx="8676749" cy="4523582"/>
          </a:xfrm>
        </p:spPr>
        <p:txBody>
          <a:bodyPr/>
          <a:lstStyle/>
          <a:p>
            <a:pPr marL="0" indent="0" eaLnBrk="1" hangingPunct="1">
              <a:buNone/>
            </a:pPr>
            <a:r>
              <a:rPr lang="en-US" altLang="en-US" sz="2400" dirty="0">
                <a:latin typeface="Times New Roman"/>
                <a:ea typeface="MS PGothic"/>
                <a:cs typeface="Times New Roman"/>
              </a:rPr>
              <a:t>The truth table for the </a:t>
            </a:r>
            <a:r>
              <a:rPr lang="en-US" altLang="en-US" sz="2400" dirty="0">
                <a:highlight>
                  <a:srgbClr val="FFFF00"/>
                </a:highlight>
                <a:latin typeface="Times New Roman"/>
                <a:ea typeface="MS PGothic"/>
                <a:cs typeface="Times New Roman"/>
              </a:rPr>
              <a:t>exclusive/</a:t>
            </a:r>
            <a:r>
              <a:rPr lang="en-US" altLang="en-US" sz="2400" dirty="0">
                <a:solidFill>
                  <a:srgbClr val="FF0000"/>
                </a:solidFill>
                <a:highlight>
                  <a:srgbClr val="FFFF00"/>
                </a:highlight>
                <a:latin typeface="Times New Roman"/>
                <a:ea typeface="MS PGothic"/>
                <a:cs typeface="Times New Roman"/>
              </a:rPr>
              <a:t>inclusive</a:t>
            </a:r>
            <a:r>
              <a:rPr lang="en-US" altLang="en-US" sz="2400" dirty="0">
                <a:highlight>
                  <a:srgbClr val="FFFF00"/>
                </a:highlight>
                <a:latin typeface="Times New Roman"/>
                <a:ea typeface="MS PGothic"/>
                <a:cs typeface="Times New Roman"/>
              </a:rPr>
              <a:t> disjunction</a:t>
            </a:r>
            <a:r>
              <a:rPr lang="en-US" altLang="en-US" sz="2400" dirty="0">
                <a:latin typeface="Times New Roman"/>
                <a:ea typeface="MS PGothic"/>
                <a:cs typeface="Times New Roman"/>
              </a:rPr>
              <a:t>:</a:t>
            </a:r>
          </a:p>
          <a:p>
            <a:pPr marL="342265" indent="-342265" eaLnBrk="1" hangingPunct="1">
              <a:buFont typeface="Wingdings" panose="05000000000000000000" pitchFamily="2" charset="2"/>
              <a:buChar char="§"/>
            </a:pPr>
            <a:endParaRPr lang="en-US" altLang="en-US" sz="2400" b="1" dirty="0">
              <a:latin typeface="Times New Roman" panose="02020603050405020304" pitchFamily="18" charset="0"/>
              <a:cs typeface="Times New Roman" panose="02020603050405020304" pitchFamily="18" charset="0"/>
            </a:endParaRPr>
          </a:p>
          <a:p>
            <a:pPr marL="0" indent="0" eaLnBrk="1" hangingPunct="1">
              <a:buNone/>
            </a:pPr>
            <a:endParaRPr lang="en-US" altLang="en-US" sz="2400" b="1" dirty="0">
              <a:latin typeface="Times New Roman" panose="02020603050405020304" pitchFamily="18" charset="0"/>
              <a:cs typeface="Times New Roman" panose="02020603050405020304" pitchFamily="18" charset="0"/>
            </a:endParaRPr>
          </a:p>
          <a:p>
            <a:pPr marL="0" indent="0" eaLnBrk="1" hangingPunct="1">
              <a:buNone/>
            </a:pPr>
            <a:endParaRPr lang="en-US" altLang="en-US" sz="2400" b="1" dirty="0">
              <a:latin typeface="Times New Roman" panose="02020603050405020304" pitchFamily="18" charset="0"/>
              <a:cs typeface="Times New Roman" panose="02020603050405020304" pitchFamily="18" charset="0"/>
            </a:endParaRPr>
          </a:p>
          <a:p>
            <a:pPr marL="0" indent="0" eaLnBrk="1" hangingPunct="1">
              <a:buNone/>
            </a:pPr>
            <a:endParaRPr lang="en-US" altLang="en-US" sz="2400" b="1" dirty="0">
              <a:latin typeface="Times New Roman" panose="02020603050405020304" pitchFamily="18" charset="0"/>
              <a:cs typeface="Times New Roman" panose="02020603050405020304" pitchFamily="18" charset="0"/>
            </a:endParaRPr>
          </a:p>
          <a:p>
            <a:pPr marL="0" indent="0" eaLnBrk="1" hangingPunct="1">
              <a:buNone/>
            </a:pPr>
            <a:endParaRPr lang="en-US" altLang="en-US" sz="2400" b="1" dirty="0">
              <a:latin typeface="Times New Roman" panose="02020603050405020304" pitchFamily="18" charset="0"/>
              <a:cs typeface="Times New Roman" panose="02020603050405020304" pitchFamily="18" charset="0"/>
            </a:endParaRPr>
          </a:p>
          <a:p>
            <a:pPr marL="0" indent="0" eaLnBrk="1" hangingPunct="1">
              <a:buNone/>
            </a:pPr>
            <a:endParaRPr lang="en-US" altLang="en-US" sz="2400" b="1" dirty="0">
              <a:latin typeface="Times New Roman" panose="02020603050405020304" pitchFamily="18" charset="0"/>
              <a:cs typeface="Times New Roman" panose="02020603050405020304" pitchFamily="18" charset="0"/>
            </a:endParaRPr>
          </a:p>
        </p:txBody>
      </p:sp>
      <p:sp>
        <p:nvSpPr>
          <p:cNvPr id="9" name="Snip and Round Single Corner Rectangle 6">
            <a:extLst>
              <a:ext uri="{FF2B5EF4-FFF2-40B4-BE49-F238E27FC236}">
                <a16:creationId xmlns:a16="http://schemas.microsoft.com/office/drawing/2014/main" id="{DB9ADCB4-F609-4DF3-8150-29A1B7632E36}"/>
              </a:ext>
            </a:extLst>
          </p:cNvPr>
          <p:cNvSpPr/>
          <p:nvPr/>
        </p:nvSpPr>
        <p:spPr>
          <a:xfrm>
            <a:off x="2" y="29266"/>
            <a:ext cx="8863015" cy="860425"/>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fontAlgn="base">
              <a:spcBef>
                <a:spcPct val="0"/>
              </a:spcBef>
              <a:spcAft>
                <a:spcPct val="0"/>
              </a:spcAft>
              <a:defRPr/>
            </a:pPr>
            <a:r>
              <a:rPr lang="en-US" sz="3000" b="1" spc="-151" dirty="0">
                <a:solidFill>
                  <a:prstClr val="white"/>
                </a:solidFill>
                <a:latin typeface="Times New Roman" panose="02020603050405020304" pitchFamily="18" charset="0"/>
                <a:ea typeface="Tahoma" panose="020B0604030504040204" pitchFamily="34" charset="0"/>
                <a:cs typeface="Times New Roman" panose="02020603050405020304" pitchFamily="18" charset="0"/>
              </a:rPr>
              <a:t>Propositional Logic: Truth Conditions</a:t>
            </a:r>
          </a:p>
        </p:txBody>
      </p:sp>
      <p:graphicFrame>
        <p:nvGraphicFramePr>
          <p:cNvPr id="3" name="Table 3">
            <a:extLst>
              <a:ext uri="{FF2B5EF4-FFF2-40B4-BE49-F238E27FC236}">
                <a16:creationId xmlns:a16="http://schemas.microsoft.com/office/drawing/2014/main" id="{5B284A63-674A-4A0E-B809-5B52D9280C1E}"/>
              </a:ext>
            </a:extLst>
          </p:cNvPr>
          <p:cNvGraphicFramePr>
            <a:graphicFrameLocks noGrp="1"/>
          </p:cNvGraphicFramePr>
          <p:nvPr>
            <p:extLst>
              <p:ext uri="{D42A27DB-BD31-4B8C-83A1-F6EECF244321}">
                <p14:modId xmlns:p14="http://schemas.microsoft.com/office/powerpoint/2010/main" val="1714275981"/>
              </p:ext>
            </p:extLst>
          </p:nvPr>
        </p:nvGraphicFramePr>
        <p:xfrm>
          <a:off x="1537838" y="2003258"/>
          <a:ext cx="5787342" cy="1850790"/>
        </p:xfrm>
        <a:graphic>
          <a:graphicData uri="http://schemas.openxmlformats.org/drawingml/2006/table">
            <a:tbl>
              <a:tblPr firstRow="1" bandRow="1">
                <a:tableStyleId>{5C22544A-7EE6-4342-B048-85BDC9FD1C3A}</a:tableStyleId>
              </a:tblPr>
              <a:tblGrid>
                <a:gridCol w="1929114">
                  <a:extLst>
                    <a:ext uri="{9D8B030D-6E8A-4147-A177-3AD203B41FA5}">
                      <a16:colId xmlns:a16="http://schemas.microsoft.com/office/drawing/2014/main" val="1558583378"/>
                    </a:ext>
                  </a:extLst>
                </a:gridCol>
                <a:gridCol w="1929114">
                  <a:extLst>
                    <a:ext uri="{9D8B030D-6E8A-4147-A177-3AD203B41FA5}">
                      <a16:colId xmlns:a16="http://schemas.microsoft.com/office/drawing/2014/main" val="2897636492"/>
                    </a:ext>
                  </a:extLst>
                </a:gridCol>
                <a:gridCol w="1929114">
                  <a:extLst>
                    <a:ext uri="{9D8B030D-6E8A-4147-A177-3AD203B41FA5}">
                      <a16:colId xmlns:a16="http://schemas.microsoft.com/office/drawing/2014/main" val="3409066784"/>
                    </a:ext>
                  </a:extLst>
                </a:gridCol>
              </a:tblGrid>
              <a:tr h="370158">
                <a:tc>
                  <a:txBody>
                    <a:bodyPr/>
                    <a:lstStyle/>
                    <a:p>
                      <a:r>
                        <a:rPr lang="en-GB" dirty="0"/>
                        <a:t>              A</a:t>
                      </a:r>
                      <a:endParaRPr lang="en-SG" dirty="0"/>
                    </a:p>
                  </a:txBody>
                  <a:tcPr/>
                </a:tc>
                <a:tc>
                  <a:txBody>
                    <a:bodyPr/>
                    <a:lstStyle/>
                    <a:p>
                      <a:r>
                        <a:rPr lang="en-GB" dirty="0"/>
                        <a:t>               B</a:t>
                      </a:r>
                      <a:endParaRPr lang="en-SG" dirty="0"/>
                    </a:p>
                  </a:txBody>
                  <a:tcPr/>
                </a:tc>
                <a:tc>
                  <a:txBody>
                    <a:bodyPr/>
                    <a:lstStyle/>
                    <a:p>
                      <a:r>
                        <a:rPr lang="en-GB" dirty="0"/>
                        <a:t>         A  or B</a:t>
                      </a:r>
                      <a:endParaRPr lang="en-SG" dirty="0"/>
                    </a:p>
                  </a:txBody>
                  <a:tcPr/>
                </a:tc>
                <a:extLst>
                  <a:ext uri="{0D108BD9-81ED-4DB2-BD59-A6C34878D82A}">
                    <a16:rowId xmlns:a16="http://schemas.microsoft.com/office/drawing/2014/main" val="3958162147"/>
                  </a:ext>
                </a:extLst>
              </a:tr>
              <a:tr h="370158">
                <a:tc>
                  <a:txBody>
                    <a:bodyPr/>
                    <a:lstStyle/>
                    <a:p>
                      <a:r>
                        <a:rPr lang="en-GB" dirty="0"/>
                        <a:t>               T</a:t>
                      </a:r>
                      <a:endParaRPr lang="en-SG" dirty="0"/>
                    </a:p>
                  </a:txBody>
                  <a:tcPr/>
                </a:tc>
                <a:tc>
                  <a:txBody>
                    <a:bodyPr/>
                    <a:lstStyle/>
                    <a:p>
                      <a:r>
                        <a:rPr lang="en-GB" dirty="0"/>
                        <a:t>              T</a:t>
                      </a:r>
                      <a:endParaRPr lang="en-SG" dirty="0"/>
                    </a:p>
                  </a:txBody>
                  <a:tcPr/>
                </a:tc>
                <a:tc>
                  <a:txBody>
                    <a:bodyPr/>
                    <a:lstStyle/>
                    <a:p>
                      <a:r>
                        <a:rPr lang="en-GB" dirty="0"/>
                        <a:t>               F</a:t>
                      </a:r>
                      <a:r>
                        <a:rPr lang="en-GB" dirty="0">
                          <a:solidFill>
                            <a:srgbClr val="FF0000"/>
                          </a:solidFill>
                        </a:rPr>
                        <a:t>/T</a:t>
                      </a:r>
                      <a:endParaRPr lang="en-SG" dirty="0"/>
                    </a:p>
                  </a:txBody>
                  <a:tcPr/>
                </a:tc>
                <a:extLst>
                  <a:ext uri="{0D108BD9-81ED-4DB2-BD59-A6C34878D82A}">
                    <a16:rowId xmlns:a16="http://schemas.microsoft.com/office/drawing/2014/main" val="3409280451"/>
                  </a:ext>
                </a:extLst>
              </a:tr>
              <a:tr h="370158">
                <a:tc>
                  <a:txBody>
                    <a:bodyPr/>
                    <a:lstStyle/>
                    <a:p>
                      <a:r>
                        <a:rPr lang="en-GB" dirty="0"/>
                        <a:t>               T</a:t>
                      </a:r>
                      <a:endParaRPr lang="en-SG" dirty="0"/>
                    </a:p>
                  </a:txBody>
                  <a:tcPr/>
                </a:tc>
                <a:tc>
                  <a:txBody>
                    <a:bodyPr/>
                    <a:lstStyle/>
                    <a:p>
                      <a:r>
                        <a:rPr lang="en-GB" dirty="0"/>
                        <a:t>              F </a:t>
                      </a:r>
                      <a:endParaRPr lang="en-SG" dirty="0"/>
                    </a:p>
                  </a:txBody>
                  <a:tcPr/>
                </a:tc>
                <a:tc>
                  <a:txBody>
                    <a:bodyPr/>
                    <a:lstStyle/>
                    <a:p>
                      <a:r>
                        <a:rPr lang="en-GB" dirty="0"/>
                        <a:t>               T</a:t>
                      </a:r>
                      <a:endParaRPr lang="en-SG" dirty="0"/>
                    </a:p>
                  </a:txBody>
                  <a:tcPr/>
                </a:tc>
                <a:extLst>
                  <a:ext uri="{0D108BD9-81ED-4DB2-BD59-A6C34878D82A}">
                    <a16:rowId xmlns:a16="http://schemas.microsoft.com/office/drawing/2014/main" val="3809634044"/>
                  </a:ext>
                </a:extLst>
              </a:tr>
              <a:tr h="370158">
                <a:tc>
                  <a:txBody>
                    <a:bodyPr/>
                    <a:lstStyle/>
                    <a:p>
                      <a:r>
                        <a:rPr lang="en-GB" dirty="0"/>
                        <a:t>               F</a:t>
                      </a:r>
                      <a:endParaRPr lang="en-SG" dirty="0"/>
                    </a:p>
                  </a:txBody>
                  <a:tcPr/>
                </a:tc>
                <a:tc>
                  <a:txBody>
                    <a:bodyPr/>
                    <a:lstStyle/>
                    <a:p>
                      <a:r>
                        <a:rPr lang="en-GB" dirty="0"/>
                        <a:t>              T</a:t>
                      </a:r>
                      <a:endParaRPr lang="en-SG" dirty="0"/>
                    </a:p>
                  </a:txBody>
                  <a:tcPr/>
                </a:tc>
                <a:tc>
                  <a:txBody>
                    <a:bodyPr/>
                    <a:lstStyle/>
                    <a:p>
                      <a:r>
                        <a:rPr lang="en-GB" dirty="0"/>
                        <a:t>               T</a:t>
                      </a:r>
                      <a:endParaRPr lang="en-SG" dirty="0"/>
                    </a:p>
                  </a:txBody>
                  <a:tcPr/>
                </a:tc>
                <a:extLst>
                  <a:ext uri="{0D108BD9-81ED-4DB2-BD59-A6C34878D82A}">
                    <a16:rowId xmlns:a16="http://schemas.microsoft.com/office/drawing/2014/main" val="2330790153"/>
                  </a:ext>
                </a:extLst>
              </a:tr>
              <a:tr h="370158">
                <a:tc>
                  <a:txBody>
                    <a:bodyPr/>
                    <a:lstStyle/>
                    <a:p>
                      <a:r>
                        <a:rPr lang="en-GB" dirty="0"/>
                        <a:t>               F</a:t>
                      </a:r>
                      <a:endParaRPr lang="en-SG" dirty="0"/>
                    </a:p>
                  </a:txBody>
                  <a:tcPr/>
                </a:tc>
                <a:tc>
                  <a:txBody>
                    <a:bodyPr/>
                    <a:lstStyle/>
                    <a:p>
                      <a:r>
                        <a:rPr lang="en-GB" dirty="0"/>
                        <a:t>              F</a:t>
                      </a:r>
                      <a:endParaRPr lang="en-SG" dirty="0"/>
                    </a:p>
                  </a:txBody>
                  <a:tcPr/>
                </a:tc>
                <a:tc>
                  <a:txBody>
                    <a:bodyPr/>
                    <a:lstStyle/>
                    <a:p>
                      <a:r>
                        <a:rPr lang="en-GB" dirty="0"/>
                        <a:t>               F</a:t>
                      </a:r>
                      <a:endParaRPr lang="en-SG" dirty="0"/>
                    </a:p>
                  </a:txBody>
                  <a:tcPr/>
                </a:tc>
                <a:extLst>
                  <a:ext uri="{0D108BD9-81ED-4DB2-BD59-A6C34878D82A}">
                    <a16:rowId xmlns:a16="http://schemas.microsoft.com/office/drawing/2014/main" val="422645974"/>
                  </a:ext>
                </a:extLst>
              </a:tr>
            </a:tbl>
          </a:graphicData>
        </a:graphic>
      </p:graphicFrame>
      <p:sp>
        <p:nvSpPr>
          <p:cNvPr id="4" name="TextBox 3">
            <a:extLst>
              <a:ext uri="{FF2B5EF4-FFF2-40B4-BE49-F238E27FC236}">
                <a16:creationId xmlns:a16="http://schemas.microsoft.com/office/drawing/2014/main" id="{5B5BCD6C-AF17-48BC-94A9-4F93E9868AAB}"/>
              </a:ext>
            </a:extLst>
          </p:cNvPr>
          <p:cNvSpPr txBox="1"/>
          <p:nvPr/>
        </p:nvSpPr>
        <p:spPr>
          <a:xfrm>
            <a:off x="280985" y="4641448"/>
            <a:ext cx="7696093" cy="1938992"/>
          </a:xfrm>
          <a:prstGeom prst="rect">
            <a:avLst/>
          </a:prstGeom>
          <a:noFill/>
        </p:spPr>
        <p:txBody>
          <a:bodyPr wrap="square" lIns="91440" tIns="45720" rIns="91440" bIns="45720" rtlCol="0" anchor="t">
            <a:spAutoFit/>
          </a:bodyPr>
          <a:lstStyle/>
          <a:p>
            <a:r>
              <a:rPr lang="en-GB" sz="2400" dirty="0">
                <a:latin typeface="Times New Roman"/>
                <a:ea typeface="MS PGothic"/>
                <a:cs typeface="Times New Roman"/>
              </a:rPr>
              <a:t>So, an </a:t>
            </a:r>
            <a:r>
              <a:rPr lang="en-GB" sz="2400" b="1" dirty="0">
                <a:latin typeface="Times New Roman"/>
                <a:ea typeface="MS PGothic"/>
                <a:cs typeface="Times New Roman"/>
              </a:rPr>
              <a:t>exclusive</a:t>
            </a:r>
            <a:r>
              <a:rPr lang="en-GB" sz="2400" dirty="0">
                <a:latin typeface="Times New Roman"/>
                <a:ea typeface="MS PGothic"/>
                <a:cs typeface="Times New Roman"/>
              </a:rPr>
              <a:t>/</a:t>
            </a:r>
            <a:r>
              <a:rPr lang="en-GB" sz="2400" b="1" dirty="0">
                <a:solidFill>
                  <a:srgbClr val="FF0000"/>
                </a:solidFill>
                <a:latin typeface="Times New Roman"/>
                <a:ea typeface="MS PGothic"/>
                <a:cs typeface="Times New Roman"/>
              </a:rPr>
              <a:t>inclusive</a:t>
            </a:r>
            <a:r>
              <a:rPr lang="en-GB" sz="2400" dirty="0">
                <a:latin typeface="Times New Roman"/>
                <a:ea typeface="MS PGothic"/>
                <a:cs typeface="Times New Roman"/>
              </a:rPr>
              <a:t> disjunction is true, if </a:t>
            </a:r>
            <a:r>
              <a:rPr lang="en-GB" sz="2400" b="1" dirty="0">
                <a:latin typeface="Times New Roman"/>
                <a:ea typeface="MS PGothic"/>
                <a:cs typeface="Times New Roman"/>
              </a:rPr>
              <a:t>exactly/</a:t>
            </a:r>
            <a:r>
              <a:rPr lang="en-GB" sz="2400" b="1" dirty="0">
                <a:solidFill>
                  <a:srgbClr val="FF0000"/>
                </a:solidFill>
                <a:latin typeface="Times New Roman"/>
                <a:ea typeface="MS PGothic"/>
                <a:cs typeface="Times New Roman"/>
              </a:rPr>
              <a:t>at least</a:t>
            </a:r>
            <a:r>
              <a:rPr lang="en-GB" sz="2400" b="1" dirty="0">
                <a:latin typeface="Times New Roman"/>
                <a:ea typeface="MS PGothic"/>
                <a:cs typeface="Times New Roman"/>
              </a:rPr>
              <a:t> </a:t>
            </a:r>
            <a:r>
              <a:rPr lang="en-GB" sz="2400" dirty="0">
                <a:latin typeface="Times New Roman"/>
                <a:ea typeface="MS PGothic"/>
                <a:cs typeface="Times New Roman"/>
              </a:rPr>
              <a:t>one of its disjuncts is true; it is false, otherwise</a:t>
            </a:r>
            <a:r>
              <a:rPr lang="en-GB" sz="2400" b="1" dirty="0">
                <a:latin typeface="Times New Roman"/>
                <a:ea typeface="MS PGothic"/>
                <a:cs typeface="Times New Roman"/>
              </a:rPr>
              <a:t>.</a:t>
            </a:r>
          </a:p>
          <a:p>
            <a:endParaRPr lang="en-GB" sz="2400" b="1" dirty="0">
              <a:latin typeface="Times New Roman"/>
              <a:ea typeface="MS PGothic"/>
              <a:cs typeface="Times New Roman"/>
            </a:endParaRPr>
          </a:p>
          <a:p>
            <a:r>
              <a:rPr lang="en-GB" sz="2400" b="1" dirty="0">
                <a:latin typeface="Times New Roman"/>
                <a:ea typeface="MS PGothic"/>
                <a:cs typeface="Times New Roman"/>
              </a:rPr>
              <a:t>What should you do when you don’t know whether the disjunction is </a:t>
            </a:r>
            <a:r>
              <a:rPr lang="en-GB" sz="2400" b="1" i="1" dirty="0">
                <a:latin typeface="Times New Roman"/>
                <a:ea typeface="MS PGothic"/>
                <a:cs typeface="Times New Roman"/>
              </a:rPr>
              <a:t>intended</a:t>
            </a:r>
            <a:r>
              <a:rPr lang="en-GB" sz="2400" b="1" dirty="0">
                <a:latin typeface="Times New Roman"/>
                <a:ea typeface="MS PGothic"/>
                <a:cs typeface="Times New Roman"/>
              </a:rPr>
              <a:t> as exclusive or inclusive?</a:t>
            </a:r>
            <a:endParaRPr lang="en-SG" sz="2400" b="1" dirty="0">
              <a:latin typeface="Times New Roman"/>
              <a:ea typeface="MS PGothic"/>
              <a:cs typeface="Times New Roman"/>
            </a:endParaRPr>
          </a:p>
        </p:txBody>
      </p:sp>
    </p:spTree>
    <p:extLst>
      <p:ext uri="{BB962C8B-B14F-4D97-AF65-F5344CB8AC3E}">
        <p14:creationId xmlns:p14="http://schemas.microsoft.com/office/powerpoint/2010/main" val="4249301824"/>
      </p:ext>
    </p:extLst>
  </p:cSld>
  <p:clrMapOvr>
    <a:masterClrMapping/>
  </p:clrMapOvr>
  <mc:AlternateContent xmlns:mc="http://schemas.openxmlformats.org/markup-compatibility/2006" xmlns:p14="http://schemas.microsoft.com/office/powerpoint/2010/main">
    <mc:Choice Requires="p14">
      <p:transition spd="slow" p14:dur="2000" advTm="164503"/>
    </mc:Choice>
    <mc:Fallback xmlns="">
      <p:transition spd="slow" advTm="164503"/>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0BF67-3E02-03EE-1A27-C51ED94CF139}"/>
              </a:ext>
            </a:extLst>
          </p:cNvPr>
          <p:cNvSpPr>
            <a:spLocks noGrp="1"/>
          </p:cNvSpPr>
          <p:nvPr>
            <p:ph type="title"/>
          </p:nvPr>
        </p:nvSpPr>
        <p:spPr>
          <a:xfrm>
            <a:off x="623454" y="3027074"/>
            <a:ext cx="8229600" cy="1143000"/>
          </a:xfrm>
        </p:spPr>
        <p:txBody>
          <a:bodyPr/>
          <a:lstStyle/>
          <a:p>
            <a:r>
              <a:rPr lang="en-US" dirty="0"/>
              <a:t>Propositional Forms</a:t>
            </a:r>
            <a:endParaRPr lang="en-SG" dirty="0"/>
          </a:p>
        </p:txBody>
      </p:sp>
    </p:spTree>
    <p:extLst>
      <p:ext uri="{BB962C8B-B14F-4D97-AF65-F5344CB8AC3E}">
        <p14:creationId xmlns:p14="http://schemas.microsoft.com/office/powerpoint/2010/main" val="237955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nip and Round Single Corner Rectangle 6"/>
          <p:cNvSpPr/>
          <p:nvPr/>
        </p:nvSpPr>
        <p:spPr>
          <a:xfrm>
            <a:off x="2" y="95254"/>
            <a:ext cx="8863015" cy="860425"/>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fontAlgn="base">
              <a:spcBef>
                <a:spcPct val="0"/>
              </a:spcBef>
              <a:spcAft>
                <a:spcPct val="0"/>
              </a:spcAft>
              <a:defRPr/>
            </a:pPr>
            <a:r>
              <a:rPr lang="en-US" sz="3000" b="1" spc="-151" dirty="0">
                <a:solidFill>
                  <a:prstClr val="white"/>
                </a:solidFill>
                <a:latin typeface="Times New Roman" panose="02020603050405020304" pitchFamily="18" charset="0"/>
                <a:cs typeface="Times New Roman" panose="02020603050405020304" pitchFamily="18" charset="0"/>
              </a:rPr>
              <a:t>Standard Propositional Forms (1): Modus Ponens (MP)</a:t>
            </a:r>
          </a:p>
        </p:txBody>
      </p:sp>
      <p:sp>
        <p:nvSpPr>
          <p:cNvPr id="8" name="Snip and Round Single Corner Rectangle 7"/>
          <p:cNvSpPr/>
          <p:nvPr/>
        </p:nvSpPr>
        <p:spPr>
          <a:xfrm>
            <a:off x="3" y="6477001"/>
            <a:ext cx="8863013" cy="323851"/>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a:spcBef>
                <a:spcPct val="20000"/>
              </a:spcBef>
              <a:buFont typeface="Arial" panose="020B0604020202020204" pitchFamily="34" charset="0"/>
              <a:buChar char="•"/>
              <a:tabLst>
                <a:tab pos="4389438" algn="l"/>
              </a:tabLst>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tabLst>
                <a:tab pos="4389438" algn="l"/>
              </a:tabLst>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tabLst>
                <a:tab pos="4389438" algn="l"/>
              </a:tabLst>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9pPr>
          </a:lstStyle>
          <a:p>
            <a:pPr algn="r" fontAlgn="base">
              <a:spcBef>
                <a:spcPct val="0"/>
              </a:spcBef>
              <a:spcAft>
                <a:spcPct val="0"/>
              </a:spcAft>
              <a:buNone/>
              <a:defRPr/>
            </a:pPr>
            <a:fld id="{02404CBC-9017-4C4D-9A9D-4846F12B969B}" type="slidenum">
              <a:rPr lang="en-US" altLang="en-US" sz="1300">
                <a:solidFill>
                  <a:srgbClr val="FFFFFF"/>
                </a:solidFill>
                <a:latin typeface="Gill Sans MT" panose="020B0502020104020203" pitchFamily="34" charset="0"/>
              </a:rPr>
              <a:pPr algn="r" fontAlgn="base">
                <a:spcBef>
                  <a:spcPct val="0"/>
                </a:spcBef>
                <a:spcAft>
                  <a:spcPct val="0"/>
                </a:spcAft>
                <a:buNone/>
                <a:defRPr/>
              </a:pPr>
              <a:t>10</a:t>
            </a:fld>
            <a:endParaRPr lang="en-US" altLang="en-US" sz="1300">
              <a:solidFill>
                <a:srgbClr val="FFFFFF"/>
              </a:solidFill>
              <a:latin typeface="Gill Sans MT" panose="020B0502020104020203" pitchFamily="34" charset="0"/>
            </a:endParaRPr>
          </a:p>
        </p:txBody>
      </p:sp>
      <p:sp>
        <p:nvSpPr>
          <p:cNvPr id="8196" name="Rectangle 4"/>
          <p:cNvSpPr>
            <a:spLocks noGrp="1" noChangeArrowheads="1"/>
          </p:cNvSpPr>
          <p:nvPr>
            <p:ph type="subTitle" idx="1"/>
          </p:nvPr>
        </p:nvSpPr>
        <p:spPr>
          <a:xfrm>
            <a:off x="1" y="1081522"/>
            <a:ext cx="8863013" cy="2911744"/>
          </a:xfrm>
        </p:spPr>
        <p:txBody>
          <a:bodyPr/>
          <a:lstStyle/>
          <a:p>
            <a:pPr marL="342265" indent="-342265" algn="l" eaLnBrk="1" hangingPunct="1">
              <a:buFont typeface="Wingdings" panose="05000000000000000000" pitchFamily="2" charset="2"/>
              <a:buChar char="§"/>
            </a:pPr>
            <a:r>
              <a:rPr lang="en-US" altLang="en-US" sz="1800" dirty="0">
                <a:solidFill>
                  <a:schemeClr val="tx1"/>
                </a:solidFill>
                <a:latin typeface="Times New Roman"/>
                <a:ea typeface="MS PGothic"/>
                <a:cs typeface="Times New Roman"/>
              </a:rPr>
              <a:t>Modus Ponens is an argument form with the following structure:</a:t>
            </a:r>
          </a:p>
          <a:p>
            <a:pPr algn="l" eaLnBrk="1" hangingPunct="1"/>
            <a:endParaRPr lang="en-US" altLang="en-US" sz="1800" dirty="0">
              <a:solidFill>
                <a:schemeClr val="tx1"/>
              </a:solidFill>
              <a:latin typeface="Times New Roman" panose="02020603050405020304" pitchFamily="18" charset="0"/>
              <a:cs typeface="Times New Roman" panose="02020603050405020304" pitchFamily="18" charset="0"/>
            </a:endParaRPr>
          </a:p>
          <a:p>
            <a:pPr marL="456565" lvl="1" algn="l" eaLnBrk="1" hangingPunct="1"/>
            <a:r>
              <a:rPr lang="en-US" altLang="en-US" sz="1800" dirty="0">
                <a:solidFill>
                  <a:schemeClr val="tx1"/>
                </a:solidFill>
                <a:latin typeface="Times New Roman"/>
                <a:ea typeface="MS PGothic"/>
                <a:cs typeface="Times New Roman"/>
              </a:rPr>
              <a:t>If P then Q</a:t>
            </a:r>
          </a:p>
          <a:p>
            <a:pPr marL="456565" lvl="1" algn="l" eaLnBrk="1" hangingPunct="1"/>
            <a:r>
              <a:rPr lang="en-US" altLang="en-US" sz="1800" dirty="0">
                <a:solidFill>
                  <a:schemeClr val="tx1"/>
                </a:solidFill>
                <a:latin typeface="Times New Roman"/>
                <a:ea typeface="MS PGothic"/>
                <a:cs typeface="Times New Roman"/>
              </a:rPr>
              <a:t>P</a:t>
            </a:r>
          </a:p>
          <a:p>
            <a:pPr marL="456565" lvl="1" algn="l" eaLnBrk="1" hangingPunct="1"/>
            <a:r>
              <a:rPr lang="en-US" altLang="en-US" sz="1800" dirty="0">
                <a:solidFill>
                  <a:schemeClr val="tx1"/>
                </a:solidFill>
                <a:latin typeface="Times New Roman"/>
                <a:ea typeface="MS PGothic"/>
                <a:cs typeface="Times New Roman"/>
              </a:rPr>
              <a:t>__________</a:t>
            </a:r>
          </a:p>
          <a:p>
            <a:pPr marL="456565" lvl="1" algn="l" eaLnBrk="1" hangingPunct="1"/>
            <a:r>
              <a:rPr lang="en-US" altLang="en-US" sz="1800" dirty="0">
                <a:solidFill>
                  <a:schemeClr val="tx1"/>
                </a:solidFill>
                <a:latin typeface="Times New Roman"/>
                <a:ea typeface="MS PGothic"/>
                <a:cs typeface="Times New Roman"/>
              </a:rPr>
              <a:t>So, Q</a:t>
            </a:r>
          </a:p>
          <a:p>
            <a:pPr algn="l" eaLnBrk="1" hangingPunct="1"/>
            <a:endParaRPr lang="en-US" altLang="en-US" sz="1800" dirty="0">
              <a:solidFill>
                <a:schemeClr val="tx1"/>
              </a:solidFill>
              <a:latin typeface="Times New Roman" panose="02020603050405020304" pitchFamily="18" charset="0"/>
              <a:cs typeface="Times New Roman" panose="02020603050405020304" pitchFamily="18" charset="0"/>
            </a:endParaRPr>
          </a:p>
          <a:p>
            <a:pPr marL="285750" indent="-285750" algn="l" eaLnBrk="1" hangingPunct="1">
              <a:buFont typeface="Wingdings" panose="05000000000000000000" pitchFamily="2" charset="2"/>
              <a:buChar char="§"/>
            </a:pPr>
            <a:r>
              <a:rPr lang="en-US" altLang="en-US" sz="1800" dirty="0">
                <a:solidFill>
                  <a:schemeClr val="tx1"/>
                </a:solidFill>
                <a:latin typeface="Times New Roman"/>
                <a:ea typeface="MS PGothic"/>
                <a:cs typeface="Times New Roman"/>
              </a:rPr>
              <a:t>Modus ponens is a VALID form of inference regardless of what P and Q stand for.  Here is why:</a:t>
            </a:r>
            <a:endParaRPr lang="en-SG" sz="1800" i="0" u="none" strike="noStrike" dirty="0">
              <a:solidFill>
                <a:schemeClr val="tx1"/>
              </a:solidFill>
              <a:effectLst/>
              <a:latin typeface="Times New Roman"/>
              <a:ea typeface="MS PGothic"/>
              <a:cs typeface="Times New Roman"/>
            </a:endParaRPr>
          </a:p>
        </p:txBody>
      </p:sp>
      <p:sp>
        <p:nvSpPr>
          <p:cNvPr id="2" name="TextBox 1">
            <a:extLst>
              <a:ext uri="{FF2B5EF4-FFF2-40B4-BE49-F238E27FC236}">
                <a16:creationId xmlns:a16="http://schemas.microsoft.com/office/drawing/2014/main" id="{75BBAC0C-2169-49AA-99DC-95C89B02B538}"/>
              </a:ext>
            </a:extLst>
          </p:cNvPr>
          <p:cNvSpPr txBox="1"/>
          <p:nvPr/>
        </p:nvSpPr>
        <p:spPr>
          <a:xfrm>
            <a:off x="3905955" y="1915846"/>
            <a:ext cx="2573867" cy="1200329"/>
          </a:xfrm>
          <a:prstGeom prst="rect">
            <a:avLst/>
          </a:prstGeom>
          <a:noFill/>
        </p:spPr>
        <p:txBody>
          <a:bodyPr wrap="square" rtlCol="0">
            <a:spAutoFit/>
          </a:bodyPr>
          <a:lstStyle/>
          <a:p>
            <a:pPr algn="ctr"/>
            <a:r>
              <a:rPr lang="en-SG" b="1" dirty="0">
                <a:latin typeface="Times New Roman" panose="02020603050405020304" pitchFamily="18" charset="0"/>
                <a:cs typeface="Times New Roman" panose="02020603050405020304" pitchFamily="18" charset="0"/>
              </a:rPr>
              <a:t>If P then Q + P</a:t>
            </a:r>
          </a:p>
          <a:p>
            <a:pPr algn="ctr"/>
            <a:endParaRPr lang="en-SG" b="1" dirty="0">
              <a:latin typeface="Times New Roman" panose="02020603050405020304" pitchFamily="18" charset="0"/>
              <a:cs typeface="Times New Roman" panose="02020603050405020304" pitchFamily="18" charset="0"/>
            </a:endParaRPr>
          </a:p>
          <a:p>
            <a:pPr algn="ctr"/>
            <a:endParaRPr lang="en-SG" b="1" dirty="0">
              <a:latin typeface="Times New Roman" panose="02020603050405020304" pitchFamily="18" charset="0"/>
              <a:cs typeface="Times New Roman" panose="02020603050405020304" pitchFamily="18" charset="0"/>
            </a:endParaRPr>
          </a:p>
          <a:p>
            <a:pPr algn="ctr"/>
            <a:r>
              <a:rPr lang="en-SG" b="1" dirty="0">
                <a:latin typeface="Times New Roman" panose="02020603050405020304" pitchFamily="18" charset="0"/>
                <a:cs typeface="Times New Roman" panose="02020603050405020304" pitchFamily="18" charset="0"/>
              </a:rPr>
              <a:t>Q </a:t>
            </a:r>
          </a:p>
        </p:txBody>
      </p:sp>
      <p:cxnSp>
        <p:nvCxnSpPr>
          <p:cNvPr id="4" name="Straight Connector 3">
            <a:extLst>
              <a:ext uri="{FF2B5EF4-FFF2-40B4-BE49-F238E27FC236}">
                <a16:creationId xmlns:a16="http://schemas.microsoft.com/office/drawing/2014/main" id="{8AF32762-7E28-4142-AC5A-0EEE3ECE2822}"/>
              </a:ext>
            </a:extLst>
          </p:cNvPr>
          <p:cNvCxnSpPr/>
          <p:nvPr/>
        </p:nvCxnSpPr>
        <p:spPr>
          <a:xfrm>
            <a:off x="4419599" y="2284587"/>
            <a:ext cx="154657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8132B74B-7FC9-4C91-A548-EC7B3B335475}"/>
              </a:ext>
            </a:extLst>
          </p:cNvPr>
          <p:cNvCxnSpPr>
            <a:cxnSpLocks/>
          </p:cNvCxnSpPr>
          <p:nvPr/>
        </p:nvCxnSpPr>
        <p:spPr>
          <a:xfrm>
            <a:off x="5192888" y="2284587"/>
            <a:ext cx="0" cy="46284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B1FD20FD-DB9D-4BD6-A942-A5C78616624C}"/>
              </a:ext>
            </a:extLst>
          </p:cNvPr>
          <p:cNvCxnSpPr/>
          <p:nvPr/>
        </p:nvCxnSpPr>
        <p:spPr>
          <a:xfrm>
            <a:off x="3228051" y="2099733"/>
            <a:ext cx="0" cy="1219200"/>
          </a:xfrm>
          <a:prstGeom prst="line">
            <a:avLst/>
          </a:prstGeom>
        </p:spPr>
        <p:style>
          <a:lnRef idx="2">
            <a:schemeClr val="accent1"/>
          </a:lnRef>
          <a:fillRef idx="0">
            <a:schemeClr val="accent1"/>
          </a:fillRef>
          <a:effectRef idx="1">
            <a:schemeClr val="accent1"/>
          </a:effectRef>
          <a:fontRef idx="minor">
            <a:schemeClr val="tx1"/>
          </a:fontRef>
        </p:style>
      </p:cxnSp>
      <p:graphicFrame>
        <p:nvGraphicFramePr>
          <p:cNvPr id="5" name="Table 3">
            <a:extLst>
              <a:ext uri="{FF2B5EF4-FFF2-40B4-BE49-F238E27FC236}">
                <a16:creationId xmlns:a16="http://schemas.microsoft.com/office/drawing/2014/main" id="{642BB6A9-A753-4451-8348-A36EA6AD7AE6}"/>
              </a:ext>
            </a:extLst>
          </p:cNvPr>
          <p:cNvGraphicFramePr>
            <a:graphicFrameLocks noGrp="1"/>
          </p:cNvGraphicFramePr>
          <p:nvPr>
            <p:extLst>
              <p:ext uri="{D42A27DB-BD31-4B8C-83A1-F6EECF244321}">
                <p14:modId xmlns:p14="http://schemas.microsoft.com/office/powerpoint/2010/main" val="2130233806"/>
              </p:ext>
            </p:extLst>
          </p:nvPr>
        </p:nvGraphicFramePr>
        <p:xfrm>
          <a:off x="1122744" y="4134387"/>
          <a:ext cx="5787342" cy="1828800"/>
        </p:xfrm>
        <a:graphic>
          <a:graphicData uri="http://schemas.openxmlformats.org/drawingml/2006/table">
            <a:tbl>
              <a:tblPr firstRow="1" bandRow="1">
                <a:tableStyleId>{5C22544A-7EE6-4342-B048-85BDC9FD1C3A}</a:tableStyleId>
              </a:tblPr>
              <a:tblGrid>
                <a:gridCol w="1929114">
                  <a:extLst>
                    <a:ext uri="{9D8B030D-6E8A-4147-A177-3AD203B41FA5}">
                      <a16:colId xmlns:a16="http://schemas.microsoft.com/office/drawing/2014/main" val="1558583378"/>
                    </a:ext>
                  </a:extLst>
                </a:gridCol>
                <a:gridCol w="1929114">
                  <a:extLst>
                    <a:ext uri="{9D8B030D-6E8A-4147-A177-3AD203B41FA5}">
                      <a16:colId xmlns:a16="http://schemas.microsoft.com/office/drawing/2014/main" val="2897636492"/>
                    </a:ext>
                  </a:extLst>
                </a:gridCol>
                <a:gridCol w="1929114">
                  <a:extLst>
                    <a:ext uri="{9D8B030D-6E8A-4147-A177-3AD203B41FA5}">
                      <a16:colId xmlns:a16="http://schemas.microsoft.com/office/drawing/2014/main" val="3409066784"/>
                    </a:ext>
                  </a:extLst>
                </a:gridCol>
              </a:tblGrid>
              <a:tr h="351426">
                <a:tc>
                  <a:txBody>
                    <a:bodyPr/>
                    <a:lstStyle/>
                    <a:p>
                      <a:r>
                        <a:rPr lang="en-GB" dirty="0"/>
                        <a:t>              P</a:t>
                      </a:r>
                      <a:endParaRPr lang="en-SG" dirty="0"/>
                    </a:p>
                  </a:txBody>
                  <a:tcPr/>
                </a:tc>
                <a:tc>
                  <a:txBody>
                    <a:bodyPr/>
                    <a:lstStyle/>
                    <a:p>
                      <a:r>
                        <a:rPr lang="en-GB" dirty="0"/>
                        <a:t>               Q</a:t>
                      </a:r>
                      <a:endParaRPr lang="en-SG" dirty="0"/>
                    </a:p>
                  </a:txBody>
                  <a:tcPr/>
                </a:tc>
                <a:tc>
                  <a:txBody>
                    <a:bodyPr/>
                    <a:lstStyle/>
                    <a:p>
                      <a:r>
                        <a:rPr lang="en-GB" dirty="0"/>
                        <a:t>          If P then Q</a:t>
                      </a:r>
                      <a:endParaRPr lang="en-SG" dirty="0"/>
                    </a:p>
                  </a:txBody>
                  <a:tcPr/>
                </a:tc>
                <a:extLst>
                  <a:ext uri="{0D108BD9-81ED-4DB2-BD59-A6C34878D82A}">
                    <a16:rowId xmlns:a16="http://schemas.microsoft.com/office/drawing/2014/main" val="3958162147"/>
                  </a:ext>
                </a:extLst>
              </a:tr>
              <a:tr h="351426">
                <a:tc>
                  <a:txBody>
                    <a:bodyPr/>
                    <a:lstStyle/>
                    <a:p>
                      <a:r>
                        <a:rPr lang="en-GB" dirty="0"/>
                        <a:t>               T</a:t>
                      </a:r>
                      <a:endParaRPr lang="en-SG" dirty="0"/>
                    </a:p>
                  </a:txBody>
                  <a:tcPr/>
                </a:tc>
                <a:tc>
                  <a:txBody>
                    <a:bodyPr/>
                    <a:lstStyle/>
                    <a:p>
                      <a:r>
                        <a:rPr lang="en-GB" dirty="0"/>
                        <a:t>              T</a:t>
                      </a:r>
                      <a:endParaRPr lang="en-SG" dirty="0"/>
                    </a:p>
                  </a:txBody>
                  <a:tcPr/>
                </a:tc>
                <a:tc>
                  <a:txBody>
                    <a:bodyPr/>
                    <a:lstStyle/>
                    <a:p>
                      <a:r>
                        <a:rPr lang="en-GB" dirty="0"/>
                        <a:t>               T</a:t>
                      </a:r>
                      <a:endParaRPr lang="en-SG" dirty="0"/>
                    </a:p>
                  </a:txBody>
                  <a:tcPr/>
                </a:tc>
                <a:extLst>
                  <a:ext uri="{0D108BD9-81ED-4DB2-BD59-A6C34878D82A}">
                    <a16:rowId xmlns:a16="http://schemas.microsoft.com/office/drawing/2014/main" val="3409280451"/>
                  </a:ext>
                </a:extLst>
              </a:tr>
              <a:tr h="351426">
                <a:tc>
                  <a:txBody>
                    <a:bodyPr/>
                    <a:lstStyle/>
                    <a:p>
                      <a:r>
                        <a:rPr lang="en-GB" dirty="0"/>
                        <a:t>               T</a:t>
                      </a:r>
                      <a:endParaRPr lang="en-SG" dirty="0"/>
                    </a:p>
                  </a:txBody>
                  <a:tcPr/>
                </a:tc>
                <a:tc>
                  <a:txBody>
                    <a:bodyPr/>
                    <a:lstStyle/>
                    <a:p>
                      <a:r>
                        <a:rPr lang="en-GB" dirty="0"/>
                        <a:t>              F </a:t>
                      </a:r>
                      <a:endParaRPr lang="en-SG" dirty="0"/>
                    </a:p>
                  </a:txBody>
                  <a:tcPr/>
                </a:tc>
                <a:tc>
                  <a:txBody>
                    <a:bodyPr/>
                    <a:lstStyle/>
                    <a:p>
                      <a:r>
                        <a:rPr lang="en-GB" dirty="0"/>
                        <a:t>               F</a:t>
                      </a:r>
                      <a:endParaRPr lang="en-SG" dirty="0"/>
                    </a:p>
                  </a:txBody>
                  <a:tcPr/>
                </a:tc>
                <a:extLst>
                  <a:ext uri="{0D108BD9-81ED-4DB2-BD59-A6C34878D82A}">
                    <a16:rowId xmlns:a16="http://schemas.microsoft.com/office/drawing/2014/main" val="3809634044"/>
                  </a:ext>
                </a:extLst>
              </a:tr>
              <a:tr h="351426">
                <a:tc>
                  <a:txBody>
                    <a:bodyPr/>
                    <a:lstStyle/>
                    <a:p>
                      <a:r>
                        <a:rPr lang="en-GB" dirty="0"/>
                        <a:t>               F</a:t>
                      </a:r>
                      <a:endParaRPr lang="en-SG" dirty="0"/>
                    </a:p>
                  </a:txBody>
                  <a:tcPr/>
                </a:tc>
                <a:tc>
                  <a:txBody>
                    <a:bodyPr/>
                    <a:lstStyle/>
                    <a:p>
                      <a:r>
                        <a:rPr lang="en-GB" dirty="0"/>
                        <a:t>              T</a:t>
                      </a:r>
                      <a:endParaRPr lang="en-SG" dirty="0"/>
                    </a:p>
                  </a:txBody>
                  <a:tcPr/>
                </a:tc>
                <a:tc>
                  <a:txBody>
                    <a:bodyPr/>
                    <a:lstStyle/>
                    <a:p>
                      <a:r>
                        <a:rPr lang="en-GB" dirty="0"/>
                        <a:t>               T</a:t>
                      </a:r>
                      <a:endParaRPr lang="en-SG" dirty="0"/>
                    </a:p>
                  </a:txBody>
                  <a:tcPr/>
                </a:tc>
                <a:extLst>
                  <a:ext uri="{0D108BD9-81ED-4DB2-BD59-A6C34878D82A}">
                    <a16:rowId xmlns:a16="http://schemas.microsoft.com/office/drawing/2014/main" val="2330790153"/>
                  </a:ext>
                </a:extLst>
              </a:tr>
              <a:tr h="351426">
                <a:tc>
                  <a:txBody>
                    <a:bodyPr/>
                    <a:lstStyle/>
                    <a:p>
                      <a:r>
                        <a:rPr lang="en-GB" dirty="0"/>
                        <a:t>               F</a:t>
                      </a:r>
                      <a:endParaRPr lang="en-SG" dirty="0"/>
                    </a:p>
                  </a:txBody>
                  <a:tcPr/>
                </a:tc>
                <a:tc>
                  <a:txBody>
                    <a:bodyPr/>
                    <a:lstStyle/>
                    <a:p>
                      <a:r>
                        <a:rPr lang="en-GB" dirty="0"/>
                        <a:t>              F</a:t>
                      </a:r>
                      <a:endParaRPr lang="en-SG" dirty="0"/>
                    </a:p>
                  </a:txBody>
                  <a:tcPr/>
                </a:tc>
                <a:tc>
                  <a:txBody>
                    <a:bodyPr/>
                    <a:lstStyle/>
                    <a:p>
                      <a:r>
                        <a:rPr lang="en-GB" dirty="0"/>
                        <a:t>               T</a:t>
                      </a:r>
                      <a:endParaRPr lang="en-SG" dirty="0"/>
                    </a:p>
                  </a:txBody>
                  <a:tcPr/>
                </a:tc>
                <a:extLst>
                  <a:ext uri="{0D108BD9-81ED-4DB2-BD59-A6C34878D82A}">
                    <a16:rowId xmlns:a16="http://schemas.microsoft.com/office/drawing/2014/main" val="422645974"/>
                  </a:ext>
                </a:extLst>
              </a:tr>
            </a:tbl>
          </a:graphicData>
        </a:graphic>
      </p:graphicFrame>
    </p:spTree>
    <p:extLst>
      <p:ext uri="{BB962C8B-B14F-4D97-AF65-F5344CB8AC3E}">
        <p14:creationId xmlns:p14="http://schemas.microsoft.com/office/powerpoint/2010/main" val="1380796852"/>
      </p:ext>
    </p:extLst>
  </p:cSld>
  <p:clrMapOvr>
    <a:masterClrMapping/>
  </p:clrMapOvr>
  <mc:AlternateContent xmlns:mc="http://schemas.openxmlformats.org/markup-compatibility/2006" xmlns:p14="http://schemas.microsoft.com/office/powerpoint/2010/main">
    <mc:Choice Requires="p14">
      <p:transition spd="slow" p14:dur="2000" advTm="217608"/>
    </mc:Choice>
    <mc:Fallback xmlns="">
      <p:transition spd="slow" advTm="217608"/>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nip and Round Single Corner Rectangle 6"/>
          <p:cNvSpPr/>
          <p:nvPr/>
        </p:nvSpPr>
        <p:spPr>
          <a:xfrm>
            <a:off x="0" y="95254"/>
            <a:ext cx="8712200" cy="860425"/>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marL="609585" indent="-609585" eaLnBrk="0" fontAlgn="base" hangingPunct="0">
              <a:spcBef>
                <a:spcPct val="20000"/>
              </a:spcBef>
              <a:spcAft>
                <a:spcPct val="0"/>
              </a:spcAft>
              <a:defRPr/>
            </a:pPr>
            <a:r>
              <a:rPr lang="en-US" sz="3600" b="1" dirty="0">
                <a:solidFill>
                  <a:srgbClr val="FFFFFF"/>
                </a:solidFill>
                <a:latin typeface="Times New Roman" panose="02020603050405020304" pitchFamily="18" charset="0"/>
                <a:cs typeface="Times New Roman" panose="02020603050405020304" pitchFamily="18" charset="0"/>
              </a:rPr>
              <a:t>Modus Ponens: Examples</a:t>
            </a:r>
            <a:endParaRPr lang="en-US" sz="3600" b="1" dirty="0">
              <a:solidFill>
                <a:srgbClr val="FF0000"/>
              </a:solidFill>
              <a:latin typeface="Times New Roman" panose="02020603050405020304" pitchFamily="18" charset="0"/>
              <a:cs typeface="Times New Roman" panose="02020603050405020304" pitchFamily="18" charset="0"/>
            </a:endParaRPr>
          </a:p>
        </p:txBody>
      </p:sp>
      <p:sp>
        <p:nvSpPr>
          <p:cNvPr id="8" name="Snip and Round Single Corner Rectangle 7"/>
          <p:cNvSpPr/>
          <p:nvPr/>
        </p:nvSpPr>
        <p:spPr>
          <a:xfrm>
            <a:off x="3" y="6477001"/>
            <a:ext cx="8863013" cy="323851"/>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a:spcBef>
                <a:spcPct val="20000"/>
              </a:spcBef>
              <a:buFont typeface="Arial" panose="020B0604020202020204" pitchFamily="34" charset="0"/>
              <a:buChar char="•"/>
              <a:tabLst>
                <a:tab pos="4389438" algn="l"/>
              </a:tabLst>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tabLst>
                <a:tab pos="4389438" algn="l"/>
              </a:tabLst>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tabLst>
                <a:tab pos="4389438" algn="l"/>
              </a:tabLst>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9pPr>
          </a:lstStyle>
          <a:p>
            <a:pPr algn="r" fontAlgn="base">
              <a:spcBef>
                <a:spcPct val="0"/>
              </a:spcBef>
              <a:spcAft>
                <a:spcPct val="0"/>
              </a:spcAft>
              <a:buNone/>
              <a:defRPr/>
            </a:pPr>
            <a:fld id="{5C157F89-BC4E-485A-A9B8-EC5F2289648F}" type="slidenum">
              <a:rPr lang="en-US" altLang="en-US" sz="1300">
                <a:solidFill>
                  <a:srgbClr val="FFFFFF"/>
                </a:solidFill>
                <a:latin typeface="Gill Sans MT" panose="020B0502020104020203" pitchFamily="34" charset="0"/>
              </a:rPr>
              <a:pPr algn="r" fontAlgn="base">
                <a:spcBef>
                  <a:spcPct val="0"/>
                </a:spcBef>
                <a:spcAft>
                  <a:spcPct val="0"/>
                </a:spcAft>
                <a:buNone/>
                <a:defRPr/>
              </a:pPr>
              <a:t>11</a:t>
            </a:fld>
            <a:endParaRPr lang="en-US" altLang="en-US" sz="1300">
              <a:solidFill>
                <a:srgbClr val="FFFFFF"/>
              </a:solidFill>
              <a:latin typeface="Gill Sans MT" panose="020B0502020104020203" pitchFamily="34" charset="0"/>
            </a:endParaRPr>
          </a:p>
        </p:txBody>
      </p:sp>
      <p:sp>
        <p:nvSpPr>
          <p:cNvPr id="27" name="TextBox 26"/>
          <p:cNvSpPr txBox="1"/>
          <p:nvPr/>
        </p:nvSpPr>
        <p:spPr>
          <a:xfrm>
            <a:off x="11768" y="1006615"/>
            <a:ext cx="8700432" cy="5016758"/>
          </a:xfrm>
          <a:prstGeom prst="rect">
            <a:avLst/>
          </a:prstGeom>
          <a:noFill/>
        </p:spPr>
        <p:txBody>
          <a:bodyPr wrap="square" lIns="91440" tIns="45720" rIns="91440" bIns="45720" anchor="t">
            <a:spAutoFit/>
          </a:bodyPr>
          <a:lstStyle/>
          <a:p>
            <a:pPr fontAlgn="base">
              <a:spcBef>
                <a:spcPct val="0"/>
              </a:spcBef>
              <a:spcAft>
                <a:spcPct val="0"/>
              </a:spcAft>
              <a:defRPr/>
            </a:pPr>
            <a:r>
              <a:rPr lang="en-US" sz="2000" dirty="0">
                <a:latin typeface="Times New Roman"/>
                <a:ea typeface="ＭＳ Ｐゴシック"/>
                <a:cs typeface="Times New Roman"/>
              </a:rPr>
              <a:t>Consider the following examples. Is the inference valid? </a:t>
            </a:r>
          </a:p>
          <a:p>
            <a:pPr fontAlgn="base">
              <a:spcBef>
                <a:spcPct val="0"/>
              </a:spcBef>
              <a:spcAft>
                <a:spcPct val="0"/>
              </a:spcAft>
              <a:defRPr/>
            </a:pPr>
            <a:r>
              <a:rPr lang="en-US" sz="2000" dirty="0">
                <a:latin typeface="Times New Roman"/>
                <a:ea typeface="ＭＳ Ｐゴシック"/>
                <a:cs typeface="Times New Roman"/>
              </a:rPr>
              <a:t>Is the argument sound?</a:t>
            </a:r>
          </a:p>
          <a:p>
            <a:pPr fontAlgn="base">
              <a:spcBef>
                <a:spcPct val="0"/>
              </a:spcBef>
              <a:spcAft>
                <a:spcPct val="0"/>
              </a:spcAft>
              <a:defRPr/>
            </a:pPr>
            <a:endParaRPr lang="en-US" sz="2000" dirty="0">
              <a:latin typeface="Times New Roman" panose="02020603050405020304" pitchFamily="18" charset="0"/>
              <a:ea typeface="ＭＳ Ｐゴシック" charset="0"/>
              <a:cs typeface="Times New Roman" panose="02020603050405020304" pitchFamily="18" charset="0"/>
            </a:endParaRPr>
          </a:p>
          <a:p>
            <a:pPr fontAlgn="base">
              <a:spcBef>
                <a:spcPct val="0"/>
              </a:spcBef>
              <a:spcAft>
                <a:spcPct val="0"/>
              </a:spcAft>
              <a:defRPr/>
            </a:pPr>
            <a:endParaRPr lang="en-US" sz="2000" dirty="0">
              <a:latin typeface="Times New Roman" panose="02020603050405020304" pitchFamily="18" charset="0"/>
              <a:ea typeface="ＭＳ Ｐゴシック" charset="0"/>
              <a:cs typeface="Times New Roman" panose="02020603050405020304" pitchFamily="18" charset="0"/>
            </a:endParaRPr>
          </a:p>
          <a:p>
            <a:pPr lvl="2" fontAlgn="base">
              <a:spcBef>
                <a:spcPct val="0"/>
              </a:spcBef>
              <a:spcAft>
                <a:spcPct val="0"/>
              </a:spcAft>
              <a:defRPr/>
            </a:pPr>
            <a:r>
              <a:rPr lang="en-US" sz="2000" dirty="0">
                <a:latin typeface="Times New Roman"/>
                <a:ea typeface="ＭＳ Ｐゴシック"/>
                <a:cs typeface="Times New Roman"/>
              </a:rPr>
              <a:t>1.	If he lives in Bangkok, he lives in Thailand.</a:t>
            </a:r>
          </a:p>
          <a:p>
            <a:pPr lvl="2" fontAlgn="base">
              <a:spcBef>
                <a:spcPct val="0"/>
              </a:spcBef>
              <a:spcAft>
                <a:spcPct val="0"/>
              </a:spcAft>
              <a:defRPr/>
            </a:pPr>
            <a:r>
              <a:rPr lang="en-US" sz="2000" dirty="0">
                <a:latin typeface="Times New Roman"/>
                <a:ea typeface="ＭＳ Ｐゴシック"/>
                <a:cs typeface="Times New Roman"/>
              </a:rPr>
              <a:t>	He lives in Bangkok.</a:t>
            </a:r>
          </a:p>
          <a:p>
            <a:pPr lvl="2" fontAlgn="base">
              <a:spcBef>
                <a:spcPct val="0"/>
              </a:spcBef>
              <a:spcAft>
                <a:spcPct val="0"/>
              </a:spcAft>
              <a:defRPr/>
            </a:pPr>
            <a:r>
              <a:rPr lang="en-US" sz="2000" dirty="0">
                <a:latin typeface="Times New Roman"/>
                <a:ea typeface="ＭＳ Ｐゴシック"/>
                <a:cs typeface="Times New Roman"/>
              </a:rPr>
              <a:t>	_____________________________</a:t>
            </a:r>
          </a:p>
          <a:p>
            <a:pPr lvl="2" fontAlgn="base">
              <a:spcBef>
                <a:spcPct val="0"/>
              </a:spcBef>
              <a:spcAft>
                <a:spcPct val="0"/>
              </a:spcAft>
              <a:defRPr/>
            </a:pPr>
            <a:r>
              <a:rPr lang="en-US" sz="2000" dirty="0">
                <a:latin typeface="Times New Roman"/>
                <a:ea typeface="ＭＳ Ｐゴシック"/>
                <a:cs typeface="Times New Roman"/>
              </a:rPr>
              <a:t>	So, he lives in Thailand.</a:t>
            </a:r>
          </a:p>
          <a:p>
            <a:pPr lvl="2" fontAlgn="base">
              <a:spcBef>
                <a:spcPct val="0"/>
              </a:spcBef>
              <a:spcAft>
                <a:spcPct val="0"/>
              </a:spcAft>
              <a:defRPr/>
            </a:pPr>
            <a:endParaRPr lang="en-US" sz="2000" dirty="0">
              <a:latin typeface="Times New Roman" panose="02020603050405020304" pitchFamily="18" charset="0"/>
              <a:ea typeface="ＭＳ Ｐゴシック" charset="0"/>
              <a:cs typeface="Times New Roman" panose="02020603050405020304" pitchFamily="18" charset="0"/>
            </a:endParaRPr>
          </a:p>
          <a:p>
            <a:pPr lvl="2" fontAlgn="base">
              <a:spcBef>
                <a:spcPct val="0"/>
              </a:spcBef>
              <a:spcAft>
                <a:spcPct val="0"/>
              </a:spcAft>
              <a:defRPr/>
            </a:pPr>
            <a:endParaRPr lang="en-US" sz="2000" dirty="0">
              <a:latin typeface="Times New Roman" panose="02020603050405020304" pitchFamily="18" charset="0"/>
              <a:ea typeface="ＭＳ Ｐゴシック" charset="0"/>
              <a:cs typeface="Times New Roman" panose="02020603050405020304" pitchFamily="18" charset="0"/>
            </a:endParaRPr>
          </a:p>
          <a:p>
            <a:pPr lvl="2" fontAlgn="base">
              <a:spcBef>
                <a:spcPct val="0"/>
              </a:spcBef>
              <a:spcAft>
                <a:spcPct val="0"/>
              </a:spcAft>
              <a:defRPr/>
            </a:pPr>
            <a:r>
              <a:rPr lang="en-US" sz="2000" dirty="0">
                <a:latin typeface="Times New Roman"/>
                <a:ea typeface="ＭＳ Ｐゴシック"/>
                <a:cs typeface="Times New Roman"/>
              </a:rPr>
              <a:t>2.	If I pray to God daily, I will get an A for CTRW.</a:t>
            </a:r>
          </a:p>
          <a:p>
            <a:pPr lvl="2" fontAlgn="base">
              <a:spcBef>
                <a:spcPct val="0"/>
              </a:spcBef>
              <a:spcAft>
                <a:spcPct val="0"/>
              </a:spcAft>
              <a:defRPr/>
            </a:pPr>
            <a:r>
              <a:rPr lang="en-US" sz="2000" dirty="0">
                <a:latin typeface="Times New Roman"/>
                <a:ea typeface="ＭＳ Ｐゴシック"/>
                <a:cs typeface="Times New Roman"/>
              </a:rPr>
              <a:t>	I pray to God daily.</a:t>
            </a:r>
          </a:p>
          <a:p>
            <a:pPr lvl="2" fontAlgn="base">
              <a:spcBef>
                <a:spcPct val="0"/>
              </a:spcBef>
              <a:spcAft>
                <a:spcPct val="0"/>
              </a:spcAft>
              <a:defRPr/>
            </a:pPr>
            <a:r>
              <a:rPr lang="en-US" sz="2000" dirty="0">
                <a:latin typeface="Times New Roman"/>
                <a:ea typeface="ＭＳ Ｐゴシック"/>
                <a:cs typeface="Times New Roman"/>
              </a:rPr>
              <a:t>	_____________________________</a:t>
            </a:r>
          </a:p>
          <a:p>
            <a:pPr lvl="2" fontAlgn="base">
              <a:spcBef>
                <a:spcPct val="0"/>
              </a:spcBef>
              <a:spcAft>
                <a:spcPct val="0"/>
              </a:spcAft>
              <a:defRPr/>
            </a:pPr>
            <a:r>
              <a:rPr lang="en-US" sz="2000" dirty="0">
                <a:latin typeface="Times New Roman"/>
                <a:ea typeface="ＭＳ Ｐゴシック"/>
                <a:cs typeface="Times New Roman"/>
              </a:rPr>
              <a:t>	So, I will get an A for CTRW.</a:t>
            </a:r>
          </a:p>
          <a:p>
            <a:pPr fontAlgn="base">
              <a:spcBef>
                <a:spcPct val="0"/>
              </a:spcBef>
              <a:spcAft>
                <a:spcPct val="0"/>
              </a:spcAft>
              <a:defRPr/>
            </a:pPr>
            <a:endParaRPr lang="en-US" sz="2000" b="1" dirty="0">
              <a:latin typeface="Times New Roman" panose="02020603050405020304" pitchFamily="18" charset="0"/>
              <a:ea typeface="ＭＳ Ｐゴシック" charset="0"/>
              <a:cs typeface="Times New Roman" panose="02020603050405020304" pitchFamily="18" charset="0"/>
            </a:endParaRPr>
          </a:p>
          <a:p>
            <a:pPr fontAlgn="base">
              <a:spcBef>
                <a:spcPct val="0"/>
              </a:spcBef>
              <a:spcAft>
                <a:spcPct val="0"/>
              </a:spcAft>
              <a:defRPr/>
            </a:pPr>
            <a:endParaRPr lang="en-US" sz="2000" b="1" dirty="0">
              <a:latin typeface="Times New Roman" panose="02020603050405020304" pitchFamily="18" charset="0"/>
              <a:ea typeface="ＭＳ Ｐゴシック" charset="0"/>
              <a:cs typeface="Times New Roman" panose="02020603050405020304" pitchFamily="18" charset="0"/>
            </a:endParaRPr>
          </a:p>
        </p:txBody>
      </p:sp>
    </p:spTree>
    <p:extLst>
      <p:ext uri="{BB962C8B-B14F-4D97-AF65-F5344CB8AC3E}">
        <p14:creationId xmlns:p14="http://schemas.microsoft.com/office/powerpoint/2010/main" val="2604162524"/>
      </p:ext>
    </p:extLst>
  </p:cSld>
  <p:clrMapOvr>
    <a:masterClrMapping/>
  </p:clrMapOvr>
  <mc:AlternateContent xmlns:mc="http://schemas.openxmlformats.org/markup-compatibility/2006" xmlns:p14="http://schemas.microsoft.com/office/powerpoint/2010/main">
    <mc:Choice Requires="p14">
      <p:transition spd="slow" p14:dur="2000" advTm="151287"/>
    </mc:Choice>
    <mc:Fallback xmlns="">
      <p:transition spd="slow" advTm="151287"/>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nip and Round Single Corner Rectangle 6"/>
          <p:cNvSpPr/>
          <p:nvPr/>
        </p:nvSpPr>
        <p:spPr>
          <a:xfrm>
            <a:off x="2" y="95254"/>
            <a:ext cx="8863015" cy="860425"/>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fontAlgn="base">
              <a:spcBef>
                <a:spcPct val="0"/>
              </a:spcBef>
              <a:spcAft>
                <a:spcPct val="0"/>
              </a:spcAft>
              <a:defRPr/>
            </a:pPr>
            <a:r>
              <a:rPr lang="en-US" sz="3000" b="1" spc="-151" dirty="0">
                <a:solidFill>
                  <a:prstClr val="white"/>
                </a:solidFill>
                <a:latin typeface="Times New Roman" panose="02020603050405020304" pitchFamily="18" charset="0"/>
                <a:cs typeface="Times New Roman" panose="02020603050405020304" pitchFamily="18" charset="0"/>
              </a:rPr>
              <a:t>Standard Propositional Forms (2): </a:t>
            </a:r>
          </a:p>
          <a:p>
            <a:pPr fontAlgn="base">
              <a:spcBef>
                <a:spcPct val="0"/>
              </a:spcBef>
              <a:spcAft>
                <a:spcPct val="0"/>
              </a:spcAft>
              <a:defRPr/>
            </a:pPr>
            <a:r>
              <a:rPr lang="en-US" sz="3000" b="1" spc="-151" dirty="0">
                <a:solidFill>
                  <a:prstClr val="white"/>
                </a:solidFill>
                <a:latin typeface="Times New Roman" panose="02020603050405020304" pitchFamily="18" charset="0"/>
                <a:cs typeface="Times New Roman" panose="02020603050405020304" pitchFamily="18" charset="0"/>
              </a:rPr>
              <a:t>Denying the Antecedent (DA)</a:t>
            </a:r>
          </a:p>
        </p:txBody>
      </p:sp>
      <p:sp>
        <p:nvSpPr>
          <p:cNvPr id="8" name="Snip and Round Single Corner Rectangle 7"/>
          <p:cNvSpPr/>
          <p:nvPr/>
        </p:nvSpPr>
        <p:spPr>
          <a:xfrm>
            <a:off x="3" y="6477001"/>
            <a:ext cx="8863013" cy="323851"/>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a:spcBef>
                <a:spcPct val="20000"/>
              </a:spcBef>
              <a:buFont typeface="Arial" panose="020B0604020202020204" pitchFamily="34" charset="0"/>
              <a:buChar char="•"/>
              <a:tabLst>
                <a:tab pos="4389438" algn="l"/>
              </a:tabLst>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tabLst>
                <a:tab pos="4389438" algn="l"/>
              </a:tabLst>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tabLst>
                <a:tab pos="4389438" algn="l"/>
              </a:tabLst>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9pPr>
          </a:lstStyle>
          <a:p>
            <a:pPr algn="r" fontAlgn="base">
              <a:spcBef>
                <a:spcPct val="0"/>
              </a:spcBef>
              <a:spcAft>
                <a:spcPct val="0"/>
              </a:spcAft>
              <a:buNone/>
              <a:defRPr/>
            </a:pPr>
            <a:fld id="{02404CBC-9017-4C4D-9A9D-4846F12B969B}" type="slidenum">
              <a:rPr lang="en-US" altLang="en-US" sz="1300">
                <a:solidFill>
                  <a:srgbClr val="FFFFFF"/>
                </a:solidFill>
                <a:latin typeface="Gill Sans MT" panose="020B0502020104020203" pitchFamily="34" charset="0"/>
              </a:rPr>
              <a:pPr algn="r" fontAlgn="base">
                <a:spcBef>
                  <a:spcPct val="0"/>
                </a:spcBef>
                <a:spcAft>
                  <a:spcPct val="0"/>
                </a:spcAft>
                <a:buNone/>
                <a:defRPr/>
              </a:pPr>
              <a:t>12</a:t>
            </a:fld>
            <a:endParaRPr lang="en-US" altLang="en-US" sz="1300">
              <a:solidFill>
                <a:srgbClr val="FFFFFF"/>
              </a:solidFill>
              <a:latin typeface="Gill Sans MT" panose="020B0502020104020203" pitchFamily="34" charset="0"/>
            </a:endParaRPr>
          </a:p>
        </p:txBody>
      </p:sp>
      <p:sp>
        <p:nvSpPr>
          <p:cNvPr id="8196" name="Rectangle 4"/>
          <p:cNvSpPr>
            <a:spLocks noGrp="1" noChangeArrowheads="1"/>
          </p:cNvSpPr>
          <p:nvPr>
            <p:ph type="subTitle" idx="1"/>
          </p:nvPr>
        </p:nvSpPr>
        <p:spPr>
          <a:xfrm>
            <a:off x="1" y="1081522"/>
            <a:ext cx="8863013" cy="2911744"/>
          </a:xfrm>
        </p:spPr>
        <p:txBody>
          <a:bodyPr/>
          <a:lstStyle/>
          <a:p>
            <a:pPr marL="342265" indent="-342265" algn="l" eaLnBrk="1" hangingPunct="1">
              <a:buFont typeface="Wingdings" panose="05000000000000000000" pitchFamily="2" charset="2"/>
              <a:buChar char="§"/>
            </a:pPr>
            <a:r>
              <a:rPr lang="en-US" altLang="en-US" sz="1800" dirty="0">
                <a:solidFill>
                  <a:schemeClr val="tx1"/>
                </a:solidFill>
                <a:latin typeface="Times New Roman"/>
                <a:ea typeface="MS PGothic"/>
                <a:cs typeface="Times New Roman"/>
              </a:rPr>
              <a:t>Denying the Antecedent is an argument form with the following structure:</a:t>
            </a:r>
          </a:p>
          <a:p>
            <a:pPr algn="l" eaLnBrk="1" hangingPunct="1"/>
            <a:endParaRPr lang="en-US" altLang="en-US" sz="1800" dirty="0">
              <a:solidFill>
                <a:schemeClr val="tx1"/>
              </a:solidFill>
              <a:latin typeface="Times New Roman" panose="02020603050405020304" pitchFamily="18" charset="0"/>
              <a:cs typeface="Times New Roman" panose="02020603050405020304" pitchFamily="18" charset="0"/>
            </a:endParaRPr>
          </a:p>
          <a:p>
            <a:pPr marL="456565" lvl="1" algn="l" eaLnBrk="1" hangingPunct="1"/>
            <a:r>
              <a:rPr lang="en-US" altLang="en-US" sz="1800" dirty="0">
                <a:solidFill>
                  <a:schemeClr val="tx1"/>
                </a:solidFill>
                <a:latin typeface="Times New Roman"/>
                <a:ea typeface="MS PGothic"/>
                <a:cs typeface="Times New Roman"/>
              </a:rPr>
              <a:t>If P then Q</a:t>
            </a:r>
          </a:p>
          <a:p>
            <a:pPr marL="456565" lvl="1" algn="l" eaLnBrk="1" hangingPunct="1"/>
            <a:r>
              <a:rPr lang="en-US" altLang="en-US" sz="1800" dirty="0">
                <a:solidFill>
                  <a:schemeClr val="tx1"/>
                </a:solidFill>
                <a:latin typeface="Times New Roman"/>
                <a:ea typeface="MS PGothic"/>
                <a:cs typeface="Times New Roman"/>
              </a:rPr>
              <a:t>not - P</a:t>
            </a:r>
          </a:p>
          <a:p>
            <a:pPr marL="456565" lvl="1" algn="l" eaLnBrk="1" hangingPunct="1"/>
            <a:r>
              <a:rPr lang="en-US" altLang="en-US" sz="1800" dirty="0">
                <a:solidFill>
                  <a:schemeClr val="tx1"/>
                </a:solidFill>
                <a:latin typeface="Times New Roman"/>
                <a:ea typeface="MS PGothic"/>
                <a:cs typeface="Times New Roman"/>
              </a:rPr>
              <a:t>__________</a:t>
            </a:r>
          </a:p>
          <a:p>
            <a:pPr marL="456565" lvl="1" algn="l" eaLnBrk="1" hangingPunct="1"/>
            <a:r>
              <a:rPr lang="en-US" altLang="en-US" sz="1800" dirty="0">
                <a:solidFill>
                  <a:schemeClr val="tx1"/>
                </a:solidFill>
                <a:latin typeface="Times New Roman"/>
                <a:ea typeface="MS PGothic"/>
                <a:cs typeface="Times New Roman"/>
              </a:rPr>
              <a:t>So, not - Q</a:t>
            </a:r>
          </a:p>
          <a:p>
            <a:pPr algn="l" eaLnBrk="1" hangingPunct="1"/>
            <a:endParaRPr lang="en-US" altLang="en-US" sz="1800" dirty="0">
              <a:solidFill>
                <a:schemeClr val="tx1"/>
              </a:solidFill>
              <a:latin typeface="Times New Roman" panose="02020603050405020304" pitchFamily="18" charset="0"/>
              <a:cs typeface="Times New Roman" panose="02020603050405020304" pitchFamily="18" charset="0"/>
            </a:endParaRPr>
          </a:p>
          <a:p>
            <a:pPr marL="285750" indent="-285750" algn="l" eaLnBrk="1" hangingPunct="1">
              <a:buFont typeface="Wingdings" panose="05000000000000000000" pitchFamily="2" charset="2"/>
              <a:buChar char="§"/>
            </a:pPr>
            <a:r>
              <a:rPr lang="en-US" altLang="en-US" sz="1800" dirty="0">
                <a:solidFill>
                  <a:schemeClr val="tx1"/>
                </a:solidFill>
                <a:latin typeface="Times New Roman"/>
                <a:ea typeface="MS PGothic"/>
                <a:cs typeface="Times New Roman"/>
              </a:rPr>
              <a:t>DA is an INVALID form of inference regardless of what P and Q stand for.  Here is why:</a:t>
            </a:r>
            <a:endParaRPr lang="en-SG" sz="1800" i="0" u="none" strike="noStrike" dirty="0">
              <a:solidFill>
                <a:schemeClr val="tx1"/>
              </a:solidFill>
              <a:effectLst/>
              <a:latin typeface="Times New Roman"/>
              <a:ea typeface="MS PGothic"/>
              <a:cs typeface="Times New Roman"/>
            </a:endParaRPr>
          </a:p>
        </p:txBody>
      </p:sp>
      <p:sp>
        <p:nvSpPr>
          <p:cNvPr id="2" name="TextBox 1">
            <a:extLst>
              <a:ext uri="{FF2B5EF4-FFF2-40B4-BE49-F238E27FC236}">
                <a16:creationId xmlns:a16="http://schemas.microsoft.com/office/drawing/2014/main" id="{75BBAC0C-2169-49AA-99DC-95C89B02B538}"/>
              </a:ext>
            </a:extLst>
          </p:cNvPr>
          <p:cNvSpPr txBox="1"/>
          <p:nvPr/>
        </p:nvSpPr>
        <p:spPr>
          <a:xfrm>
            <a:off x="3905955" y="1915846"/>
            <a:ext cx="2573867" cy="1200329"/>
          </a:xfrm>
          <a:prstGeom prst="rect">
            <a:avLst/>
          </a:prstGeom>
          <a:noFill/>
        </p:spPr>
        <p:txBody>
          <a:bodyPr wrap="square" rtlCol="0">
            <a:spAutoFit/>
          </a:bodyPr>
          <a:lstStyle/>
          <a:p>
            <a:pPr algn="ctr"/>
            <a:r>
              <a:rPr lang="en-SG" b="1" dirty="0">
                <a:latin typeface="Times New Roman" panose="02020603050405020304" pitchFamily="18" charset="0"/>
                <a:cs typeface="Times New Roman" panose="02020603050405020304" pitchFamily="18" charset="0"/>
              </a:rPr>
              <a:t>If P then Q + not - P</a:t>
            </a:r>
          </a:p>
          <a:p>
            <a:pPr algn="ctr"/>
            <a:endParaRPr lang="en-SG" b="1" dirty="0">
              <a:latin typeface="Times New Roman" panose="02020603050405020304" pitchFamily="18" charset="0"/>
              <a:cs typeface="Times New Roman" panose="02020603050405020304" pitchFamily="18" charset="0"/>
            </a:endParaRPr>
          </a:p>
          <a:p>
            <a:pPr algn="ctr"/>
            <a:endParaRPr lang="en-SG" b="1" dirty="0">
              <a:latin typeface="Times New Roman" panose="02020603050405020304" pitchFamily="18" charset="0"/>
              <a:cs typeface="Times New Roman" panose="02020603050405020304" pitchFamily="18" charset="0"/>
            </a:endParaRPr>
          </a:p>
          <a:p>
            <a:pPr algn="ctr"/>
            <a:r>
              <a:rPr lang="en-SG" b="1" dirty="0">
                <a:latin typeface="Times New Roman" panose="02020603050405020304" pitchFamily="18" charset="0"/>
                <a:cs typeface="Times New Roman" panose="02020603050405020304" pitchFamily="18" charset="0"/>
              </a:rPr>
              <a:t>not - Q </a:t>
            </a:r>
          </a:p>
        </p:txBody>
      </p:sp>
      <p:cxnSp>
        <p:nvCxnSpPr>
          <p:cNvPr id="4" name="Straight Connector 3">
            <a:extLst>
              <a:ext uri="{FF2B5EF4-FFF2-40B4-BE49-F238E27FC236}">
                <a16:creationId xmlns:a16="http://schemas.microsoft.com/office/drawing/2014/main" id="{8AF32762-7E28-4142-AC5A-0EEE3ECE2822}"/>
              </a:ext>
            </a:extLst>
          </p:cNvPr>
          <p:cNvCxnSpPr/>
          <p:nvPr/>
        </p:nvCxnSpPr>
        <p:spPr>
          <a:xfrm>
            <a:off x="4419599" y="2284587"/>
            <a:ext cx="154657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8132B74B-7FC9-4C91-A548-EC7B3B335475}"/>
              </a:ext>
            </a:extLst>
          </p:cNvPr>
          <p:cNvCxnSpPr>
            <a:cxnSpLocks/>
          </p:cNvCxnSpPr>
          <p:nvPr/>
        </p:nvCxnSpPr>
        <p:spPr>
          <a:xfrm>
            <a:off x="5192888" y="2284587"/>
            <a:ext cx="0" cy="46284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B1FD20FD-DB9D-4BD6-A942-A5C78616624C}"/>
              </a:ext>
            </a:extLst>
          </p:cNvPr>
          <p:cNvCxnSpPr/>
          <p:nvPr/>
        </p:nvCxnSpPr>
        <p:spPr>
          <a:xfrm>
            <a:off x="3228051" y="2099733"/>
            <a:ext cx="0" cy="1219200"/>
          </a:xfrm>
          <a:prstGeom prst="line">
            <a:avLst/>
          </a:prstGeom>
        </p:spPr>
        <p:style>
          <a:lnRef idx="2">
            <a:schemeClr val="accent1"/>
          </a:lnRef>
          <a:fillRef idx="0">
            <a:schemeClr val="accent1"/>
          </a:fillRef>
          <a:effectRef idx="1">
            <a:schemeClr val="accent1"/>
          </a:effectRef>
          <a:fontRef idx="minor">
            <a:schemeClr val="tx1"/>
          </a:fontRef>
        </p:style>
      </p:cxnSp>
      <p:graphicFrame>
        <p:nvGraphicFramePr>
          <p:cNvPr id="5" name="Table 3">
            <a:extLst>
              <a:ext uri="{FF2B5EF4-FFF2-40B4-BE49-F238E27FC236}">
                <a16:creationId xmlns:a16="http://schemas.microsoft.com/office/drawing/2014/main" id="{642BB6A9-A753-4451-8348-A36EA6AD7AE6}"/>
              </a:ext>
            </a:extLst>
          </p:cNvPr>
          <p:cNvGraphicFramePr>
            <a:graphicFrameLocks noGrp="1"/>
          </p:cNvGraphicFramePr>
          <p:nvPr>
            <p:extLst>
              <p:ext uri="{D42A27DB-BD31-4B8C-83A1-F6EECF244321}">
                <p14:modId xmlns:p14="http://schemas.microsoft.com/office/powerpoint/2010/main" val="1692910286"/>
              </p:ext>
            </p:extLst>
          </p:nvPr>
        </p:nvGraphicFramePr>
        <p:xfrm>
          <a:off x="1525928" y="4119109"/>
          <a:ext cx="5787342" cy="1828800"/>
        </p:xfrm>
        <a:graphic>
          <a:graphicData uri="http://schemas.openxmlformats.org/drawingml/2006/table">
            <a:tbl>
              <a:tblPr firstRow="1" bandRow="1">
                <a:tableStyleId>{5C22544A-7EE6-4342-B048-85BDC9FD1C3A}</a:tableStyleId>
              </a:tblPr>
              <a:tblGrid>
                <a:gridCol w="1929114">
                  <a:extLst>
                    <a:ext uri="{9D8B030D-6E8A-4147-A177-3AD203B41FA5}">
                      <a16:colId xmlns:a16="http://schemas.microsoft.com/office/drawing/2014/main" val="1558583378"/>
                    </a:ext>
                  </a:extLst>
                </a:gridCol>
                <a:gridCol w="964557">
                  <a:extLst>
                    <a:ext uri="{9D8B030D-6E8A-4147-A177-3AD203B41FA5}">
                      <a16:colId xmlns:a16="http://schemas.microsoft.com/office/drawing/2014/main" val="2897636492"/>
                    </a:ext>
                  </a:extLst>
                </a:gridCol>
                <a:gridCol w="964557">
                  <a:extLst>
                    <a:ext uri="{9D8B030D-6E8A-4147-A177-3AD203B41FA5}">
                      <a16:colId xmlns:a16="http://schemas.microsoft.com/office/drawing/2014/main" val="1835088913"/>
                    </a:ext>
                  </a:extLst>
                </a:gridCol>
                <a:gridCol w="1929114">
                  <a:extLst>
                    <a:ext uri="{9D8B030D-6E8A-4147-A177-3AD203B41FA5}">
                      <a16:colId xmlns:a16="http://schemas.microsoft.com/office/drawing/2014/main" val="3409066784"/>
                    </a:ext>
                  </a:extLst>
                </a:gridCol>
              </a:tblGrid>
              <a:tr h="351426">
                <a:tc>
                  <a:txBody>
                    <a:bodyPr/>
                    <a:lstStyle/>
                    <a:p>
                      <a:r>
                        <a:rPr lang="en-GB" dirty="0"/>
                        <a:t>  P              not P</a:t>
                      </a:r>
                      <a:endParaRPr lang="en-SG" dirty="0"/>
                    </a:p>
                  </a:txBody>
                  <a:tcPr/>
                </a:tc>
                <a:tc gridSpan="2">
                  <a:txBody>
                    <a:bodyPr/>
                    <a:lstStyle/>
                    <a:p>
                      <a:r>
                        <a:rPr lang="en-GB" dirty="0"/>
                        <a:t>     Q           not Q</a:t>
                      </a:r>
                      <a:endParaRPr lang="en-SG" dirty="0"/>
                    </a:p>
                  </a:txBody>
                  <a:tcPr/>
                </a:tc>
                <a:tc hMerge="1">
                  <a:txBody>
                    <a:bodyPr/>
                    <a:lstStyle/>
                    <a:p>
                      <a:endParaRPr lang="en-US"/>
                    </a:p>
                  </a:txBody>
                  <a:tcPr/>
                </a:tc>
                <a:tc>
                  <a:txBody>
                    <a:bodyPr/>
                    <a:lstStyle/>
                    <a:p>
                      <a:r>
                        <a:rPr lang="en-GB" dirty="0"/>
                        <a:t>          If P then Q</a:t>
                      </a:r>
                      <a:endParaRPr lang="en-SG" dirty="0"/>
                    </a:p>
                  </a:txBody>
                  <a:tcPr/>
                </a:tc>
                <a:extLst>
                  <a:ext uri="{0D108BD9-81ED-4DB2-BD59-A6C34878D82A}">
                    <a16:rowId xmlns:a16="http://schemas.microsoft.com/office/drawing/2014/main" val="3958162147"/>
                  </a:ext>
                </a:extLst>
              </a:tr>
              <a:tr h="351426">
                <a:tc>
                  <a:txBody>
                    <a:bodyPr/>
                    <a:lstStyle/>
                    <a:p>
                      <a:r>
                        <a:rPr lang="en-GB" dirty="0"/>
                        <a:t>  T                 F</a:t>
                      </a:r>
                      <a:endParaRPr lang="en-SG" dirty="0"/>
                    </a:p>
                  </a:txBody>
                  <a:tcPr/>
                </a:tc>
                <a:tc>
                  <a:txBody>
                    <a:bodyPr/>
                    <a:lstStyle/>
                    <a:p>
                      <a:r>
                        <a:rPr lang="en-GB" dirty="0"/>
                        <a:t>      T</a:t>
                      </a:r>
                      <a:endParaRPr lang="en-SG" dirty="0"/>
                    </a:p>
                  </a:txBody>
                  <a:tcPr/>
                </a:tc>
                <a:tc>
                  <a:txBody>
                    <a:bodyPr/>
                    <a:lstStyle/>
                    <a:p>
                      <a:r>
                        <a:rPr lang="en-SG" dirty="0"/>
                        <a:t>F</a:t>
                      </a:r>
                    </a:p>
                  </a:txBody>
                  <a:tcPr/>
                </a:tc>
                <a:tc>
                  <a:txBody>
                    <a:bodyPr/>
                    <a:lstStyle/>
                    <a:p>
                      <a:r>
                        <a:rPr lang="en-GB" dirty="0"/>
                        <a:t>               T</a:t>
                      </a:r>
                      <a:endParaRPr lang="en-SG" dirty="0"/>
                    </a:p>
                  </a:txBody>
                  <a:tcPr/>
                </a:tc>
                <a:extLst>
                  <a:ext uri="{0D108BD9-81ED-4DB2-BD59-A6C34878D82A}">
                    <a16:rowId xmlns:a16="http://schemas.microsoft.com/office/drawing/2014/main" val="3409280451"/>
                  </a:ext>
                </a:extLst>
              </a:tr>
              <a:tr h="351426">
                <a:tc>
                  <a:txBody>
                    <a:bodyPr/>
                    <a:lstStyle/>
                    <a:p>
                      <a:r>
                        <a:rPr lang="en-GB"/>
                        <a:t>  T                 F</a:t>
                      </a:r>
                      <a:endParaRPr lang="en-SG"/>
                    </a:p>
                  </a:txBody>
                  <a:tcPr/>
                </a:tc>
                <a:tc>
                  <a:txBody>
                    <a:bodyPr/>
                    <a:lstStyle/>
                    <a:p>
                      <a:r>
                        <a:rPr lang="en-GB" dirty="0"/>
                        <a:t>      F </a:t>
                      </a:r>
                      <a:endParaRPr lang="en-SG" dirty="0"/>
                    </a:p>
                  </a:txBody>
                  <a:tcPr/>
                </a:tc>
                <a:tc>
                  <a:txBody>
                    <a:bodyPr/>
                    <a:lstStyle/>
                    <a:p>
                      <a:r>
                        <a:rPr lang="en-SG" dirty="0"/>
                        <a:t>T</a:t>
                      </a:r>
                    </a:p>
                  </a:txBody>
                  <a:tcPr/>
                </a:tc>
                <a:tc>
                  <a:txBody>
                    <a:bodyPr/>
                    <a:lstStyle/>
                    <a:p>
                      <a:r>
                        <a:rPr lang="en-GB" dirty="0"/>
                        <a:t>               F</a:t>
                      </a:r>
                      <a:endParaRPr lang="en-SG" dirty="0"/>
                    </a:p>
                  </a:txBody>
                  <a:tcPr/>
                </a:tc>
                <a:extLst>
                  <a:ext uri="{0D108BD9-81ED-4DB2-BD59-A6C34878D82A}">
                    <a16:rowId xmlns:a16="http://schemas.microsoft.com/office/drawing/2014/main" val="3809634044"/>
                  </a:ext>
                </a:extLst>
              </a:tr>
              <a:tr h="351426">
                <a:tc>
                  <a:txBody>
                    <a:bodyPr/>
                    <a:lstStyle/>
                    <a:p>
                      <a:r>
                        <a:rPr lang="en-GB"/>
                        <a:t>  F                 T</a:t>
                      </a:r>
                      <a:endParaRPr lang="en-SG"/>
                    </a:p>
                  </a:txBody>
                  <a:tcPr/>
                </a:tc>
                <a:tc>
                  <a:txBody>
                    <a:bodyPr/>
                    <a:lstStyle/>
                    <a:p>
                      <a:r>
                        <a:rPr lang="en-GB" dirty="0"/>
                        <a:t>      T</a:t>
                      </a:r>
                      <a:endParaRPr lang="en-SG" dirty="0"/>
                    </a:p>
                  </a:txBody>
                  <a:tcPr/>
                </a:tc>
                <a:tc>
                  <a:txBody>
                    <a:bodyPr/>
                    <a:lstStyle/>
                    <a:p>
                      <a:r>
                        <a:rPr lang="en-SG" dirty="0"/>
                        <a:t>F</a:t>
                      </a:r>
                    </a:p>
                  </a:txBody>
                  <a:tcPr/>
                </a:tc>
                <a:tc>
                  <a:txBody>
                    <a:bodyPr/>
                    <a:lstStyle/>
                    <a:p>
                      <a:r>
                        <a:rPr lang="en-GB" dirty="0"/>
                        <a:t>               T</a:t>
                      </a:r>
                      <a:endParaRPr lang="en-SG" dirty="0"/>
                    </a:p>
                  </a:txBody>
                  <a:tcPr/>
                </a:tc>
                <a:extLst>
                  <a:ext uri="{0D108BD9-81ED-4DB2-BD59-A6C34878D82A}">
                    <a16:rowId xmlns:a16="http://schemas.microsoft.com/office/drawing/2014/main" val="2330790153"/>
                  </a:ext>
                </a:extLst>
              </a:tr>
              <a:tr h="351426">
                <a:tc>
                  <a:txBody>
                    <a:bodyPr/>
                    <a:lstStyle/>
                    <a:p>
                      <a:r>
                        <a:rPr lang="en-GB" dirty="0"/>
                        <a:t>  F                 T</a:t>
                      </a:r>
                      <a:endParaRPr lang="en-SG" dirty="0"/>
                    </a:p>
                  </a:txBody>
                  <a:tcPr/>
                </a:tc>
                <a:tc>
                  <a:txBody>
                    <a:bodyPr/>
                    <a:lstStyle/>
                    <a:p>
                      <a:r>
                        <a:rPr lang="en-GB" dirty="0"/>
                        <a:t>      F</a:t>
                      </a:r>
                      <a:endParaRPr lang="en-SG" dirty="0"/>
                    </a:p>
                  </a:txBody>
                  <a:tcPr/>
                </a:tc>
                <a:tc>
                  <a:txBody>
                    <a:bodyPr/>
                    <a:lstStyle/>
                    <a:p>
                      <a:r>
                        <a:rPr lang="en-SG" dirty="0"/>
                        <a:t>T</a:t>
                      </a:r>
                    </a:p>
                  </a:txBody>
                  <a:tcPr/>
                </a:tc>
                <a:tc>
                  <a:txBody>
                    <a:bodyPr/>
                    <a:lstStyle/>
                    <a:p>
                      <a:r>
                        <a:rPr lang="en-GB" dirty="0"/>
                        <a:t>               T</a:t>
                      </a:r>
                      <a:endParaRPr lang="en-SG" dirty="0"/>
                    </a:p>
                  </a:txBody>
                  <a:tcPr/>
                </a:tc>
                <a:extLst>
                  <a:ext uri="{0D108BD9-81ED-4DB2-BD59-A6C34878D82A}">
                    <a16:rowId xmlns:a16="http://schemas.microsoft.com/office/drawing/2014/main" val="422645974"/>
                  </a:ext>
                </a:extLst>
              </a:tr>
            </a:tbl>
          </a:graphicData>
        </a:graphic>
      </p:graphicFrame>
    </p:spTree>
    <p:extLst>
      <p:ext uri="{BB962C8B-B14F-4D97-AF65-F5344CB8AC3E}">
        <p14:creationId xmlns:p14="http://schemas.microsoft.com/office/powerpoint/2010/main" val="1382044121"/>
      </p:ext>
    </p:extLst>
  </p:cSld>
  <p:clrMapOvr>
    <a:masterClrMapping/>
  </p:clrMapOvr>
  <mc:AlternateContent xmlns:mc="http://schemas.openxmlformats.org/markup-compatibility/2006" xmlns:p14="http://schemas.microsoft.com/office/powerpoint/2010/main">
    <mc:Choice Requires="p14">
      <p:transition spd="slow" p14:dur="2000" advTm="108029"/>
    </mc:Choice>
    <mc:Fallback xmlns="">
      <p:transition spd="slow" advTm="108029"/>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nip and Round Single Corner Rectangle 6"/>
          <p:cNvSpPr/>
          <p:nvPr/>
        </p:nvSpPr>
        <p:spPr>
          <a:xfrm>
            <a:off x="11764" y="57148"/>
            <a:ext cx="8951614" cy="902408"/>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marL="609585" indent="-609585" eaLnBrk="0" fontAlgn="base" hangingPunct="0">
              <a:spcBef>
                <a:spcPct val="20000"/>
              </a:spcBef>
              <a:spcAft>
                <a:spcPct val="0"/>
              </a:spcAft>
              <a:defRPr/>
            </a:pPr>
            <a:r>
              <a:rPr lang="en-US" sz="3200" b="1" dirty="0">
                <a:solidFill>
                  <a:srgbClr val="FFFFFF"/>
                </a:solidFill>
                <a:latin typeface="Times New Roman" panose="02020603050405020304" pitchFamily="18" charset="0"/>
                <a:cs typeface="Times New Roman" panose="02020603050405020304" pitchFamily="18" charset="0"/>
              </a:rPr>
              <a:t>Denying the Antecedent: Examples</a:t>
            </a:r>
            <a:endParaRPr lang="en-US" sz="3200" b="1" dirty="0">
              <a:solidFill>
                <a:srgbClr val="FF0000"/>
              </a:solidFill>
              <a:latin typeface="Times New Roman" panose="02020603050405020304" pitchFamily="18" charset="0"/>
              <a:cs typeface="Times New Roman" panose="02020603050405020304" pitchFamily="18" charset="0"/>
            </a:endParaRPr>
          </a:p>
        </p:txBody>
      </p:sp>
      <p:sp>
        <p:nvSpPr>
          <p:cNvPr id="8" name="Snip and Round Single Corner Rectangle 7"/>
          <p:cNvSpPr/>
          <p:nvPr/>
        </p:nvSpPr>
        <p:spPr>
          <a:xfrm>
            <a:off x="3" y="6477001"/>
            <a:ext cx="8863013" cy="323851"/>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a:spcBef>
                <a:spcPct val="20000"/>
              </a:spcBef>
              <a:buFont typeface="Arial" panose="020B0604020202020204" pitchFamily="34" charset="0"/>
              <a:buChar char="•"/>
              <a:tabLst>
                <a:tab pos="4389438" algn="l"/>
              </a:tabLst>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tabLst>
                <a:tab pos="4389438" algn="l"/>
              </a:tabLst>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tabLst>
                <a:tab pos="4389438" algn="l"/>
              </a:tabLst>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9pPr>
          </a:lstStyle>
          <a:p>
            <a:pPr algn="r" fontAlgn="base">
              <a:spcBef>
                <a:spcPct val="0"/>
              </a:spcBef>
              <a:spcAft>
                <a:spcPct val="0"/>
              </a:spcAft>
              <a:buNone/>
              <a:defRPr/>
            </a:pPr>
            <a:fld id="{5C157F89-BC4E-485A-A9B8-EC5F2289648F}" type="slidenum">
              <a:rPr lang="en-US" altLang="en-US" sz="1300">
                <a:solidFill>
                  <a:srgbClr val="FFFFFF"/>
                </a:solidFill>
                <a:latin typeface="Gill Sans MT" panose="020B0502020104020203" pitchFamily="34" charset="0"/>
              </a:rPr>
              <a:pPr algn="r" fontAlgn="base">
                <a:spcBef>
                  <a:spcPct val="0"/>
                </a:spcBef>
                <a:spcAft>
                  <a:spcPct val="0"/>
                </a:spcAft>
                <a:buNone/>
                <a:defRPr/>
              </a:pPr>
              <a:t>13</a:t>
            </a:fld>
            <a:endParaRPr lang="en-US" altLang="en-US" sz="1300">
              <a:solidFill>
                <a:srgbClr val="FFFFFF"/>
              </a:solidFill>
              <a:latin typeface="Gill Sans MT" panose="020B0502020104020203" pitchFamily="34" charset="0"/>
            </a:endParaRPr>
          </a:p>
        </p:txBody>
      </p:sp>
      <p:sp>
        <p:nvSpPr>
          <p:cNvPr id="27" name="TextBox 26"/>
          <p:cNvSpPr txBox="1"/>
          <p:nvPr/>
        </p:nvSpPr>
        <p:spPr>
          <a:xfrm>
            <a:off x="23533" y="1097225"/>
            <a:ext cx="8760445" cy="4708981"/>
          </a:xfrm>
          <a:prstGeom prst="rect">
            <a:avLst/>
          </a:prstGeom>
          <a:noFill/>
        </p:spPr>
        <p:txBody>
          <a:bodyPr wrap="square" lIns="91440" tIns="45720" rIns="91440" bIns="45720" anchor="t">
            <a:spAutoFit/>
          </a:bodyPr>
          <a:lstStyle/>
          <a:p>
            <a:pPr fontAlgn="base">
              <a:spcBef>
                <a:spcPct val="0"/>
              </a:spcBef>
              <a:spcAft>
                <a:spcPct val="0"/>
              </a:spcAft>
              <a:defRPr/>
            </a:pPr>
            <a:r>
              <a:rPr lang="en-US" sz="2000" dirty="0">
                <a:latin typeface="Times New Roman"/>
                <a:ea typeface="ＭＳ Ｐゴシック"/>
                <a:cs typeface="Times New Roman"/>
              </a:rPr>
              <a:t>Consider the following examples. Is the inference valid? </a:t>
            </a:r>
          </a:p>
          <a:p>
            <a:pPr fontAlgn="base">
              <a:spcBef>
                <a:spcPct val="0"/>
              </a:spcBef>
              <a:spcAft>
                <a:spcPct val="0"/>
              </a:spcAft>
              <a:defRPr/>
            </a:pPr>
            <a:r>
              <a:rPr lang="en-US" sz="2000" dirty="0">
                <a:latin typeface="Times New Roman"/>
                <a:ea typeface="ＭＳ Ｐゴシック"/>
                <a:cs typeface="Times New Roman"/>
              </a:rPr>
              <a:t>Is the argument sound?</a:t>
            </a:r>
          </a:p>
          <a:p>
            <a:pPr fontAlgn="base">
              <a:spcBef>
                <a:spcPct val="0"/>
              </a:spcBef>
              <a:spcAft>
                <a:spcPct val="0"/>
              </a:spcAft>
              <a:defRPr/>
            </a:pPr>
            <a:endParaRPr lang="en-US" sz="2000" dirty="0">
              <a:latin typeface="Times New Roman" panose="02020603050405020304" pitchFamily="18" charset="0"/>
              <a:ea typeface="ＭＳ Ｐゴシック" charset="0"/>
              <a:cs typeface="Times New Roman" panose="02020603050405020304" pitchFamily="18" charset="0"/>
            </a:endParaRPr>
          </a:p>
          <a:p>
            <a:pPr fontAlgn="base">
              <a:spcBef>
                <a:spcPct val="0"/>
              </a:spcBef>
              <a:spcAft>
                <a:spcPct val="0"/>
              </a:spcAft>
              <a:defRPr/>
            </a:pPr>
            <a:endParaRPr lang="en-US" sz="2000" dirty="0">
              <a:latin typeface="Times New Roman" panose="02020603050405020304" pitchFamily="18" charset="0"/>
              <a:ea typeface="ＭＳ Ｐゴシック" charset="0"/>
              <a:cs typeface="Times New Roman" panose="02020603050405020304" pitchFamily="18" charset="0"/>
            </a:endParaRPr>
          </a:p>
          <a:p>
            <a:pPr lvl="2" fontAlgn="base">
              <a:spcBef>
                <a:spcPct val="0"/>
              </a:spcBef>
              <a:spcAft>
                <a:spcPct val="0"/>
              </a:spcAft>
              <a:defRPr/>
            </a:pPr>
            <a:r>
              <a:rPr lang="en-US" sz="2000" dirty="0">
                <a:latin typeface="Times New Roman"/>
                <a:ea typeface="ＭＳ Ｐゴシック"/>
                <a:cs typeface="Times New Roman"/>
              </a:rPr>
              <a:t>1.	If he lives in Bangkok, he lives in Thailand.</a:t>
            </a:r>
          </a:p>
          <a:p>
            <a:pPr lvl="2" fontAlgn="base">
              <a:spcBef>
                <a:spcPct val="0"/>
              </a:spcBef>
              <a:spcAft>
                <a:spcPct val="0"/>
              </a:spcAft>
              <a:defRPr/>
            </a:pPr>
            <a:r>
              <a:rPr lang="en-US" sz="2000" dirty="0">
                <a:latin typeface="Times New Roman"/>
                <a:ea typeface="ＭＳ Ｐゴシック"/>
                <a:cs typeface="Times New Roman"/>
              </a:rPr>
              <a:t>	He does not live in Bangkok.</a:t>
            </a:r>
          </a:p>
          <a:p>
            <a:pPr lvl="2" fontAlgn="base">
              <a:spcBef>
                <a:spcPct val="0"/>
              </a:spcBef>
              <a:spcAft>
                <a:spcPct val="0"/>
              </a:spcAft>
              <a:defRPr/>
            </a:pPr>
            <a:r>
              <a:rPr lang="en-US" sz="2000" dirty="0">
                <a:latin typeface="Times New Roman"/>
                <a:ea typeface="ＭＳ Ｐゴシック"/>
                <a:cs typeface="Times New Roman"/>
              </a:rPr>
              <a:t>	_____________________________</a:t>
            </a:r>
          </a:p>
          <a:p>
            <a:pPr lvl="2" fontAlgn="base">
              <a:spcBef>
                <a:spcPct val="0"/>
              </a:spcBef>
              <a:spcAft>
                <a:spcPct val="0"/>
              </a:spcAft>
              <a:defRPr/>
            </a:pPr>
            <a:r>
              <a:rPr lang="en-US" sz="2000" dirty="0">
                <a:latin typeface="Times New Roman"/>
                <a:ea typeface="ＭＳ Ｐゴシック"/>
                <a:cs typeface="Times New Roman"/>
              </a:rPr>
              <a:t>	So, he does not live in Thailand.</a:t>
            </a:r>
          </a:p>
          <a:p>
            <a:pPr lvl="2" fontAlgn="base">
              <a:spcBef>
                <a:spcPct val="0"/>
              </a:spcBef>
              <a:spcAft>
                <a:spcPct val="0"/>
              </a:spcAft>
              <a:defRPr/>
            </a:pPr>
            <a:endParaRPr lang="en-US" sz="2000" dirty="0">
              <a:latin typeface="Times New Roman" panose="02020603050405020304" pitchFamily="18" charset="0"/>
              <a:ea typeface="ＭＳ Ｐゴシック" charset="0"/>
              <a:cs typeface="Times New Roman" panose="02020603050405020304" pitchFamily="18" charset="0"/>
            </a:endParaRPr>
          </a:p>
          <a:p>
            <a:pPr lvl="2" fontAlgn="base">
              <a:spcBef>
                <a:spcPct val="0"/>
              </a:spcBef>
              <a:spcAft>
                <a:spcPct val="0"/>
              </a:spcAft>
              <a:defRPr/>
            </a:pPr>
            <a:endParaRPr lang="en-US" sz="2000" dirty="0">
              <a:latin typeface="Times New Roman" panose="02020603050405020304" pitchFamily="18" charset="0"/>
              <a:ea typeface="ＭＳ Ｐゴシック" charset="0"/>
              <a:cs typeface="Times New Roman" panose="02020603050405020304" pitchFamily="18" charset="0"/>
            </a:endParaRPr>
          </a:p>
          <a:p>
            <a:pPr lvl="2" fontAlgn="base">
              <a:spcBef>
                <a:spcPct val="0"/>
              </a:spcBef>
              <a:spcAft>
                <a:spcPct val="0"/>
              </a:spcAft>
              <a:defRPr/>
            </a:pPr>
            <a:r>
              <a:rPr lang="en-US" sz="2000" dirty="0">
                <a:latin typeface="Times New Roman"/>
                <a:ea typeface="ＭＳ Ｐゴシック"/>
                <a:cs typeface="Times New Roman"/>
              </a:rPr>
              <a:t>2.	If God exists, there would be no evil in the world.</a:t>
            </a:r>
          </a:p>
          <a:p>
            <a:pPr lvl="2" fontAlgn="base">
              <a:spcBef>
                <a:spcPct val="0"/>
              </a:spcBef>
              <a:spcAft>
                <a:spcPct val="0"/>
              </a:spcAft>
              <a:defRPr/>
            </a:pPr>
            <a:r>
              <a:rPr lang="en-US" sz="2000" dirty="0">
                <a:latin typeface="Times New Roman"/>
                <a:ea typeface="ＭＳ Ｐゴシック"/>
                <a:cs typeface="Times New Roman"/>
              </a:rPr>
              <a:t>	God doesn’t exist.</a:t>
            </a:r>
          </a:p>
          <a:p>
            <a:pPr lvl="2" fontAlgn="base">
              <a:spcBef>
                <a:spcPct val="0"/>
              </a:spcBef>
              <a:spcAft>
                <a:spcPct val="0"/>
              </a:spcAft>
              <a:defRPr/>
            </a:pPr>
            <a:r>
              <a:rPr lang="en-US" sz="2000" dirty="0">
                <a:latin typeface="Times New Roman"/>
                <a:ea typeface="ＭＳ Ｐゴシック"/>
                <a:cs typeface="Times New Roman"/>
              </a:rPr>
              <a:t>	_____________________________</a:t>
            </a:r>
          </a:p>
          <a:p>
            <a:pPr lvl="2" fontAlgn="base">
              <a:spcBef>
                <a:spcPct val="0"/>
              </a:spcBef>
              <a:spcAft>
                <a:spcPct val="0"/>
              </a:spcAft>
              <a:defRPr/>
            </a:pPr>
            <a:r>
              <a:rPr lang="en-US" sz="2000" dirty="0">
                <a:latin typeface="Times New Roman"/>
                <a:ea typeface="ＭＳ Ｐゴシック"/>
                <a:cs typeface="Times New Roman"/>
              </a:rPr>
              <a:t>	So, there would be/is evil in the world</a:t>
            </a:r>
            <a:r>
              <a:rPr lang="en-US" sz="2000" b="1" dirty="0">
                <a:latin typeface="Times New Roman"/>
                <a:ea typeface="ＭＳ Ｐゴシック"/>
                <a:cs typeface="Times New Roman"/>
              </a:rPr>
              <a:t>.</a:t>
            </a:r>
          </a:p>
          <a:p>
            <a:pPr fontAlgn="base">
              <a:spcBef>
                <a:spcPct val="0"/>
              </a:spcBef>
              <a:spcAft>
                <a:spcPct val="0"/>
              </a:spcAft>
              <a:defRPr/>
            </a:pPr>
            <a:endParaRPr lang="en-US" sz="2000" b="1" dirty="0">
              <a:latin typeface="Times New Roman" panose="02020603050405020304" pitchFamily="18" charset="0"/>
              <a:ea typeface="ＭＳ Ｐゴシック" charset="0"/>
              <a:cs typeface="Times New Roman" panose="02020603050405020304" pitchFamily="18" charset="0"/>
            </a:endParaRPr>
          </a:p>
        </p:txBody>
      </p:sp>
    </p:spTree>
    <p:extLst>
      <p:ext uri="{BB962C8B-B14F-4D97-AF65-F5344CB8AC3E}">
        <p14:creationId xmlns:p14="http://schemas.microsoft.com/office/powerpoint/2010/main" val="4082840797"/>
      </p:ext>
    </p:extLst>
  </p:cSld>
  <p:clrMapOvr>
    <a:masterClrMapping/>
  </p:clrMapOvr>
  <mc:AlternateContent xmlns:mc="http://schemas.openxmlformats.org/markup-compatibility/2006" xmlns:p14="http://schemas.microsoft.com/office/powerpoint/2010/main">
    <mc:Choice Requires="p14">
      <p:transition spd="slow" p14:dur="2000" advTm="113089"/>
    </mc:Choice>
    <mc:Fallback xmlns="">
      <p:transition spd="slow" advTm="113089"/>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nip and Round Single Corner Rectangle 6"/>
          <p:cNvSpPr/>
          <p:nvPr/>
        </p:nvSpPr>
        <p:spPr>
          <a:xfrm>
            <a:off x="2" y="95254"/>
            <a:ext cx="8863015" cy="860425"/>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fontAlgn="base">
              <a:spcBef>
                <a:spcPct val="0"/>
              </a:spcBef>
              <a:spcAft>
                <a:spcPct val="0"/>
              </a:spcAft>
              <a:defRPr/>
            </a:pPr>
            <a:r>
              <a:rPr lang="en-US" sz="3000" b="1" spc="-151" dirty="0">
                <a:solidFill>
                  <a:prstClr val="white"/>
                </a:solidFill>
                <a:latin typeface="Times New Roman" panose="02020603050405020304" pitchFamily="18" charset="0"/>
                <a:cs typeface="Times New Roman" panose="02020603050405020304" pitchFamily="18" charset="0"/>
              </a:rPr>
              <a:t>Standard Propositional Forms (3): Modus Tollens (MT)</a:t>
            </a:r>
          </a:p>
        </p:txBody>
      </p:sp>
      <p:sp>
        <p:nvSpPr>
          <p:cNvPr id="8" name="Snip and Round Single Corner Rectangle 7"/>
          <p:cNvSpPr/>
          <p:nvPr/>
        </p:nvSpPr>
        <p:spPr>
          <a:xfrm>
            <a:off x="3" y="6477001"/>
            <a:ext cx="8863013" cy="323851"/>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a:spcBef>
                <a:spcPct val="20000"/>
              </a:spcBef>
              <a:buFont typeface="Arial" panose="020B0604020202020204" pitchFamily="34" charset="0"/>
              <a:buChar char="•"/>
              <a:tabLst>
                <a:tab pos="4389438" algn="l"/>
              </a:tabLst>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tabLst>
                <a:tab pos="4389438" algn="l"/>
              </a:tabLst>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tabLst>
                <a:tab pos="4389438" algn="l"/>
              </a:tabLst>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9pPr>
          </a:lstStyle>
          <a:p>
            <a:pPr algn="r" fontAlgn="base">
              <a:spcBef>
                <a:spcPct val="0"/>
              </a:spcBef>
              <a:spcAft>
                <a:spcPct val="0"/>
              </a:spcAft>
              <a:buNone/>
              <a:defRPr/>
            </a:pPr>
            <a:fld id="{02404CBC-9017-4C4D-9A9D-4846F12B969B}" type="slidenum">
              <a:rPr lang="en-US" altLang="en-US" sz="1300">
                <a:solidFill>
                  <a:srgbClr val="FFFFFF"/>
                </a:solidFill>
                <a:latin typeface="Gill Sans MT" panose="020B0502020104020203" pitchFamily="34" charset="0"/>
              </a:rPr>
              <a:pPr algn="r" fontAlgn="base">
                <a:spcBef>
                  <a:spcPct val="0"/>
                </a:spcBef>
                <a:spcAft>
                  <a:spcPct val="0"/>
                </a:spcAft>
                <a:buNone/>
                <a:defRPr/>
              </a:pPr>
              <a:t>14</a:t>
            </a:fld>
            <a:endParaRPr lang="en-US" altLang="en-US" sz="1300">
              <a:solidFill>
                <a:srgbClr val="FFFFFF"/>
              </a:solidFill>
              <a:latin typeface="Gill Sans MT" panose="020B0502020104020203" pitchFamily="34" charset="0"/>
            </a:endParaRPr>
          </a:p>
        </p:txBody>
      </p:sp>
      <p:sp>
        <p:nvSpPr>
          <p:cNvPr id="8196" name="Rectangle 4"/>
          <p:cNvSpPr>
            <a:spLocks noGrp="1" noChangeArrowheads="1"/>
          </p:cNvSpPr>
          <p:nvPr>
            <p:ph type="subTitle" idx="1"/>
          </p:nvPr>
        </p:nvSpPr>
        <p:spPr>
          <a:xfrm>
            <a:off x="1" y="1081522"/>
            <a:ext cx="8863013" cy="2911744"/>
          </a:xfrm>
        </p:spPr>
        <p:txBody>
          <a:bodyPr/>
          <a:lstStyle/>
          <a:p>
            <a:pPr marL="342265" indent="-342265" algn="l" eaLnBrk="1" hangingPunct="1">
              <a:buFont typeface="Wingdings" panose="05000000000000000000" pitchFamily="2" charset="2"/>
              <a:buChar char="§"/>
            </a:pPr>
            <a:r>
              <a:rPr lang="en-US" altLang="en-US" sz="1800" dirty="0">
                <a:solidFill>
                  <a:schemeClr val="tx1"/>
                </a:solidFill>
                <a:latin typeface="Times New Roman"/>
                <a:ea typeface="MS PGothic"/>
                <a:cs typeface="Times New Roman"/>
              </a:rPr>
              <a:t>Modus Tollens is an argument form with the following structure:</a:t>
            </a:r>
          </a:p>
          <a:p>
            <a:pPr algn="l" eaLnBrk="1" hangingPunct="1"/>
            <a:endParaRPr lang="en-US" altLang="en-US" sz="1800" dirty="0">
              <a:solidFill>
                <a:schemeClr val="tx1"/>
              </a:solidFill>
              <a:latin typeface="Times New Roman" panose="02020603050405020304" pitchFamily="18" charset="0"/>
              <a:cs typeface="Times New Roman" panose="02020603050405020304" pitchFamily="18" charset="0"/>
            </a:endParaRPr>
          </a:p>
          <a:p>
            <a:pPr marL="456565" lvl="1" algn="l" eaLnBrk="1" hangingPunct="1"/>
            <a:r>
              <a:rPr lang="en-US" altLang="en-US" sz="1800" dirty="0">
                <a:solidFill>
                  <a:schemeClr val="tx1"/>
                </a:solidFill>
                <a:latin typeface="Times New Roman"/>
                <a:ea typeface="MS PGothic"/>
                <a:cs typeface="Times New Roman"/>
              </a:rPr>
              <a:t>If P then Q</a:t>
            </a:r>
          </a:p>
          <a:p>
            <a:pPr marL="456565" lvl="1" algn="l" eaLnBrk="1" hangingPunct="1"/>
            <a:r>
              <a:rPr lang="en-US" altLang="en-US" sz="1800" dirty="0">
                <a:solidFill>
                  <a:schemeClr val="tx1"/>
                </a:solidFill>
                <a:latin typeface="Times New Roman"/>
                <a:ea typeface="MS PGothic"/>
                <a:cs typeface="Times New Roman"/>
              </a:rPr>
              <a:t>not - Q</a:t>
            </a:r>
          </a:p>
          <a:p>
            <a:pPr marL="456565" lvl="1" algn="l" eaLnBrk="1" hangingPunct="1"/>
            <a:r>
              <a:rPr lang="en-US" altLang="en-US" sz="1800" dirty="0">
                <a:solidFill>
                  <a:schemeClr val="tx1"/>
                </a:solidFill>
                <a:latin typeface="Times New Roman"/>
                <a:ea typeface="MS PGothic"/>
                <a:cs typeface="Times New Roman"/>
              </a:rPr>
              <a:t>__________</a:t>
            </a:r>
          </a:p>
          <a:p>
            <a:pPr marL="456565" lvl="1" algn="l" eaLnBrk="1" hangingPunct="1"/>
            <a:r>
              <a:rPr lang="en-US" altLang="en-US" sz="1800" dirty="0">
                <a:solidFill>
                  <a:schemeClr val="tx1"/>
                </a:solidFill>
                <a:latin typeface="Times New Roman"/>
                <a:ea typeface="MS PGothic"/>
                <a:cs typeface="Times New Roman"/>
              </a:rPr>
              <a:t>So, not - P</a:t>
            </a:r>
          </a:p>
          <a:p>
            <a:pPr algn="l" eaLnBrk="1" hangingPunct="1"/>
            <a:endParaRPr lang="en-US" altLang="en-US" sz="1800" dirty="0">
              <a:solidFill>
                <a:schemeClr val="tx1"/>
              </a:solidFill>
              <a:latin typeface="Times New Roman" panose="02020603050405020304" pitchFamily="18" charset="0"/>
              <a:cs typeface="Times New Roman" panose="02020603050405020304" pitchFamily="18" charset="0"/>
            </a:endParaRPr>
          </a:p>
          <a:p>
            <a:pPr marL="285750" indent="-285750" algn="l" eaLnBrk="1" hangingPunct="1">
              <a:buFont typeface="Wingdings" panose="05000000000000000000" pitchFamily="2" charset="2"/>
              <a:buChar char="§"/>
            </a:pPr>
            <a:r>
              <a:rPr lang="en-US" altLang="en-US" sz="1800" dirty="0">
                <a:solidFill>
                  <a:schemeClr val="tx1"/>
                </a:solidFill>
                <a:latin typeface="Times New Roman"/>
                <a:ea typeface="MS PGothic"/>
                <a:cs typeface="Times New Roman"/>
              </a:rPr>
              <a:t>MT is a VALID form of inference regardless of what P and Q stands for.  Here is why:</a:t>
            </a:r>
            <a:endParaRPr lang="en-SG" sz="1800" i="0" u="none" strike="noStrike" dirty="0">
              <a:solidFill>
                <a:schemeClr val="tx1"/>
              </a:solidFill>
              <a:effectLst/>
              <a:latin typeface="Times New Roman"/>
              <a:ea typeface="MS PGothic"/>
              <a:cs typeface="Times New Roman"/>
            </a:endParaRPr>
          </a:p>
        </p:txBody>
      </p:sp>
      <p:sp>
        <p:nvSpPr>
          <p:cNvPr id="2" name="TextBox 1">
            <a:extLst>
              <a:ext uri="{FF2B5EF4-FFF2-40B4-BE49-F238E27FC236}">
                <a16:creationId xmlns:a16="http://schemas.microsoft.com/office/drawing/2014/main" id="{75BBAC0C-2169-49AA-99DC-95C89B02B538}"/>
              </a:ext>
            </a:extLst>
          </p:cNvPr>
          <p:cNvSpPr txBox="1"/>
          <p:nvPr/>
        </p:nvSpPr>
        <p:spPr>
          <a:xfrm>
            <a:off x="3905955" y="1915846"/>
            <a:ext cx="2573867" cy="1200329"/>
          </a:xfrm>
          <a:prstGeom prst="rect">
            <a:avLst/>
          </a:prstGeom>
          <a:noFill/>
        </p:spPr>
        <p:txBody>
          <a:bodyPr wrap="square" rtlCol="0">
            <a:spAutoFit/>
          </a:bodyPr>
          <a:lstStyle/>
          <a:p>
            <a:pPr algn="ctr"/>
            <a:r>
              <a:rPr lang="en-SG" b="1" dirty="0">
                <a:latin typeface="Times New Roman" panose="02020603050405020304" pitchFamily="18" charset="0"/>
                <a:cs typeface="Times New Roman" panose="02020603050405020304" pitchFamily="18" charset="0"/>
              </a:rPr>
              <a:t>If P then Q + not - Q</a:t>
            </a:r>
          </a:p>
          <a:p>
            <a:pPr algn="ctr"/>
            <a:endParaRPr lang="en-SG" b="1" dirty="0">
              <a:latin typeface="Times New Roman" panose="02020603050405020304" pitchFamily="18" charset="0"/>
              <a:cs typeface="Times New Roman" panose="02020603050405020304" pitchFamily="18" charset="0"/>
            </a:endParaRPr>
          </a:p>
          <a:p>
            <a:pPr algn="ctr"/>
            <a:endParaRPr lang="en-SG" b="1" dirty="0">
              <a:latin typeface="Times New Roman" panose="02020603050405020304" pitchFamily="18" charset="0"/>
              <a:cs typeface="Times New Roman" panose="02020603050405020304" pitchFamily="18" charset="0"/>
            </a:endParaRPr>
          </a:p>
          <a:p>
            <a:pPr algn="ctr"/>
            <a:r>
              <a:rPr lang="en-SG" b="1" dirty="0">
                <a:latin typeface="Times New Roman" panose="02020603050405020304" pitchFamily="18" charset="0"/>
                <a:cs typeface="Times New Roman" panose="02020603050405020304" pitchFamily="18" charset="0"/>
              </a:rPr>
              <a:t>not - P </a:t>
            </a:r>
          </a:p>
        </p:txBody>
      </p:sp>
      <p:cxnSp>
        <p:nvCxnSpPr>
          <p:cNvPr id="4" name="Straight Connector 3">
            <a:extLst>
              <a:ext uri="{FF2B5EF4-FFF2-40B4-BE49-F238E27FC236}">
                <a16:creationId xmlns:a16="http://schemas.microsoft.com/office/drawing/2014/main" id="{8AF32762-7E28-4142-AC5A-0EEE3ECE2822}"/>
              </a:ext>
            </a:extLst>
          </p:cNvPr>
          <p:cNvCxnSpPr/>
          <p:nvPr/>
        </p:nvCxnSpPr>
        <p:spPr>
          <a:xfrm>
            <a:off x="4419599" y="2284587"/>
            <a:ext cx="154657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8132B74B-7FC9-4C91-A548-EC7B3B335475}"/>
              </a:ext>
            </a:extLst>
          </p:cNvPr>
          <p:cNvCxnSpPr>
            <a:cxnSpLocks/>
          </p:cNvCxnSpPr>
          <p:nvPr/>
        </p:nvCxnSpPr>
        <p:spPr>
          <a:xfrm>
            <a:off x="5192888" y="2284587"/>
            <a:ext cx="0" cy="46284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B1FD20FD-DB9D-4BD6-A942-A5C78616624C}"/>
              </a:ext>
            </a:extLst>
          </p:cNvPr>
          <p:cNvCxnSpPr/>
          <p:nvPr/>
        </p:nvCxnSpPr>
        <p:spPr>
          <a:xfrm>
            <a:off x="3228051" y="2099733"/>
            <a:ext cx="0" cy="1219200"/>
          </a:xfrm>
          <a:prstGeom prst="line">
            <a:avLst/>
          </a:prstGeom>
        </p:spPr>
        <p:style>
          <a:lnRef idx="2">
            <a:schemeClr val="accent1"/>
          </a:lnRef>
          <a:fillRef idx="0">
            <a:schemeClr val="accent1"/>
          </a:fillRef>
          <a:effectRef idx="1">
            <a:schemeClr val="accent1"/>
          </a:effectRef>
          <a:fontRef idx="minor">
            <a:schemeClr val="tx1"/>
          </a:fontRef>
        </p:style>
      </p:cxnSp>
      <p:graphicFrame>
        <p:nvGraphicFramePr>
          <p:cNvPr id="5" name="Table 3">
            <a:extLst>
              <a:ext uri="{FF2B5EF4-FFF2-40B4-BE49-F238E27FC236}">
                <a16:creationId xmlns:a16="http://schemas.microsoft.com/office/drawing/2014/main" id="{642BB6A9-A753-4451-8348-A36EA6AD7AE6}"/>
              </a:ext>
            </a:extLst>
          </p:cNvPr>
          <p:cNvGraphicFramePr>
            <a:graphicFrameLocks noGrp="1"/>
          </p:cNvGraphicFramePr>
          <p:nvPr>
            <p:extLst>
              <p:ext uri="{D42A27DB-BD31-4B8C-83A1-F6EECF244321}">
                <p14:modId xmlns:p14="http://schemas.microsoft.com/office/powerpoint/2010/main" val="1512343554"/>
              </p:ext>
            </p:extLst>
          </p:nvPr>
        </p:nvGraphicFramePr>
        <p:xfrm>
          <a:off x="1394887" y="3947678"/>
          <a:ext cx="5787342" cy="1828800"/>
        </p:xfrm>
        <a:graphic>
          <a:graphicData uri="http://schemas.openxmlformats.org/drawingml/2006/table">
            <a:tbl>
              <a:tblPr firstRow="1" bandRow="1">
                <a:tableStyleId>{5C22544A-7EE6-4342-B048-85BDC9FD1C3A}</a:tableStyleId>
              </a:tblPr>
              <a:tblGrid>
                <a:gridCol w="964557">
                  <a:extLst>
                    <a:ext uri="{9D8B030D-6E8A-4147-A177-3AD203B41FA5}">
                      <a16:colId xmlns:a16="http://schemas.microsoft.com/office/drawing/2014/main" val="1558583378"/>
                    </a:ext>
                  </a:extLst>
                </a:gridCol>
                <a:gridCol w="964557">
                  <a:extLst>
                    <a:ext uri="{9D8B030D-6E8A-4147-A177-3AD203B41FA5}">
                      <a16:colId xmlns:a16="http://schemas.microsoft.com/office/drawing/2014/main" val="522920352"/>
                    </a:ext>
                  </a:extLst>
                </a:gridCol>
                <a:gridCol w="964557">
                  <a:extLst>
                    <a:ext uri="{9D8B030D-6E8A-4147-A177-3AD203B41FA5}">
                      <a16:colId xmlns:a16="http://schemas.microsoft.com/office/drawing/2014/main" val="2897636492"/>
                    </a:ext>
                  </a:extLst>
                </a:gridCol>
                <a:gridCol w="964557">
                  <a:extLst>
                    <a:ext uri="{9D8B030D-6E8A-4147-A177-3AD203B41FA5}">
                      <a16:colId xmlns:a16="http://schemas.microsoft.com/office/drawing/2014/main" val="2934250944"/>
                    </a:ext>
                  </a:extLst>
                </a:gridCol>
                <a:gridCol w="1929114">
                  <a:extLst>
                    <a:ext uri="{9D8B030D-6E8A-4147-A177-3AD203B41FA5}">
                      <a16:colId xmlns:a16="http://schemas.microsoft.com/office/drawing/2014/main" val="3409066784"/>
                    </a:ext>
                  </a:extLst>
                </a:gridCol>
              </a:tblGrid>
              <a:tr h="351426">
                <a:tc gridSpan="2">
                  <a:txBody>
                    <a:bodyPr/>
                    <a:lstStyle/>
                    <a:p>
                      <a:r>
                        <a:rPr lang="en-GB" dirty="0"/>
                        <a:t>         P       not P</a:t>
                      </a:r>
                      <a:endParaRPr lang="en-SG" dirty="0"/>
                    </a:p>
                  </a:txBody>
                  <a:tcPr/>
                </a:tc>
                <a:tc hMerge="1">
                  <a:txBody>
                    <a:bodyPr/>
                    <a:lstStyle/>
                    <a:p>
                      <a:endParaRPr lang="en-US"/>
                    </a:p>
                  </a:txBody>
                  <a:tcPr/>
                </a:tc>
                <a:tc gridSpan="2">
                  <a:txBody>
                    <a:bodyPr/>
                    <a:lstStyle/>
                    <a:p>
                      <a:r>
                        <a:rPr lang="en-GB" dirty="0"/>
                        <a:t>        Q         not Q</a:t>
                      </a:r>
                      <a:endParaRPr lang="en-SG" dirty="0"/>
                    </a:p>
                  </a:txBody>
                  <a:tcPr/>
                </a:tc>
                <a:tc hMerge="1">
                  <a:txBody>
                    <a:bodyPr/>
                    <a:lstStyle/>
                    <a:p>
                      <a:endParaRPr lang="en-US"/>
                    </a:p>
                  </a:txBody>
                  <a:tcPr/>
                </a:tc>
                <a:tc>
                  <a:txBody>
                    <a:bodyPr/>
                    <a:lstStyle/>
                    <a:p>
                      <a:r>
                        <a:rPr lang="en-GB" dirty="0"/>
                        <a:t>          If P then Q</a:t>
                      </a:r>
                      <a:endParaRPr lang="en-SG" dirty="0"/>
                    </a:p>
                  </a:txBody>
                  <a:tcPr/>
                </a:tc>
                <a:extLst>
                  <a:ext uri="{0D108BD9-81ED-4DB2-BD59-A6C34878D82A}">
                    <a16:rowId xmlns:a16="http://schemas.microsoft.com/office/drawing/2014/main" val="3958162147"/>
                  </a:ext>
                </a:extLst>
              </a:tr>
              <a:tr h="351426">
                <a:tc>
                  <a:txBody>
                    <a:bodyPr/>
                    <a:lstStyle/>
                    <a:p>
                      <a:r>
                        <a:rPr lang="en-GB" dirty="0"/>
                        <a:t>            T</a:t>
                      </a:r>
                      <a:endParaRPr lang="en-SG" dirty="0"/>
                    </a:p>
                  </a:txBody>
                  <a:tcPr/>
                </a:tc>
                <a:tc>
                  <a:txBody>
                    <a:bodyPr/>
                    <a:lstStyle/>
                    <a:p>
                      <a:r>
                        <a:rPr lang="en-SG" dirty="0"/>
                        <a:t>F</a:t>
                      </a:r>
                    </a:p>
                  </a:txBody>
                  <a:tcPr/>
                </a:tc>
                <a:tc>
                  <a:txBody>
                    <a:bodyPr/>
                    <a:lstStyle/>
                    <a:p>
                      <a:r>
                        <a:rPr lang="en-GB" dirty="0"/>
                        <a:t>            T</a:t>
                      </a:r>
                      <a:endParaRPr lang="en-SG" dirty="0"/>
                    </a:p>
                  </a:txBody>
                  <a:tcPr/>
                </a:tc>
                <a:tc>
                  <a:txBody>
                    <a:bodyPr/>
                    <a:lstStyle/>
                    <a:p>
                      <a:r>
                        <a:rPr lang="en-SG" dirty="0"/>
                        <a:t>F</a:t>
                      </a:r>
                    </a:p>
                  </a:txBody>
                  <a:tcPr/>
                </a:tc>
                <a:tc>
                  <a:txBody>
                    <a:bodyPr/>
                    <a:lstStyle/>
                    <a:p>
                      <a:r>
                        <a:rPr lang="en-GB" dirty="0"/>
                        <a:t>               T</a:t>
                      </a:r>
                      <a:endParaRPr lang="en-SG" dirty="0"/>
                    </a:p>
                  </a:txBody>
                  <a:tcPr/>
                </a:tc>
                <a:extLst>
                  <a:ext uri="{0D108BD9-81ED-4DB2-BD59-A6C34878D82A}">
                    <a16:rowId xmlns:a16="http://schemas.microsoft.com/office/drawing/2014/main" val="3409280451"/>
                  </a:ext>
                </a:extLst>
              </a:tr>
              <a:tr h="351426">
                <a:tc>
                  <a:txBody>
                    <a:bodyPr/>
                    <a:lstStyle/>
                    <a:p>
                      <a:r>
                        <a:rPr lang="en-GB" dirty="0"/>
                        <a:t>            T</a:t>
                      </a:r>
                      <a:endParaRPr lang="en-SG" dirty="0"/>
                    </a:p>
                  </a:txBody>
                  <a:tcPr/>
                </a:tc>
                <a:tc>
                  <a:txBody>
                    <a:bodyPr/>
                    <a:lstStyle/>
                    <a:p>
                      <a:r>
                        <a:rPr lang="en-SG" dirty="0"/>
                        <a:t>F</a:t>
                      </a:r>
                    </a:p>
                  </a:txBody>
                  <a:tcPr/>
                </a:tc>
                <a:tc>
                  <a:txBody>
                    <a:bodyPr/>
                    <a:lstStyle/>
                    <a:p>
                      <a:r>
                        <a:rPr lang="en-GB" dirty="0"/>
                        <a:t>            F </a:t>
                      </a:r>
                      <a:endParaRPr lang="en-SG" dirty="0"/>
                    </a:p>
                  </a:txBody>
                  <a:tcPr/>
                </a:tc>
                <a:tc>
                  <a:txBody>
                    <a:bodyPr/>
                    <a:lstStyle/>
                    <a:p>
                      <a:r>
                        <a:rPr lang="en-SG" dirty="0"/>
                        <a:t>T</a:t>
                      </a:r>
                    </a:p>
                  </a:txBody>
                  <a:tcPr/>
                </a:tc>
                <a:tc>
                  <a:txBody>
                    <a:bodyPr/>
                    <a:lstStyle/>
                    <a:p>
                      <a:r>
                        <a:rPr lang="en-GB" dirty="0"/>
                        <a:t>               F</a:t>
                      </a:r>
                      <a:endParaRPr lang="en-SG" dirty="0"/>
                    </a:p>
                  </a:txBody>
                  <a:tcPr/>
                </a:tc>
                <a:extLst>
                  <a:ext uri="{0D108BD9-81ED-4DB2-BD59-A6C34878D82A}">
                    <a16:rowId xmlns:a16="http://schemas.microsoft.com/office/drawing/2014/main" val="3809634044"/>
                  </a:ext>
                </a:extLst>
              </a:tr>
              <a:tr h="351426">
                <a:tc>
                  <a:txBody>
                    <a:bodyPr/>
                    <a:lstStyle/>
                    <a:p>
                      <a:r>
                        <a:rPr lang="en-GB" dirty="0"/>
                        <a:t>            F</a:t>
                      </a:r>
                      <a:endParaRPr lang="en-SG" dirty="0"/>
                    </a:p>
                  </a:txBody>
                  <a:tcPr/>
                </a:tc>
                <a:tc>
                  <a:txBody>
                    <a:bodyPr/>
                    <a:lstStyle/>
                    <a:p>
                      <a:r>
                        <a:rPr lang="en-SG" dirty="0"/>
                        <a:t>T</a:t>
                      </a:r>
                    </a:p>
                  </a:txBody>
                  <a:tcPr/>
                </a:tc>
                <a:tc>
                  <a:txBody>
                    <a:bodyPr/>
                    <a:lstStyle/>
                    <a:p>
                      <a:r>
                        <a:rPr lang="en-GB" dirty="0"/>
                        <a:t>            T</a:t>
                      </a:r>
                      <a:endParaRPr lang="en-SG" dirty="0"/>
                    </a:p>
                  </a:txBody>
                  <a:tcPr/>
                </a:tc>
                <a:tc>
                  <a:txBody>
                    <a:bodyPr/>
                    <a:lstStyle/>
                    <a:p>
                      <a:r>
                        <a:rPr lang="en-SG" dirty="0"/>
                        <a:t>F</a:t>
                      </a:r>
                    </a:p>
                  </a:txBody>
                  <a:tcPr/>
                </a:tc>
                <a:tc>
                  <a:txBody>
                    <a:bodyPr/>
                    <a:lstStyle/>
                    <a:p>
                      <a:r>
                        <a:rPr lang="en-GB" dirty="0"/>
                        <a:t>               T</a:t>
                      </a:r>
                      <a:endParaRPr lang="en-SG" dirty="0"/>
                    </a:p>
                  </a:txBody>
                  <a:tcPr/>
                </a:tc>
                <a:extLst>
                  <a:ext uri="{0D108BD9-81ED-4DB2-BD59-A6C34878D82A}">
                    <a16:rowId xmlns:a16="http://schemas.microsoft.com/office/drawing/2014/main" val="2330790153"/>
                  </a:ext>
                </a:extLst>
              </a:tr>
              <a:tr h="351426">
                <a:tc>
                  <a:txBody>
                    <a:bodyPr/>
                    <a:lstStyle/>
                    <a:p>
                      <a:r>
                        <a:rPr lang="en-GB" dirty="0"/>
                        <a:t>            F</a:t>
                      </a:r>
                      <a:endParaRPr lang="en-SG" dirty="0"/>
                    </a:p>
                  </a:txBody>
                  <a:tcPr/>
                </a:tc>
                <a:tc>
                  <a:txBody>
                    <a:bodyPr/>
                    <a:lstStyle/>
                    <a:p>
                      <a:r>
                        <a:rPr lang="en-SG" dirty="0"/>
                        <a:t>T</a:t>
                      </a:r>
                    </a:p>
                  </a:txBody>
                  <a:tcPr/>
                </a:tc>
                <a:tc>
                  <a:txBody>
                    <a:bodyPr/>
                    <a:lstStyle/>
                    <a:p>
                      <a:r>
                        <a:rPr lang="en-GB" dirty="0"/>
                        <a:t>            F</a:t>
                      </a:r>
                      <a:endParaRPr lang="en-SG" dirty="0"/>
                    </a:p>
                  </a:txBody>
                  <a:tcPr/>
                </a:tc>
                <a:tc>
                  <a:txBody>
                    <a:bodyPr/>
                    <a:lstStyle/>
                    <a:p>
                      <a:r>
                        <a:rPr lang="en-SG" dirty="0"/>
                        <a:t>T</a:t>
                      </a:r>
                    </a:p>
                  </a:txBody>
                  <a:tcPr/>
                </a:tc>
                <a:tc>
                  <a:txBody>
                    <a:bodyPr/>
                    <a:lstStyle/>
                    <a:p>
                      <a:r>
                        <a:rPr lang="en-GB" dirty="0"/>
                        <a:t>               T</a:t>
                      </a:r>
                      <a:endParaRPr lang="en-SG" dirty="0"/>
                    </a:p>
                  </a:txBody>
                  <a:tcPr/>
                </a:tc>
                <a:extLst>
                  <a:ext uri="{0D108BD9-81ED-4DB2-BD59-A6C34878D82A}">
                    <a16:rowId xmlns:a16="http://schemas.microsoft.com/office/drawing/2014/main" val="422645974"/>
                  </a:ext>
                </a:extLst>
              </a:tr>
            </a:tbl>
          </a:graphicData>
        </a:graphic>
      </p:graphicFrame>
    </p:spTree>
    <p:extLst>
      <p:ext uri="{BB962C8B-B14F-4D97-AF65-F5344CB8AC3E}">
        <p14:creationId xmlns:p14="http://schemas.microsoft.com/office/powerpoint/2010/main" val="1756962653"/>
      </p:ext>
    </p:extLst>
  </p:cSld>
  <p:clrMapOvr>
    <a:masterClrMapping/>
  </p:clrMapOvr>
  <mc:AlternateContent xmlns:mc="http://schemas.openxmlformats.org/markup-compatibility/2006" xmlns:p14="http://schemas.microsoft.com/office/powerpoint/2010/main">
    <mc:Choice Requires="p14">
      <p:transition spd="slow" p14:dur="2000" advTm="94259"/>
    </mc:Choice>
    <mc:Fallback xmlns="">
      <p:transition spd="slow" advTm="94259"/>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nip and Round Single Corner Rectangle 6"/>
          <p:cNvSpPr/>
          <p:nvPr/>
        </p:nvSpPr>
        <p:spPr>
          <a:xfrm>
            <a:off x="-1" y="95254"/>
            <a:ext cx="8963379" cy="898168"/>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marL="609585" indent="-609585" eaLnBrk="0" fontAlgn="base" hangingPunct="0">
              <a:spcBef>
                <a:spcPct val="20000"/>
              </a:spcBef>
              <a:spcAft>
                <a:spcPct val="0"/>
              </a:spcAft>
              <a:defRPr/>
            </a:pPr>
            <a:r>
              <a:rPr lang="en-US" sz="3200" b="1" dirty="0">
                <a:solidFill>
                  <a:srgbClr val="FFFFFF"/>
                </a:solidFill>
                <a:latin typeface="Times New Roman" panose="02020603050405020304" pitchFamily="18" charset="0"/>
                <a:cs typeface="Times New Roman" panose="02020603050405020304" pitchFamily="18" charset="0"/>
              </a:rPr>
              <a:t>Modus Tollens: Examples</a:t>
            </a:r>
            <a:endParaRPr lang="en-US" sz="3200" b="1" dirty="0">
              <a:solidFill>
                <a:srgbClr val="FF0000"/>
              </a:solidFill>
              <a:latin typeface="Times New Roman" panose="02020603050405020304" pitchFamily="18" charset="0"/>
              <a:cs typeface="Times New Roman" panose="02020603050405020304" pitchFamily="18" charset="0"/>
            </a:endParaRPr>
          </a:p>
        </p:txBody>
      </p:sp>
      <p:sp>
        <p:nvSpPr>
          <p:cNvPr id="8" name="Snip and Round Single Corner Rectangle 7"/>
          <p:cNvSpPr/>
          <p:nvPr/>
        </p:nvSpPr>
        <p:spPr>
          <a:xfrm>
            <a:off x="3" y="6477001"/>
            <a:ext cx="8863013" cy="323851"/>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a:spcBef>
                <a:spcPct val="20000"/>
              </a:spcBef>
              <a:buFont typeface="Arial" panose="020B0604020202020204" pitchFamily="34" charset="0"/>
              <a:buChar char="•"/>
              <a:tabLst>
                <a:tab pos="4389438" algn="l"/>
              </a:tabLst>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tabLst>
                <a:tab pos="4389438" algn="l"/>
              </a:tabLst>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tabLst>
                <a:tab pos="4389438" algn="l"/>
              </a:tabLst>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9pPr>
          </a:lstStyle>
          <a:p>
            <a:pPr algn="r" fontAlgn="base">
              <a:spcBef>
                <a:spcPct val="0"/>
              </a:spcBef>
              <a:spcAft>
                <a:spcPct val="0"/>
              </a:spcAft>
              <a:buNone/>
              <a:defRPr/>
            </a:pPr>
            <a:fld id="{5C157F89-BC4E-485A-A9B8-EC5F2289648F}" type="slidenum">
              <a:rPr lang="en-US" altLang="en-US" sz="1300">
                <a:solidFill>
                  <a:srgbClr val="FFFFFF"/>
                </a:solidFill>
                <a:latin typeface="Gill Sans MT" panose="020B0502020104020203" pitchFamily="34" charset="0"/>
              </a:rPr>
              <a:pPr algn="r" fontAlgn="base">
                <a:spcBef>
                  <a:spcPct val="0"/>
                </a:spcBef>
                <a:spcAft>
                  <a:spcPct val="0"/>
                </a:spcAft>
                <a:buNone/>
                <a:defRPr/>
              </a:pPr>
              <a:t>15</a:t>
            </a:fld>
            <a:endParaRPr lang="en-US" altLang="en-US" sz="1300">
              <a:solidFill>
                <a:srgbClr val="FFFFFF"/>
              </a:solidFill>
              <a:latin typeface="Gill Sans MT" panose="020B0502020104020203" pitchFamily="34" charset="0"/>
            </a:endParaRPr>
          </a:p>
        </p:txBody>
      </p:sp>
      <p:sp>
        <p:nvSpPr>
          <p:cNvPr id="27" name="TextBox 26"/>
          <p:cNvSpPr txBox="1"/>
          <p:nvPr/>
        </p:nvSpPr>
        <p:spPr>
          <a:xfrm>
            <a:off x="11769" y="1135331"/>
            <a:ext cx="8851248" cy="4708981"/>
          </a:xfrm>
          <a:prstGeom prst="rect">
            <a:avLst/>
          </a:prstGeom>
          <a:noFill/>
        </p:spPr>
        <p:txBody>
          <a:bodyPr wrap="square" lIns="91440" tIns="45720" rIns="91440" bIns="45720" anchor="t">
            <a:spAutoFit/>
          </a:bodyPr>
          <a:lstStyle/>
          <a:p>
            <a:pPr fontAlgn="base">
              <a:spcBef>
                <a:spcPct val="0"/>
              </a:spcBef>
              <a:spcAft>
                <a:spcPct val="0"/>
              </a:spcAft>
              <a:defRPr/>
            </a:pPr>
            <a:r>
              <a:rPr lang="en-US" sz="2000" dirty="0">
                <a:latin typeface="Times New Roman"/>
                <a:ea typeface="ＭＳ Ｐゴシック"/>
                <a:cs typeface="Times New Roman"/>
              </a:rPr>
              <a:t>Consider the following examples. Is the inference valid? </a:t>
            </a:r>
          </a:p>
          <a:p>
            <a:pPr fontAlgn="base">
              <a:spcBef>
                <a:spcPct val="0"/>
              </a:spcBef>
              <a:spcAft>
                <a:spcPct val="0"/>
              </a:spcAft>
              <a:defRPr/>
            </a:pPr>
            <a:r>
              <a:rPr lang="en-US" sz="2000" dirty="0">
                <a:latin typeface="Times New Roman"/>
                <a:ea typeface="ＭＳ Ｐゴシック"/>
                <a:cs typeface="Times New Roman"/>
              </a:rPr>
              <a:t>Is the argument sound?</a:t>
            </a:r>
          </a:p>
          <a:p>
            <a:pPr fontAlgn="base">
              <a:spcBef>
                <a:spcPct val="0"/>
              </a:spcBef>
              <a:spcAft>
                <a:spcPct val="0"/>
              </a:spcAft>
              <a:defRPr/>
            </a:pPr>
            <a:endParaRPr lang="en-US" sz="2000" dirty="0">
              <a:latin typeface="Times New Roman" panose="02020603050405020304" pitchFamily="18" charset="0"/>
              <a:ea typeface="ＭＳ Ｐゴシック" charset="0"/>
              <a:cs typeface="Times New Roman" panose="02020603050405020304" pitchFamily="18" charset="0"/>
            </a:endParaRPr>
          </a:p>
          <a:p>
            <a:pPr fontAlgn="base">
              <a:spcBef>
                <a:spcPct val="0"/>
              </a:spcBef>
              <a:spcAft>
                <a:spcPct val="0"/>
              </a:spcAft>
              <a:defRPr/>
            </a:pPr>
            <a:endParaRPr lang="en-US" sz="2000" dirty="0">
              <a:latin typeface="Times New Roman" panose="02020603050405020304" pitchFamily="18" charset="0"/>
              <a:ea typeface="ＭＳ Ｐゴシック" charset="0"/>
              <a:cs typeface="Times New Roman" panose="02020603050405020304" pitchFamily="18" charset="0"/>
            </a:endParaRPr>
          </a:p>
          <a:p>
            <a:pPr lvl="2" fontAlgn="base">
              <a:spcBef>
                <a:spcPct val="0"/>
              </a:spcBef>
              <a:spcAft>
                <a:spcPct val="0"/>
              </a:spcAft>
              <a:defRPr/>
            </a:pPr>
            <a:r>
              <a:rPr lang="en-US" sz="2000" dirty="0">
                <a:latin typeface="Times New Roman"/>
                <a:ea typeface="ＭＳ Ｐゴシック"/>
                <a:cs typeface="Times New Roman"/>
              </a:rPr>
              <a:t>1.	If he lives in Bangkok, he lives in Thailand.</a:t>
            </a:r>
          </a:p>
          <a:p>
            <a:pPr lvl="2" fontAlgn="base">
              <a:spcBef>
                <a:spcPct val="0"/>
              </a:spcBef>
              <a:spcAft>
                <a:spcPct val="0"/>
              </a:spcAft>
              <a:defRPr/>
            </a:pPr>
            <a:r>
              <a:rPr lang="en-US" sz="2000" dirty="0">
                <a:latin typeface="Times New Roman"/>
                <a:ea typeface="ＭＳ Ｐゴシック"/>
                <a:cs typeface="Times New Roman"/>
              </a:rPr>
              <a:t>	He does not live in Thailand.</a:t>
            </a:r>
          </a:p>
          <a:p>
            <a:pPr lvl="2" fontAlgn="base">
              <a:spcBef>
                <a:spcPct val="0"/>
              </a:spcBef>
              <a:spcAft>
                <a:spcPct val="0"/>
              </a:spcAft>
              <a:defRPr/>
            </a:pPr>
            <a:r>
              <a:rPr lang="en-US" sz="2000" dirty="0">
                <a:latin typeface="Times New Roman"/>
                <a:ea typeface="ＭＳ Ｐゴシック"/>
                <a:cs typeface="Times New Roman"/>
              </a:rPr>
              <a:t>	_____________________________</a:t>
            </a:r>
          </a:p>
          <a:p>
            <a:pPr lvl="2" fontAlgn="base">
              <a:spcBef>
                <a:spcPct val="0"/>
              </a:spcBef>
              <a:spcAft>
                <a:spcPct val="0"/>
              </a:spcAft>
              <a:defRPr/>
            </a:pPr>
            <a:r>
              <a:rPr lang="en-US" sz="2000" dirty="0">
                <a:latin typeface="Times New Roman"/>
                <a:ea typeface="ＭＳ Ｐゴシック"/>
                <a:cs typeface="Times New Roman"/>
              </a:rPr>
              <a:t>	So, he does not live in Bangkok.</a:t>
            </a:r>
          </a:p>
          <a:p>
            <a:pPr lvl="2" fontAlgn="base">
              <a:spcBef>
                <a:spcPct val="0"/>
              </a:spcBef>
              <a:spcAft>
                <a:spcPct val="0"/>
              </a:spcAft>
              <a:defRPr/>
            </a:pPr>
            <a:endParaRPr lang="en-US" sz="2000" dirty="0">
              <a:latin typeface="Times New Roman" panose="02020603050405020304" pitchFamily="18" charset="0"/>
              <a:ea typeface="ＭＳ Ｐゴシック" charset="0"/>
              <a:cs typeface="Times New Roman" panose="02020603050405020304" pitchFamily="18" charset="0"/>
            </a:endParaRPr>
          </a:p>
          <a:p>
            <a:pPr lvl="2" fontAlgn="base">
              <a:spcBef>
                <a:spcPct val="0"/>
              </a:spcBef>
              <a:spcAft>
                <a:spcPct val="0"/>
              </a:spcAft>
              <a:defRPr/>
            </a:pPr>
            <a:endParaRPr lang="en-US" sz="2000" dirty="0">
              <a:latin typeface="Times New Roman" panose="02020603050405020304" pitchFamily="18" charset="0"/>
              <a:ea typeface="ＭＳ Ｐゴシック" charset="0"/>
              <a:cs typeface="Times New Roman" panose="02020603050405020304" pitchFamily="18" charset="0"/>
            </a:endParaRPr>
          </a:p>
          <a:p>
            <a:pPr lvl="2" fontAlgn="base">
              <a:spcBef>
                <a:spcPct val="0"/>
              </a:spcBef>
              <a:spcAft>
                <a:spcPct val="0"/>
              </a:spcAft>
              <a:defRPr/>
            </a:pPr>
            <a:r>
              <a:rPr lang="en-US" sz="2000" dirty="0">
                <a:latin typeface="Times New Roman"/>
                <a:ea typeface="ＭＳ Ｐゴシック"/>
                <a:cs typeface="Times New Roman"/>
              </a:rPr>
              <a:t>2.	If God exists, there would be no evil in the world.</a:t>
            </a:r>
          </a:p>
          <a:p>
            <a:pPr lvl="2" fontAlgn="base">
              <a:spcBef>
                <a:spcPct val="0"/>
              </a:spcBef>
              <a:spcAft>
                <a:spcPct val="0"/>
              </a:spcAft>
              <a:defRPr/>
            </a:pPr>
            <a:r>
              <a:rPr lang="en-US" sz="2000" dirty="0">
                <a:latin typeface="Times New Roman"/>
                <a:ea typeface="ＭＳ Ｐゴシック"/>
                <a:cs typeface="Times New Roman"/>
              </a:rPr>
              <a:t>	There’s evil in the world.</a:t>
            </a:r>
          </a:p>
          <a:p>
            <a:pPr lvl="2" fontAlgn="base">
              <a:spcBef>
                <a:spcPct val="0"/>
              </a:spcBef>
              <a:spcAft>
                <a:spcPct val="0"/>
              </a:spcAft>
              <a:defRPr/>
            </a:pPr>
            <a:r>
              <a:rPr lang="en-US" sz="2000" dirty="0">
                <a:latin typeface="Times New Roman"/>
                <a:ea typeface="ＭＳ Ｐゴシック"/>
                <a:cs typeface="Times New Roman"/>
              </a:rPr>
              <a:t>	_____________________________</a:t>
            </a:r>
          </a:p>
          <a:p>
            <a:pPr lvl="2" fontAlgn="base">
              <a:spcBef>
                <a:spcPct val="0"/>
              </a:spcBef>
              <a:spcAft>
                <a:spcPct val="0"/>
              </a:spcAft>
              <a:defRPr/>
            </a:pPr>
            <a:r>
              <a:rPr lang="en-US" sz="2000" dirty="0">
                <a:latin typeface="Times New Roman"/>
                <a:ea typeface="ＭＳ Ｐゴシック"/>
                <a:cs typeface="Times New Roman"/>
              </a:rPr>
              <a:t>	So, God doesn’t exist.</a:t>
            </a:r>
          </a:p>
          <a:p>
            <a:pPr fontAlgn="base">
              <a:spcBef>
                <a:spcPct val="0"/>
              </a:spcBef>
              <a:spcAft>
                <a:spcPct val="0"/>
              </a:spcAft>
              <a:defRPr/>
            </a:pPr>
            <a:endParaRPr lang="en-US" sz="2000" b="1" dirty="0">
              <a:latin typeface="Times New Roman" panose="02020603050405020304" pitchFamily="18" charset="0"/>
              <a:ea typeface="ＭＳ Ｐゴシック" charset="0"/>
              <a:cs typeface="Times New Roman" panose="02020603050405020304" pitchFamily="18" charset="0"/>
            </a:endParaRPr>
          </a:p>
        </p:txBody>
      </p:sp>
    </p:spTree>
    <p:extLst>
      <p:ext uri="{BB962C8B-B14F-4D97-AF65-F5344CB8AC3E}">
        <p14:creationId xmlns:p14="http://schemas.microsoft.com/office/powerpoint/2010/main" val="2679831596"/>
      </p:ext>
    </p:extLst>
  </p:cSld>
  <p:clrMapOvr>
    <a:masterClrMapping/>
  </p:clrMapOvr>
  <mc:AlternateContent xmlns:mc="http://schemas.openxmlformats.org/markup-compatibility/2006" xmlns:p14="http://schemas.microsoft.com/office/powerpoint/2010/main">
    <mc:Choice Requires="p14">
      <p:transition spd="slow" p14:dur="2000" advTm="59894"/>
    </mc:Choice>
    <mc:Fallback xmlns="">
      <p:transition spd="slow" advTm="59894"/>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nip and Round Single Corner Rectangle 6"/>
          <p:cNvSpPr/>
          <p:nvPr/>
        </p:nvSpPr>
        <p:spPr>
          <a:xfrm>
            <a:off x="-1" y="95254"/>
            <a:ext cx="8796607" cy="880973"/>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fontAlgn="base">
              <a:spcBef>
                <a:spcPct val="0"/>
              </a:spcBef>
              <a:spcAft>
                <a:spcPct val="0"/>
              </a:spcAft>
              <a:defRPr/>
            </a:pPr>
            <a:r>
              <a:rPr lang="en-US" sz="2800" b="1" spc="-151" dirty="0">
                <a:solidFill>
                  <a:prstClr val="white"/>
                </a:solidFill>
                <a:latin typeface="Times New Roman" panose="02020603050405020304" pitchFamily="18" charset="0"/>
                <a:cs typeface="Times New Roman" panose="02020603050405020304" pitchFamily="18" charset="0"/>
              </a:rPr>
              <a:t>Standard Propositional Forms (4): </a:t>
            </a:r>
          </a:p>
          <a:p>
            <a:pPr fontAlgn="base">
              <a:spcBef>
                <a:spcPct val="0"/>
              </a:spcBef>
              <a:spcAft>
                <a:spcPct val="0"/>
              </a:spcAft>
              <a:defRPr/>
            </a:pPr>
            <a:r>
              <a:rPr lang="en-US" sz="2800" b="1" spc="-151" dirty="0">
                <a:solidFill>
                  <a:prstClr val="white"/>
                </a:solidFill>
                <a:latin typeface="Times New Roman" panose="02020603050405020304" pitchFamily="18" charset="0"/>
                <a:cs typeface="Times New Roman" panose="02020603050405020304" pitchFamily="18" charset="0"/>
              </a:rPr>
              <a:t>Affirming the Consequent (AC)</a:t>
            </a:r>
          </a:p>
        </p:txBody>
      </p:sp>
      <p:sp>
        <p:nvSpPr>
          <p:cNvPr id="8" name="Snip and Round Single Corner Rectangle 7"/>
          <p:cNvSpPr/>
          <p:nvPr/>
        </p:nvSpPr>
        <p:spPr>
          <a:xfrm>
            <a:off x="3" y="6477001"/>
            <a:ext cx="8863013" cy="323851"/>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a:spcBef>
                <a:spcPct val="20000"/>
              </a:spcBef>
              <a:buFont typeface="Arial" panose="020B0604020202020204" pitchFamily="34" charset="0"/>
              <a:buChar char="•"/>
              <a:tabLst>
                <a:tab pos="4389438" algn="l"/>
              </a:tabLst>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tabLst>
                <a:tab pos="4389438" algn="l"/>
              </a:tabLst>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tabLst>
                <a:tab pos="4389438" algn="l"/>
              </a:tabLst>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9pPr>
          </a:lstStyle>
          <a:p>
            <a:pPr algn="r" fontAlgn="base">
              <a:spcBef>
                <a:spcPct val="0"/>
              </a:spcBef>
              <a:spcAft>
                <a:spcPct val="0"/>
              </a:spcAft>
              <a:buNone/>
              <a:defRPr/>
            </a:pPr>
            <a:fld id="{02404CBC-9017-4C4D-9A9D-4846F12B969B}" type="slidenum">
              <a:rPr lang="en-US" altLang="en-US" sz="1300">
                <a:solidFill>
                  <a:srgbClr val="FFFFFF"/>
                </a:solidFill>
                <a:latin typeface="Gill Sans MT" panose="020B0502020104020203" pitchFamily="34" charset="0"/>
              </a:rPr>
              <a:pPr algn="r" fontAlgn="base">
                <a:spcBef>
                  <a:spcPct val="0"/>
                </a:spcBef>
                <a:spcAft>
                  <a:spcPct val="0"/>
                </a:spcAft>
                <a:buNone/>
                <a:defRPr/>
              </a:pPr>
              <a:t>16</a:t>
            </a:fld>
            <a:endParaRPr lang="en-US" altLang="en-US" sz="1300">
              <a:solidFill>
                <a:srgbClr val="FFFFFF"/>
              </a:solidFill>
              <a:latin typeface="Gill Sans MT" panose="020B0502020104020203" pitchFamily="34" charset="0"/>
            </a:endParaRPr>
          </a:p>
        </p:txBody>
      </p:sp>
      <p:sp>
        <p:nvSpPr>
          <p:cNvPr id="8196" name="Rectangle 4"/>
          <p:cNvSpPr>
            <a:spLocks noGrp="1" noChangeArrowheads="1"/>
          </p:cNvSpPr>
          <p:nvPr>
            <p:ph type="subTitle" idx="1"/>
          </p:nvPr>
        </p:nvSpPr>
        <p:spPr>
          <a:xfrm>
            <a:off x="1" y="1081521"/>
            <a:ext cx="8863013" cy="5395480"/>
          </a:xfrm>
        </p:spPr>
        <p:txBody>
          <a:bodyPr/>
          <a:lstStyle/>
          <a:p>
            <a:pPr algn="l" eaLnBrk="1" hangingPunct="1"/>
            <a:endParaRPr lang="en-US" altLang="en-US" sz="2400" b="1" dirty="0">
              <a:solidFill>
                <a:schemeClr val="tx1"/>
              </a:solidFill>
              <a:latin typeface="Times New Roman" panose="02020603050405020304" pitchFamily="18" charset="0"/>
              <a:cs typeface="Times New Roman" panose="02020603050405020304" pitchFamily="18" charset="0"/>
            </a:endParaRPr>
          </a:p>
          <a:p>
            <a:pPr marL="342900" indent="-342900" algn="l" eaLnBrk="1" hangingPunct="1">
              <a:buFont typeface="Wingdings" panose="05000000000000000000" pitchFamily="2" charset="2"/>
              <a:buChar char="§"/>
            </a:pPr>
            <a:r>
              <a:rPr lang="en-US" altLang="en-US" sz="2400" dirty="0">
                <a:solidFill>
                  <a:schemeClr val="tx1"/>
                </a:solidFill>
                <a:latin typeface="Times New Roman"/>
                <a:ea typeface="MS PGothic"/>
                <a:cs typeface="Times New Roman"/>
              </a:rPr>
              <a:t>The structure of AC is:</a:t>
            </a:r>
          </a:p>
          <a:p>
            <a:pPr marL="456565" lvl="1" algn="l" eaLnBrk="1" hangingPunct="1"/>
            <a:r>
              <a:rPr lang="en-US" altLang="en-US" sz="2400" dirty="0">
                <a:solidFill>
                  <a:schemeClr val="tx1"/>
                </a:solidFill>
                <a:latin typeface="Times New Roman"/>
                <a:ea typeface="MS PGothic"/>
                <a:cs typeface="Times New Roman"/>
              </a:rPr>
              <a:t>If P then Q</a:t>
            </a:r>
          </a:p>
          <a:p>
            <a:pPr marL="456565" lvl="1" algn="l" eaLnBrk="1" hangingPunct="1"/>
            <a:r>
              <a:rPr lang="en-US" altLang="en-US" sz="2400" dirty="0">
                <a:solidFill>
                  <a:schemeClr val="tx1"/>
                </a:solidFill>
                <a:latin typeface="Times New Roman"/>
                <a:ea typeface="MS PGothic"/>
                <a:cs typeface="Times New Roman"/>
              </a:rPr>
              <a:t>Q</a:t>
            </a:r>
          </a:p>
          <a:p>
            <a:pPr marL="456565" lvl="1" algn="l" eaLnBrk="1" hangingPunct="1"/>
            <a:r>
              <a:rPr lang="en-US" altLang="en-US" sz="2400" dirty="0">
                <a:solidFill>
                  <a:schemeClr val="tx1"/>
                </a:solidFill>
                <a:latin typeface="Times New Roman"/>
                <a:ea typeface="MS PGothic"/>
                <a:cs typeface="Times New Roman"/>
              </a:rPr>
              <a:t>_____________</a:t>
            </a:r>
          </a:p>
          <a:p>
            <a:pPr marL="456565" lvl="1" algn="l" eaLnBrk="1" hangingPunct="1"/>
            <a:r>
              <a:rPr lang="en-US" altLang="en-US" sz="2400" dirty="0">
                <a:solidFill>
                  <a:schemeClr val="tx1"/>
                </a:solidFill>
                <a:latin typeface="Times New Roman"/>
                <a:ea typeface="MS PGothic"/>
                <a:cs typeface="Times New Roman"/>
              </a:rPr>
              <a:t>So, P</a:t>
            </a:r>
          </a:p>
          <a:p>
            <a:pPr algn="l" eaLnBrk="1" hangingPunct="1"/>
            <a:r>
              <a:rPr lang="en-US" altLang="en-US" sz="2400" dirty="0">
                <a:solidFill>
                  <a:schemeClr val="tx1"/>
                </a:solidFill>
                <a:latin typeface="Times New Roman"/>
                <a:ea typeface="MS PGothic"/>
                <a:cs typeface="Times New Roman"/>
              </a:rPr>
              <a:t>	</a:t>
            </a:r>
          </a:p>
          <a:p>
            <a:pPr marL="342900" indent="-342900" algn="l" eaLnBrk="1" hangingPunct="1">
              <a:buFont typeface="Wingdings" panose="05000000000000000000" pitchFamily="2" charset="2"/>
              <a:buChar char="§"/>
            </a:pPr>
            <a:endParaRPr lang="en-US" altLang="en-US" sz="2400" dirty="0">
              <a:solidFill>
                <a:schemeClr val="tx1"/>
              </a:solidFill>
              <a:latin typeface="Times New Roman" panose="02020603050405020304" pitchFamily="18" charset="0"/>
              <a:cs typeface="Times New Roman" panose="02020603050405020304" pitchFamily="18" charset="0"/>
            </a:endParaRPr>
          </a:p>
          <a:p>
            <a:pPr marL="342900" indent="-342900" algn="l" eaLnBrk="1" hangingPunct="1">
              <a:buFont typeface="Wingdings" panose="05000000000000000000" pitchFamily="2" charset="2"/>
              <a:buChar char="§"/>
            </a:pPr>
            <a:r>
              <a:rPr lang="en-US" altLang="en-US" sz="2400" dirty="0">
                <a:solidFill>
                  <a:schemeClr val="tx1"/>
                </a:solidFill>
                <a:latin typeface="Times New Roman"/>
                <a:ea typeface="MS PGothic"/>
                <a:cs typeface="Times New Roman"/>
              </a:rPr>
              <a:t>Affirming the consequent is an INVALID form of inference (i.e., it is fallacious). Why?</a:t>
            </a:r>
          </a:p>
          <a:p>
            <a:pPr marL="342265" indent="-342265" algn="l" eaLnBrk="1" hangingPunct="1">
              <a:buFont typeface="Arial" panose="020B0604020202020204" pitchFamily="34" charset="0"/>
              <a:buChar cha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l" eaLnBrk="1" hangingPunct="1"/>
            <a:br>
              <a:rPr lang="en-US" altLang="en-US" sz="2400" b="1" dirty="0">
                <a:solidFill>
                  <a:schemeClr val="tx1"/>
                </a:solidFill>
                <a:latin typeface="Times New Roman" panose="02020603050405020304" pitchFamily="18" charset="0"/>
                <a:cs typeface="Times New Roman" panose="02020603050405020304" pitchFamily="18" charset="0"/>
              </a:rPr>
            </a:br>
            <a:endParaRPr lang="en-US" altLang="en-US" sz="2400" b="1"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5CFC47F-BF1C-4E0F-9676-4D2183A777E3}"/>
              </a:ext>
            </a:extLst>
          </p:cNvPr>
          <p:cNvSpPr txBox="1"/>
          <p:nvPr/>
        </p:nvSpPr>
        <p:spPr>
          <a:xfrm>
            <a:off x="3962399" y="2833511"/>
            <a:ext cx="3138311" cy="1569660"/>
          </a:xfrm>
          <a:prstGeom prst="rect">
            <a:avLst/>
          </a:prstGeom>
          <a:noFill/>
        </p:spPr>
        <p:txBody>
          <a:bodyPr wrap="square" rtlCol="0">
            <a:spAutoFit/>
          </a:bodyPr>
          <a:lstStyle/>
          <a:p>
            <a:pPr algn="ctr"/>
            <a:r>
              <a:rPr lang="en-SG" sz="2400" b="1" dirty="0">
                <a:latin typeface="Times New Roman" panose="02020603050405020304" pitchFamily="18" charset="0"/>
                <a:cs typeface="Times New Roman" panose="02020603050405020304" pitchFamily="18" charset="0"/>
              </a:rPr>
              <a:t>If P then Q + Q</a:t>
            </a:r>
          </a:p>
          <a:p>
            <a:pPr algn="ctr"/>
            <a:endParaRPr lang="en-SG" sz="2400" b="1" dirty="0">
              <a:latin typeface="Times New Roman" panose="02020603050405020304" pitchFamily="18" charset="0"/>
              <a:cs typeface="Times New Roman" panose="02020603050405020304" pitchFamily="18" charset="0"/>
            </a:endParaRPr>
          </a:p>
          <a:p>
            <a:pPr algn="ctr"/>
            <a:endParaRPr lang="en-SG" sz="2400" b="1" dirty="0">
              <a:latin typeface="Times New Roman" panose="02020603050405020304" pitchFamily="18" charset="0"/>
              <a:cs typeface="Times New Roman" panose="02020603050405020304" pitchFamily="18" charset="0"/>
            </a:endParaRPr>
          </a:p>
          <a:p>
            <a:pPr algn="ctr"/>
            <a:r>
              <a:rPr lang="en-SG" sz="2400" b="1" dirty="0">
                <a:latin typeface="Times New Roman" panose="02020603050405020304" pitchFamily="18" charset="0"/>
                <a:cs typeface="Times New Roman" panose="02020603050405020304" pitchFamily="18" charset="0"/>
              </a:rPr>
              <a:t>P </a:t>
            </a:r>
          </a:p>
        </p:txBody>
      </p:sp>
      <p:cxnSp>
        <p:nvCxnSpPr>
          <p:cNvPr id="6" name="Straight Connector 5">
            <a:extLst>
              <a:ext uri="{FF2B5EF4-FFF2-40B4-BE49-F238E27FC236}">
                <a16:creationId xmlns:a16="http://schemas.microsoft.com/office/drawing/2014/main" id="{28543A97-429D-465C-B35F-986B9F2D181C}"/>
              </a:ext>
            </a:extLst>
          </p:cNvPr>
          <p:cNvCxnSpPr>
            <a:cxnSpLocks/>
          </p:cNvCxnSpPr>
          <p:nvPr/>
        </p:nvCxnSpPr>
        <p:spPr>
          <a:xfrm>
            <a:off x="4267199" y="3318934"/>
            <a:ext cx="251742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D17A348E-35C7-4D0E-AB77-0CC54870D530}"/>
              </a:ext>
            </a:extLst>
          </p:cNvPr>
          <p:cNvCxnSpPr>
            <a:cxnSpLocks/>
          </p:cNvCxnSpPr>
          <p:nvPr/>
        </p:nvCxnSpPr>
        <p:spPr>
          <a:xfrm>
            <a:off x="5497689" y="3318934"/>
            <a:ext cx="0" cy="53057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80CDE7C8-A6CD-4A3D-A2FB-D5457EA77A96}"/>
              </a:ext>
            </a:extLst>
          </p:cNvPr>
          <p:cNvCxnSpPr/>
          <p:nvPr/>
        </p:nvCxnSpPr>
        <p:spPr>
          <a:xfrm>
            <a:off x="3296355" y="2912534"/>
            <a:ext cx="0" cy="121920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40639806"/>
      </p:ext>
    </p:extLst>
  </p:cSld>
  <p:clrMapOvr>
    <a:masterClrMapping/>
  </p:clrMapOvr>
  <mc:AlternateContent xmlns:mc="http://schemas.openxmlformats.org/markup-compatibility/2006" xmlns:p14="http://schemas.microsoft.com/office/powerpoint/2010/main">
    <mc:Choice Requires="p14">
      <p:transition spd="slow" p14:dur="2000" advTm="35633"/>
    </mc:Choice>
    <mc:Fallback xmlns="">
      <p:transition spd="slow" advTm="35633"/>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nip and Round Single Corner Rectangle 6"/>
          <p:cNvSpPr/>
          <p:nvPr/>
        </p:nvSpPr>
        <p:spPr>
          <a:xfrm>
            <a:off x="-1" y="95254"/>
            <a:ext cx="8737601" cy="875590"/>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marL="609585" indent="-609585" eaLnBrk="0" fontAlgn="base" hangingPunct="0">
              <a:spcBef>
                <a:spcPct val="20000"/>
              </a:spcBef>
              <a:spcAft>
                <a:spcPct val="0"/>
              </a:spcAft>
              <a:defRPr/>
            </a:pPr>
            <a:r>
              <a:rPr lang="en-US" sz="3400" b="1" dirty="0">
                <a:solidFill>
                  <a:srgbClr val="FFFFFF"/>
                </a:solidFill>
                <a:latin typeface="Times New Roman" panose="02020603050405020304" pitchFamily="18" charset="0"/>
                <a:cs typeface="Times New Roman" panose="02020603050405020304" pitchFamily="18" charset="0"/>
              </a:rPr>
              <a:t>Affirming the Consequent: Examples</a:t>
            </a:r>
            <a:endParaRPr lang="en-US" sz="3400" b="1" dirty="0">
              <a:solidFill>
                <a:srgbClr val="FF0000"/>
              </a:solidFill>
              <a:latin typeface="Times New Roman" panose="02020603050405020304" pitchFamily="18" charset="0"/>
              <a:cs typeface="Times New Roman" panose="02020603050405020304" pitchFamily="18" charset="0"/>
            </a:endParaRPr>
          </a:p>
        </p:txBody>
      </p:sp>
      <p:sp>
        <p:nvSpPr>
          <p:cNvPr id="8" name="Snip and Round Single Corner Rectangle 7"/>
          <p:cNvSpPr/>
          <p:nvPr/>
        </p:nvSpPr>
        <p:spPr>
          <a:xfrm>
            <a:off x="3" y="6477001"/>
            <a:ext cx="8863013" cy="323851"/>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a:spcBef>
                <a:spcPct val="20000"/>
              </a:spcBef>
              <a:buFont typeface="Arial" panose="020B0604020202020204" pitchFamily="34" charset="0"/>
              <a:buChar char="•"/>
              <a:tabLst>
                <a:tab pos="4389438" algn="l"/>
              </a:tabLst>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tabLst>
                <a:tab pos="4389438" algn="l"/>
              </a:tabLst>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tabLst>
                <a:tab pos="4389438" algn="l"/>
              </a:tabLst>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9pPr>
          </a:lstStyle>
          <a:p>
            <a:pPr algn="r" fontAlgn="base">
              <a:spcBef>
                <a:spcPct val="0"/>
              </a:spcBef>
              <a:spcAft>
                <a:spcPct val="0"/>
              </a:spcAft>
              <a:buNone/>
              <a:defRPr/>
            </a:pPr>
            <a:fld id="{5C157F89-BC4E-485A-A9B8-EC5F2289648F}" type="slidenum">
              <a:rPr lang="en-US" altLang="en-US" sz="1300">
                <a:solidFill>
                  <a:srgbClr val="FFFFFF"/>
                </a:solidFill>
                <a:latin typeface="Gill Sans MT" panose="020B0502020104020203" pitchFamily="34" charset="0"/>
              </a:rPr>
              <a:pPr algn="r" fontAlgn="base">
                <a:spcBef>
                  <a:spcPct val="0"/>
                </a:spcBef>
                <a:spcAft>
                  <a:spcPct val="0"/>
                </a:spcAft>
                <a:buNone/>
                <a:defRPr/>
              </a:pPr>
              <a:t>17</a:t>
            </a:fld>
            <a:endParaRPr lang="en-US" altLang="en-US" sz="1300">
              <a:solidFill>
                <a:srgbClr val="FFFFFF"/>
              </a:solidFill>
              <a:latin typeface="Gill Sans MT" panose="020B0502020104020203" pitchFamily="34" charset="0"/>
            </a:endParaRPr>
          </a:p>
        </p:txBody>
      </p:sp>
      <p:sp>
        <p:nvSpPr>
          <p:cNvPr id="27" name="TextBox 26"/>
          <p:cNvSpPr txBox="1"/>
          <p:nvPr/>
        </p:nvSpPr>
        <p:spPr>
          <a:xfrm>
            <a:off x="11769" y="1135330"/>
            <a:ext cx="8737602" cy="4555093"/>
          </a:xfrm>
          <a:prstGeom prst="rect">
            <a:avLst/>
          </a:prstGeom>
          <a:noFill/>
        </p:spPr>
        <p:txBody>
          <a:bodyPr wrap="square" lIns="91440" tIns="45720" rIns="91440" bIns="45720" anchor="t">
            <a:spAutoFit/>
          </a:bodyPr>
          <a:lstStyle/>
          <a:p>
            <a:pPr fontAlgn="base">
              <a:spcBef>
                <a:spcPct val="0"/>
              </a:spcBef>
              <a:spcAft>
                <a:spcPct val="0"/>
              </a:spcAft>
              <a:defRPr/>
            </a:pPr>
            <a:r>
              <a:rPr lang="en-US" sz="2400" b="1" dirty="0">
                <a:latin typeface="Times New Roman" panose="02020603050405020304" pitchFamily="18" charset="0"/>
                <a:ea typeface="ＭＳ Ｐゴシック" charset="0"/>
                <a:cs typeface="Times New Roman" panose="02020603050405020304" pitchFamily="18" charset="0"/>
              </a:rPr>
              <a:t>Consider the following examples. Is the inference valid? </a:t>
            </a:r>
          </a:p>
          <a:p>
            <a:pPr fontAlgn="base">
              <a:spcBef>
                <a:spcPct val="0"/>
              </a:spcBef>
              <a:spcAft>
                <a:spcPct val="0"/>
              </a:spcAft>
              <a:defRPr/>
            </a:pPr>
            <a:r>
              <a:rPr lang="en-US" sz="2400" b="1" dirty="0">
                <a:latin typeface="Times New Roman" panose="02020603050405020304" pitchFamily="18" charset="0"/>
                <a:ea typeface="ＭＳ Ｐゴシック" charset="0"/>
                <a:cs typeface="Times New Roman" panose="02020603050405020304" pitchFamily="18" charset="0"/>
              </a:rPr>
              <a:t>Are the arguments sound?</a:t>
            </a:r>
          </a:p>
          <a:p>
            <a:pPr fontAlgn="base">
              <a:spcBef>
                <a:spcPct val="0"/>
              </a:spcBef>
              <a:spcAft>
                <a:spcPct val="0"/>
              </a:spcAft>
              <a:defRPr/>
            </a:pPr>
            <a:endParaRPr lang="en-US" sz="2200" dirty="0">
              <a:latin typeface="Times New Roman" panose="02020603050405020304" pitchFamily="18" charset="0"/>
              <a:ea typeface="ＭＳ Ｐゴシック" charset="0"/>
              <a:cs typeface="Times New Roman" panose="02020603050405020304" pitchFamily="18" charset="0"/>
            </a:endParaRPr>
          </a:p>
          <a:p>
            <a:pPr lvl="2" fontAlgn="base">
              <a:spcBef>
                <a:spcPct val="0"/>
              </a:spcBef>
              <a:spcAft>
                <a:spcPct val="0"/>
              </a:spcAft>
              <a:defRPr/>
            </a:pPr>
            <a:r>
              <a:rPr lang="en-US" sz="2200" dirty="0">
                <a:latin typeface="Times New Roman"/>
                <a:ea typeface="ＭＳ Ｐゴシック"/>
                <a:cs typeface="Times New Roman"/>
              </a:rPr>
              <a:t>1.	If he lives in Bangkok, he lives in Thailand.</a:t>
            </a:r>
          </a:p>
          <a:p>
            <a:pPr lvl="2" fontAlgn="base">
              <a:spcBef>
                <a:spcPct val="0"/>
              </a:spcBef>
              <a:spcAft>
                <a:spcPct val="0"/>
              </a:spcAft>
              <a:defRPr/>
            </a:pPr>
            <a:r>
              <a:rPr lang="en-US" sz="2200" dirty="0">
                <a:latin typeface="Times New Roman"/>
                <a:ea typeface="ＭＳ Ｐゴシック"/>
                <a:cs typeface="Times New Roman"/>
              </a:rPr>
              <a:t>	He lives in Thailand.</a:t>
            </a:r>
          </a:p>
          <a:p>
            <a:pPr lvl="2" fontAlgn="base">
              <a:spcBef>
                <a:spcPct val="0"/>
              </a:spcBef>
              <a:spcAft>
                <a:spcPct val="0"/>
              </a:spcAft>
              <a:defRPr/>
            </a:pPr>
            <a:r>
              <a:rPr lang="en-US" sz="2200" dirty="0">
                <a:latin typeface="Times New Roman"/>
                <a:ea typeface="ＭＳ Ｐゴシック"/>
                <a:cs typeface="Times New Roman"/>
              </a:rPr>
              <a:t>	_____________________________</a:t>
            </a:r>
          </a:p>
          <a:p>
            <a:pPr lvl="2" fontAlgn="base">
              <a:spcBef>
                <a:spcPct val="0"/>
              </a:spcBef>
              <a:spcAft>
                <a:spcPct val="0"/>
              </a:spcAft>
              <a:defRPr/>
            </a:pPr>
            <a:r>
              <a:rPr lang="en-US" sz="2200" dirty="0">
                <a:latin typeface="Times New Roman"/>
                <a:ea typeface="ＭＳ Ｐゴシック"/>
                <a:cs typeface="Times New Roman"/>
              </a:rPr>
              <a:t>	So, he lives in Bangkok.</a:t>
            </a:r>
          </a:p>
          <a:p>
            <a:pPr lvl="2" fontAlgn="base">
              <a:spcBef>
                <a:spcPct val="0"/>
              </a:spcBef>
              <a:spcAft>
                <a:spcPct val="0"/>
              </a:spcAft>
              <a:defRPr/>
            </a:pPr>
            <a:endParaRPr lang="en-US" sz="2200" dirty="0">
              <a:latin typeface="Times New Roman" panose="02020603050405020304" pitchFamily="18" charset="0"/>
              <a:ea typeface="ＭＳ Ｐゴシック" charset="0"/>
              <a:cs typeface="Times New Roman" panose="02020603050405020304" pitchFamily="18" charset="0"/>
            </a:endParaRPr>
          </a:p>
          <a:p>
            <a:pPr lvl="2" fontAlgn="base">
              <a:spcBef>
                <a:spcPct val="0"/>
              </a:spcBef>
              <a:spcAft>
                <a:spcPct val="0"/>
              </a:spcAft>
              <a:defRPr/>
            </a:pPr>
            <a:r>
              <a:rPr lang="en-US" sz="2200" dirty="0">
                <a:latin typeface="Times New Roman"/>
                <a:ea typeface="ＭＳ Ｐゴシック"/>
                <a:cs typeface="Times New Roman"/>
              </a:rPr>
              <a:t>2.	If a shape has 3 sides, it is a triangle.</a:t>
            </a:r>
          </a:p>
          <a:p>
            <a:pPr lvl="2" fontAlgn="base">
              <a:spcBef>
                <a:spcPct val="0"/>
              </a:spcBef>
              <a:spcAft>
                <a:spcPct val="0"/>
              </a:spcAft>
              <a:defRPr/>
            </a:pPr>
            <a:r>
              <a:rPr lang="en-US" sz="2200" dirty="0">
                <a:latin typeface="Times New Roman"/>
                <a:ea typeface="ＭＳ Ｐゴシック"/>
                <a:cs typeface="Times New Roman"/>
              </a:rPr>
              <a:t>	             is a triangle.</a:t>
            </a:r>
          </a:p>
          <a:p>
            <a:pPr lvl="2" fontAlgn="base">
              <a:spcBef>
                <a:spcPct val="0"/>
              </a:spcBef>
              <a:spcAft>
                <a:spcPct val="0"/>
              </a:spcAft>
              <a:defRPr/>
            </a:pPr>
            <a:r>
              <a:rPr lang="en-US" sz="2200" dirty="0">
                <a:latin typeface="Times New Roman"/>
                <a:ea typeface="ＭＳ Ｐゴシック"/>
                <a:cs typeface="Times New Roman"/>
              </a:rPr>
              <a:t>	_____________________________</a:t>
            </a:r>
          </a:p>
          <a:p>
            <a:pPr lvl="2" fontAlgn="base">
              <a:spcBef>
                <a:spcPct val="0"/>
              </a:spcBef>
              <a:spcAft>
                <a:spcPct val="0"/>
              </a:spcAft>
              <a:defRPr/>
            </a:pPr>
            <a:r>
              <a:rPr lang="en-US" sz="2200" dirty="0">
                <a:latin typeface="Times New Roman"/>
                <a:ea typeface="ＭＳ Ｐゴシック"/>
                <a:cs typeface="Times New Roman"/>
              </a:rPr>
              <a:t>	So,        has 3 sides</a:t>
            </a:r>
            <a:r>
              <a:rPr lang="en-US" sz="2200" b="1" dirty="0">
                <a:latin typeface="Times New Roman"/>
                <a:ea typeface="ＭＳ Ｐゴシック"/>
                <a:cs typeface="Times New Roman"/>
              </a:rPr>
              <a:t>.</a:t>
            </a:r>
          </a:p>
          <a:p>
            <a:pPr fontAlgn="base">
              <a:spcBef>
                <a:spcPct val="0"/>
              </a:spcBef>
              <a:spcAft>
                <a:spcPct val="0"/>
              </a:spcAft>
              <a:defRPr/>
            </a:pPr>
            <a:endParaRPr lang="en-US" sz="2200" b="1" dirty="0">
              <a:latin typeface="Times New Roman" panose="02020603050405020304" pitchFamily="18" charset="0"/>
              <a:ea typeface="ＭＳ Ｐゴシック" charset="0"/>
              <a:cs typeface="Times New Roman" panose="02020603050405020304" pitchFamily="18" charset="0"/>
            </a:endParaRPr>
          </a:p>
        </p:txBody>
      </p:sp>
      <p:sp>
        <p:nvSpPr>
          <p:cNvPr id="2" name="Isosceles Triangle 1">
            <a:extLst>
              <a:ext uri="{FF2B5EF4-FFF2-40B4-BE49-F238E27FC236}">
                <a16:creationId xmlns:a16="http://schemas.microsoft.com/office/drawing/2014/main" id="{DA61088F-4D80-320D-2473-01FC0798BCB3}"/>
              </a:ext>
            </a:extLst>
          </p:cNvPr>
          <p:cNvSpPr/>
          <p:nvPr/>
        </p:nvSpPr>
        <p:spPr>
          <a:xfrm>
            <a:off x="2327564" y="4236522"/>
            <a:ext cx="356260" cy="466106"/>
          </a:xfrm>
          <a:prstGeom prst="triangl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Isosceles Triangle 2">
            <a:extLst>
              <a:ext uri="{FF2B5EF4-FFF2-40B4-BE49-F238E27FC236}">
                <a16:creationId xmlns:a16="http://schemas.microsoft.com/office/drawing/2014/main" id="{CCC3B9DD-A9C4-51F2-196D-BDAB51CFFCCE}"/>
              </a:ext>
            </a:extLst>
          </p:cNvPr>
          <p:cNvSpPr/>
          <p:nvPr/>
        </p:nvSpPr>
        <p:spPr>
          <a:xfrm>
            <a:off x="2396837" y="4963472"/>
            <a:ext cx="356260" cy="466106"/>
          </a:xfrm>
          <a:prstGeom prst="triangl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78688615"/>
      </p:ext>
    </p:extLst>
  </p:cSld>
  <p:clrMapOvr>
    <a:masterClrMapping/>
  </p:clrMapOvr>
  <mc:AlternateContent xmlns:mc="http://schemas.openxmlformats.org/markup-compatibility/2006" xmlns:p14="http://schemas.microsoft.com/office/powerpoint/2010/main">
    <mc:Choice Requires="p14">
      <p:transition spd="slow" p14:dur="2000" advTm="49352"/>
    </mc:Choice>
    <mc:Fallback xmlns="">
      <p:transition spd="slow" advTm="49352"/>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nip and Round Single Corner Rectangle 6"/>
          <p:cNvSpPr/>
          <p:nvPr/>
        </p:nvSpPr>
        <p:spPr>
          <a:xfrm>
            <a:off x="0" y="95254"/>
            <a:ext cx="8712200" cy="860425"/>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marL="609600" indent="-609600">
              <a:defRPr sz="2400">
                <a:solidFill>
                  <a:schemeClr val="hlink"/>
                </a:solidFill>
                <a:latin typeface="Times New Roman" pitchFamily="18" charset="0"/>
                <a:ea typeface="MS PGothic" pitchFamily="34" charset="-128"/>
              </a:defRPr>
            </a:lvl1pPr>
            <a:lvl2pPr marL="742950" indent="-285750">
              <a:defRPr sz="2400">
                <a:solidFill>
                  <a:schemeClr val="hlink"/>
                </a:solidFill>
                <a:latin typeface="Times New Roman" pitchFamily="18" charset="0"/>
                <a:ea typeface="MS PGothic" pitchFamily="34" charset="-128"/>
              </a:defRPr>
            </a:lvl2pPr>
            <a:lvl3pPr marL="1143000" indent="-228600">
              <a:defRPr sz="2400">
                <a:solidFill>
                  <a:schemeClr val="hlink"/>
                </a:solidFill>
                <a:latin typeface="Times New Roman" pitchFamily="18" charset="0"/>
                <a:ea typeface="MS PGothic" pitchFamily="34" charset="-128"/>
              </a:defRPr>
            </a:lvl3pPr>
            <a:lvl4pPr marL="1600200" indent="-228600">
              <a:defRPr sz="2400">
                <a:solidFill>
                  <a:schemeClr val="hlink"/>
                </a:solidFill>
                <a:latin typeface="Times New Roman" pitchFamily="18" charset="0"/>
                <a:ea typeface="MS PGothic" pitchFamily="34" charset="-128"/>
              </a:defRPr>
            </a:lvl4pPr>
            <a:lvl5pPr marL="2057400" indent="-228600">
              <a:defRPr sz="2400">
                <a:solidFill>
                  <a:schemeClr val="hlink"/>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hlink"/>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hlink"/>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hlink"/>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hlink"/>
                </a:solidFill>
                <a:latin typeface="Times New Roman" pitchFamily="18" charset="0"/>
                <a:ea typeface="MS PGothic" pitchFamily="34" charset="-128"/>
              </a:defRPr>
            </a:lvl9pPr>
          </a:lstStyle>
          <a:p>
            <a:pPr eaLnBrk="0" fontAlgn="base" hangingPunct="0">
              <a:spcBef>
                <a:spcPct val="20000"/>
              </a:spcBef>
              <a:spcAft>
                <a:spcPct val="0"/>
              </a:spcAft>
              <a:defRPr/>
            </a:pPr>
            <a:r>
              <a:rPr lang="en-US" altLang="en-US" sz="3200" b="1" dirty="0">
                <a:solidFill>
                  <a:srgbClr val="FFFFFF"/>
                </a:solidFill>
                <a:cs typeface="Times New Roman" panose="02020603050405020304" pitchFamily="18" charset="0"/>
              </a:rPr>
              <a:t>The 4 Propositional Forms: An Overview</a:t>
            </a:r>
            <a:endParaRPr lang="en-US" altLang="en-US" sz="3200" b="1" i="1" dirty="0">
              <a:solidFill>
                <a:srgbClr val="FF0000"/>
              </a:solidFill>
              <a:cs typeface="Times New Roman" panose="02020603050405020304" pitchFamily="18" charset="0"/>
            </a:endParaRPr>
          </a:p>
        </p:txBody>
      </p:sp>
      <p:sp>
        <p:nvSpPr>
          <p:cNvPr id="8" name="Snip and Round Single Corner Rectangle 7"/>
          <p:cNvSpPr/>
          <p:nvPr/>
        </p:nvSpPr>
        <p:spPr>
          <a:xfrm>
            <a:off x="3" y="6477001"/>
            <a:ext cx="8863013" cy="323851"/>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a:spcBef>
                <a:spcPct val="20000"/>
              </a:spcBef>
              <a:buFont typeface="Arial" panose="020B0604020202020204" pitchFamily="34" charset="0"/>
              <a:buChar char="•"/>
              <a:tabLst>
                <a:tab pos="4389438" algn="l"/>
              </a:tabLst>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tabLst>
                <a:tab pos="4389438" algn="l"/>
              </a:tabLst>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tabLst>
                <a:tab pos="4389438" algn="l"/>
              </a:tabLst>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9pPr>
          </a:lstStyle>
          <a:p>
            <a:pPr algn="r" fontAlgn="base">
              <a:spcBef>
                <a:spcPct val="0"/>
              </a:spcBef>
              <a:spcAft>
                <a:spcPct val="0"/>
              </a:spcAft>
              <a:buNone/>
              <a:defRPr/>
            </a:pPr>
            <a:fld id="{7639D2BA-029A-46DC-8BC4-CCF926FFE750}" type="slidenum">
              <a:rPr lang="en-US" altLang="en-US" sz="1300">
                <a:solidFill>
                  <a:srgbClr val="FFFFFF"/>
                </a:solidFill>
                <a:latin typeface="Gill Sans MT" panose="020B0502020104020203" pitchFamily="34" charset="0"/>
              </a:rPr>
              <a:pPr algn="r" fontAlgn="base">
                <a:spcBef>
                  <a:spcPct val="0"/>
                </a:spcBef>
                <a:spcAft>
                  <a:spcPct val="0"/>
                </a:spcAft>
                <a:buNone/>
                <a:defRPr/>
              </a:pPr>
              <a:t>18</a:t>
            </a:fld>
            <a:endParaRPr lang="en-US" altLang="en-US" sz="1300">
              <a:solidFill>
                <a:srgbClr val="FFFFFF"/>
              </a:solidFill>
              <a:latin typeface="Gill Sans MT" panose="020B0502020104020203" pitchFamily="34" charset="0"/>
            </a:endParaRPr>
          </a:p>
        </p:txBody>
      </p:sp>
      <p:sp>
        <p:nvSpPr>
          <p:cNvPr id="34821" name="TextBox 4"/>
          <p:cNvSpPr txBox="1">
            <a:spLocks noChangeArrowheads="1"/>
          </p:cNvSpPr>
          <p:nvPr/>
        </p:nvSpPr>
        <p:spPr bwMode="auto">
          <a:xfrm>
            <a:off x="533400" y="1066801"/>
            <a:ext cx="190500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fontAlgn="base">
              <a:spcBef>
                <a:spcPct val="0"/>
              </a:spcBef>
              <a:spcAft>
                <a:spcPct val="0"/>
              </a:spcAft>
              <a:buNone/>
            </a:pPr>
            <a:r>
              <a:rPr lang="en-US" altLang="en-US" sz="3000" dirty="0">
                <a:latin typeface="Times New Roman" panose="02020603050405020304" pitchFamily="18" charset="0"/>
                <a:cs typeface="Times New Roman" panose="02020603050405020304" pitchFamily="18" charset="0"/>
              </a:rPr>
              <a:t>If </a:t>
            </a:r>
            <a:r>
              <a:rPr lang="en-US" altLang="en-US" sz="3000" dirty="0">
                <a:solidFill>
                  <a:srgbClr val="FF0000"/>
                </a:solidFill>
                <a:latin typeface="Times New Roman" panose="02020603050405020304" pitchFamily="18" charset="0"/>
                <a:cs typeface="Times New Roman" panose="02020603050405020304" pitchFamily="18" charset="0"/>
              </a:rPr>
              <a:t>p</a:t>
            </a:r>
            <a:r>
              <a:rPr lang="en-US" altLang="en-US" sz="3000" dirty="0">
                <a:latin typeface="Times New Roman" panose="02020603050405020304" pitchFamily="18" charset="0"/>
                <a:cs typeface="Times New Roman" panose="02020603050405020304" pitchFamily="18" charset="0"/>
              </a:rPr>
              <a:t> then </a:t>
            </a:r>
            <a:r>
              <a:rPr lang="en-US" altLang="en-US" sz="3000" dirty="0">
                <a:solidFill>
                  <a:srgbClr val="0070C0"/>
                </a:solidFill>
                <a:latin typeface="Times New Roman" panose="02020603050405020304" pitchFamily="18" charset="0"/>
                <a:cs typeface="Times New Roman" panose="02020603050405020304" pitchFamily="18" charset="0"/>
              </a:rPr>
              <a:t>q</a:t>
            </a:r>
          </a:p>
          <a:p>
            <a:pPr fontAlgn="base">
              <a:spcBef>
                <a:spcPct val="0"/>
              </a:spcBef>
              <a:spcAft>
                <a:spcPct val="0"/>
              </a:spcAft>
              <a:buNone/>
            </a:pPr>
            <a:r>
              <a:rPr lang="en-US" altLang="en-US" sz="3000" dirty="0">
                <a:solidFill>
                  <a:srgbClr val="FF0000"/>
                </a:solidFill>
                <a:latin typeface="Times New Roman" panose="02020603050405020304" pitchFamily="18" charset="0"/>
                <a:cs typeface="Times New Roman" panose="02020603050405020304" pitchFamily="18" charset="0"/>
              </a:rPr>
              <a:t>p</a:t>
            </a:r>
          </a:p>
          <a:p>
            <a:pPr fontAlgn="base">
              <a:spcBef>
                <a:spcPct val="0"/>
              </a:spcBef>
              <a:spcAft>
                <a:spcPct val="0"/>
              </a:spcAft>
              <a:buNone/>
            </a:pPr>
            <a:r>
              <a:rPr lang="en-US" altLang="en-US" sz="3000" dirty="0">
                <a:latin typeface="Times New Roman" panose="02020603050405020304" pitchFamily="18" charset="0"/>
                <a:cs typeface="Times New Roman" panose="02020603050405020304" pitchFamily="18" charset="0"/>
              </a:rPr>
              <a:t>________</a:t>
            </a:r>
          </a:p>
          <a:p>
            <a:pPr fontAlgn="base">
              <a:spcBef>
                <a:spcPct val="0"/>
              </a:spcBef>
              <a:spcAft>
                <a:spcPct val="0"/>
              </a:spcAft>
              <a:buNone/>
            </a:pPr>
            <a:endParaRPr lang="en-US" altLang="en-US" sz="3000" dirty="0">
              <a:latin typeface="Times New Roman" panose="02020603050405020304" pitchFamily="18" charset="0"/>
              <a:cs typeface="Times New Roman" panose="02020603050405020304" pitchFamily="18" charset="0"/>
            </a:endParaRPr>
          </a:p>
          <a:p>
            <a:pPr fontAlgn="base">
              <a:spcBef>
                <a:spcPct val="0"/>
              </a:spcBef>
              <a:spcAft>
                <a:spcPct val="0"/>
              </a:spcAft>
              <a:buNone/>
            </a:pPr>
            <a:r>
              <a:rPr lang="en-US" altLang="en-US" sz="2800"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30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q</a:t>
            </a:r>
            <a:endParaRPr lang="en-US" altLang="en-US" sz="3000" dirty="0">
              <a:solidFill>
                <a:srgbClr val="0070C0"/>
              </a:solidFill>
              <a:latin typeface="Times New Roman" panose="02020603050405020304" pitchFamily="18" charset="0"/>
              <a:cs typeface="Times New Roman" panose="02020603050405020304" pitchFamily="18" charset="0"/>
            </a:endParaRPr>
          </a:p>
          <a:p>
            <a:pPr algn="ctr" fontAlgn="base">
              <a:spcBef>
                <a:spcPct val="0"/>
              </a:spcBef>
              <a:spcAft>
                <a:spcPct val="0"/>
              </a:spcAft>
              <a:buNone/>
            </a:pPr>
            <a:endParaRPr lang="en-US" altLang="en-US" sz="3000" dirty="0">
              <a:latin typeface="Times New Roman" panose="02020603050405020304" pitchFamily="18" charset="0"/>
              <a:cs typeface="Times New Roman" panose="02020603050405020304" pitchFamily="18" charset="0"/>
            </a:endParaRPr>
          </a:p>
        </p:txBody>
      </p:sp>
      <p:sp>
        <p:nvSpPr>
          <p:cNvPr id="34822" name="TextBox 4"/>
          <p:cNvSpPr txBox="1">
            <a:spLocks noChangeArrowheads="1"/>
          </p:cNvSpPr>
          <p:nvPr/>
        </p:nvSpPr>
        <p:spPr bwMode="auto">
          <a:xfrm>
            <a:off x="4953000" y="990603"/>
            <a:ext cx="1905000"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fontAlgn="base">
              <a:spcBef>
                <a:spcPct val="0"/>
              </a:spcBef>
              <a:spcAft>
                <a:spcPct val="0"/>
              </a:spcAft>
              <a:buNone/>
            </a:pPr>
            <a:r>
              <a:rPr lang="en-US" altLang="en-US" sz="3000" dirty="0">
                <a:latin typeface="Times New Roman" panose="02020603050405020304" pitchFamily="18" charset="0"/>
                <a:cs typeface="Times New Roman" panose="02020603050405020304" pitchFamily="18" charset="0"/>
              </a:rPr>
              <a:t>If </a:t>
            </a:r>
            <a:r>
              <a:rPr lang="en-US" altLang="en-US" sz="3000" dirty="0">
                <a:solidFill>
                  <a:srgbClr val="FF0000"/>
                </a:solidFill>
                <a:latin typeface="Times New Roman" panose="02020603050405020304" pitchFamily="18" charset="0"/>
                <a:cs typeface="Times New Roman" panose="02020603050405020304" pitchFamily="18" charset="0"/>
              </a:rPr>
              <a:t>p</a:t>
            </a:r>
            <a:r>
              <a:rPr lang="en-US" altLang="en-US" sz="3000" dirty="0">
                <a:latin typeface="Times New Roman" panose="02020603050405020304" pitchFamily="18" charset="0"/>
                <a:cs typeface="Times New Roman" panose="02020603050405020304" pitchFamily="18" charset="0"/>
              </a:rPr>
              <a:t> then </a:t>
            </a:r>
            <a:r>
              <a:rPr lang="en-US" altLang="en-US" sz="3000" dirty="0">
                <a:solidFill>
                  <a:srgbClr val="0070C0"/>
                </a:solidFill>
                <a:latin typeface="Times New Roman" panose="02020603050405020304" pitchFamily="18" charset="0"/>
                <a:cs typeface="Times New Roman" panose="02020603050405020304" pitchFamily="18" charset="0"/>
              </a:rPr>
              <a:t>q</a:t>
            </a:r>
          </a:p>
          <a:p>
            <a:pPr fontAlgn="base">
              <a:spcBef>
                <a:spcPct val="0"/>
              </a:spcBef>
              <a:spcAft>
                <a:spcPct val="0"/>
              </a:spcAft>
              <a:buNone/>
            </a:pPr>
            <a:r>
              <a:rPr lang="en-US" altLang="en-US" sz="3000" dirty="0">
                <a:latin typeface="Times New Roman" panose="02020603050405020304" pitchFamily="18" charset="0"/>
                <a:cs typeface="Times New Roman" panose="02020603050405020304" pitchFamily="18" charset="0"/>
              </a:rPr>
              <a:t>Not </a:t>
            </a:r>
            <a:r>
              <a:rPr lang="en-US" altLang="en-US" sz="3000" dirty="0">
                <a:solidFill>
                  <a:srgbClr val="FF0000"/>
                </a:solidFill>
                <a:latin typeface="Times New Roman" panose="02020603050405020304" pitchFamily="18" charset="0"/>
                <a:cs typeface="Times New Roman" panose="02020603050405020304" pitchFamily="18" charset="0"/>
              </a:rPr>
              <a:t>p</a:t>
            </a:r>
          </a:p>
          <a:p>
            <a:pPr fontAlgn="base">
              <a:spcBef>
                <a:spcPct val="0"/>
              </a:spcBef>
              <a:spcAft>
                <a:spcPct val="0"/>
              </a:spcAft>
              <a:buNone/>
            </a:pPr>
            <a:r>
              <a:rPr lang="en-US" altLang="en-US" sz="3000" dirty="0">
                <a:latin typeface="Times New Roman" panose="02020603050405020304" pitchFamily="18" charset="0"/>
                <a:cs typeface="Times New Roman" panose="02020603050405020304" pitchFamily="18" charset="0"/>
              </a:rPr>
              <a:t>________</a:t>
            </a:r>
          </a:p>
          <a:p>
            <a:pPr fontAlgn="base">
              <a:spcBef>
                <a:spcPct val="0"/>
              </a:spcBef>
              <a:spcAft>
                <a:spcPct val="0"/>
              </a:spcAft>
              <a:buNone/>
            </a:pPr>
            <a:endParaRPr lang="en-US" altLang="en-US" sz="3000" dirty="0">
              <a:latin typeface="Times New Roman" panose="02020603050405020304" pitchFamily="18" charset="0"/>
              <a:cs typeface="Times New Roman" panose="02020603050405020304" pitchFamily="18" charset="0"/>
            </a:endParaRPr>
          </a:p>
          <a:p>
            <a:pPr fontAlgn="base">
              <a:spcBef>
                <a:spcPct val="0"/>
              </a:spcBef>
              <a:spcAft>
                <a:spcPct val="0"/>
              </a:spcAft>
              <a:buNone/>
            </a:pPr>
            <a:r>
              <a:rPr lang="en-US" altLang="en-US" sz="2800"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3000" dirty="0">
                <a:latin typeface="Times New Roman" panose="02020603050405020304" pitchFamily="18" charset="0"/>
                <a:cs typeface="Times New Roman" panose="02020603050405020304" pitchFamily="18" charset="0"/>
                <a:sym typeface="Symbol" panose="05050102010706020507" pitchFamily="18" charset="2"/>
              </a:rPr>
              <a:t>Not </a:t>
            </a:r>
            <a:r>
              <a:rPr lang="en-US" altLang="en-US" sz="30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q</a:t>
            </a:r>
            <a:endParaRPr lang="en-US" altLang="en-US" sz="3000" dirty="0">
              <a:solidFill>
                <a:srgbClr val="0070C0"/>
              </a:solidFill>
              <a:latin typeface="Times New Roman" panose="02020603050405020304" pitchFamily="18" charset="0"/>
              <a:cs typeface="Times New Roman" panose="02020603050405020304" pitchFamily="18" charset="0"/>
            </a:endParaRPr>
          </a:p>
          <a:p>
            <a:pPr fontAlgn="base">
              <a:spcBef>
                <a:spcPct val="0"/>
              </a:spcBef>
              <a:spcAft>
                <a:spcPct val="0"/>
              </a:spcAft>
              <a:buNone/>
            </a:pPr>
            <a:endParaRPr lang="en-US" altLang="en-US" sz="3000" dirty="0">
              <a:latin typeface="Times New Roman" panose="02020603050405020304" pitchFamily="18" charset="0"/>
              <a:cs typeface="Times New Roman" panose="02020603050405020304" pitchFamily="18" charset="0"/>
            </a:endParaRPr>
          </a:p>
          <a:p>
            <a:pPr algn="ctr" fontAlgn="base">
              <a:spcBef>
                <a:spcPct val="0"/>
              </a:spcBef>
              <a:spcAft>
                <a:spcPct val="0"/>
              </a:spcAft>
              <a:buNone/>
            </a:pPr>
            <a:endParaRPr lang="en-US" altLang="en-US" sz="3000"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1295400" y="3048000"/>
            <a:ext cx="7848600" cy="400110"/>
          </a:xfrm>
          <a:prstGeom prst="rect">
            <a:avLst/>
          </a:prstGeom>
          <a:noFill/>
        </p:spPr>
        <p:txBody>
          <a:bodyPr>
            <a:spAutoFit/>
          </a:bodyPr>
          <a:lstStyle/>
          <a:p>
            <a:pPr fontAlgn="base">
              <a:spcBef>
                <a:spcPct val="0"/>
              </a:spcBef>
              <a:spcAft>
                <a:spcPct val="0"/>
              </a:spcAft>
              <a:defRPr/>
            </a:pPr>
            <a:r>
              <a:rPr lang="en-US" sz="2000" b="1" dirty="0">
                <a:latin typeface="Times New Roman" panose="02020603050405020304" pitchFamily="18" charset="0"/>
                <a:ea typeface="ＭＳ Ｐゴシック" charset="0"/>
                <a:cs typeface="Times New Roman" panose="02020603050405020304" pitchFamily="18" charset="0"/>
              </a:rPr>
              <a:t>  Modus Ponens (valid)</a:t>
            </a:r>
          </a:p>
        </p:txBody>
      </p:sp>
      <p:sp>
        <p:nvSpPr>
          <p:cNvPr id="13" name="TextBox 12"/>
          <p:cNvSpPr txBox="1"/>
          <p:nvPr/>
        </p:nvSpPr>
        <p:spPr>
          <a:xfrm>
            <a:off x="5943600" y="1600201"/>
            <a:ext cx="3962400" cy="707886"/>
          </a:xfrm>
          <a:prstGeom prst="rect">
            <a:avLst/>
          </a:prstGeom>
          <a:noFill/>
        </p:spPr>
        <p:txBody>
          <a:bodyPr>
            <a:spAutoFit/>
          </a:bodyPr>
          <a:lstStyle/>
          <a:p>
            <a:pPr fontAlgn="base">
              <a:spcBef>
                <a:spcPct val="0"/>
              </a:spcBef>
              <a:spcAft>
                <a:spcPct val="0"/>
              </a:spcAft>
              <a:defRPr/>
            </a:pPr>
            <a:r>
              <a:rPr lang="en-US" sz="2000" b="1" dirty="0">
                <a:solidFill>
                  <a:srgbClr val="62BCE9">
                    <a:lumMod val="75000"/>
                  </a:srgbClr>
                </a:solidFill>
                <a:latin typeface="Times New Roman" panose="02020603050405020304" pitchFamily="18" charset="0"/>
                <a:ea typeface="ＭＳ Ｐゴシック" charset="0"/>
                <a:cs typeface="Times New Roman" panose="02020603050405020304" pitchFamily="18" charset="0"/>
              </a:rPr>
              <a:t>  </a:t>
            </a:r>
            <a:r>
              <a:rPr lang="en-US" sz="2000" b="1" dirty="0">
                <a:solidFill>
                  <a:srgbClr val="FF0000"/>
                </a:solidFill>
                <a:latin typeface="Times New Roman" panose="02020603050405020304" pitchFamily="18" charset="0"/>
                <a:ea typeface="ＭＳ Ｐゴシック" charset="0"/>
                <a:cs typeface="Times New Roman" panose="02020603050405020304" pitchFamily="18" charset="0"/>
              </a:rPr>
              <a:t>Fallacy of Denying the Antecedent (invalid)</a:t>
            </a:r>
          </a:p>
        </p:txBody>
      </p:sp>
      <p:sp>
        <p:nvSpPr>
          <p:cNvPr id="2" name="TextBox 1">
            <a:extLst>
              <a:ext uri="{FF2B5EF4-FFF2-40B4-BE49-F238E27FC236}">
                <a16:creationId xmlns:a16="http://schemas.microsoft.com/office/drawing/2014/main" id="{719776AB-F03C-403A-81A2-5A26B4C9201A}"/>
              </a:ext>
            </a:extLst>
          </p:cNvPr>
          <p:cNvSpPr txBox="1"/>
          <p:nvPr/>
        </p:nvSpPr>
        <p:spPr>
          <a:xfrm>
            <a:off x="127000" y="1185058"/>
            <a:ext cx="406400" cy="369332"/>
          </a:xfrm>
          <a:prstGeom prst="rect">
            <a:avLst/>
          </a:prstGeom>
          <a:noFill/>
          <a:ln>
            <a:solidFill>
              <a:schemeClr val="tx1"/>
            </a:solidFill>
          </a:ln>
        </p:spPr>
        <p:txBody>
          <a:bodyPr wrap="square" rtlCol="0">
            <a:spAutoFit/>
          </a:bodyPr>
          <a:lstStyle/>
          <a:p>
            <a:pPr algn="ctr"/>
            <a:r>
              <a:rPr lang="en-SG" b="1" dirty="0"/>
              <a:t>1.</a:t>
            </a:r>
          </a:p>
        </p:txBody>
      </p:sp>
      <p:sp>
        <p:nvSpPr>
          <p:cNvPr id="15" name="TextBox 14">
            <a:extLst>
              <a:ext uri="{FF2B5EF4-FFF2-40B4-BE49-F238E27FC236}">
                <a16:creationId xmlns:a16="http://schemas.microsoft.com/office/drawing/2014/main" id="{4B52E4F0-A8FD-44D1-8F40-167E85A56C9C}"/>
              </a:ext>
            </a:extLst>
          </p:cNvPr>
          <p:cNvSpPr txBox="1"/>
          <p:nvPr/>
        </p:nvSpPr>
        <p:spPr>
          <a:xfrm>
            <a:off x="4509655" y="1184831"/>
            <a:ext cx="406400" cy="369332"/>
          </a:xfrm>
          <a:prstGeom prst="rect">
            <a:avLst/>
          </a:prstGeom>
          <a:noFill/>
          <a:ln>
            <a:solidFill>
              <a:schemeClr val="tx1"/>
            </a:solidFill>
          </a:ln>
        </p:spPr>
        <p:txBody>
          <a:bodyPr wrap="square" rtlCol="0">
            <a:spAutoFit/>
          </a:bodyPr>
          <a:lstStyle/>
          <a:p>
            <a:pPr algn="ctr"/>
            <a:r>
              <a:rPr lang="en-SG" b="1" dirty="0"/>
              <a:t>2.</a:t>
            </a:r>
          </a:p>
        </p:txBody>
      </p:sp>
      <p:grpSp>
        <p:nvGrpSpPr>
          <p:cNvPr id="4" name="Group 3">
            <a:extLst>
              <a:ext uri="{FF2B5EF4-FFF2-40B4-BE49-F238E27FC236}">
                <a16:creationId xmlns:a16="http://schemas.microsoft.com/office/drawing/2014/main" id="{D2DDFC5D-6021-4812-A146-19886564D4ED}"/>
              </a:ext>
            </a:extLst>
          </p:cNvPr>
          <p:cNvGrpSpPr/>
          <p:nvPr/>
        </p:nvGrpSpPr>
        <p:grpSpPr>
          <a:xfrm>
            <a:off x="133930" y="3956941"/>
            <a:ext cx="9358745" cy="3323987"/>
            <a:chOff x="6033655" y="3962401"/>
            <a:chExt cx="9358745" cy="3323987"/>
          </a:xfrm>
        </p:grpSpPr>
        <p:sp>
          <p:nvSpPr>
            <p:cNvPr id="34820" name="TextBox 4"/>
            <p:cNvSpPr txBox="1">
              <a:spLocks noChangeArrowheads="1"/>
            </p:cNvSpPr>
            <p:nvPr/>
          </p:nvSpPr>
          <p:spPr bwMode="auto">
            <a:xfrm>
              <a:off x="6477000" y="3962401"/>
              <a:ext cx="1905000"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fontAlgn="base">
                <a:spcBef>
                  <a:spcPct val="0"/>
                </a:spcBef>
                <a:spcAft>
                  <a:spcPct val="0"/>
                </a:spcAft>
                <a:buNone/>
              </a:pPr>
              <a:r>
                <a:rPr lang="en-US" altLang="en-US" sz="3000" dirty="0">
                  <a:latin typeface="Times New Roman" panose="02020603050405020304" pitchFamily="18" charset="0"/>
                  <a:cs typeface="Times New Roman" panose="02020603050405020304" pitchFamily="18" charset="0"/>
                </a:rPr>
                <a:t>If </a:t>
              </a:r>
              <a:r>
                <a:rPr lang="en-US" altLang="en-US" sz="3000" dirty="0">
                  <a:solidFill>
                    <a:srgbClr val="FF0000"/>
                  </a:solidFill>
                  <a:latin typeface="Times New Roman" panose="02020603050405020304" pitchFamily="18" charset="0"/>
                  <a:cs typeface="Times New Roman" panose="02020603050405020304" pitchFamily="18" charset="0"/>
                </a:rPr>
                <a:t>p</a:t>
              </a:r>
              <a:r>
                <a:rPr lang="en-US" altLang="en-US" sz="3000" dirty="0">
                  <a:latin typeface="Times New Roman" panose="02020603050405020304" pitchFamily="18" charset="0"/>
                  <a:cs typeface="Times New Roman" panose="02020603050405020304" pitchFamily="18" charset="0"/>
                </a:rPr>
                <a:t> then </a:t>
              </a:r>
              <a:r>
                <a:rPr lang="en-US" altLang="en-US" sz="3000" dirty="0">
                  <a:solidFill>
                    <a:srgbClr val="0070C0"/>
                  </a:solidFill>
                  <a:latin typeface="Times New Roman" panose="02020603050405020304" pitchFamily="18" charset="0"/>
                  <a:cs typeface="Times New Roman" panose="02020603050405020304" pitchFamily="18" charset="0"/>
                </a:rPr>
                <a:t>q</a:t>
              </a:r>
            </a:p>
            <a:p>
              <a:pPr fontAlgn="base">
                <a:spcBef>
                  <a:spcPct val="0"/>
                </a:spcBef>
                <a:spcAft>
                  <a:spcPct val="0"/>
                </a:spcAft>
                <a:buNone/>
              </a:pPr>
              <a:r>
                <a:rPr lang="en-US" altLang="en-US" sz="3000" dirty="0">
                  <a:latin typeface="Times New Roman" panose="02020603050405020304" pitchFamily="18" charset="0"/>
                  <a:cs typeface="Times New Roman" panose="02020603050405020304" pitchFamily="18" charset="0"/>
                </a:rPr>
                <a:t>Not </a:t>
              </a:r>
              <a:r>
                <a:rPr lang="en-US" altLang="en-US" sz="3000" dirty="0">
                  <a:solidFill>
                    <a:srgbClr val="0070C0"/>
                  </a:solidFill>
                  <a:latin typeface="Times New Roman" panose="02020603050405020304" pitchFamily="18" charset="0"/>
                  <a:cs typeface="Times New Roman" panose="02020603050405020304" pitchFamily="18" charset="0"/>
                </a:rPr>
                <a:t>q</a:t>
              </a:r>
            </a:p>
            <a:p>
              <a:pPr fontAlgn="base">
                <a:spcBef>
                  <a:spcPct val="0"/>
                </a:spcBef>
                <a:spcAft>
                  <a:spcPct val="0"/>
                </a:spcAft>
                <a:buNone/>
              </a:pPr>
              <a:r>
                <a:rPr lang="en-US" altLang="en-US" sz="3000" dirty="0">
                  <a:latin typeface="Times New Roman" panose="02020603050405020304" pitchFamily="18" charset="0"/>
                  <a:cs typeface="Times New Roman" panose="02020603050405020304" pitchFamily="18" charset="0"/>
                </a:rPr>
                <a:t>________</a:t>
              </a:r>
            </a:p>
            <a:p>
              <a:pPr fontAlgn="base">
                <a:spcBef>
                  <a:spcPct val="0"/>
                </a:spcBef>
                <a:spcAft>
                  <a:spcPct val="0"/>
                </a:spcAft>
                <a:buNone/>
              </a:pPr>
              <a:endParaRPr lang="en-US" altLang="en-US" sz="3000" dirty="0">
                <a:latin typeface="Times New Roman" panose="02020603050405020304" pitchFamily="18" charset="0"/>
                <a:cs typeface="Times New Roman" panose="02020603050405020304" pitchFamily="18" charset="0"/>
              </a:endParaRPr>
            </a:p>
            <a:p>
              <a:pPr fontAlgn="base">
                <a:spcBef>
                  <a:spcPct val="0"/>
                </a:spcBef>
                <a:spcAft>
                  <a:spcPct val="0"/>
                </a:spcAft>
                <a:buNone/>
              </a:pPr>
              <a:r>
                <a:rPr lang="en-US" altLang="en-US" sz="2800"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3000" dirty="0">
                  <a:latin typeface="Times New Roman" panose="02020603050405020304" pitchFamily="18" charset="0"/>
                  <a:cs typeface="Times New Roman" panose="02020603050405020304" pitchFamily="18" charset="0"/>
                  <a:sym typeface="Symbol" panose="05050102010706020507" pitchFamily="18" charset="2"/>
                </a:rPr>
                <a:t>Not </a:t>
              </a:r>
              <a:r>
                <a:rPr lang="en-US" altLang="en-US" sz="3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p</a:t>
              </a:r>
              <a:endParaRPr lang="en-US" altLang="en-US" sz="3000" dirty="0">
                <a:solidFill>
                  <a:srgbClr val="FF0000"/>
                </a:solidFill>
                <a:latin typeface="Times New Roman" panose="02020603050405020304" pitchFamily="18" charset="0"/>
                <a:cs typeface="Times New Roman" panose="02020603050405020304" pitchFamily="18" charset="0"/>
              </a:endParaRPr>
            </a:p>
            <a:p>
              <a:pPr fontAlgn="base">
                <a:spcBef>
                  <a:spcPct val="0"/>
                </a:spcBef>
                <a:spcAft>
                  <a:spcPct val="0"/>
                </a:spcAft>
                <a:buNone/>
              </a:pPr>
              <a:endParaRPr lang="en-US" altLang="en-US" sz="3000" dirty="0">
                <a:latin typeface="Times New Roman" panose="02020603050405020304" pitchFamily="18" charset="0"/>
                <a:cs typeface="Times New Roman" panose="02020603050405020304" pitchFamily="18" charset="0"/>
              </a:endParaRPr>
            </a:p>
            <a:p>
              <a:pPr algn="ctr" fontAlgn="base">
                <a:spcBef>
                  <a:spcPct val="0"/>
                </a:spcBef>
                <a:spcAft>
                  <a:spcPct val="0"/>
                </a:spcAft>
                <a:buNone/>
              </a:pPr>
              <a:endParaRPr lang="en-US" altLang="en-US" sz="3000"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7543800" y="5562600"/>
              <a:ext cx="7848600" cy="400110"/>
            </a:xfrm>
            <a:prstGeom prst="rect">
              <a:avLst/>
            </a:prstGeom>
            <a:noFill/>
          </p:spPr>
          <p:txBody>
            <a:bodyPr>
              <a:spAutoFit/>
            </a:bodyPr>
            <a:lstStyle/>
            <a:p>
              <a:pPr fontAlgn="base">
                <a:spcBef>
                  <a:spcPct val="0"/>
                </a:spcBef>
                <a:spcAft>
                  <a:spcPct val="0"/>
                </a:spcAft>
                <a:defRPr/>
              </a:pPr>
              <a:r>
                <a:rPr lang="en-US" sz="2000" b="1" dirty="0">
                  <a:latin typeface="Times New Roman" panose="02020603050405020304" pitchFamily="18" charset="0"/>
                  <a:ea typeface="ＭＳ Ｐゴシック" charset="0"/>
                  <a:cs typeface="Times New Roman" panose="02020603050405020304" pitchFamily="18" charset="0"/>
                </a:rPr>
                <a:t>  Modus </a:t>
              </a:r>
              <a:r>
                <a:rPr lang="en-US" sz="2000" b="1" dirty="0" err="1">
                  <a:latin typeface="Times New Roman" panose="02020603050405020304" pitchFamily="18" charset="0"/>
                  <a:ea typeface="ＭＳ Ｐゴシック" charset="0"/>
                  <a:cs typeface="Times New Roman" panose="02020603050405020304" pitchFamily="18" charset="0"/>
                </a:rPr>
                <a:t>Tollens</a:t>
              </a:r>
              <a:r>
                <a:rPr lang="en-US" sz="2000" b="1" dirty="0">
                  <a:latin typeface="Times New Roman" panose="02020603050405020304" pitchFamily="18" charset="0"/>
                  <a:ea typeface="ＭＳ Ｐゴシック" charset="0"/>
                  <a:cs typeface="Times New Roman" panose="02020603050405020304" pitchFamily="18" charset="0"/>
                </a:rPr>
                <a:t> (valid)</a:t>
              </a:r>
            </a:p>
          </p:txBody>
        </p:sp>
        <p:sp>
          <p:nvSpPr>
            <p:cNvPr id="16" name="TextBox 15">
              <a:extLst>
                <a:ext uri="{FF2B5EF4-FFF2-40B4-BE49-F238E27FC236}">
                  <a16:creationId xmlns:a16="http://schemas.microsoft.com/office/drawing/2014/main" id="{1311011F-CDA1-4870-B01B-55C6A90832EF}"/>
                </a:ext>
              </a:extLst>
            </p:cNvPr>
            <p:cNvSpPr txBox="1"/>
            <p:nvPr/>
          </p:nvSpPr>
          <p:spPr>
            <a:xfrm>
              <a:off x="6033655" y="4130160"/>
              <a:ext cx="406400" cy="369332"/>
            </a:xfrm>
            <a:prstGeom prst="rect">
              <a:avLst/>
            </a:prstGeom>
            <a:noFill/>
            <a:ln>
              <a:solidFill>
                <a:schemeClr val="tx1"/>
              </a:solidFill>
            </a:ln>
          </p:spPr>
          <p:txBody>
            <a:bodyPr wrap="square" rtlCol="0">
              <a:spAutoFit/>
            </a:bodyPr>
            <a:lstStyle/>
            <a:p>
              <a:pPr algn="ctr"/>
              <a:r>
                <a:rPr lang="en-SG" b="1" dirty="0">
                  <a:latin typeface="Times New Roman" panose="02020603050405020304" pitchFamily="18" charset="0"/>
                  <a:cs typeface="Times New Roman" panose="02020603050405020304" pitchFamily="18" charset="0"/>
                </a:rPr>
                <a:t>3.</a:t>
              </a:r>
            </a:p>
          </p:txBody>
        </p:sp>
      </p:grpSp>
      <p:grpSp>
        <p:nvGrpSpPr>
          <p:cNvPr id="3" name="Group 2">
            <a:extLst>
              <a:ext uri="{FF2B5EF4-FFF2-40B4-BE49-F238E27FC236}">
                <a16:creationId xmlns:a16="http://schemas.microsoft.com/office/drawing/2014/main" id="{2DDA028B-B48D-44EF-8446-3B1D62E67692}"/>
              </a:ext>
            </a:extLst>
          </p:cNvPr>
          <p:cNvGrpSpPr/>
          <p:nvPr/>
        </p:nvGrpSpPr>
        <p:grpSpPr>
          <a:xfrm>
            <a:off x="4437280" y="4014953"/>
            <a:ext cx="5054600" cy="3323987"/>
            <a:chOff x="1651000" y="3962401"/>
            <a:chExt cx="5054600" cy="3323987"/>
          </a:xfrm>
        </p:grpSpPr>
        <p:sp>
          <p:nvSpPr>
            <p:cNvPr id="34823" name="TextBox 4"/>
            <p:cNvSpPr txBox="1">
              <a:spLocks noChangeArrowheads="1"/>
            </p:cNvSpPr>
            <p:nvPr/>
          </p:nvSpPr>
          <p:spPr bwMode="auto">
            <a:xfrm>
              <a:off x="2057400" y="3962401"/>
              <a:ext cx="1905000"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fontAlgn="base">
                <a:spcBef>
                  <a:spcPct val="0"/>
                </a:spcBef>
                <a:spcAft>
                  <a:spcPct val="0"/>
                </a:spcAft>
                <a:buNone/>
              </a:pPr>
              <a:r>
                <a:rPr lang="en-US" altLang="en-US" sz="3000" dirty="0">
                  <a:latin typeface="Times New Roman" panose="02020603050405020304" pitchFamily="18" charset="0"/>
                  <a:cs typeface="Times New Roman" panose="02020603050405020304" pitchFamily="18" charset="0"/>
                </a:rPr>
                <a:t>If </a:t>
              </a:r>
              <a:r>
                <a:rPr lang="en-US" altLang="en-US" sz="3000" dirty="0">
                  <a:solidFill>
                    <a:srgbClr val="FF0000"/>
                  </a:solidFill>
                  <a:latin typeface="Times New Roman" panose="02020603050405020304" pitchFamily="18" charset="0"/>
                  <a:cs typeface="Times New Roman" panose="02020603050405020304" pitchFamily="18" charset="0"/>
                </a:rPr>
                <a:t>p</a:t>
              </a:r>
              <a:r>
                <a:rPr lang="en-US" altLang="en-US" sz="3000" dirty="0">
                  <a:latin typeface="Times New Roman" panose="02020603050405020304" pitchFamily="18" charset="0"/>
                  <a:cs typeface="Times New Roman" panose="02020603050405020304" pitchFamily="18" charset="0"/>
                </a:rPr>
                <a:t> then </a:t>
              </a:r>
              <a:r>
                <a:rPr lang="en-US" altLang="en-US" sz="3000" dirty="0">
                  <a:solidFill>
                    <a:srgbClr val="0070C0"/>
                  </a:solidFill>
                  <a:latin typeface="Times New Roman" panose="02020603050405020304" pitchFamily="18" charset="0"/>
                  <a:cs typeface="Times New Roman" panose="02020603050405020304" pitchFamily="18" charset="0"/>
                </a:rPr>
                <a:t>q</a:t>
              </a:r>
            </a:p>
            <a:p>
              <a:pPr fontAlgn="base">
                <a:spcBef>
                  <a:spcPct val="0"/>
                </a:spcBef>
                <a:spcAft>
                  <a:spcPct val="0"/>
                </a:spcAft>
                <a:buNone/>
              </a:pPr>
              <a:r>
                <a:rPr lang="en-US" altLang="en-US" sz="3000" dirty="0">
                  <a:solidFill>
                    <a:srgbClr val="0070C0"/>
                  </a:solidFill>
                  <a:latin typeface="Times New Roman" panose="02020603050405020304" pitchFamily="18" charset="0"/>
                  <a:cs typeface="Times New Roman" panose="02020603050405020304" pitchFamily="18" charset="0"/>
                </a:rPr>
                <a:t>q</a:t>
              </a:r>
            </a:p>
            <a:p>
              <a:pPr fontAlgn="base">
                <a:spcBef>
                  <a:spcPct val="0"/>
                </a:spcBef>
                <a:spcAft>
                  <a:spcPct val="0"/>
                </a:spcAft>
                <a:buNone/>
              </a:pPr>
              <a:r>
                <a:rPr lang="en-US" altLang="en-US" sz="3000" dirty="0">
                  <a:latin typeface="Times New Roman" panose="02020603050405020304" pitchFamily="18" charset="0"/>
                  <a:cs typeface="Times New Roman" panose="02020603050405020304" pitchFamily="18" charset="0"/>
                </a:rPr>
                <a:t>________</a:t>
              </a:r>
            </a:p>
            <a:p>
              <a:pPr fontAlgn="base">
                <a:spcBef>
                  <a:spcPct val="0"/>
                </a:spcBef>
                <a:spcAft>
                  <a:spcPct val="0"/>
                </a:spcAft>
                <a:buNone/>
              </a:pPr>
              <a:endParaRPr lang="en-US" altLang="en-US" sz="3000" dirty="0">
                <a:latin typeface="Times New Roman" panose="02020603050405020304" pitchFamily="18" charset="0"/>
                <a:cs typeface="Times New Roman" panose="02020603050405020304" pitchFamily="18" charset="0"/>
              </a:endParaRPr>
            </a:p>
            <a:p>
              <a:pPr fontAlgn="base">
                <a:spcBef>
                  <a:spcPct val="0"/>
                </a:spcBef>
                <a:spcAft>
                  <a:spcPct val="0"/>
                </a:spcAft>
                <a:buNone/>
              </a:pPr>
              <a:r>
                <a:rPr lang="en-US" altLang="en-US"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en-US" sz="3000"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3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p</a:t>
              </a:r>
              <a:endParaRPr lang="en-US" altLang="en-US" sz="3000" dirty="0">
                <a:solidFill>
                  <a:srgbClr val="FF0000"/>
                </a:solidFill>
                <a:latin typeface="Times New Roman" panose="02020603050405020304" pitchFamily="18" charset="0"/>
                <a:cs typeface="Times New Roman" panose="02020603050405020304" pitchFamily="18" charset="0"/>
              </a:endParaRPr>
            </a:p>
            <a:p>
              <a:pPr fontAlgn="base">
                <a:spcBef>
                  <a:spcPct val="0"/>
                </a:spcBef>
                <a:spcAft>
                  <a:spcPct val="0"/>
                </a:spcAft>
                <a:buNone/>
              </a:pPr>
              <a:endParaRPr lang="en-US" altLang="en-US" sz="3000" dirty="0">
                <a:latin typeface="Times New Roman" panose="02020603050405020304" pitchFamily="18" charset="0"/>
                <a:cs typeface="Times New Roman" panose="02020603050405020304" pitchFamily="18" charset="0"/>
              </a:endParaRPr>
            </a:p>
            <a:p>
              <a:pPr algn="ctr" fontAlgn="base">
                <a:spcBef>
                  <a:spcPct val="0"/>
                </a:spcBef>
                <a:spcAft>
                  <a:spcPct val="0"/>
                </a:spcAft>
                <a:buNone/>
              </a:pPr>
              <a:endParaRPr lang="en-US" altLang="en-US" sz="3000" dirty="0">
                <a:latin typeface="Times New Roman" panose="02020603050405020304" pitchFamily="18" charset="0"/>
                <a:cs typeface="Times New Roman" panose="02020603050405020304" pitchFamily="18" charset="0"/>
              </a:endParaRPr>
            </a:p>
          </p:txBody>
        </p:sp>
        <p:sp>
          <p:nvSpPr>
            <p:cNvPr id="14" name="TextBox 13"/>
            <p:cNvSpPr txBox="1"/>
            <p:nvPr/>
          </p:nvSpPr>
          <p:spPr>
            <a:xfrm>
              <a:off x="2743200" y="4572001"/>
              <a:ext cx="3962400" cy="707886"/>
            </a:xfrm>
            <a:prstGeom prst="rect">
              <a:avLst/>
            </a:prstGeom>
            <a:noFill/>
          </p:spPr>
          <p:txBody>
            <a:bodyPr>
              <a:spAutoFit/>
            </a:bodyPr>
            <a:lstStyle/>
            <a:p>
              <a:pPr fontAlgn="base">
                <a:spcBef>
                  <a:spcPct val="0"/>
                </a:spcBef>
                <a:spcAft>
                  <a:spcPct val="0"/>
                </a:spcAft>
                <a:defRPr/>
              </a:pPr>
              <a:r>
                <a:rPr lang="en-US" sz="2000" b="1" dirty="0">
                  <a:solidFill>
                    <a:srgbClr val="FF0000"/>
                  </a:solidFill>
                  <a:latin typeface="Times New Roman" panose="02020603050405020304" pitchFamily="18" charset="0"/>
                  <a:ea typeface="ＭＳ Ｐゴシック" charset="0"/>
                  <a:cs typeface="Times New Roman" panose="02020603050405020304" pitchFamily="18" charset="0"/>
                </a:rPr>
                <a:t>  Fallacy of Affirming the Consequent (invalid)</a:t>
              </a:r>
            </a:p>
          </p:txBody>
        </p:sp>
        <p:sp>
          <p:nvSpPr>
            <p:cNvPr id="17" name="TextBox 16">
              <a:extLst>
                <a:ext uri="{FF2B5EF4-FFF2-40B4-BE49-F238E27FC236}">
                  <a16:creationId xmlns:a16="http://schemas.microsoft.com/office/drawing/2014/main" id="{324E6C25-A7E8-4D00-BD53-2B397ECA6043}"/>
                </a:ext>
              </a:extLst>
            </p:cNvPr>
            <p:cNvSpPr txBox="1"/>
            <p:nvPr/>
          </p:nvSpPr>
          <p:spPr>
            <a:xfrm>
              <a:off x="1651000" y="4179826"/>
              <a:ext cx="406400" cy="369332"/>
            </a:xfrm>
            <a:prstGeom prst="rect">
              <a:avLst/>
            </a:prstGeom>
            <a:noFill/>
            <a:ln>
              <a:solidFill>
                <a:schemeClr val="tx1"/>
              </a:solidFill>
            </a:ln>
          </p:spPr>
          <p:txBody>
            <a:bodyPr wrap="square" rtlCol="0">
              <a:spAutoFit/>
            </a:bodyPr>
            <a:lstStyle/>
            <a:p>
              <a:pPr algn="ctr"/>
              <a:r>
                <a:rPr lang="en-SG" b="1" dirty="0">
                  <a:latin typeface="Times New Roman" panose="02020603050405020304" pitchFamily="18" charset="0"/>
                  <a:cs typeface="Times New Roman" panose="02020603050405020304" pitchFamily="18" charset="0"/>
                </a:rPr>
                <a:t>4.</a:t>
              </a:r>
            </a:p>
          </p:txBody>
        </p:sp>
      </p:grpSp>
    </p:spTree>
    <p:extLst>
      <p:ext uri="{BB962C8B-B14F-4D97-AF65-F5344CB8AC3E}">
        <p14:creationId xmlns:p14="http://schemas.microsoft.com/office/powerpoint/2010/main" val="3301405439"/>
      </p:ext>
    </p:extLst>
  </p:cSld>
  <p:clrMapOvr>
    <a:masterClrMapping/>
  </p:clrMapOvr>
  <mc:AlternateContent xmlns:mc="http://schemas.openxmlformats.org/markup-compatibility/2006" xmlns:p14="http://schemas.microsoft.com/office/powerpoint/2010/main">
    <mc:Choice Requires="p14">
      <p:transition spd="slow" p14:dur="2000" advTm="6267"/>
    </mc:Choice>
    <mc:Fallback xmlns="">
      <p:transition spd="slow" advTm="6267"/>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Image result for calvin hobbes santa secrecy">
            <a:extLst>
              <a:ext uri="{FF2B5EF4-FFF2-40B4-BE49-F238E27FC236}">
                <a16:creationId xmlns:a16="http://schemas.microsoft.com/office/drawing/2014/main" id="{E3B6E43E-1EF4-45E4-B1A5-516D0E179B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5790" y="811531"/>
            <a:ext cx="8412480" cy="5772150"/>
          </a:xfrm>
          <a:prstGeom prst="rect">
            <a:avLst/>
          </a:prstGeom>
          <a:noFill/>
          <a:extLst>
            <a:ext uri="{909E8E84-426E-40DD-AFC4-6F175D3DCCD1}">
              <a14:hiddenFill xmlns:a14="http://schemas.microsoft.com/office/drawing/2010/main">
                <a:solidFill>
                  <a:srgbClr val="FFFFFF"/>
                </a:solidFill>
              </a14:hiddenFill>
            </a:ext>
          </a:extLst>
        </p:spPr>
      </p:pic>
      <p:sp>
        <p:nvSpPr>
          <p:cNvPr id="6" name="Snip and Round Single Corner Rectangle 6">
            <a:extLst>
              <a:ext uri="{FF2B5EF4-FFF2-40B4-BE49-F238E27FC236}">
                <a16:creationId xmlns:a16="http://schemas.microsoft.com/office/drawing/2014/main" id="{20D1C6C2-36F6-4883-93ED-7FADA8FDC3EF}"/>
              </a:ext>
            </a:extLst>
          </p:cNvPr>
          <p:cNvSpPr/>
          <p:nvPr/>
        </p:nvSpPr>
        <p:spPr>
          <a:xfrm>
            <a:off x="0" y="95254"/>
            <a:ext cx="8712200" cy="860425"/>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marL="609600" indent="-609600">
              <a:defRPr sz="2400">
                <a:solidFill>
                  <a:schemeClr val="hlink"/>
                </a:solidFill>
                <a:latin typeface="Times New Roman" pitchFamily="18" charset="0"/>
                <a:ea typeface="MS PGothic" pitchFamily="34" charset="-128"/>
              </a:defRPr>
            </a:lvl1pPr>
            <a:lvl2pPr marL="742950" indent="-285750">
              <a:defRPr sz="2400">
                <a:solidFill>
                  <a:schemeClr val="hlink"/>
                </a:solidFill>
                <a:latin typeface="Times New Roman" pitchFamily="18" charset="0"/>
                <a:ea typeface="MS PGothic" pitchFamily="34" charset="-128"/>
              </a:defRPr>
            </a:lvl2pPr>
            <a:lvl3pPr marL="1143000" indent="-228600">
              <a:defRPr sz="2400">
                <a:solidFill>
                  <a:schemeClr val="hlink"/>
                </a:solidFill>
                <a:latin typeface="Times New Roman" pitchFamily="18" charset="0"/>
                <a:ea typeface="MS PGothic" pitchFamily="34" charset="-128"/>
              </a:defRPr>
            </a:lvl3pPr>
            <a:lvl4pPr marL="1600200" indent="-228600">
              <a:defRPr sz="2400">
                <a:solidFill>
                  <a:schemeClr val="hlink"/>
                </a:solidFill>
                <a:latin typeface="Times New Roman" pitchFamily="18" charset="0"/>
                <a:ea typeface="MS PGothic" pitchFamily="34" charset="-128"/>
              </a:defRPr>
            </a:lvl4pPr>
            <a:lvl5pPr marL="2057400" indent="-228600">
              <a:defRPr sz="2400">
                <a:solidFill>
                  <a:schemeClr val="hlink"/>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hlink"/>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hlink"/>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hlink"/>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hlink"/>
                </a:solidFill>
                <a:latin typeface="Times New Roman" pitchFamily="18" charset="0"/>
                <a:ea typeface="MS PGothic" pitchFamily="34" charset="-128"/>
              </a:defRPr>
            </a:lvl9pPr>
          </a:lstStyle>
          <a:p>
            <a:pPr eaLnBrk="0" fontAlgn="base" hangingPunct="0">
              <a:spcBef>
                <a:spcPct val="20000"/>
              </a:spcBef>
              <a:spcAft>
                <a:spcPct val="0"/>
              </a:spcAft>
              <a:defRPr/>
            </a:pPr>
            <a:r>
              <a:rPr lang="en-US" altLang="en-US" sz="3200" b="1" dirty="0">
                <a:solidFill>
                  <a:srgbClr val="FFFFFF"/>
                </a:solidFill>
                <a:cs typeface="Times New Roman" panose="02020603050405020304" pitchFamily="18" charset="0"/>
              </a:rPr>
              <a:t>Using Propositional Forms: Activity</a:t>
            </a:r>
            <a:endParaRPr lang="en-US" altLang="en-US" sz="3200" b="1" i="1" dirty="0">
              <a:solidFill>
                <a:srgbClr val="FF0000"/>
              </a:solidFill>
              <a:cs typeface="Times New Roman" panose="02020603050405020304" pitchFamily="18" charset="0"/>
            </a:endParaRPr>
          </a:p>
        </p:txBody>
      </p:sp>
      <p:sp>
        <p:nvSpPr>
          <p:cNvPr id="9" name="Snip and Round Single Corner Rectangle 7">
            <a:extLst>
              <a:ext uri="{FF2B5EF4-FFF2-40B4-BE49-F238E27FC236}">
                <a16:creationId xmlns:a16="http://schemas.microsoft.com/office/drawing/2014/main" id="{8CCABB2B-DF10-4AD8-9DD7-9446F5BACD9B}"/>
              </a:ext>
            </a:extLst>
          </p:cNvPr>
          <p:cNvSpPr/>
          <p:nvPr/>
        </p:nvSpPr>
        <p:spPr>
          <a:xfrm>
            <a:off x="3" y="6477001"/>
            <a:ext cx="8863013" cy="323851"/>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a:spcBef>
                <a:spcPct val="20000"/>
              </a:spcBef>
              <a:buFont typeface="Arial" panose="020B0604020202020204" pitchFamily="34" charset="0"/>
              <a:buChar char="•"/>
              <a:tabLst>
                <a:tab pos="4389438" algn="l"/>
              </a:tabLst>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tabLst>
                <a:tab pos="4389438" algn="l"/>
              </a:tabLst>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tabLst>
                <a:tab pos="4389438" algn="l"/>
              </a:tabLst>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9pPr>
          </a:lstStyle>
          <a:p>
            <a:pPr algn="r" fontAlgn="base">
              <a:spcBef>
                <a:spcPct val="0"/>
              </a:spcBef>
              <a:spcAft>
                <a:spcPct val="0"/>
              </a:spcAft>
              <a:buNone/>
              <a:defRPr/>
            </a:pPr>
            <a:fld id="{7639D2BA-029A-46DC-8BC4-CCF926FFE750}" type="slidenum">
              <a:rPr lang="en-US" altLang="en-US" sz="1300">
                <a:solidFill>
                  <a:srgbClr val="FFFFFF"/>
                </a:solidFill>
                <a:latin typeface="Gill Sans MT" panose="020B0502020104020203" pitchFamily="34" charset="0"/>
              </a:rPr>
              <a:pPr algn="r" fontAlgn="base">
                <a:spcBef>
                  <a:spcPct val="0"/>
                </a:spcBef>
                <a:spcAft>
                  <a:spcPct val="0"/>
                </a:spcAft>
                <a:buNone/>
                <a:defRPr/>
              </a:pPr>
              <a:t>19</a:t>
            </a:fld>
            <a:endParaRPr lang="en-US" altLang="en-US" sz="1300">
              <a:solidFill>
                <a:srgbClr val="FFFFFF"/>
              </a:solidFill>
              <a:latin typeface="Gill Sans MT" panose="020B0502020104020203" pitchFamily="34" charset="0"/>
            </a:endParaRPr>
          </a:p>
        </p:txBody>
      </p:sp>
    </p:spTree>
    <p:extLst>
      <p:ext uri="{BB962C8B-B14F-4D97-AF65-F5344CB8AC3E}">
        <p14:creationId xmlns:p14="http://schemas.microsoft.com/office/powerpoint/2010/main" val="19738624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nip and Round Single Corner Rectangle 6">
            <a:extLst>
              <a:ext uri="{FF2B5EF4-FFF2-40B4-BE49-F238E27FC236}">
                <a16:creationId xmlns:a16="http://schemas.microsoft.com/office/drawing/2014/main" id="{20D1C6C2-36F6-4883-93ED-7FADA8FDC3EF}"/>
              </a:ext>
            </a:extLst>
          </p:cNvPr>
          <p:cNvSpPr/>
          <p:nvPr/>
        </p:nvSpPr>
        <p:spPr>
          <a:xfrm>
            <a:off x="0" y="95254"/>
            <a:ext cx="8712200" cy="860425"/>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marL="609600" indent="-609600">
              <a:defRPr sz="2400">
                <a:solidFill>
                  <a:schemeClr val="hlink"/>
                </a:solidFill>
                <a:latin typeface="Times New Roman" pitchFamily="18" charset="0"/>
                <a:ea typeface="MS PGothic" pitchFamily="34" charset="-128"/>
              </a:defRPr>
            </a:lvl1pPr>
            <a:lvl2pPr marL="742950" indent="-285750">
              <a:defRPr sz="2400">
                <a:solidFill>
                  <a:schemeClr val="hlink"/>
                </a:solidFill>
                <a:latin typeface="Times New Roman" pitchFamily="18" charset="0"/>
                <a:ea typeface="MS PGothic" pitchFamily="34" charset="-128"/>
              </a:defRPr>
            </a:lvl2pPr>
            <a:lvl3pPr marL="1143000" indent="-228600">
              <a:defRPr sz="2400">
                <a:solidFill>
                  <a:schemeClr val="hlink"/>
                </a:solidFill>
                <a:latin typeface="Times New Roman" pitchFamily="18" charset="0"/>
                <a:ea typeface="MS PGothic" pitchFamily="34" charset="-128"/>
              </a:defRPr>
            </a:lvl3pPr>
            <a:lvl4pPr marL="1600200" indent="-228600">
              <a:defRPr sz="2400">
                <a:solidFill>
                  <a:schemeClr val="hlink"/>
                </a:solidFill>
                <a:latin typeface="Times New Roman" pitchFamily="18" charset="0"/>
                <a:ea typeface="MS PGothic" pitchFamily="34" charset="-128"/>
              </a:defRPr>
            </a:lvl4pPr>
            <a:lvl5pPr marL="2057400" indent="-228600">
              <a:defRPr sz="2400">
                <a:solidFill>
                  <a:schemeClr val="hlink"/>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hlink"/>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hlink"/>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hlink"/>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hlink"/>
                </a:solidFill>
                <a:latin typeface="Times New Roman" pitchFamily="18" charset="0"/>
                <a:ea typeface="MS PGothic" pitchFamily="34" charset="-128"/>
              </a:defRPr>
            </a:lvl9pPr>
          </a:lstStyle>
          <a:p>
            <a:pPr eaLnBrk="0" fontAlgn="base" hangingPunct="0">
              <a:spcBef>
                <a:spcPct val="20000"/>
              </a:spcBef>
              <a:spcAft>
                <a:spcPct val="0"/>
              </a:spcAft>
              <a:defRPr/>
            </a:pPr>
            <a:r>
              <a:rPr lang="en-US" altLang="en-US" sz="3200" b="1" dirty="0">
                <a:solidFill>
                  <a:srgbClr val="FFFFFF"/>
                </a:solidFill>
                <a:cs typeface="Times New Roman" panose="02020603050405020304" pitchFamily="18" charset="0"/>
              </a:rPr>
              <a:t>Calvin’s Argument</a:t>
            </a:r>
          </a:p>
        </p:txBody>
      </p:sp>
      <p:sp>
        <p:nvSpPr>
          <p:cNvPr id="9" name="Snip and Round Single Corner Rectangle 7">
            <a:extLst>
              <a:ext uri="{FF2B5EF4-FFF2-40B4-BE49-F238E27FC236}">
                <a16:creationId xmlns:a16="http://schemas.microsoft.com/office/drawing/2014/main" id="{8CCABB2B-DF10-4AD8-9DD7-9446F5BACD9B}"/>
              </a:ext>
            </a:extLst>
          </p:cNvPr>
          <p:cNvSpPr/>
          <p:nvPr/>
        </p:nvSpPr>
        <p:spPr>
          <a:xfrm>
            <a:off x="3" y="6477001"/>
            <a:ext cx="8863013" cy="323851"/>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a:spcBef>
                <a:spcPct val="20000"/>
              </a:spcBef>
              <a:buFont typeface="Arial" panose="020B0604020202020204" pitchFamily="34" charset="0"/>
              <a:buChar char="•"/>
              <a:tabLst>
                <a:tab pos="4389438" algn="l"/>
              </a:tabLst>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tabLst>
                <a:tab pos="4389438" algn="l"/>
              </a:tabLst>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tabLst>
                <a:tab pos="4389438" algn="l"/>
              </a:tabLst>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9pPr>
          </a:lstStyle>
          <a:p>
            <a:pPr algn="r" fontAlgn="base">
              <a:spcBef>
                <a:spcPct val="0"/>
              </a:spcBef>
              <a:spcAft>
                <a:spcPct val="0"/>
              </a:spcAft>
              <a:buNone/>
              <a:defRPr/>
            </a:pPr>
            <a:fld id="{7639D2BA-029A-46DC-8BC4-CCF926FFE750}" type="slidenum">
              <a:rPr lang="en-US" altLang="en-US" sz="1300">
                <a:solidFill>
                  <a:srgbClr val="FFFFFF"/>
                </a:solidFill>
                <a:latin typeface="Gill Sans MT" panose="020B0502020104020203" pitchFamily="34" charset="0"/>
              </a:rPr>
              <a:pPr algn="r" fontAlgn="base">
                <a:spcBef>
                  <a:spcPct val="0"/>
                </a:spcBef>
                <a:spcAft>
                  <a:spcPct val="0"/>
                </a:spcAft>
                <a:buNone/>
                <a:defRPr/>
              </a:pPr>
              <a:t>20</a:t>
            </a:fld>
            <a:endParaRPr lang="en-US" altLang="en-US" sz="1300">
              <a:solidFill>
                <a:srgbClr val="FFFFFF"/>
              </a:solidFill>
              <a:latin typeface="Gill Sans MT" panose="020B0502020104020203" pitchFamily="34" charset="0"/>
            </a:endParaRPr>
          </a:p>
        </p:txBody>
      </p:sp>
      <p:grpSp>
        <p:nvGrpSpPr>
          <p:cNvPr id="23" name="Group 22">
            <a:extLst>
              <a:ext uri="{FF2B5EF4-FFF2-40B4-BE49-F238E27FC236}">
                <a16:creationId xmlns:a16="http://schemas.microsoft.com/office/drawing/2014/main" id="{776D69CD-CE5B-B28C-7A4B-22CA3B99C315}"/>
              </a:ext>
            </a:extLst>
          </p:cNvPr>
          <p:cNvGrpSpPr/>
          <p:nvPr/>
        </p:nvGrpSpPr>
        <p:grpSpPr>
          <a:xfrm>
            <a:off x="159959" y="1863852"/>
            <a:ext cx="8392281" cy="3454348"/>
            <a:chOff x="336081" y="2220112"/>
            <a:chExt cx="8392281" cy="3454348"/>
          </a:xfrm>
        </p:grpSpPr>
        <p:sp>
          <p:nvSpPr>
            <p:cNvPr id="4" name="TextBox 9">
              <a:extLst>
                <a:ext uri="{FF2B5EF4-FFF2-40B4-BE49-F238E27FC236}">
                  <a16:creationId xmlns:a16="http://schemas.microsoft.com/office/drawing/2014/main" id="{10A27534-1B30-E261-5AD3-3C733055110A}"/>
                </a:ext>
              </a:extLst>
            </p:cNvPr>
            <p:cNvSpPr txBox="1">
              <a:spLocks noChangeArrowheads="1"/>
            </p:cNvSpPr>
            <p:nvPr/>
          </p:nvSpPr>
          <p:spPr bwMode="auto">
            <a:xfrm>
              <a:off x="336081" y="3372387"/>
              <a:ext cx="319810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lgn="ctr" eaLnBrk="1" hangingPunct="1">
                <a:spcBef>
                  <a:spcPct val="0"/>
                </a:spcBef>
                <a:buFontTx/>
                <a:buNone/>
              </a:pPr>
              <a:r>
                <a:rPr lang="en-US" altLang="en-US" sz="2400" dirty="0">
                  <a:latin typeface="Times New Roman" panose="02020603050405020304" pitchFamily="18" charset="0"/>
                  <a:cs typeface="Times New Roman" panose="02020603050405020304" pitchFamily="18" charset="0"/>
                </a:rPr>
                <a:t>If God doesn’t exist, Christmas does not make sense.</a:t>
              </a:r>
            </a:p>
          </p:txBody>
        </p:sp>
        <p:sp>
          <p:nvSpPr>
            <p:cNvPr id="7" name="TextBox 10">
              <a:extLst>
                <a:ext uri="{FF2B5EF4-FFF2-40B4-BE49-F238E27FC236}">
                  <a16:creationId xmlns:a16="http://schemas.microsoft.com/office/drawing/2014/main" id="{73CA00B3-ABCA-BEEE-CE9C-CA466800B616}"/>
                </a:ext>
              </a:extLst>
            </p:cNvPr>
            <p:cNvSpPr txBox="1">
              <a:spLocks noChangeArrowheads="1"/>
            </p:cNvSpPr>
            <p:nvPr/>
          </p:nvSpPr>
          <p:spPr bwMode="auto">
            <a:xfrm>
              <a:off x="2600325" y="4843463"/>
              <a:ext cx="33432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lgn="ctr" eaLnBrk="1" hangingPunct="1">
                <a:spcBef>
                  <a:spcPct val="0"/>
                </a:spcBef>
                <a:buFontTx/>
                <a:buNone/>
              </a:pPr>
              <a:r>
                <a:rPr lang="en-US" altLang="en-US" sz="2400" dirty="0">
                  <a:latin typeface="Times New Roman" panose="02020603050405020304" pitchFamily="18" charset="0"/>
                  <a:cs typeface="Times New Roman" panose="02020603050405020304" pitchFamily="18" charset="0"/>
                </a:rPr>
                <a:t>Christmas does not make sense.</a:t>
              </a:r>
            </a:p>
          </p:txBody>
        </p:sp>
        <p:sp>
          <p:nvSpPr>
            <p:cNvPr id="8" name="TextBox 7">
              <a:extLst>
                <a:ext uri="{FF2B5EF4-FFF2-40B4-BE49-F238E27FC236}">
                  <a16:creationId xmlns:a16="http://schemas.microsoft.com/office/drawing/2014/main" id="{C077AE5C-03B1-7A4D-6ADC-8F41C47C31DA}"/>
                </a:ext>
              </a:extLst>
            </p:cNvPr>
            <p:cNvSpPr txBox="1"/>
            <p:nvPr/>
          </p:nvSpPr>
          <p:spPr>
            <a:xfrm>
              <a:off x="4013200" y="3819340"/>
              <a:ext cx="342900" cy="461665"/>
            </a:xfrm>
            <a:prstGeom prst="rect">
              <a:avLst/>
            </a:prstGeom>
            <a:noFill/>
          </p:spPr>
          <p:txBody>
            <a:bodyPr>
              <a:spAutoFit/>
            </a:bodyPr>
            <a:lstStyle/>
            <a:p>
              <a:pPr algn="ctr" eaLnBrk="1" hangingPunct="1">
                <a:defRPr/>
              </a:pPr>
              <a:r>
                <a:rPr lang="en-US" sz="2400" dirty="0">
                  <a:ln>
                    <a:solidFill>
                      <a:schemeClr val="tx1">
                        <a:lumMod val="65000"/>
                        <a:lumOff val="35000"/>
                      </a:schemeClr>
                    </a:solidFill>
                  </a:ln>
                  <a:latin typeface="Gill Sans"/>
                  <a:ea typeface="ＭＳ Ｐゴシック" charset="0"/>
                  <a:cs typeface="Gill Sans"/>
                </a:rPr>
                <a:t>+</a:t>
              </a:r>
            </a:p>
          </p:txBody>
        </p:sp>
        <p:cxnSp>
          <p:nvCxnSpPr>
            <p:cNvPr id="10" name="Straight Connector 9">
              <a:extLst>
                <a:ext uri="{FF2B5EF4-FFF2-40B4-BE49-F238E27FC236}">
                  <a16:creationId xmlns:a16="http://schemas.microsoft.com/office/drawing/2014/main" id="{3F813E42-52B0-AD0E-29C5-85BE59A210AE}"/>
                </a:ext>
              </a:extLst>
            </p:cNvPr>
            <p:cNvCxnSpPr>
              <a:cxnSpLocks/>
            </p:cNvCxnSpPr>
            <p:nvPr/>
          </p:nvCxnSpPr>
          <p:spPr>
            <a:xfrm>
              <a:off x="336081" y="4629150"/>
              <a:ext cx="8376119" cy="0"/>
            </a:xfrm>
            <a:prstGeom prst="line">
              <a:avLst/>
            </a:prstGeom>
            <a:ln w="28575" cmpd="sng">
              <a:solidFill>
                <a:schemeClr val="tx1">
                  <a:lumMod val="65000"/>
                  <a:lumOff val="35000"/>
                </a:schemeClr>
              </a:solidFill>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D2F04AAA-F2CC-F291-91CE-91838F2AA711}"/>
                </a:ext>
              </a:extLst>
            </p:cNvPr>
            <p:cNvSpPr txBox="1"/>
            <p:nvPr/>
          </p:nvSpPr>
          <p:spPr>
            <a:xfrm>
              <a:off x="6205784" y="2593463"/>
              <a:ext cx="342900" cy="461665"/>
            </a:xfrm>
            <a:prstGeom prst="rect">
              <a:avLst/>
            </a:prstGeom>
            <a:noFill/>
          </p:spPr>
          <p:txBody>
            <a:bodyPr>
              <a:spAutoFit/>
            </a:bodyPr>
            <a:lstStyle/>
            <a:p>
              <a:pPr algn="ctr" eaLnBrk="1" hangingPunct="1">
                <a:defRPr/>
              </a:pPr>
              <a:r>
                <a:rPr lang="en-US" sz="2400" dirty="0">
                  <a:ln>
                    <a:solidFill>
                      <a:schemeClr val="tx1">
                        <a:lumMod val="65000"/>
                        <a:lumOff val="35000"/>
                      </a:schemeClr>
                    </a:solidFill>
                  </a:ln>
                  <a:latin typeface="Gill Sans"/>
                  <a:ea typeface="ＭＳ Ｐゴシック" charset="0"/>
                  <a:cs typeface="Gill Sans"/>
                </a:rPr>
                <a:t>+</a:t>
              </a:r>
            </a:p>
          </p:txBody>
        </p:sp>
        <p:sp>
          <p:nvSpPr>
            <p:cNvPr id="12" name="TextBox 15">
              <a:extLst>
                <a:ext uri="{FF2B5EF4-FFF2-40B4-BE49-F238E27FC236}">
                  <a16:creationId xmlns:a16="http://schemas.microsoft.com/office/drawing/2014/main" id="{69E066B2-58CA-E67E-35EB-4C4ECFC7B1B4}"/>
                </a:ext>
              </a:extLst>
            </p:cNvPr>
            <p:cNvSpPr txBox="1">
              <a:spLocks noChangeArrowheads="1"/>
            </p:cNvSpPr>
            <p:nvPr/>
          </p:nvSpPr>
          <p:spPr bwMode="auto">
            <a:xfrm>
              <a:off x="6466115" y="2220112"/>
              <a:ext cx="226224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lgn="ctr" eaLnBrk="1" hangingPunct="1">
                <a:spcBef>
                  <a:spcPct val="0"/>
                </a:spcBef>
                <a:buFontTx/>
                <a:buNone/>
              </a:pPr>
              <a:r>
                <a:rPr lang="en-US" altLang="en-US" sz="2400" dirty="0">
                  <a:solidFill>
                    <a:srgbClr val="EB6615"/>
                  </a:solidFill>
                  <a:latin typeface="Times New Roman" panose="02020603050405020304" pitchFamily="18" charset="0"/>
                  <a:cs typeface="Times New Roman" panose="02020603050405020304" pitchFamily="18" charset="0"/>
                </a:rPr>
                <a:t>God doesn’t show herself.</a:t>
              </a:r>
            </a:p>
            <a:p>
              <a:pPr algn="ctr" eaLnBrk="1" hangingPunct="1">
                <a:spcBef>
                  <a:spcPct val="0"/>
                </a:spcBef>
                <a:buFontTx/>
                <a:buNone/>
              </a:pPr>
              <a:endParaRPr lang="en-US" altLang="en-US" sz="2400" dirty="0">
                <a:solidFill>
                  <a:srgbClr val="EB6615"/>
                </a:solidFill>
                <a:latin typeface="Times New Roman" panose="02020603050405020304" pitchFamily="18" charset="0"/>
                <a:cs typeface="Times New Roman" panose="02020603050405020304" pitchFamily="18" charset="0"/>
              </a:endParaRPr>
            </a:p>
          </p:txBody>
        </p:sp>
        <p:sp>
          <p:nvSpPr>
            <p:cNvPr id="13" name="TextBox 16">
              <a:extLst>
                <a:ext uri="{FF2B5EF4-FFF2-40B4-BE49-F238E27FC236}">
                  <a16:creationId xmlns:a16="http://schemas.microsoft.com/office/drawing/2014/main" id="{DA835730-F334-D8EB-F0A1-85440F8E128E}"/>
                </a:ext>
              </a:extLst>
            </p:cNvPr>
            <p:cNvSpPr txBox="1">
              <a:spLocks noChangeArrowheads="1"/>
            </p:cNvSpPr>
            <p:nvPr/>
          </p:nvSpPr>
          <p:spPr bwMode="auto">
            <a:xfrm rot="10800000" flipV="1">
              <a:off x="3419721" y="2279938"/>
              <a:ext cx="282892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lgn="ctr" eaLnBrk="1" hangingPunct="1">
                <a:spcBef>
                  <a:spcPct val="0"/>
                </a:spcBef>
                <a:buFontTx/>
                <a:buNone/>
              </a:pPr>
              <a:r>
                <a:rPr lang="en-US" altLang="en-US" sz="2400" dirty="0">
                  <a:latin typeface="Times New Roman" panose="02020603050405020304" pitchFamily="18" charset="0"/>
                  <a:cs typeface="Times New Roman" panose="02020603050405020304" pitchFamily="18" charset="0"/>
                </a:rPr>
                <a:t>If God exists, SHE would show herself</a:t>
              </a:r>
            </a:p>
          </p:txBody>
        </p:sp>
        <p:sp>
          <p:nvSpPr>
            <p:cNvPr id="14" name="TextBox 13">
              <a:extLst>
                <a:ext uri="{FF2B5EF4-FFF2-40B4-BE49-F238E27FC236}">
                  <a16:creationId xmlns:a16="http://schemas.microsoft.com/office/drawing/2014/main" id="{E047B37B-9D94-C879-7AC4-C8214D324846}"/>
                </a:ext>
              </a:extLst>
            </p:cNvPr>
            <p:cNvSpPr txBox="1"/>
            <p:nvPr/>
          </p:nvSpPr>
          <p:spPr>
            <a:xfrm>
              <a:off x="5105832" y="3829497"/>
              <a:ext cx="2885704" cy="461665"/>
            </a:xfrm>
            <a:prstGeom prst="rect">
              <a:avLst/>
            </a:prstGeom>
            <a:noFill/>
          </p:spPr>
          <p:txBody>
            <a:bodyPr wrap="square">
              <a:spAutoFit/>
            </a:bodyPr>
            <a:lstStyle/>
            <a:p>
              <a:pPr algn="ctr" eaLnBrk="1" hangingPunct="1">
                <a:defRPr/>
              </a:pPr>
              <a:r>
                <a:rPr lang="en-US" sz="2400" dirty="0">
                  <a:latin typeface="Times New Roman" panose="02020603050405020304" pitchFamily="18" charset="0"/>
                  <a:ea typeface="MS PGothic" panose="020B0600070205080204" pitchFamily="34" charset="-128"/>
                  <a:cs typeface="Times New Roman" panose="02020603050405020304" pitchFamily="18" charset="0"/>
                </a:rPr>
                <a:t>God doesn’t exist.</a:t>
              </a:r>
            </a:p>
          </p:txBody>
        </p:sp>
        <p:sp>
          <p:nvSpPr>
            <p:cNvPr id="15" name="TextBox 19">
              <a:extLst>
                <a:ext uri="{FF2B5EF4-FFF2-40B4-BE49-F238E27FC236}">
                  <a16:creationId xmlns:a16="http://schemas.microsoft.com/office/drawing/2014/main" id="{6AC92B54-B2C1-0D53-D8D4-E1269AB3310E}"/>
                </a:ext>
              </a:extLst>
            </p:cNvPr>
            <p:cNvSpPr txBox="1">
              <a:spLocks noChangeArrowheads="1"/>
            </p:cNvSpPr>
            <p:nvPr/>
          </p:nvSpPr>
          <p:spPr bwMode="auto">
            <a:xfrm>
              <a:off x="6166077" y="3375112"/>
              <a:ext cx="6000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lgn="ctr" eaLnBrk="1" hangingPunct="1">
                <a:spcBef>
                  <a:spcPct val="0"/>
                </a:spcBef>
                <a:buFontTx/>
                <a:buNone/>
              </a:pPr>
              <a:r>
                <a:rPr lang="en-US" altLang="en-US" sz="2400" dirty="0">
                  <a:solidFill>
                    <a:srgbClr val="595959"/>
                  </a:solidFill>
                  <a:latin typeface="Gill Sans Light" charset="0"/>
                  <a:sym typeface="Symbol" panose="05050102010706020507" pitchFamily="18" charset="2"/>
                </a:rPr>
                <a:t></a:t>
              </a:r>
              <a:endParaRPr lang="en-US" altLang="en-US" sz="2400" dirty="0">
                <a:solidFill>
                  <a:srgbClr val="595959"/>
                </a:solidFill>
                <a:latin typeface="Gill Sans Light" charset="0"/>
              </a:endParaRPr>
            </a:p>
          </p:txBody>
        </p:sp>
        <p:cxnSp>
          <p:nvCxnSpPr>
            <p:cNvPr id="16" name="Straight Connector 15">
              <a:extLst>
                <a:ext uri="{FF2B5EF4-FFF2-40B4-BE49-F238E27FC236}">
                  <a16:creationId xmlns:a16="http://schemas.microsoft.com/office/drawing/2014/main" id="{E01D0113-09E6-F1B6-9C24-5FFA16B8931A}"/>
                </a:ext>
              </a:extLst>
            </p:cNvPr>
            <p:cNvCxnSpPr>
              <a:cxnSpLocks/>
            </p:cNvCxnSpPr>
            <p:nvPr/>
          </p:nvCxnSpPr>
          <p:spPr>
            <a:xfrm>
              <a:off x="3534186" y="3215247"/>
              <a:ext cx="5178014" cy="0"/>
            </a:xfrm>
            <a:prstGeom prst="line">
              <a:avLst/>
            </a:prstGeom>
            <a:ln w="28575" cmpd="sng">
              <a:solidFill>
                <a:schemeClr val="tx1">
                  <a:lumMod val="65000"/>
                  <a:lumOff val="35000"/>
                </a:schemeClr>
              </a:solidFill>
            </a:ln>
            <a:effectLst/>
          </p:spPr>
          <p:style>
            <a:lnRef idx="2">
              <a:schemeClr val="accent1"/>
            </a:lnRef>
            <a:fillRef idx="0">
              <a:schemeClr val="accent1"/>
            </a:fillRef>
            <a:effectRef idx="1">
              <a:schemeClr val="accent1"/>
            </a:effectRef>
            <a:fontRef idx="minor">
              <a:schemeClr val="tx1"/>
            </a:fontRef>
          </p:style>
        </p:cxnSp>
        <p:sp>
          <p:nvSpPr>
            <p:cNvPr id="17" name="TextBox 28">
              <a:extLst>
                <a:ext uri="{FF2B5EF4-FFF2-40B4-BE49-F238E27FC236}">
                  <a16:creationId xmlns:a16="http://schemas.microsoft.com/office/drawing/2014/main" id="{81D93ECD-A20E-C744-82DF-9EA67D622EE6}"/>
                </a:ext>
              </a:extLst>
            </p:cNvPr>
            <p:cNvSpPr txBox="1">
              <a:spLocks noChangeArrowheads="1"/>
            </p:cNvSpPr>
            <p:nvPr/>
          </p:nvSpPr>
          <p:spPr bwMode="auto">
            <a:xfrm>
              <a:off x="4100513" y="4608614"/>
              <a:ext cx="3429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lgn="ctr" eaLnBrk="1" hangingPunct="1">
                <a:spcBef>
                  <a:spcPct val="0"/>
                </a:spcBef>
                <a:buFontTx/>
                <a:buNone/>
              </a:pPr>
              <a:r>
                <a:rPr lang="en-US" altLang="en-US" sz="2400">
                  <a:solidFill>
                    <a:srgbClr val="595959"/>
                  </a:solidFill>
                  <a:latin typeface="Gill Sans Light" charset="0"/>
                  <a:sym typeface="Symbol" panose="05050102010706020507" pitchFamily="18" charset="2"/>
                </a:rPr>
                <a:t></a:t>
              </a:r>
              <a:endParaRPr lang="en-US" altLang="en-US" sz="2400">
                <a:solidFill>
                  <a:srgbClr val="595959"/>
                </a:solidFill>
                <a:latin typeface="Gill Sans Light" charset="0"/>
              </a:endParaRPr>
            </a:p>
          </p:txBody>
        </p:sp>
      </p:grpSp>
    </p:spTree>
    <p:extLst>
      <p:ext uri="{BB962C8B-B14F-4D97-AF65-F5344CB8AC3E}">
        <p14:creationId xmlns:p14="http://schemas.microsoft.com/office/powerpoint/2010/main" val="18779742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nip and Round Single Corner Rectangle 6"/>
          <p:cNvSpPr/>
          <p:nvPr/>
        </p:nvSpPr>
        <p:spPr>
          <a:xfrm>
            <a:off x="-1" y="95254"/>
            <a:ext cx="8796607" cy="842725"/>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fontAlgn="base">
              <a:spcBef>
                <a:spcPct val="0"/>
              </a:spcBef>
              <a:spcAft>
                <a:spcPct val="0"/>
              </a:spcAft>
              <a:defRPr/>
            </a:pPr>
            <a:r>
              <a:rPr lang="en-US" sz="2800" b="1" spc="-151" dirty="0">
                <a:solidFill>
                  <a:prstClr val="white"/>
                </a:solidFill>
                <a:latin typeface="Times New Roman" panose="02020603050405020304" pitchFamily="18" charset="0"/>
                <a:cs typeface="Times New Roman" panose="02020603050405020304" pitchFamily="18" charset="0"/>
              </a:rPr>
              <a:t>Standard Propositional Forms (5):  </a:t>
            </a:r>
          </a:p>
          <a:p>
            <a:pPr fontAlgn="base">
              <a:spcBef>
                <a:spcPct val="0"/>
              </a:spcBef>
              <a:spcAft>
                <a:spcPct val="0"/>
              </a:spcAft>
              <a:defRPr/>
            </a:pPr>
            <a:r>
              <a:rPr lang="en-US" sz="2800" b="1" spc="-151" dirty="0">
                <a:solidFill>
                  <a:prstClr val="white"/>
                </a:solidFill>
                <a:latin typeface="Times New Roman" panose="02020603050405020304" pitchFamily="18" charset="0"/>
                <a:cs typeface="Times New Roman" panose="02020603050405020304" pitchFamily="18" charset="0"/>
              </a:rPr>
              <a:t>Hypothetical Syllogism (HS)</a:t>
            </a:r>
          </a:p>
        </p:txBody>
      </p:sp>
      <p:sp>
        <p:nvSpPr>
          <p:cNvPr id="8" name="Snip and Round Single Corner Rectangle 7"/>
          <p:cNvSpPr/>
          <p:nvPr/>
        </p:nvSpPr>
        <p:spPr>
          <a:xfrm>
            <a:off x="3" y="6477001"/>
            <a:ext cx="8863013" cy="323851"/>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a:spcBef>
                <a:spcPct val="20000"/>
              </a:spcBef>
              <a:buFont typeface="Arial" panose="020B0604020202020204" pitchFamily="34" charset="0"/>
              <a:buChar char="•"/>
              <a:tabLst>
                <a:tab pos="4389438" algn="l"/>
              </a:tabLst>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tabLst>
                <a:tab pos="4389438" algn="l"/>
              </a:tabLst>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tabLst>
                <a:tab pos="4389438" algn="l"/>
              </a:tabLst>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9pPr>
          </a:lstStyle>
          <a:p>
            <a:pPr algn="r" fontAlgn="base">
              <a:spcBef>
                <a:spcPct val="0"/>
              </a:spcBef>
              <a:spcAft>
                <a:spcPct val="0"/>
              </a:spcAft>
              <a:buNone/>
              <a:defRPr/>
            </a:pPr>
            <a:fld id="{02404CBC-9017-4C4D-9A9D-4846F12B969B}" type="slidenum">
              <a:rPr lang="en-US" altLang="en-US" sz="1300">
                <a:solidFill>
                  <a:srgbClr val="FFFFFF"/>
                </a:solidFill>
                <a:latin typeface="Gill Sans MT" panose="020B0502020104020203" pitchFamily="34" charset="0"/>
              </a:rPr>
              <a:pPr algn="r" fontAlgn="base">
                <a:spcBef>
                  <a:spcPct val="0"/>
                </a:spcBef>
                <a:spcAft>
                  <a:spcPct val="0"/>
                </a:spcAft>
                <a:buNone/>
                <a:defRPr/>
              </a:pPr>
              <a:t>21</a:t>
            </a:fld>
            <a:endParaRPr lang="en-US" altLang="en-US" sz="1300">
              <a:solidFill>
                <a:srgbClr val="FFFFFF"/>
              </a:solidFill>
              <a:latin typeface="Gill Sans MT" panose="020B0502020104020203" pitchFamily="34" charset="0"/>
            </a:endParaRPr>
          </a:p>
        </p:txBody>
      </p:sp>
      <p:sp>
        <p:nvSpPr>
          <p:cNvPr id="8196" name="Rectangle 4"/>
          <p:cNvSpPr>
            <a:spLocks noGrp="1" noChangeArrowheads="1"/>
          </p:cNvSpPr>
          <p:nvPr>
            <p:ph type="subTitle" idx="1"/>
          </p:nvPr>
        </p:nvSpPr>
        <p:spPr>
          <a:xfrm>
            <a:off x="1" y="1081521"/>
            <a:ext cx="8863013" cy="5161235"/>
          </a:xfrm>
        </p:spPr>
        <p:txBody>
          <a:bodyPr/>
          <a:lstStyle/>
          <a:p>
            <a:pPr marL="457200" indent="-457200" algn="l" eaLnBrk="1" hangingPunct="1">
              <a:buFont typeface="Wingdings" panose="05000000000000000000" pitchFamily="2" charset="2"/>
              <a:buChar char="§"/>
            </a:pPr>
            <a:r>
              <a:rPr lang="en-US" altLang="en-US" sz="2600" dirty="0">
                <a:solidFill>
                  <a:schemeClr val="tx1"/>
                </a:solidFill>
                <a:latin typeface="Times New Roman"/>
                <a:ea typeface="MS PGothic"/>
                <a:cs typeface="Times New Roman"/>
              </a:rPr>
              <a:t>The hypothetical syllogism takes the structure:</a:t>
            </a:r>
          </a:p>
          <a:p>
            <a:pPr marL="456565" lvl="1" algn="l" eaLnBrk="1" hangingPunct="1"/>
            <a:r>
              <a:rPr lang="en-US" altLang="en-US" sz="2600" dirty="0">
                <a:solidFill>
                  <a:schemeClr val="tx1"/>
                </a:solidFill>
                <a:latin typeface="Times New Roman"/>
                <a:ea typeface="MS PGothic"/>
                <a:cs typeface="Times New Roman"/>
              </a:rPr>
              <a:t>If P then Q</a:t>
            </a:r>
          </a:p>
          <a:p>
            <a:pPr marL="456565" lvl="1" algn="l" eaLnBrk="1" hangingPunct="1"/>
            <a:r>
              <a:rPr lang="en-US" altLang="en-US" sz="2600" dirty="0">
                <a:solidFill>
                  <a:schemeClr val="tx1"/>
                </a:solidFill>
                <a:latin typeface="Times New Roman"/>
                <a:ea typeface="MS PGothic"/>
                <a:cs typeface="Times New Roman"/>
              </a:rPr>
              <a:t>If Q then R</a:t>
            </a:r>
          </a:p>
          <a:p>
            <a:pPr marL="456565" lvl="1" algn="l" eaLnBrk="1" hangingPunct="1"/>
            <a:r>
              <a:rPr lang="en-US" altLang="en-US" sz="2600" dirty="0">
                <a:solidFill>
                  <a:schemeClr val="tx1"/>
                </a:solidFill>
                <a:latin typeface="Times New Roman"/>
                <a:ea typeface="MS PGothic"/>
                <a:cs typeface="Times New Roman"/>
              </a:rPr>
              <a:t>_____________</a:t>
            </a:r>
          </a:p>
          <a:p>
            <a:pPr marL="456565" lvl="1" algn="l" eaLnBrk="1" hangingPunct="1"/>
            <a:r>
              <a:rPr lang="en-US" altLang="en-US" sz="2600" dirty="0">
                <a:solidFill>
                  <a:schemeClr val="tx1"/>
                </a:solidFill>
                <a:latin typeface="Times New Roman"/>
                <a:ea typeface="MS PGothic"/>
                <a:cs typeface="Times New Roman"/>
              </a:rPr>
              <a:t>So, if P then R</a:t>
            </a:r>
          </a:p>
          <a:p>
            <a:pPr algn="l" eaLnBrk="1" hangingPunct="1"/>
            <a:r>
              <a:rPr lang="en-US" altLang="en-US" sz="2600" dirty="0">
                <a:solidFill>
                  <a:schemeClr val="tx1"/>
                </a:solidFill>
                <a:latin typeface="Times New Roman"/>
                <a:ea typeface="MS PGothic"/>
                <a:cs typeface="Times New Roman"/>
              </a:rPr>
              <a:t>	</a:t>
            </a:r>
          </a:p>
          <a:p>
            <a:pPr marL="457200" indent="-457200" algn="l" eaLnBrk="1" hangingPunct="1">
              <a:buFont typeface="Wingdings" panose="05000000000000000000" pitchFamily="2" charset="2"/>
              <a:buChar char="§"/>
            </a:pPr>
            <a:r>
              <a:rPr lang="en-US" altLang="en-US" sz="2600" dirty="0">
                <a:solidFill>
                  <a:schemeClr val="tx1"/>
                </a:solidFill>
                <a:latin typeface="Times New Roman"/>
                <a:ea typeface="MS PGothic"/>
                <a:cs typeface="Times New Roman"/>
              </a:rPr>
              <a:t>The hypothetical syllogism is a VALID argument form. Why?</a:t>
            </a:r>
          </a:p>
          <a:p>
            <a:pPr marL="342265" indent="-342265" algn="l" eaLnBrk="1" hangingPunct="1">
              <a:buFont typeface="Arial" panose="020B0604020202020204" pitchFamily="34" charset="0"/>
              <a:buChar char="•"/>
            </a:pPr>
            <a:endParaRPr lang="en-US" altLang="en-US" sz="2600" b="1" dirty="0">
              <a:solidFill>
                <a:schemeClr val="tx1"/>
              </a:solidFill>
              <a:latin typeface="Times New Roman" panose="02020603050405020304" pitchFamily="18" charset="0"/>
              <a:cs typeface="Times New Roman" panose="02020603050405020304" pitchFamily="18" charset="0"/>
            </a:endParaRPr>
          </a:p>
          <a:p>
            <a:pPr algn="l" eaLnBrk="1" hangingPunct="1"/>
            <a:br>
              <a:rPr lang="en-US" altLang="en-US" sz="2600" b="1" dirty="0">
                <a:solidFill>
                  <a:schemeClr val="tx1"/>
                </a:solidFill>
                <a:latin typeface="Times New Roman" panose="02020603050405020304" pitchFamily="18" charset="0"/>
                <a:cs typeface="Times New Roman" panose="02020603050405020304" pitchFamily="18" charset="0"/>
              </a:rPr>
            </a:br>
            <a:endParaRPr lang="en-US" altLang="en-US" sz="2600" b="1"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89FCCC1-A426-4C30-9A5C-CB61317734FF}"/>
              </a:ext>
            </a:extLst>
          </p:cNvPr>
          <p:cNvSpPr txBox="1"/>
          <p:nvPr/>
        </p:nvSpPr>
        <p:spPr>
          <a:xfrm>
            <a:off x="3962399" y="1727200"/>
            <a:ext cx="3951112" cy="1692771"/>
          </a:xfrm>
          <a:prstGeom prst="rect">
            <a:avLst/>
          </a:prstGeom>
          <a:noFill/>
        </p:spPr>
        <p:txBody>
          <a:bodyPr wrap="square" rtlCol="0">
            <a:spAutoFit/>
          </a:bodyPr>
          <a:lstStyle/>
          <a:p>
            <a:pPr algn="ctr"/>
            <a:r>
              <a:rPr lang="en-SG" sz="2600" b="1" dirty="0">
                <a:latin typeface="Times New Roman" panose="02020603050405020304" pitchFamily="18" charset="0"/>
                <a:cs typeface="Times New Roman" panose="02020603050405020304" pitchFamily="18" charset="0"/>
              </a:rPr>
              <a:t>If P then Q + If Q then R</a:t>
            </a:r>
          </a:p>
          <a:p>
            <a:pPr algn="ctr"/>
            <a:endParaRPr lang="en-SG" sz="2600" b="1" dirty="0">
              <a:latin typeface="Times New Roman" panose="02020603050405020304" pitchFamily="18" charset="0"/>
              <a:cs typeface="Times New Roman" panose="02020603050405020304" pitchFamily="18" charset="0"/>
            </a:endParaRPr>
          </a:p>
          <a:p>
            <a:pPr algn="ctr"/>
            <a:endParaRPr lang="en-SG" sz="2600" b="1" dirty="0">
              <a:latin typeface="Times New Roman" panose="02020603050405020304" pitchFamily="18" charset="0"/>
              <a:cs typeface="Times New Roman" panose="02020603050405020304" pitchFamily="18" charset="0"/>
            </a:endParaRPr>
          </a:p>
          <a:p>
            <a:pPr algn="ctr"/>
            <a:r>
              <a:rPr lang="en-SG" sz="2600" b="1" dirty="0">
                <a:latin typeface="Times New Roman" panose="02020603050405020304" pitchFamily="18" charset="0"/>
                <a:cs typeface="Times New Roman" panose="02020603050405020304" pitchFamily="18" charset="0"/>
              </a:rPr>
              <a:t>If P then R </a:t>
            </a:r>
          </a:p>
        </p:txBody>
      </p:sp>
      <p:cxnSp>
        <p:nvCxnSpPr>
          <p:cNvPr id="6" name="Straight Connector 5">
            <a:extLst>
              <a:ext uri="{FF2B5EF4-FFF2-40B4-BE49-F238E27FC236}">
                <a16:creationId xmlns:a16="http://schemas.microsoft.com/office/drawing/2014/main" id="{D6FAB489-8C39-4F37-A492-ADD4665E67B8}"/>
              </a:ext>
            </a:extLst>
          </p:cNvPr>
          <p:cNvCxnSpPr>
            <a:cxnSpLocks/>
          </p:cNvCxnSpPr>
          <p:nvPr/>
        </p:nvCxnSpPr>
        <p:spPr>
          <a:xfrm>
            <a:off x="4267199" y="2212623"/>
            <a:ext cx="33528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3E610707-F166-4748-B362-60E3FB51C7CF}"/>
              </a:ext>
            </a:extLst>
          </p:cNvPr>
          <p:cNvCxnSpPr>
            <a:cxnSpLocks/>
          </p:cNvCxnSpPr>
          <p:nvPr/>
        </p:nvCxnSpPr>
        <p:spPr>
          <a:xfrm>
            <a:off x="5926667" y="2212623"/>
            <a:ext cx="0" cy="53057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BFE04B76-5B5F-4C55-849D-2C12ED63F89D}"/>
              </a:ext>
            </a:extLst>
          </p:cNvPr>
          <p:cNvCxnSpPr/>
          <p:nvPr/>
        </p:nvCxnSpPr>
        <p:spPr>
          <a:xfrm>
            <a:off x="3296355" y="1806223"/>
            <a:ext cx="0" cy="121920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41114946"/>
      </p:ext>
    </p:extLst>
  </p:cSld>
  <p:clrMapOvr>
    <a:masterClrMapping/>
  </p:clrMapOvr>
  <mc:AlternateContent xmlns:mc="http://schemas.openxmlformats.org/markup-compatibility/2006" xmlns:p14="http://schemas.microsoft.com/office/powerpoint/2010/main">
    <mc:Choice Requires="p14">
      <p:transition spd="slow" p14:dur="2000" advTm="82912"/>
    </mc:Choice>
    <mc:Fallback xmlns="">
      <p:transition spd="slow" advTm="82912"/>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nip and Round Single Corner Rectangle 6"/>
          <p:cNvSpPr/>
          <p:nvPr/>
        </p:nvSpPr>
        <p:spPr>
          <a:xfrm>
            <a:off x="-1" y="95254"/>
            <a:ext cx="8881639" cy="875279"/>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marL="609585" indent="-609585" eaLnBrk="0" fontAlgn="base" hangingPunct="0">
              <a:spcBef>
                <a:spcPct val="20000"/>
              </a:spcBef>
              <a:spcAft>
                <a:spcPct val="0"/>
              </a:spcAft>
              <a:defRPr/>
            </a:pPr>
            <a:r>
              <a:rPr lang="en-US" sz="3200" b="1" dirty="0">
                <a:solidFill>
                  <a:srgbClr val="FFFFFF"/>
                </a:solidFill>
                <a:latin typeface="Times New Roman" panose="02020603050405020304" pitchFamily="18" charset="0"/>
                <a:cs typeface="Times New Roman" panose="02020603050405020304" pitchFamily="18" charset="0"/>
              </a:rPr>
              <a:t>Hypothetical Syllogism: Examples</a:t>
            </a:r>
            <a:endParaRPr lang="en-US" sz="3200" b="1" dirty="0">
              <a:solidFill>
                <a:srgbClr val="FF0000"/>
              </a:solidFill>
              <a:latin typeface="Times New Roman" panose="02020603050405020304" pitchFamily="18" charset="0"/>
              <a:cs typeface="Times New Roman" panose="02020603050405020304" pitchFamily="18" charset="0"/>
            </a:endParaRPr>
          </a:p>
        </p:txBody>
      </p:sp>
      <p:sp>
        <p:nvSpPr>
          <p:cNvPr id="8" name="Snip and Round Single Corner Rectangle 7"/>
          <p:cNvSpPr/>
          <p:nvPr/>
        </p:nvSpPr>
        <p:spPr>
          <a:xfrm>
            <a:off x="3" y="6477001"/>
            <a:ext cx="8863013" cy="323851"/>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a:spcBef>
                <a:spcPct val="20000"/>
              </a:spcBef>
              <a:buFont typeface="Arial" panose="020B0604020202020204" pitchFamily="34" charset="0"/>
              <a:buChar char="•"/>
              <a:tabLst>
                <a:tab pos="4389438" algn="l"/>
              </a:tabLst>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tabLst>
                <a:tab pos="4389438" algn="l"/>
              </a:tabLst>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tabLst>
                <a:tab pos="4389438" algn="l"/>
              </a:tabLst>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9pPr>
          </a:lstStyle>
          <a:p>
            <a:pPr algn="r" fontAlgn="base">
              <a:spcBef>
                <a:spcPct val="0"/>
              </a:spcBef>
              <a:spcAft>
                <a:spcPct val="0"/>
              </a:spcAft>
              <a:buNone/>
              <a:defRPr/>
            </a:pPr>
            <a:fld id="{5C157F89-BC4E-485A-A9B8-EC5F2289648F}" type="slidenum">
              <a:rPr lang="en-US" altLang="en-US" sz="1300">
                <a:solidFill>
                  <a:srgbClr val="FFFFFF"/>
                </a:solidFill>
                <a:latin typeface="Gill Sans MT" panose="020B0502020104020203" pitchFamily="34" charset="0"/>
              </a:rPr>
              <a:pPr algn="r" fontAlgn="base">
                <a:spcBef>
                  <a:spcPct val="0"/>
                </a:spcBef>
                <a:spcAft>
                  <a:spcPct val="0"/>
                </a:spcAft>
                <a:buNone/>
                <a:defRPr/>
              </a:pPr>
              <a:t>22</a:t>
            </a:fld>
            <a:endParaRPr lang="en-US" altLang="en-US" sz="1300">
              <a:solidFill>
                <a:srgbClr val="FFFFFF"/>
              </a:solidFill>
              <a:latin typeface="Gill Sans MT" panose="020B0502020104020203" pitchFamily="34" charset="0"/>
            </a:endParaRPr>
          </a:p>
        </p:txBody>
      </p:sp>
      <p:sp>
        <p:nvSpPr>
          <p:cNvPr id="27" name="TextBox 26"/>
          <p:cNvSpPr txBox="1"/>
          <p:nvPr/>
        </p:nvSpPr>
        <p:spPr>
          <a:xfrm>
            <a:off x="11768" y="1135330"/>
            <a:ext cx="8691965" cy="4431983"/>
          </a:xfrm>
          <a:prstGeom prst="rect">
            <a:avLst/>
          </a:prstGeom>
          <a:noFill/>
        </p:spPr>
        <p:txBody>
          <a:bodyPr wrap="square" lIns="91440" tIns="45720" rIns="91440" bIns="45720" anchor="t">
            <a:spAutoFit/>
          </a:bodyPr>
          <a:lstStyle/>
          <a:p>
            <a:pPr fontAlgn="base">
              <a:spcBef>
                <a:spcPct val="0"/>
              </a:spcBef>
              <a:spcAft>
                <a:spcPct val="0"/>
              </a:spcAft>
              <a:defRPr/>
            </a:pPr>
            <a:r>
              <a:rPr lang="en-US" sz="2000" b="1" dirty="0">
                <a:latin typeface="Times New Roman" panose="02020603050405020304" pitchFamily="18" charset="0"/>
                <a:ea typeface="ＭＳ Ｐゴシック" charset="0"/>
                <a:cs typeface="Times New Roman" panose="02020603050405020304" pitchFamily="18" charset="0"/>
              </a:rPr>
              <a:t>Consider the following examples. Is the inference valid? </a:t>
            </a:r>
          </a:p>
          <a:p>
            <a:pPr fontAlgn="base">
              <a:spcBef>
                <a:spcPct val="0"/>
              </a:spcBef>
              <a:spcAft>
                <a:spcPct val="0"/>
              </a:spcAft>
              <a:defRPr/>
            </a:pPr>
            <a:r>
              <a:rPr lang="en-US" sz="2000" b="1" dirty="0">
                <a:latin typeface="Times New Roman" panose="02020603050405020304" pitchFamily="18" charset="0"/>
                <a:ea typeface="ＭＳ Ｐゴシック" charset="0"/>
                <a:cs typeface="Times New Roman" panose="02020603050405020304" pitchFamily="18" charset="0"/>
              </a:rPr>
              <a:t>Are the arguments sound?</a:t>
            </a:r>
          </a:p>
          <a:p>
            <a:pPr fontAlgn="base">
              <a:spcBef>
                <a:spcPct val="0"/>
              </a:spcBef>
              <a:spcAft>
                <a:spcPct val="0"/>
              </a:spcAft>
              <a:defRPr/>
            </a:pPr>
            <a:endParaRPr lang="en-US" sz="2200" b="1" dirty="0">
              <a:latin typeface="Times New Roman" panose="02020603050405020304" pitchFamily="18" charset="0"/>
              <a:ea typeface="ＭＳ Ｐゴシック" charset="0"/>
              <a:cs typeface="Times New Roman" panose="02020603050405020304" pitchFamily="18" charset="0"/>
            </a:endParaRPr>
          </a:p>
          <a:p>
            <a:pPr lvl="1" fontAlgn="base">
              <a:spcBef>
                <a:spcPct val="0"/>
              </a:spcBef>
              <a:spcAft>
                <a:spcPct val="0"/>
              </a:spcAft>
              <a:defRPr/>
            </a:pPr>
            <a:r>
              <a:rPr lang="en-US" sz="2200" dirty="0">
                <a:latin typeface="Times New Roman"/>
                <a:ea typeface="ＭＳ Ｐゴシック"/>
                <a:cs typeface="Times New Roman"/>
              </a:rPr>
              <a:t>1.	If he lives in Bangkok, he lives in Thailand.</a:t>
            </a:r>
          </a:p>
          <a:p>
            <a:pPr lvl="1" fontAlgn="base">
              <a:spcBef>
                <a:spcPct val="0"/>
              </a:spcBef>
              <a:spcAft>
                <a:spcPct val="0"/>
              </a:spcAft>
              <a:defRPr/>
            </a:pPr>
            <a:r>
              <a:rPr lang="en-US" sz="2200" dirty="0">
                <a:latin typeface="Times New Roman"/>
                <a:ea typeface="ＭＳ Ｐゴシック"/>
                <a:cs typeface="Times New Roman"/>
              </a:rPr>
              <a:t>	If he lives in Thailand, he lives in Asia.</a:t>
            </a:r>
          </a:p>
          <a:p>
            <a:pPr lvl="1" fontAlgn="base">
              <a:spcBef>
                <a:spcPct val="0"/>
              </a:spcBef>
              <a:spcAft>
                <a:spcPct val="0"/>
              </a:spcAft>
              <a:defRPr/>
            </a:pPr>
            <a:r>
              <a:rPr lang="en-US" sz="2200" dirty="0">
                <a:latin typeface="Times New Roman"/>
                <a:ea typeface="ＭＳ Ｐゴシック"/>
                <a:cs typeface="Times New Roman"/>
              </a:rPr>
              <a:t>	_____________________________</a:t>
            </a:r>
          </a:p>
          <a:p>
            <a:pPr lvl="1" fontAlgn="base">
              <a:spcBef>
                <a:spcPct val="0"/>
              </a:spcBef>
              <a:spcAft>
                <a:spcPct val="0"/>
              </a:spcAft>
              <a:defRPr/>
            </a:pPr>
            <a:r>
              <a:rPr lang="en-US" sz="2200" dirty="0">
                <a:latin typeface="Times New Roman"/>
                <a:ea typeface="ＭＳ Ｐゴシック"/>
                <a:cs typeface="Times New Roman"/>
              </a:rPr>
              <a:t>	So, if he lives in Bangkok, he lives in Asia.</a:t>
            </a:r>
          </a:p>
          <a:p>
            <a:pPr lvl="1" fontAlgn="base">
              <a:spcBef>
                <a:spcPct val="0"/>
              </a:spcBef>
              <a:spcAft>
                <a:spcPct val="0"/>
              </a:spcAft>
              <a:defRPr/>
            </a:pPr>
            <a:endParaRPr lang="en-US" sz="2200" dirty="0">
              <a:latin typeface="Times New Roman" panose="02020603050405020304" pitchFamily="18" charset="0"/>
              <a:ea typeface="ＭＳ Ｐゴシック" charset="0"/>
              <a:cs typeface="Times New Roman" panose="02020603050405020304" pitchFamily="18" charset="0"/>
            </a:endParaRPr>
          </a:p>
          <a:p>
            <a:pPr lvl="1" fontAlgn="base">
              <a:spcBef>
                <a:spcPct val="0"/>
              </a:spcBef>
              <a:spcAft>
                <a:spcPct val="0"/>
              </a:spcAft>
              <a:defRPr/>
            </a:pPr>
            <a:r>
              <a:rPr lang="en-US" sz="2200" dirty="0">
                <a:latin typeface="Times New Roman"/>
                <a:ea typeface="ＭＳ Ｐゴシック"/>
                <a:cs typeface="Times New Roman"/>
              </a:rPr>
              <a:t>2.	If God exists then, he is all knowing, all powerful and all good.</a:t>
            </a:r>
          </a:p>
          <a:p>
            <a:pPr lvl="1" fontAlgn="base">
              <a:spcBef>
                <a:spcPct val="0"/>
              </a:spcBef>
              <a:spcAft>
                <a:spcPct val="0"/>
              </a:spcAft>
              <a:defRPr/>
            </a:pPr>
            <a:r>
              <a:rPr lang="en-US" sz="2200" dirty="0">
                <a:latin typeface="Times New Roman"/>
                <a:ea typeface="ＭＳ Ｐゴシック"/>
                <a:cs typeface="Times New Roman"/>
              </a:rPr>
              <a:t>	 If he is all that, then there should be no evil in the world</a:t>
            </a:r>
          </a:p>
          <a:p>
            <a:pPr lvl="1" fontAlgn="base">
              <a:spcBef>
                <a:spcPct val="0"/>
              </a:spcBef>
              <a:spcAft>
                <a:spcPct val="0"/>
              </a:spcAft>
              <a:defRPr/>
            </a:pPr>
            <a:r>
              <a:rPr lang="en-US" sz="2200" dirty="0">
                <a:latin typeface="Times New Roman"/>
                <a:ea typeface="ＭＳ Ｐゴシック"/>
                <a:cs typeface="Times New Roman"/>
              </a:rPr>
              <a:t>	_____________________________</a:t>
            </a:r>
          </a:p>
          <a:p>
            <a:pPr lvl="1" fontAlgn="base">
              <a:spcBef>
                <a:spcPct val="0"/>
              </a:spcBef>
              <a:spcAft>
                <a:spcPct val="0"/>
              </a:spcAft>
              <a:defRPr/>
            </a:pPr>
            <a:r>
              <a:rPr lang="en-US" sz="2200" dirty="0">
                <a:latin typeface="Times New Roman"/>
                <a:ea typeface="ＭＳ Ｐゴシック"/>
                <a:cs typeface="Times New Roman"/>
              </a:rPr>
              <a:t>	So, if God exists, there should be no evil in the world.</a:t>
            </a:r>
          </a:p>
          <a:p>
            <a:pPr fontAlgn="base">
              <a:spcBef>
                <a:spcPct val="0"/>
              </a:spcBef>
              <a:spcAft>
                <a:spcPct val="0"/>
              </a:spcAft>
              <a:defRPr/>
            </a:pPr>
            <a:endParaRPr lang="en-US" sz="2200" b="1" dirty="0">
              <a:latin typeface="Times New Roman" panose="02020603050405020304" pitchFamily="18" charset="0"/>
              <a:ea typeface="ＭＳ Ｐゴシック" charset="0"/>
              <a:cs typeface="Times New Roman" panose="02020603050405020304" pitchFamily="18" charset="0"/>
            </a:endParaRPr>
          </a:p>
        </p:txBody>
      </p:sp>
    </p:spTree>
    <p:extLst>
      <p:ext uri="{BB962C8B-B14F-4D97-AF65-F5344CB8AC3E}">
        <p14:creationId xmlns:p14="http://schemas.microsoft.com/office/powerpoint/2010/main" val="2194885462"/>
      </p:ext>
    </p:extLst>
  </p:cSld>
  <p:clrMapOvr>
    <a:masterClrMapping/>
  </p:clrMapOvr>
  <mc:AlternateContent xmlns:mc="http://schemas.openxmlformats.org/markup-compatibility/2006" xmlns:p14="http://schemas.microsoft.com/office/powerpoint/2010/main">
    <mc:Choice Requires="p14">
      <p:transition spd="slow" p14:dur="2000" advTm="169074"/>
    </mc:Choice>
    <mc:Fallback xmlns="">
      <p:transition spd="slow" advTm="169074"/>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nip and Round Single Corner Rectangle 6"/>
          <p:cNvSpPr/>
          <p:nvPr/>
        </p:nvSpPr>
        <p:spPr>
          <a:xfrm>
            <a:off x="-1" y="95254"/>
            <a:ext cx="8863013" cy="986267"/>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fontAlgn="base">
              <a:spcBef>
                <a:spcPct val="0"/>
              </a:spcBef>
              <a:spcAft>
                <a:spcPct val="0"/>
              </a:spcAft>
              <a:defRPr/>
            </a:pPr>
            <a:r>
              <a:rPr lang="en-US" sz="2800" b="1" spc="-151" dirty="0">
                <a:solidFill>
                  <a:prstClr val="white"/>
                </a:solidFill>
                <a:latin typeface="Times New Roman" panose="02020603050405020304" pitchFamily="18" charset="0"/>
                <a:cs typeface="Times New Roman" panose="02020603050405020304" pitchFamily="18" charset="0"/>
              </a:rPr>
              <a:t>Standard Propositional Forms (6):  Transposition</a:t>
            </a:r>
          </a:p>
        </p:txBody>
      </p:sp>
      <p:sp>
        <p:nvSpPr>
          <p:cNvPr id="8" name="Snip and Round Single Corner Rectangle 7"/>
          <p:cNvSpPr/>
          <p:nvPr/>
        </p:nvSpPr>
        <p:spPr>
          <a:xfrm>
            <a:off x="3" y="6477001"/>
            <a:ext cx="8863013" cy="323851"/>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a:spcBef>
                <a:spcPct val="20000"/>
              </a:spcBef>
              <a:buFont typeface="Arial" panose="020B0604020202020204" pitchFamily="34" charset="0"/>
              <a:buChar char="•"/>
              <a:tabLst>
                <a:tab pos="4389438" algn="l"/>
              </a:tabLst>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tabLst>
                <a:tab pos="4389438" algn="l"/>
              </a:tabLst>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tabLst>
                <a:tab pos="4389438" algn="l"/>
              </a:tabLst>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9pPr>
          </a:lstStyle>
          <a:p>
            <a:pPr algn="r" fontAlgn="base">
              <a:spcBef>
                <a:spcPct val="0"/>
              </a:spcBef>
              <a:spcAft>
                <a:spcPct val="0"/>
              </a:spcAft>
              <a:buNone/>
              <a:defRPr/>
            </a:pPr>
            <a:fld id="{02404CBC-9017-4C4D-9A9D-4846F12B969B}" type="slidenum">
              <a:rPr lang="en-US" altLang="en-US" sz="1300">
                <a:solidFill>
                  <a:srgbClr val="FFFFFF"/>
                </a:solidFill>
                <a:latin typeface="Gill Sans MT" panose="020B0502020104020203" pitchFamily="34" charset="0"/>
              </a:rPr>
              <a:pPr algn="r" fontAlgn="base">
                <a:spcBef>
                  <a:spcPct val="0"/>
                </a:spcBef>
                <a:spcAft>
                  <a:spcPct val="0"/>
                </a:spcAft>
                <a:buNone/>
                <a:defRPr/>
              </a:pPr>
              <a:t>23</a:t>
            </a:fld>
            <a:endParaRPr lang="en-US" altLang="en-US" sz="1300">
              <a:solidFill>
                <a:srgbClr val="FFFFFF"/>
              </a:solidFill>
              <a:latin typeface="Gill Sans MT" panose="020B0502020104020203" pitchFamily="34" charset="0"/>
            </a:endParaRPr>
          </a:p>
        </p:txBody>
      </p:sp>
      <p:sp>
        <p:nvSpPr>
          <p:cNvPr id="8196" name="Rectangle 4"/>
          <p:cNvSpPr>
            <a:spLocks noGrp="1" noChangeArrowheads="1"/>
          </p:cNvSpPr>
          <p:nvPr>
            <p:ph type="subTitle" idx="1"/>
          </p:nvPr>
        </p:nvSpPr>
        <p:spPr>
          <a:xfrm>
            <a:off x="1" y="1211954"/>
            <a:ext cx="8863011" cy="5262835"/>
          </a:xfrm>
        </p:spPr>
        <p:txBody>
          <a:bodyPr/>
          <a:lstStyle/>
          <a:p>
            <a:pPr marL="342900" indent="-342900" algn="l" eaLnBrk="1" hangingPunct="1">
              <a:buFont typeface="Wingdings" panose="05000000000000000000" pitchFamily="2" charset="2"/>
              <a:buChar char="§"/>
            </a:pPr>
            <a:r>
              <a:rPr lang="en-US" altLang="en-US" sz="2400" dirty="0">
                <a:solidFill>
                  <a:schemeClr val="tx1"/>
                </a:solidFill>
                <a:latin typeface="Times New Roman"/>
                <a:ea typeface="MS PGothic"/>
                <a:cs typeface="Times New Roman"/>
              </a:rPr>
              <a:t>Transposition has this structure:</a:t>
            </a:r>
          </a:p>
          <a:p>
            <a:pPr marL="456565" lvl="1" algn="l" eaLnBrk="1" hangingPunct="1"/>
            <a:r>
              <a:rPr lang="en-US" altLang="en-US" sz="2400" dirty="0">
                <a:solidFill>
                  <a:schemeClr val="tx1"/>
                </a:solidFill>
                <a:latin typeface="Times New Roman"/>
                <a:ea typeface="MS PGothic"/>
                <a:cs typeface="Times New Roman"/>
              </a:rPr>
              <a:t>If P then Q</a:t>
            </a:r>
          </a:p>
          <a:p>
            <a:pPr marL="456565" lvl="1" algn="l" eaLnBrk="1" hangingPunct="1"/>
            <a:r>
              <a:rPr lang="en-US" altLang="en-US" sz="2400" dirty="0">
                <a:solidFill>
                  <a:schemeClr val="tx1"/>
                </a:solidFill>
                <a:latin typeface="Times New Roman"/>
                <a:ea typeface="MS PGothic"/>
                <a:cs typeface="Times New Roman"/>
              </a:rPr>
              <a:t>_____________</a:t>
            </a:r>
          </a:p>
          <a:p>
            <a:pPr marL="456565" lvl="1" algn="l" eaLnBrk="1" hangingPunct="1"/>
            <a:r>
              <a:rPr lang="en-US" altLang="en-US" sz="2400" dirty="0">
                <a:solidFill>
                  <a:schemeClr val="tx1"/>
                </a:solidFill>
                <a:latin typeface="Times New Roman"/>
                <a:ea typeface="MS PGothic"/>
                <a:cs typeface="Times New Roman"/>
              </a:rPr>
              <a:t>So, if not-Q then not-P [ or, </a:t>
            </a:r>
            <a:r>
              <a:rPr lang="en-US" altLang="en-US" sz="2400" dirty="0">
                <a:solidFill>
                  <a:schemeClr val="tx1"/>
                </a:solidFill>
                <a:highlight>
                  <a:srgbClr val="FFFF00"/>
                </a:highlight>
                <a:latin typeface="Times New Roman"/>
                <a:ea typeface="MS PGothic"/>
                <a:cs typeface="Times New Roman"/>
              </a:rPr>
              <a:t>_______ if Q, then P</a:t>
            </a:r>
            <a:r>
              <a:rPr lang="en-US" altLang="en-US" sz="2400" dirty="0">
                <a:solidFill>
                  <a:schemeClr val="tx1"/>
                </a:solidFill>
                <a:latin typeface="Times New Roman"/>
                <a:ea typeface="MS PGothic"/>
                <a:cs typeface="Times New Roman"/>
              </a:rPr>
              <a:t>]	</a:t>
            </a:r>
          </a:p>
          <a:p>
            <a:pPr marL="456565" lvl="1" algn="l"/>
            <a:endParaRPr lang="en-US" altLang="en-US" sz="2400" dirty="0">
              <a:solidFill>
                <a:schemeClr val="tx1"/>
              </a:solidFill>
              <a:latin typeface="Times New Roman"/>
              <a:ea typeface="MS PGothic"/>
              <a:cs typeface="Times New Roman"/>
            </a:endParaRPr>
          </a:p>
          <a:p>
            <a:pPr algn="l" eaLnBrk="1" hangingPunct="1"/>
            <a:r>
              <a:rPr lang="en-US" altLang="en-US" sz="2400" dirty="0">
                <a:solidFill>
                  <a:schemeClr val="tx1"/>
                </a:solidFill>
                <a:latin typeface="Times New Roman"/>
                <a:ea typeface="MS PGothic"/>
                <a:cs typeface="Times New Roman"/>
              </a:rPr>
              <a:t>	</a:t>
            </a:r>
          </a:p>
          <a:p>
            <a:pPr marL="342900" indent="-342900" algn="l" eaLnBrk="1" hangingPunct="1">
              <a:buFont typeface="Wingdings" panose="05000000000000000000" pitchFamily="2" charset="2"/>
              <a:buChar char="§"/>
            </a:pPr>
            <a:r>
              <a:rPr lang="en-US" altLang="en-US" sz="2400" dirty="0">
                <a:solidFill>
                  <a:schemeClr val="tx1"/>
                </a:solidFill>
                <a:latin typeface="Times New Roman"/>
                <a:ea typeface="MS PGothic"/>
                <a:cs typeface="Times New Roman"/>
              </a:rPr>
              <a:t>Transposition is a VALID argument form.</a:t>
            </a:r>
          </a:p>
          <a:p>
            <a:pPr algn="l"/>
            <a:endParaRPr lang="en-US" altLang="en-US" sz="2400" dirty="0">
              <a:solidFill>
                <a:schemeClr val="tx1"/>
              </a:solidFill>
              <a:latin typeface="Times New Roman"/>
              <a:ea typeface="MS PGothic"/>
              <a:cs typeface="Times New Roman"/>
            </a:endParaRPr>
          </a:p>
          <a:p>
            <a:pPr marL="342900" indent="-342900" algn="l" eaLnBrk="1" hangingPunct="1">
              <a:buFont typeface="Wingdings" panose="05000000000000000000" pitchFamily="2" charset="2"/>
              <a:buChar char="§"/>
            </a:pPr>
            <a:r>
              <a:rPr lang="en-US" altLang="en-US" sz="2400" dirty="0">
                <a:solidFill>
                  <a:schemeClr val="tx1"/>
                </a:solidFill>
                <a:latin typeface="Times New Roman"/>
                <a:ea typeface="MS PGothic"/>
                <a:cs typeface="Times New Roman"/>
              </a:rPr>
              <a:t>Transposition can be restated as:</a:t>
            </a:r>
          </a:p>
          <a:p>
            <a:pPr algn="l" eaLnBrk="1" hangingPunct="1"/>
            <a:r>
              <a:rPr lang="en-US" altLang="en-US" sz="2400" dirty="0">
                <a:solidFill>
                  <a:schemeClr val="tx1"/>
                </a:solidFill>
                <a:latin typeface="Times New Roman"/>
                <a:ea typeface="MS PGothic"/>
                <a:cs typeface="Times New Roman"/>
              </a:rPr>
              <a:t>	If P is sufficient for Q, then Q is ___________ for P</a:t>
            </a:r>
            <a:r>
              <a:rPr lang="en-US" altLang="en-US" sz="2400" b="1" dirty="0">
                <a:solidFill>
                  <a:schemeClr val="tx1"/>
                </a:solidFill>
                <a:latin typeface="Times New Roman"/>
                <a:ea typeface="MS PGothic"/>
                <a:cs typeface="Times New Roman"/>
              </a:rPr>
              <a:t>.</a:t>
            </a:r>
            <a:br>
              <a:rPr lang="en-US" altLang="en-US" sz="2400" b="1" dirty="0">
                <a:latin typeface="Times New Roman" panose="02020603050405020304" pitchFamily="18" charset="0"/>
                <a:cs typeface="Times New Roman" panose="02020603050405020304" pitchFamily="18" charset="0"/>
              </a:rPr>
            </a:br>
            <a:endParaRPr lang="en-US" altLang="en-US" sz="2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2969484"/>
      </p:ext>
    </p:extLst>
  </p:cSld>
  <p:clrMapOvr>
    <a:masterClrMapping/>
  </p:clrMapOvr>
  <mc:AlternateContent xmlns:mc="http://schemas.openxmlformats.org/markup-compatibility/2006" xmlns:p14="http://schemas.microsoft.com/office/powerpoint/2010/main">
    <mc:Choice Requires="p14">
      <p:transition spd="slow" p14:dur="2000" advTm="70139"/>
    </mc:Choice>
    <mc:Fallback xmlns="">
      <p:transition spd="slow" advTm="70139"/>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nip and Round Single Corner Rectangle 6"/>
          <p:cNvSpPr/>
          <p:nvPr/>
        </p:nvSpPr>
        <p:spPr>
          <a:xfrm>
            <a:off x="-1" y="95254"/>
            <a:ext cx="8863013" cy="958372"/>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marL="609585" indent="-609585" eaLnBrk="0" fontAlgn="base" hangingPunct="0">
              <a:spcBef>
                <a:spcPct val="20000"/>
              </a:spcBef>
              <a:spcAft>
                <a:spcPct val="0"/>
              </a:spcAft>
              <a:defRPr/>
            </a:pPr>
            <a:r>
              <a:rPr lang="en-US" sz="3400" b="1" dirty="0">
                <a:solidFill>
                  <a:srgbClr val="FFFFFF"/>
                </a:solidFill>
                <a:latin typeface="Times New Roman" panose="02020603050405020304" pitchFamily="18" charset="0"/>
                <a:cs typeface="Times New Roman" panose="02020603050405020304" pitchFamily="18" charset="0"/>
              </a:rPr>
              <a:t>Transposition: Examples</a:t>
            </a:r>
            <a:endParaRPr lang="en-US" sz="3400" b="1" dirty="0">
              <a:solidFill>
                <a:srgbClr val="FF0000"/>
              </a:solidFill>
              <a:latin typeface="Times New Roman" panose="02020603050405020304" pitchFamily="18" charset="0"/>
              <a:cs typeface="Times New Roman" panose="02020603050405020304" pitchFamily="18" charset="0"/>
            </a:endParaRPr>
          </a:p>
        </p:txBody>
      </p:sp>
      <p:sp>
        <p:nvSpPr>
          <p:cNvPr id="8" name="Snip and Round Single Corner Rectangle 7"/>
          <p:cNvSpPr/>
          <p:nvPr/>
        </p:nvSpPr>
        <p:spPr>
          <a:xfrm>
            <a:off x="3" y="6477001"/>
            <a:ext cx="8863013" cy="323851"/>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a:spcBef>
                <a:spcPct val="20000"/>
              </a:spcBef>
              <a:buFont typeface="Arial" panose="020B0604020202020204" pitchFamily="34" charset="0"/>
              <a:buChar char="•"/>
              <a:tabLst>
                <a:tab pos="4389438" algn="l"/>
              </a:tabLst>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tabLst>
                <a:tab pos="4389438" algn="l"/>
              </a:tabLst>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tabLst>
                <a:tab pos="4389438" algn="l"/>
              </a:tabLst>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9pPr>
          </a:lstStyle>
          <a:p>
            <a:pPr algn="r" fontAlgn="base">
              <a:spcBef>
                <a:spcPct val="0"/>
              </a:spcBef>
              <a:spcAft>
                <a:spcPct val="0"/>
              </a:spcAft>
              <a:buNone/>
              <a:defRPr/>
            </a:pPr>
            <a:fld id="{5C157F89-BC4E-485A-A9B8-EC5F2289648F}" type="slidenum">
              <a:rPr lang="en-US" altLang="en-US" sz="1300">
                <a:solidFill>
                  <a:srgbClr val="FFFFFF"/>
                </a:solidFill>
                <a:latin typeface="Gill Sans MT" panose="020B0502020104020203" pitchFamily="34" charset="0"/>
              </a:rPr>
              <a:pPr algn="r" fontAlgn="base">
                <a:spcBef>
                  <a:spcPct val="0"/>
                </a:spcBef>
                <a:spcAft>
                  <a:spcPct val="0"/>
                </a:spcAft>
                <a:buNone/>
                <a:defRPr/>
              </a:pPr>
              <a:t>24</a:t>
            </a:fld>
            <a:endParaRPr lang="en-US" altLang="en-US" sz="1300">
              <a:solidFill>
                <a:srgbClr val="FFFFFF"/>
              </a:solidFill>
              <a:latin typeface="Gill Sans MT" panose="020B0502020104020203" pitchFamily="34" charset="0"/>
            </a:endParaRPr>
          </a:p>
        </p:txBody>
      </p:sp>
      <p:sp>
        <p:nvSpPr>
          <p:cNvPr id="27" name="TextBox 26"/>
          <p:cNvSpPr txBox="1"/>
          <p:nvPr/>
        </p:nvSpPr>
        <p:spPr>
          <a:xfrm>
            <a:off x="11769" y="1095393"/>
            <a:ext cx="8851244" cy="4708981"/>
          </a:xfrm>
          <a:prstGeom prst="rect">
            <a:avLst/>
          </a:prstGeom>
          <a:noFill/>
        </p:spPr>
        <p:txBody>
          <a:bodyPr wrap="square" lIns="91440" tIns="45720" rIns="91440" bIns="45720" anchor="t">
            <a:spAutoFit/>
          </a:bodyPr>
          <a:lstStyle/>
          <a:p>
            <a:pPr fontAlgn="base">
              <a:spcBef>
                <a:spcPct val="0"/>
              </a:spcBef>
              <a:spcAft>
                <a:spcPct val="0"/>
              </a:spcAft>
              <a:defRPr/>
            </a:pPr>
            <a:r>
              <a:rPr lang="en-US" sz="2000" dirty="0">
                <a:latin typeface="Times New Roman"/>
                <a:ea typeface="ＭＳ Ｐゴシック"/>
                <a:cs typeface="Times New Roman"/>
              </a:rPr>
              <a:t>Consider the following examples. Is the inference valid? </a:t>
            </a:r>
          </a:p>
          <a:p>
            <a:pPr fontAlgn="base">
              <a:spcBef>
                <a:spcPct val="0"/>
              </a:spcBef>
              <a:spcAft>
                <a:spcPct val="0"/>
              </a:spcAft>
              <a:defRPr/>
            </a:pPr>
            <a:r>
              <a:rPr lang="en-US" sz="2000" dirty="0">
                <a:latin typeface="Times New Roman"/>
                <a:ea typeface="ＭＳ Ｐゴシック"/>
                <a:cs typeface="Times New Roman"/>
              </a:rPr>
              <a:t>Are the arguments sound?</a:t>
            </a:r>
          </a:p>
          <a:p>
            <a:pPr fontAlgn="base">
              <a:spcBef>
                <a:spcPct val="0"/>
              </a:spcBef>
              <a:spcAft>
                <a:spcPct val="0"/>
              </a:spcAft>
              <a:defRPr/>
            </a:pPr>
            <a:endParaRPr lang="en-US" sz="2000" dirty="0">
              <a:latin typeface="Times New Roman" panose="02020603050405020304" pitchFamily="18" charset="0"/>
              <a:ea typeface="ＭＳ Ｐゴシック" charset="0"/>
              <a:cs typeface="Times New Roman" panose="02020603050405020304" pitchFamily="18" charset="0"/>
            </a:endParaRPr>
          </a:p>
          <a:p>
            <a:pPr lvl="1" fontAlgn="base">
              <a:spcBef>
                <a:spcPct val="0"/>
              </a:spcBef>
              <a:spcAft>
                <a:spcPct val="0"/>
              </a:spcAft>
              <a:defRPr/>
            </a:pPr>
            <a:r>
              <a:rPr lang="en-US" sz="2000" dirty="0">
                <a:latin typeface="Times New Roman"/>
                <a:ea typeface="ＭＳ Ｐゴシック"/>
                <a:cs typeface="Times New Roman"/>
              </a:rPr>
              <a:t>1.	If he lives in Bangkok, he lives in Thailand.</a:t>
            </a:r>
          </a:p>
          <a:p>
            <a:pPr lvl="1" fontAlgn="base">
              <a:spcBef>
                <a:spcPct val="0"/>
              </a:spcBef>
              <a:spcAft>
                <a:spcPct val="0"/>
              </a:spcAft>
              <a:defRPr/>
            </a:pPr>
            <a:r>
              <a:rPr lang="en-US" sz="2000" dirty="0">
                <a:latin typeface="Times New Roman"/>
                <a:ea typeface="ＭＳ Ｐゴシック"/>
                <a:cs typeface="Times New Roman"/>
              </a:rPr>
              <a:t>	_____________________________</a:t>
            </a:r>
          </a:p>
          <a:p>
            <a:pPr lvl="1" fontAlgn="base">
              <a:spcBef>
                <a:spcPct val="0"/>
              </a:spcBef>
              <a:spcAft>
                <a:spcPct val="0"/>
              </a:spcAft>
              <a:defRPr/>
            </a:pPr>
            <a:r>
              <a:rPr lang="en-US" sz="2000" dirty="0">
                <a:latin typeface="Times New Roman"/>
                <a:ea typeface="ＭＳ Ｐゴシック"/>
                <a:cs typeface="Times New Roman"/>
              </a:rPr>
              <a:t>	So, if he does not live in Thailand, he does not live in Bangkok.</a:t>
            </a:r>
          </a:p>
          <a:p>
            <a:pPr lvl="1">
              <a:spcBef>
                <a:spcPct val="0"/>
              </a:spcBef>
              <a:spcAft>
                <a:spcPct val="0"/>
              </a:spcAft>
              <a:defRPr/>
            </a:pPr>
            <a:endParaRPr lang="en-US" sz="2000" dirty="0">
              <a:latin typeface="Times New Roman" panose="02020603050405020304" pitchFamily="18" charset="0"/>
              <a:ea typeface="ＭＳ Ｐゴシック" charset="0"/>
              <a:cs typeface="Times New Roman" panose="02020603050405020304" pitchFamily="18" charset="0"/>
            </a:endParaRPr>
          </a:p>
          <a:p>
            <a:pPr lvl="1">
              <a:spcBef>
                <a:spcPct val="0"/>
              </a:spcBef>
              <a:spcAft>
                <a:spcPct val="0"/>
              </a:spcAft>
              <a:defRPr/>
            </a:pPr>
            <a:endParaRPr lang="en-US" sz="2000" dirty="0">
              <a:latin typeface="Times New Roman" panose="02020603050405020304" pitchFamily="18" charset="0"/>
              <a:ea typeface="ＭＳ Ｐゴシック" charset="0"/>
              <a:cs typeface="Times New Roman" panose="02020603050405020304" pitchFamily="18" charset="0"/>
            </a:endParaRPr>
          </a:p>
          <a:p>
            <a:pPr lvl="1">
              <a:spcBef>
                <a:spcPct val="0"/>
              </a:spcBef>
              <a:spcAft>
                <a:spcPct val="0"/>
              </a:spcAft>
              <a:defRPr/>
            </a:pPr>
            <a:endParaRPr lang="en-US" sz="2000" dirty="0">
              <a:latin typeface="Times New Roman" panose="02020603050405020304" pitchFamily="18" charset="0"/>
              <a:ea typeface="ＭＳ Ｐゴシック" charset="0"/>
              <a:cs typeface="Times New Roman" panose="02020603050405020304" pitchFamily="18" charset="0"/>
            </a:endParaRPr>
          </a:p>
          <a:p>
            <a:pPr lvl="1" fontAlgn="base">
              <a:spcBef>
                <a:spcPct val="0"/>
              </a:spcBef>
              <a:spcAft>
                <a:spcPct val="0"/>
              </a:spcAft>
              <a:defRPr/>
            </a:pPr>
            <a:endParaRPr lang="en-US" sz="2000" dirty="0">
              <a:latin typeface="Times New Roman" panose="02020603050405020304" pitchFamily="18" charset="0"/>
              <a:ea typeface="ＭＳ Ｐゴシック" charset="0"/>
              <a:cs typeface="Times New Roman" panose="02020603050405020304" pitchFamily="18" charset="0"/>
            </a:endParaRPr>
          </a:p>
          <a:p>
            <a:pPr lvl="1" fontAlgn="base">
              <a:spcBef>
                <a:spcPct val="0"/>
              </a:spcBef>
              <a:spcAft>
                <a:spcPct val="0"/>
              </a:spcAft>
              <a:defRPr/>
            </a:pPr>
            <a:r>
              <a:rPr lang="en-US" sz="2000" dirty="0">
                <a:latin typeface="Times New Roman"/>
                <a:ea typeface="ＭＳ Ｐゴシック"/>
                <a:cs typeface="Times New Roman"/>
              </a:rPr>
              <a:t>2.	If he lives in Thailand, he lives in Bangkok.</a:t>
            </a:r>
          </a:p>
          <a:p>
            <a:pPr lvl="1" fontAlgn="base">
              <a:spcBef>
                <a:spcPct val="0"/>
              </a:spcBef>
              <a:spcAft>
                <a:spcPct val="0"/>
              </a:spcAft>
              <a:defRPr/>
            </a:pPr>
            <a:r>
              <a:rPr lang="en-US" sz="2000" dirty="0">
                <a:latin typeface="Times New Roman"/>
                <a:ea typeface="ＭＳ Ｐゴシック"/>
                <a:cs typeface="Times New Roman"/>
              </a:rPr>
              <a:t>	_____________________________</a:t>
            </a:r>
          </a:p>
          <a:p>
            <a:pPr lvl="1" fontAlgn="base">
              <a:spcBef>
                <a:spcPct val="0"/>
              </a:spcBef>
              <a:spcAft>
                <a:spcPct val="0"/>
              </a:spcAft>
              <a:defRPr/>
            </a:pPr>
            <a:r>
              <a:rPr lang="en-US" sz="2000" dirty="0">
                <a:latin typeface="Times New Roman"/>
                <a:ea typeface="ＭＳ Ｐゴシック"/>
                <a:cs typeface="Times New Roman"/>
              </a:rPr>
              <a:t>	So, if he does not live in Bangkok, he does not live in Thailand.</a:t>
            </a:r>
          </a:p>
          <a:p>
            <a:pPr fontAlgn="base">
              <a:spcBef>
                <a:spcPct val="0"/>
              </a:spcBef>
              <a:spcAft>
                <a:spcPct val="0"/>
              </a:spcAft>
              <a:defRPr/>
            </a:pPr>
            <a:endParaRPr lang="en-US" sz="2000" b="1" dirty="0">
              <a:latin typeface="Times New Roman" panose="02020603050405020304" pitchFamily="18" charset="0"/>
              <a:ea typeface="ＭＳ Ｐゴシック" charset="0"/>
              <a:cs typeface="Times New Roman" panose="02020603050405020304" pitchFamily="18" charset="0"/>
            </a:endParaRPr>
          </a:p>
          <a:p>
            <a:pPr fontAlgn="base">
              <a:spcBef>
                <a:spcPct val="0"/>
              </a:spcBef>
              <a:spcAft>
                <a:spcPct val="0"/>
              </a:spcAft>
              <a:defRPr/>
            </a:pPr>
            <a:endParaRPr lang="en-US" sz="2000" b="1" dirty="0">
              <a:latin typeface="Times New Roman" panose="02020603050405020304" pitchFamily="18" charset="0"/>
              <a:ea typeface="ＭＳ Ｐゴシック" charset="0"/>
              <a:cs typeface="Times New Roman" panose="02020603050405020304" pitchFamily="18" charset="0"/>
            </a:endParaRPr>
          </a:p>
        </p:txBody>
      </p:sp>
    </p:spTree>
    <p:extLst>
      <p:ext uri="{BB962C8B-B14F-4D97-AF65-F5344CB8AC3E}">
        <p14:creationId xmlns:p14="http://schemas.microsoft.com/office/powerpoint/2010/main" val="2484408123"/>
      </p:ext>
    </p:extLst>
  </p:cSld>
  <p:clrMapOvr>
    <a:masterClrMapping/>
  </p:clrMapOvr>
  <mc:AlternateContent xmlns:mc="http://schemas.openxmlformats.org/markup-compatibility/2006" xmlns:p14="http://schemas.microsoft.com/office/powerpoint/2010/main">
    <mc:Choice Requires="p14">
      <p:transition spd="slow" p14:dur="2000" advTm="106682"/>
    </mc:Choice>
    <mc:Fallback xmlns="">
      <p:transition spd="slow" advTm="106682"/>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nip and Round Single Corner Rectangle 6"/>
          <p:cNvSpPr/>
          <p:nvPr/>
        </p:nvSpPr>
        <p:spPr>
          <a:xfrm>
            <a:off x="11768" y="137019"/>
            <a:ext cx="8985477" cy="958373"/>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marL="609585" indent="-609585" eaLnBrk="0" fontAlgn="base" hangingPunct="0">
              <a:spcBef>
                <a:spcPct val="20000"/>
              </a:spcBef>
              <a:spcAft>
                <a:spcPct val="0"/>
              </a:spcAft>
              <a:defRPr/>
            </a:pPr>
            <a:r>
              <a:rPr lang="en-US" sz="3400" b="1" dirty="0">
                <a:solidFill>
                  <a:srgbClr val="FFFFFF"/>
                </a:solidFill>
                <a:latin typeface="Times New Roman" panose="02020603050405020304" pitchFamily="18" charset="0"/>
                <a:cs typeface="Times New Roman" panose="02020603050405020304" pitchFamily="18" charset="0"/>
              </a:rPr>
              <a:t>A note on ‘if’, ‘only if’, and ‘if and only if’, and unless</a:t>
            </a:r>
            <a:endParaRPr lang="en-US" sz="3400" b="1" dirty="0">
              <a:solidFill>
                <a:srgbClr val="FF0000"/>
              </a:solidFill>
              <a:latin typeface="Times New Roman" panose="02020603050405020304" pitchFamily="18" charset="0"/>
              <a:cs typeface="Times New Roman" panose="02020603050405020304" pitchFamily="18" charset="0"/>
            </a:endParaRPr>
          </a:p>
        </p:txBody>
      </p:sp>
      <p:sp>
        <p:nvSpPr>
          <p:cNvPr id="8" name="Snip and Round Single Corner Rectangle 7"/>
          <p:cNvSpPr/>
          <p:nvPr/>
        </p:nvSpPr>
        <p:spPr>
          <a:xfrm>
            <a:off x="3" y="6477001"/>
            <a:ext cx="8997242" cy="285745"/>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a:spcBef>
                <a:spcPct val="20000"/>
              </a:spcBef>
              <a:buFont typeface="Arial" panose="020B0604020202020204" pitchFamily="34" charset="0"/>
              <a:buChar char="•"/>
              <a:tabLst>
                <a:tab pos="4389438" algn="l"/>
              </a:tabLst>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tabLst>
                <a:tab pos="4389438" algn="l"/>
              </a:tabLst>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tabLst>
                <a:tab pos="4389438" algn="l"/>
              </a:tabLst>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9pPr>
          </a:lstStyle>
          <a:p>
            <a:pPr algn="r" fontAlgn="base">
              <a:spcBef>
                <a:spcPct val="0"/>
              </a:spcBef>
              <a:spcAft>
                <a:spcPct val="0"/>
              </a:spcAft>
              <a:buNone/>
              <a:defRPr/>
            </a:pPr>
            <a:fld id="{5C157F89-BC4E-485A-A9B8-EC5F2289648F}" type="slidenum">
              <a:rPr lang="en-US" altLang="en-US" sz="1300">
                <a:solidFill>
                  <a:srgbClr val="FFFFFF"/>
                </a:solidFill>
                <a:latin typeface="Gill Sans MT" panose="020B0502020104020203" pitchFamily="34" charset="0"/>
              </a:rPr>
              <a:pPr algn="r" fontAlgn="base">
                <a:spcBef>
                  <a:spcPct val="0"/>
                </a:spcBef>
                <a:spcAft>
                  <a:spcPct val="0"/>
                </a:spcAft>
                <a:buNone/>
                <a:defRPr/>
              </a:pPr>
              <a:t>25</a:t>
            </a:fld>
            <a:endParaRPr lang="en-US" altLang="en-US" sz="1300">
              <a:solidFill>
                <a:srgbClr val="FFFFFF"/>
              </a:solidFill>
              <a:latin typeface="Gill Sans MT" panose="020B0502020104020203" pitchFamily="34" charset="0"/>
            </a:endParaRPr>
          </a:p>
        </p:txBody>
      </p:sp>
      <p:sp>
        <p:nvSpPr>
          <p:cNvPr id="27" name="TextBox 26"/>
          <p:cNvSpPr txBox="1"/>
          <p:nvPr/>
        </p:nvSpPr>
        <p:spPr>
          <a:xfrm>
            <a:off x="11768" y="1095392"/>
            <a:ext cx="8985477" cy="5201424"/>
          </a:xfrm>
          <a:prstGeom prst="rect">
            <a:avLst/>
          </a:prstGeom>
          <a:noFill/>
        </p:spPr>
        <p:txBody>
          <a:bodyPr wrap="square" lIns="91440" tIns="45720" rIns="91440" bIns="45720" anchor="t">
            <a:spAutoFit/>
          </a:bodyPr>
          <a:lstStyle/>
          <a:p>
            <a:pPr fontAlgn="base">
              <a:spcBef>
                <a:spcPct val="0"/>
              </a:spcBef>
              <a:spcAft>
                <a:spcPct val="0"/>
              </a:spcAft>
              <a:defRPr/>
            </a:pPr>
            <a:r>
              <a:rPr lang="en-US" sz="2400" b="1" dirty="0">
                <a:latin typeface="Times New Roman" panose="02020603050405020304" pitchFamily="18" charset="0"/>
                <a:ea typeface="ＭＳ Ｐゴシック" charset="0"/>
                <a:cs typeface="Times New Roman" panose="02020603050405020304" pitchFamily="18" charset="0"/>
              </a:rPr>
              <a:t>You must be clear about these equivalences:</a:t>
            </a:r>
          </a:p>
          <a:p>
            <a:pPr marL="970915" lvl="1" indent="-513715" fontAlgn="base">
              <a:spcBef>
                <a:spcPct val="0"/>
              </a:spcBef>
              <a:spcAft>
                <a:spcPct val="0"/>
              </a:spcAft>
              <a:buFont typeface="+mj-lt"/>
              <a:buAutoNum type="romanLcPeriod"/>
              <a:defRPr/>
            </a:pPr>
            <a:endParaRPr lang="en-US" sz="2400" dirty="0">
              <a:latin typeface="Times New Roman" panose="02020603050405020304" pitchFamily="18" charset="0"/>
              <a:ea typeface="ＭＳ Ｐゴシック" charset="0"/>
              <a:cs typeface="Times New Roman" panose="02020603050405020304" pitchFamily="18" charset="0"/>
            </a:endParaRPr>
          </a:p>
          <a:p>
            <a:pPr marL="970915" lvl="1" indent="-513715" fontAlgn="base">
              <a:spcBef>
                <a:spcPct val="0"/>
              </a:spcBef>
              <a:spcAft>
                <a:spcPct val="0"/>
              </a:spcAft>
              <a:buFont typeface="+mj-lt"/>
              <a:buAutoNum type="romanLcPeriod"/>
              <a:defRPr/>
            </a:pPr>
            <a:r>
              <a:rPr lang="en-US" sz="2400" u="sng" dirty="0">
                <a:latin typeface="Times New Roman"/>
                <a:ea typeface="ＭＳ Ｐゴシック"/>
                <a:cs typeface="Times New Roman"/>
                <a:sym typeface="Wingdings" panose="05000000000000000000" pitchFamily="2" charset="2"/>
              </a:rPr>
              <a:t>P is sufficient for Q </a:t>
            </a:r>
            <a:r>
              <a:rPr lang="en-US" sz="2400" dirty="0">
                <a:latin typeface="Times New Roman"/>
                <a:ea typeface="ＭＳ Ｐゴシック"/>
                <a:cs typeface="Times New Roman"/>
              </a:rPr>
              <a:t>↔ If P then Q ↔</a:t>
            </a:r>
            <a:r>
              <a:rPr lang="en-US" sz="2400" dirty="0">
                <a:latin typeface="Times New Roman"/>
                <a:ea typeface="ＭＳ Ｐゴシック"/>
                <a:cs typeface="Times New Roman"/>
                <a:sym typeface="Wingdings" panose="05000000000000000000" pitchFamily="2" charset="2"/>
              </a:rPr>
              <a:t> If not-Q, then not-P</a:t>
            </a:r>
            <a:r>
              <a:rPr lang="en-US" sz="2400" dirty="0">
                <a:latin typeface="Times New Roman"/>
                <a:ea typeface="ＭＳ Ｐゴシック"/>
                <a:cs typeface="Times New Roman"/>
              </a:rPr>
              <a:t> ↔ Only if Q then P ↔</a:t>
            </a:r>
            <a:r>
              <a:rPr lang="en-US" sz="2400" dirty="0">
                <a:latin typeface="Times New Roman"/>
                <a:ea typeface="ＭＳ Ｐゴシック"/>
                <a:cs typeface="Times New Roman"/>
                <a:sym typeface="Wingdings" panose="05000000000000000000" pitchFamily="2" charset="2"/>
              </a:rPr>
              <a:t> </a:t>
            </a:r>
            <a:r>
              <a:rPr lang="en-US" sz="2400" u="sng" dirty="0">
                <a:latin typeface="Times New Roman"/>
                <a:ea typeface="ＭＳ Ｐゴシック"/>
                <a:cs typeface="Times New Roman"/>
                <a:sym typeface="Wingdings" panose="05000000000000000000" pitchFamily="2" charset="2"/>
              </a:rPr>
              <a:t>Q is necessary for P</a:t>
            </a:r>
            <a:r>
              <a:rPr lang="en-US" sz="2400" dirty="0">
                <a:latin typeface="Times New Roman"/>
                <a:ea typeface="ＭＳ Ｐゴシック"/>
                <a:cs typeface="Times New Roman"/>
                <a:sym typeface="Wingdings" panose="05000000000000000000" pitchFamily="2" charset="2"/>
              </a:rPr>
              <a:t> </a:t>
            </a:r>
            <a:endParaRPr lang="en-US" sz="2400" dirty="0">
              <a:latin typeface="Times New Roman"/>
              <a:ea typeface="ＭＳ Ｐゴシック"/>
              <a:cs typeface="Times New Roman"/>
            </a:endParaRPr>
          </a:p>
          <a:p>
            <a:pPr marL="970915" lvl="1" indent="-513715" fontAlgn="base">
              <a:spcBef>
                <a:spcPct val="0"/>
              </a:spcBef>
              <a:spcAft>
                <a:spcPct val="0"/>
              </a:spcAft>
              <a:buFont typeface="+mj-lt"/>
              <a:buAutoNum type="romanLcPeriod"/>
              <a:defRPr/>
            </a:pPr>
            <a:endParaRPr lang="en-US" sz="2400" u="sng" dirty="0">
              <a:latin typeface="Times New Roman" panose="02020603050405020304" pitchFamily="18" charset="0"/>
              <a:ea typeface="ＭＳ Ｐゴシック" charset="0"/>
              <a:cs typeface="Times New Roman" panose="02020603050405020304" pitchFamily="18" charset="0"/>
            </a:endParaRPr>
          </a:p>
          <a:p>
            <a:pPr marL="970915" lvl="1" indent="-513715" fontAlgn="base">
              <a:spcBef>
                <a:spcPct val="0"/>
              </a:spcBef>
              <a:spcAft>
                <a:spcPct val="0"/>
              </a:spcAft>
              <a:buFont typeface="+mj-lt"/>
              <a:buAutoNum type="romanLcPeriod"/>
              <a:defRPr/>
            </a:pPr>
            <a:r>
              <a:rPr lang="en-US" sz="2400" u="sng" dirty="0">
                <a:latin typeface="Times New Roman"/>
                <a:ea typeface="ＭＳ Ｐゴシック"/>
                <a:cs typeface="Times New Roman"/>
                <a:sym typeface="Wingdings" panose="05000000000000000000" pitchFamily="2" charset="2"/>
              </a:rPr>
              <a:t>P is necessary for Q </a:t>
            </a:r>
            <a:r>
              <a:rPr lang="en-US" sz="2400" dirty="0">
                <a:latin typeface="Times New Roman"/>
                <a:ea typeface="ＭＳ Ｐゴシック"/>
                <a:cs typeface="Times New Roman"/>
              </a:rPr>
              <a:t>↔ </a:t>
            </a:r>
            <a:r>
              <a:rPr lang="en-US" sz="2400" dirty="0">
                <a:latin typeface="Times New Roman"/>
                <a:ea typeface="ＭＳ Ｐゴシック"/>
                <a:cs typeface="Times New Roman"/>
                <a:sym typeface="Wingdings" panose="05000000000000000000" pitchFamily="2" charset="2"/>
              </a:rPr>
              <a:t>Only if P then Q</a:t>
            </a:r>
            <a:r>
              <a:rPr lang="en-US" sz="2400" dirty="0">
                <a:latin typeface="Times New Roman"/>
                <a:ea typeface="ＭＳ Ｐゴシック"/>
                <a:cs typeface="Times New Roman"/>
              </a:rPr>
              <a:t> ↔</a:t>
            </a:r>
            <a:r>
              <a:rPr lang="en-US" sz="2400" dirty="0">
                <a:latin typeface="Times New Roman"/>
                <a:ea typeface="ＭＳ Ｐゴシック"/>
                <a:cs typeface="Times New Roman"/>
                <a:sym typeface="Wingdings" panose="05000000000000000000" pitchFamily="2" charset="2"/>
              </a:rPr>
              <a:t> If not-P then not-Q </a:t>
            </a:r>
            <a:r>
              <a:rPr lang="en-US" sz="2400" dirty="0">
                <a:latin typeface="Times New Roman"/>
                <a:ea typeface="ＭＳ Ｐゴシック"/>
                <a:cs typeface="Times New Roman"/>
              </a:rPr>
              <a:t>↔</a:t>
            </a:r>
            <a:r>
              <a:rPr lang="en-US" sz="2400" dirty="0">
                <a:latin typeface="Times New Roman"/>
                <a:ea typeface="ＭＳ Ｐゴシック"/>
                <a:cs typeface="Times New Roman"/>
                <a:sym typeface="Wingdings" panose="05000000000000000000" pitchFamily="2" charset="2"/>
              </a:rPr>
              <a:t> If not-not-Q then not-not-P</a:t>
            </a:r>
            <a:r>
              <a:rPr lang="en-US" sz="2400" dirty="0">
                <a:latin typeface="Times New Roman"/>
                <a:ea typeface="ＭＳ Ｐゴシック"/>
                <a:cs typeface="Times New Roman"/>
              </a:rPr>
              <a:t> ↔</a:t>
            </a:r>
            <a:r>
              <a:rPr lang="en-US" sz="2400" dirty="0">
                <a:latin typeface="Times New Roman"/>
                <a:ea typeface="ＭＳ Ｐゴシック"/>
                <a:cs typeface="Times New Roman"/>
                <a:sym typeface="Wingdings" panose="05000000000000000000" pitchFamily="2" charset="2"/>
              </a:rPr>
              <a:t> If Q then P</a:t>
            </a:r>
            <a:r>
              <a:rPr lang="en-US" sz="2400" dirty="0">
                <a:latin typeface="Times New Roman"/>
                <a:ea typeface="ＭＳ Ｐゴシック"/>
                <a:cs typeface="Times New Roman"/>
              </a:rPr>
              <a:t> ↔</a:t>
            </a:r>
            <a:r>
              <a:rPr lang="en-US" sz="2400" dirty="0">
                <a:latin typeface="Times New Roman"/>
                <a:ea typeface="ＭＳ Ｐゴシック"/>
                <a:cs typeface="Times New Roman"/>
                <a:sym typeface="Wingdings" panose="05000000000000000000" pitchFamily="2" charset="2"/>
              </a:rPr>
              <a:t> </a:t>
            </a:r>
            <a:r>
              <a:rPr lang="en-US" sz="2400" u="sng" dirty="0">
                <a:latin typeface="Times New Roman"/>
                <a:ea typeface="ＭＳ Ｐゴシック"/>
                <a:cs typeface="Times New Roman"/>
                <a:sym typeface="Wingdings" panose="05000000000000000000" pitchFamily="2" charset="2"/>
              </a:rPr>
              <a:t>Q is sufficient for P</a:t>
            </a:r>
            <a:r>
              <a:rPr lang="en-US" sz="2400" dirty="0">
                <a:latin typeface="Times New Roman"/>
                <a:ea typeface="ＭＳ Ｐゴシック"/>
                <a:cs typeface="Times New Roman"/>
                <a:sym typeface="Wingdings" panose="05000000000000000000" pitchFamily="2" charset="2"/>
              </a:rPr>
              <a:t>.</a:t>
            </a:r>
            <a:endParaRPr lang="en-US" sz="2400" dirty="0">
              <a:latin typeface="Times New Roman"/>
              <a:ea typeface="ＭＳ Ｐゴシック"/>
              <a:cs typeface="Times New Roman"/>
            </a:endParaRPr>
          </a:p>
          <a:p>
            <a:pPr marL="970915" lvl="1" indent="-513715" fontAlgn="base">
              <a:spcBef>
                <a:spcPct val="0"/>
              </a:spcBef>
              <a:spcAft>
                <a:spcPct val="0"/>
              </a:spcAft>
              <a:buFont typeface="+mj-lt"/>
              <a:buAutoNum type="romanLcPeriod"/>
              <a:defRPr/>
            </a:pPr>
            <a:endParaRPr lang="en-US" sz="2400" dirty="0">
              <a:latin typeface="Times New Roman" panose="02020603050405020304" pitchFamily="18" charset="0"/>
              <a:ea typeface="ＭＳ Ｐゴシック" charset="0"/>
              <a:cs typeface="Times New Roman" panose="02020603050405020304" pitchFamily="18" charset="0"/>
            </a:endParaRPr>
          </a:p>
          <a:p>
            <a:pPr marL="970915" lvl="1" indent="-513715" fontAlgn="base">
              <a:spcBef>
                <a:spcPct val="0"/>
              </a:spcBef>
              <a:spcAft>
                <a:spcPct val="0"/>
              </a:spcAft>
              <a:buFont typeface="+mj-lt"/>
              <a:buAutoNum type="romanLcPeriod"/>
              <a:defRPr/>
            </a:pPr>
            <a:r>
              <a:rPr lang="en-US" sz="2400" dirty="0">
                <a:latin typeface="Times New Roman"/>
                <a:ea typeface="ＭＳ Ｐゴシック"/>
                <a:cs typeface="Times New Roman"/>
                <a:sym typeface="Wingdings" panose="05000000000000000000" pitchFamily="2" charset="2"/>
              </a:rPr>
              <a:t>If and only if P, then Q</a:t>
            </a:r>
            <a:r>
              <a:rPr lang="en-US" sz="2400" dirty="0">
                <a:latin typeface="Times New Roman"/>
                <a:ea typeface="ＭＳ Ｐゴシック"/>
                <a:cs typeface="Times New Roman"/>
              </a:rPr>
              <a:t> ↔</a:t>
            </a:r>
            <a:r>
              <a:rPr lang="en-US" sz="2400" dirty="0">
                <a:latin typeface="Times New Roman"/>
                <a:ea typeface="ＭＳ Ｐゴシック"/>
                <a:cs typeface="Times New Roman"/>
                <a:sym typeface="Wingdings" panose="05000000000000000000" pitchFamily="2" charset="2"/>
              </a:rPr>
              <a:t> P is sufficient and necessary for Q</a:t>
            </a:r>
            <a:r>
              <a:rPr lang="en-US" sz="2400" dirty="0">
                <a:latin typeface="Times New Roman"/>
                <a:ea typeface="ＭＳ Ｐゴシック"/>
                <a:cs typeface="Times New Roman"/>
              </a:rPr>
              <a:t> ↔</a:t>
            </a:r>
            <a:r>
              <a:rPr lang="en-US" sz="2400" dirty="0">
                <a:latin typeface="Times New Roman"/>
                <a:ea typeface="ＭＳ Ｐゴシック"/>
                <a:cs typeface="Times New Roman"/>
                <a:sym typeface="Wingdings" panose="05000000000000000000" pitchFamily="2" charset="2"/>
              </a:rPr>
              <a:t> Q is necessary and sufficient for P</a:t>
            </a:r>
            <a:r>
              <a:rPr lang="en-US" sz="2400" dirty="0">
                <a:latin typeface="Times New Roman"/>
                <a:ea typeface="ＭＳ Ｐゴシック"/>
                <a:cs typeface="Times New Roman"/>
              </a:rPr>
              <a:t> ↔</a:t>
            </a:r>
            <a:r>
              <a:rPr lang="en-US" sz="2400" dirty="0">
                <a:latin typeface="Times New Roman"/>
                <a:ea typeface="ＭＳ Ｐゴシック"/>
                <a:cs typeface="Times New Roman"/>
                <a:sym typeface="Wingdings" panose="05000000000000000000" pitchFamily="2" charset="2"/>
              </a:rPr>
              <a:t> If and only if Q, then P.</a:t>
            </a:r>
            <a:endParaRPr lang="en-US" sz="2400" dirty="0">
              <a:latin typeface="Times New Roman"/>
              <a:ea typeface="ＭＳ Ｐゴシック"/>
              <a:cs typeface="Times New Roman"/>
            </a:endParaRPr>
          </a:p>
          <a:p>
            <a:pPr marL="970915" lvl="1" indent="-513715" fontAlgn="base">
              <a:spcBef>
                <a:spcPct val="0"/>
              </a:spcBef>
              <a:spcAft>
                <a:spcPct val="0"/>
              </a:spcAft>
              <a:buFont typeface="+mj-lt"/>
              <a:buAutoNum type="romanLcPeriod"/>
              <a:defRPr/>
            </a:pPr>
            <a:endParaRPr lang="en-US" sz="2400" dirty="0">
              <a:latin typeface="Times New Roman" panose="02020603050405020304" pitchFamily="18" charset="0"/>
              <a:ea typeface="ＭＳ Ｐゴシック" charset="0"/>
              <a:cs typeface="Times New Roman" panose="02020603050405020304" pitchFamily="18" charset="0"/>
            </a:endParaRPr>
          </a:p>
          <a:p>
            <a:pPr marL="970915" lvl="1" indent="-513715" fontAlgn="base">
              <a:spcBef>
                <a:spcPct val="0"/>
              </a:spcBef>
              <a:spcAft>
                <a:spcPct val="0"/>
              </a:spcAft>
              <a:buFont typeface="+mj-lt"/>
              <a:buAutoNum type="romanLcPeriod"/>
              <a:defRPr/>
            </a:pPr>
            <a:r>
              <a:rPr lang="en-US" sz="2400" dirty="0">
                <a:latin typeface="Times New Roman"/>
                <a:ea typeface="ＭＳ Ｐゴシック"/>
                <a:cs typeface="Times New Roman"/>
                <a:sym typeface="Wingdings" panose="05000000000000000000" pitchFamily="2" charset="2"/>
              </a:rPr>
              <a:t>Q unless P</a:t>
            </a:r>
            <a:r>
              <a:rPr lang="en-US" sz="2400" dirty="0">
                <a:latin typeface="Times New Roman"/>
                <a:ea typeface="ＭＳ Ｐゴシック"/>
                <a:cs typeface="Times New Roman"/>
              </a:rPr>
              <a:t> ↔</a:t>
            </a:r>
            <a:r>
              <a:rPr lang="en-US" sz="2400" dirty="0">
                <a:latin typeface="Times New Roman"/>
                <a:ea typeface="ＭＳ Ｐゴシック"/>
                <a:cs typeface="Times New Roman"/>
                <a:sym typeface="Wingdings" panose="05000000000000000000" pitchFamily="2" charset="2"/>
              </a:rPr>
              <a:t> If not-P then Q </a:t>
            </a:r>
            <a:r>
              <a:rPr lang="en-US" sz="2400" dirty="0">
                <a:solidFill>
                  <a:srgbClr val="FF0000"/>
                </a:solidFill>
                <a:latin typeface="Times New Roman"/>
                <a:ea typeface="ＭＳ Ｐゴシック"/>
                <a:cs typeface="Times New Roman"/>
                <a:sym typeface="Wingdings" panose="05000000000000000000" pitchFamily="2" charset="2"/>
              </a:rPr>
              <a:t>[Emma will dump Sovan unless he asks her to marry him]</a:t>
            </a:r>
            <a:endParaRPr lang="en-US" sz="2400" dirty="0">
              <a:solidFill>
                <a:srgbClr val="FF0000"/>
              </a:solidFill>
              <a:latin typeface="Times New Roman"/>
              <a:ea typeface="ＭＳ Ｐゴシック"/>
              <a:cs typeface="Times New Roman"/>
            </a:endParaRPr>
          </a:p>
          <a:p>
            <a:pPr fontAlgn="base">
              <a:spcBef>
                <a:spcPct val="0"/>
              </a:spcBef>
              <a:spcAft>
                <a:spcPct val="0"/>
              </a:spcAft>
              <a:defRPr/>
            </a:pPr>
            <a:endParaRPr lang="en-US" sz="2000" b="1" dirty="0">
              <a:latin typeface="Times New Roman" panose="02020603050405020304" pitchFamily="18" charset="0"/>
              <a:ea typeface="ＭＳ Ｐゴシック" charset="0"/>
              <a:cs typeface="Times New Roman" panose="02020603050405020304" pitchFamily="18" charset="0"/>
            </a:endParaRPr>
          </a:p>
        </p:txBody>
      </p:sp>
    </p:spTree>
    <p:extLst>
      <p:ext uri="{BB962C8B-B14F-4D97-AF65-F5344CB8AC3E}">
        <p14:creationId xmlns:p14="http://schemas.microsoft.com/office/powerpoint/2010/main" val="2528583103"/>
      </p:ext>
    </p:extLst>
  </p:cSld>
  <p:clrMapOvr>
    <a:masterClrMapping/>
  </p:clrMapOvr>
  <mc:AlternateContent xmlns:mc="http://schemas.openxmlformats.org/markup-compatibility/2006" xmlns:p14="http://schemas.microsoft.com/office/powerpoint/2010/main">
    <mc:Choice Requires="p14">
      <p:transition spd="slow" p14:dur="2000" advTm="202557"/>
    </mc:Choice>
    <mc:Fallback xmlns="">
      <p:transition spd="slow" advTm="202557"/>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nip and Round Single Corner Rectangle 6"/>
          <p:cNvSpPr/>
          <p:nvPr/>
        </p:nvSpPr>
        <p:spPr>
          <a:xfrm>
            <a:off x="-1" y="95254"/>
            <a:ext cx="8796607" cy="853785"/>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fontAlgn="base">
              <a:spcBef>
                <a:spcPct val="0"/>
              </a:spcBef>
              <a:spcAft>
                <a:spcPct val="0"/>
              </a:spcAft>
              <a:defRPr/>
            </a:pPr>
            <a:r>
              <a:rPr lang="en-US" sz="2800" b="1" spc="-151" dirty="0">
                <a:solidFill>
                  <a:prstClr val="white"/>
                </a:solidFill>
                <a:latin typeface="Times New Roman" panose="02020603050405020304" pitchFamily="18" charset="0"/>
                <a:cs typeface="Times New Roman" panose="02020603050405020304" pitchFamily="18" charset="0"/>
              </a:rPr>
              <a:t>Standard Propositional Forms (7):  Disjunctive Syllogism (DS)</a:t>
            </a:r>
          </a:p>
        </p:txBody>
      </p:sp>
      <p:sp>
        <p:nvSpPr>
          <p:cNvPr id="8" name="Snip and Round Single Corner Rectangle 7"/>
          <p:cNvSpPr/>
          <p:nvPr/>
        </p:nvSpPr>
        <p:spPr>
          <a:xfrm>
            <a:off x="3" y="6477001"/>
            <a:ext cx="8863013" cy="323851"/>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a:spcBef>
                <a:spcPct val="20000"/>
              </a:spcBef>
              <a:buFont typeface="Arial" panose="020B0604020202020204" pitchFamily="34" charset="0"/>
              <a:buChar char="•"/>
              <a:tabLst>
                <a:tab pos="4389438" algn="l"/>
              </a:tabLst>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tabLst>
                <a:tab pos="4389438" algn="l"/>
              </a:tabLst>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tabLst>
                <a:tab pos="4389438" algn="l"/>
              </a:tabLst>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9pPr>
          </a:lstStyle>
          <a:p>
            <a:pPr algn="r" fontAlgn="base">
              <a:spcBef>
                <a:spcPct val="0"/>
              </a:spcBef>
              <a:spcAft>
                <a:spcPct val="0"/>
              </a:spcAft>
              <a:buNone/>
              <a:defRPr/>
            </a:pPr>
            <a:fld id="{02404CBC-9017-4C4D-9A9D-4846F12B969B}" type="slidenum">
              <a:rPr lang="en-US" altLang="en-US" sz="1300">
                <a:solidFill>
                  <a:srgbClr val="FFFFFF"/>
                </a:solidFill>
                <a:latin typeface="Gill Sans MT" panose="020B0502020104020203" pitchFamily="34" charset="0"/>
              </a:rPr>
              <a:pPr algn="r" fontAlgn="base">
                <a:spcBef>
                  <a:spcPct val="0"/>
                </a:spcBef>
                <a:spcAft>
                  <a:spcPct val="0"/>
                </a:spcAft>
                <a:buNone/>
                <a:defRPr/>
              </a:pPr>
              <a:t>26</a:t>
            </a:fld>
            <a:endParaRPr lang="en-US" altLang="en-US" sz="1300">
              <a:solidFill>
                <a:srgbClr val="FFFFFF"/>
              </a:solidFill>
              <a:latin typeface="Gill Sans MT" panose="020B0502020104020203" pitchFamily="34" charset="0"/>
            </a:endParaRPr>
          </a:p>
        </p:txBody>
      </p:sp>
      <p:sp>
        <p:nvSpPr>
          <p:cNvPr id="8196" name="Rectangle 4"/>
          <p:cNvSpPr>
            <a:spLocks noGrp="1" noChangeArrowheads="1"/>
          </p:cNvSpPr>
          <p:nvPr>
            <p:ph type="subTitle" idx="1"/>
          </p:nvPr>
        </p:nvSpPr>
        <p:spPr>
          <a:xfrm>
            <a:off x="1" y="1081522"/>
            <a:ext cx="8863013" cy="3096939"/>
          </a:xfrm>
        </p:spPr>
        <p:txBody>
          <a:bodyPr/>
          <a:lstStyle/>
          <a:p>
            <a:pPr algn="l" eaLnBrk="1" hangingPunct="1"/>
            <a:r>
              <a:rPr lang="en-US" altLang="en-US" sz="2400" b="1" dirty="0">
                <a:solidFill>
                  <a:schemeClr val="tx1"/>
                </a:solidFill>
                <a:latin typeface="Times New Roman" panose="02020603050405020304" pitchFamily="18" charset="0"/>
                <a:cs typeface="Times New Roman" panose="02020603050405020304" pitchFamily="18" charset="0"/>
              </a:rPr>
              <a:t>The disjunctive syllogism takes the structure:</a:t>
            </a:r>
          </a:p>
          <a:p>
            <a:pPr marL="456565" lvl="1" algn="l" eaLnBrk="1" hangingPunct="1"/>
            <a:r>
              <a:rPr lang="en-US" altLang="en-US" sz="2400" dirty="0">
                <a:solidFill>
                  <a:schemeClr val="tx1"/>
                </a:solidFill>
                <a:latin typeface="Times New Roman"/>
                <a:ea typeface="MS PGothic"/>
                <a:cs typeface="Times New Roman"/>
              </a:rPr>
              <a:t>Either P or Q</a:t>
            </a:r>
          </a:p>
          <a:p>
            <a:pPr marL="456565" lvl="1" algn="l" eaLnBrk="1" hangingPunct="1"/>
            <a:r>
              <a:rPr lang="en-US" altLang="en-US" sz="2400" dirty="0">
                <a:solidFill>
                  <a:schemeClr val="tx1"/>
                </a:solidFill>
                <a:latin typeface="Times New Roman"/>
                <a:ea typeface="MS PGothic"/>
                <a:cs typeface="Times New Roman"/>
              </a:rPr>
              <a:t>Not-P		[or, not-Q]</a:t>
            </a:r>
          </a:p>
          <a:p>
            <a:pPr marL="456565" lvl="1" algn="l" eaLnBrk="1" hangingPunct="1"/>
            <a:r>
              <a:rPr lang="en-US" altLang="en-US" sz="2400" dirty="0">
                <a:solidFill>
                  <a:schemeClr val="tx1"/>
                </a:solidFill>
                <a:latin typeface="Times New Roman"/>
                <a:ea typeface="MS PGothic"/>
                <a:cs typeface="Times New Roman"/>
              </a:rPr>
              <a:t>_____________</a:t>
            </a:r>
          </a:p>
          <a:p>
            <a:pPr marL="456565" lvl="1" algn="l" eaLnBrk="1" hangingPunct="1"/>
            <a:r>
              <a:rPr lang="en-US" altLang="en-US" sz="2400" dirty="0">
                <a:solidFill>
                  <a:schemeClr val="tx1"/>
                </a:solidFill>
                <a:latin typeface="Times New Roman"/>
                <a:ea typeface="MS PGothic"/>
                <a:cs typeface="Times New Roman"/>
              </a:rPr>
              <a:t>So, Q		[or, So, P]</a:t>
            </a:r>
          </a:p>
          <a:p>
            <a:pPr algn="l" eaLnBrk="1" hangingPunct="1"/>
            <a:r>
              <a:rPr lang="en-US" altLang="en-US" sz="2400" dirty="0">
                <a:solidFill>
                  <a:schemeClr val="tx1"/>
                </a:solidFill>
                <a:latin typeface="Times New Roman"/>
                <a:ea typeface="MS PGothic"/>
                <a:cs typeface="Times New Roman"/>
              </a:rPr>
              <a:t>	</a:t>
            </a:r>
          </a:p>
          <a:p>
            <a:pPr marL="342900" indent="-342900" algn="l" eaLnBrk="1" hangingPunct="1">
              <a:buFont typeface="Wingdings" panose="05000000000000000000" pitchFamily="2" charset="2"/>
              <a:buChar char="§"/>
            </a:pPr>
            <a:r>
              <a:rPr lang="en-US" altLang="en-US" sz="2400" dirty="0">
                <a:solidFill>
                  <a:schemeClr val="tx1"/>
                </a:solidFill>
                <a:latin typeface="Times New Roman"/>
                <a:ea typeface="MS PGothic"/>
                <a:cs typeface="Times New Roman"/>
              </a:rPr>
              <a:t>The disjunctive syllogism is a VALID form of inference. Why?</a:t>
            </a:r>
          </a:p>
          <a:p>
            <a:pPr marL="342265" indent="-342265" algn="l" eaLnBrk="1" hangingPunct="1">
              <a:buFont typeface="Arial" panose="020B0604020202020204" pitchFamily="34" charset="0"/>
              <a:buChar cha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l" eaLnBrk="1" hangingPunct="1"/>
            <a:br>
              <a:rPr lang="en-US" altLang="en-US" sz="2400" b="1" dirty="0">
                <a:solidFill>
                  <a:schemeClr val="tx1"/>
                </a:solidFill>
                <a:latin typeface="Times New Roman" panose="02020603050405020304" pitchFamily="18" charset="0"/>
                <a:cs typeface="Times New Roman" panose="02020603050405020304" pitchFamily="18" charset="0"/>
              </a:rPr>
            </a:br>
            <a:endParaRPr lang="en-US" altLang="en-US" sz="2400" b="1"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949AD2C-0578-4C47-B99D-F1209D289F4C}"/>
              </a:ext>
            </a:extLst>
          </p:cNvPr>
          <p:cNvSpPr txBox="1"/>
          <p:nvPr/>
        </p:nvSpPr>
        <p:spPr>
          <a:xfrm>
            <a:off x="4380089" y="1446732"/>
            <a:ext cx="3951112" cy="1569660"/>
          </a:xfrm>
          <a:prstGeom prst="rect">
            <a:avLst/>
          </a:prstGeom>
          <a:noFill/>
        </p:spPr>
        <p:txBody>
          <a:bodyPr wrap="square" rtlCol="0">
            <a:spAutoFit/>
          </a:bodyPr>
          <a:lstStyle/>
          <a:p>
            <a:pPr algn="ctr"/>
            <a:r>
              <a:rPr lang="en-SG" sz="2400" b="1" dirty="0">
                <a:latin typeface="Times New Roman" panose="02020603050405020304" pitchFamily="18" charset="0"/>
                <a:cs typeface="Times New Roman" panose="02020603050405020304" pitchFamily="18" charset="0"/>
              </a:rPr>
              <a:t>P or Q + not P</a:t>
            </a:r>
          </a:p>
          <a:p>
            <a:pPr algn="ctr"/>
            <a:endParaRPr lang="en-SG" sz="2400" b="1" dirty="0">
              <a:latin typeface="Times New Roman" panose="02020603050405020304" pitchFamily="18" charset="0"/>
              <a:cs typeface="Times New Roman" panose="02020603050405020304" pitchFamily="18" charset="0"/>
            </a:endParaRPr>
          </a:p>
          <a:p>
            <a:pPr algn="ctr"/>
            <a:endParaRPr lang="en-SG" sz="2400" b="1" dirty="0">
              <a:latin typeface="Times New Roman" panose="02020603050405020304" pitchFamily="18" charset="0"/>
              <a:cs typeface="Times New Roman" panose="02020603050405020304" pitchFamily="18" charset="0"/>
            </a:endParaRPr>
          </a:p>
          <a:p>
            <a:pPr algn="ctr"/>
            <a:r>
              <a:rPr lang="en-SG" sz="2400" b="1" dirty="0">
                <a:latin typeface="Times New Roman" panose="02020603050405020304" pitchFamily="18" charset="0"/>
                <a:cs typeface="Times New Roman" panose="02020603050405020304" pitchFamily="18" charset="0"/>
              </a:rPr>
              <a:t>Q </a:t>
            </a:r>
          </a:p>
        </p:txBody>
      </p:sp>
      <p:cxnSp>
        <p:nvCxnSpPr>
          <p:cNvPr id="6" name="Straight Connector 5">
            <a:extLst>
              <a:ext uri="{FF2B5EF4-FFF2-40B4-BE49-F238E27FC236}">
                <a16:creationId xmlns:a16="http://schemas.microsoft.com/office/drawing/2014/main" id="{38F80074-0FEB-48B1-AB7E-C357A41A38F3}"/>
              </a:ext>
            </a:extLst>
          </p:cNvPr>
          <p:cNvCxnSpPr>
            <a:cxnSpLocks/>
          </p:cNvCxnSpPr>
          <p:nvPr/>
        </p:nvCxnSpPr>
        <p:spPr>
          <a:xfrm>
            <a:off x="4846647" y="2055692"/>
            <a:ext cx="33528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675982C5-CA88-4C97-AFB2-2DDF1EA4F5B0}"/>
              </a:ext>
            </a:extLst>
          </p:cNvPr>
          <p:cNvCxnSpPr>
            <a:cxnSpLocks/>
          </p:cNvCxnSpPr>
          <p:nvPr/>
        </p:nvCxnSpPr>
        <p:spPr>
          <a:xfrm>
            <a:off x="6355645" y="2055692"/>
            <a:ext cx="0" cy="53057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8575EEFA-7AAD-4368-9C6E-2BD0239044A2}"/>
              </a:ext>
            </a:extLst>
          </p:cNvPr>
          <p:cNvCxnSpPr/>
          <p:nvPr/>
        </p:nvCxnSpPr>
        <p:spPr>
          <a:xfrm>
            <a:off x="4007555" y="1711380"/>
            <a:ext cx="0" cy="1219200"/>
          </a:xfrm>
          <a:prstGeom prst="line">
            <a:avLst/>
          </a:prstGeom>
        </p:spPr>
        <p:style>
          <a:lnRef idx="2">
            <a:schemeClr val="accent1"/>
          </a:lnRef>
          <a:fillRef idx="0">
            <a:schemeClr val="accent1"/>
          </a:fillRef>
          <a:effectRef idx="1">
            <a:schemeClr val="accent1"/>
          </a:effectRef>
          <a:fontRef idx="minor">
            <a:schemeClr val="tx1"/>
          </a:fontRef>
        </p:style>
      </p:cxnSp>
      <p:graphicFrame>
        <p:nvGraphicFramePr>
          <p:cNvPr id="2" name="Table 3">
            <a:extLst>
              <a:ext uri="{FF2B5EF4-FFF2-40B4-BE49-F238E27FC236}">
                <a16:creationId xmlns:a16="http://schemas.microsoft.com/office/drawing/2014/main" id="{4D1D2483-B062-4332-9DCF-CDBFD9C8C9C3}"/>
              </a:ext>
            </a:extLst>
          </p:cNvPr>
          <p:cNvGraphicFramePr>
            <a:graphicFrameLocks noGrp="1"/>
          </p:cNvGraphicFramePr>
          <p:nvPr>
            <p:extLst>
              <p:ext uri="{D42A27DB-BD31-4B8C-83A1-F6EECF244321}">
                <p14:modId xmlns:p14="http://schemas.microsoft.com/office/powerpoint/2010/main" val="3103964637"/>
              </p:ext>
            </p:extLst>
          </p:nvPr>
        </p:nvGraphicFramePr>
        <p:xfrm>
          <a:off x="1342663" y="4232220"/>
          <a:ext cx="5787342" cy="1828800"/>
        </p:xfrm>
        <a:graphic>
          <a:graphicData uri="http://schemas.openxmlformats.org/drawingml/2006/table">
            <a:tbl>
              <a:tblPr firstRow="1" bandRow="1">
                <a:tableStyleId>{5C22544A-7EE6-4342-B048-85BDC9FD1C3A}</a:tableStyleId>
              </a:tblPr>
              <a:tblGrid>
                <a:gridCol w="964557">
                  <a:extLst>
                    <a:ext uri="{9D8B030D-6E8A-4147-A177-3AD203B41FA5}">
                      <a16:colId xmlns:a16="http://schemas.microsoft.com/office/drawing/2014/main" val="1558583378"/>
                    </a:ext>
                  </a:extLst>
                </a:gridCol>
                <a:gridCol w="964557">
                  <a:extLst>
                    <a:ext uri="{9D8B030D-6E8A-4147-A177-3AD203B41FA5}">
                      <a16:colId xmlns:a16="http://schemas.microsoft.com/office/drawing/2014/main" val="2594049385"/>
                    </a:ext>
                  </a:extLst>
                </a:gridCol>
                <a:gridCol w="1929114">
                  <a:extLst>
                    <a:ext uri="{9D8B030D-6E8A-4147-A177-3AD203B41FA5}">
                      <a16:colId xmlns:a16="http://schemas.microsoft.com/office/drawing/2014/main" val="2897636492"/>
                    </a:ext>
                  </a:extLst>
                </a:gridCol>
                <a:gridCol w="1929114">
                  <a:extLst>
                    <a:ext uri="{9D8B030D-6E8A-4147-A177-3AD203B41FA5}">
                      <a16:colId xmlns:a16="http://schemas.microsoft.com/office/drawing/2014/main" val="3409066784"/>
                    </a:ext>
                  </a:extLst>
                </a:gridCol>
              </a:tblGrid>
              <a:tr h="363300">
                <a:tc gridSpan="2">
                  <a:txBody>
                    <a:bodyPr/>
                    <a:lstStyle/>
                    <a:p>
                      <a:r>
                        <a:rPr lang="en-GB" dirty="0"/>
                        <a:t>         P        not P</a:t>
                      </a:r>
                      <a:endParaRPr lang="en-SG" dirty="0"/>
                    </a:p>
                  </a:txBody>
                  <a:tcPr/>
                </a:tc>
                <a:tc hMerge="1">
                  <a:txBody>
                    <a:bodyPr/>
                    <a:lstStyle/>
                    <a:p>
                      <a:endParaRPr lang="en-US"/>
                    </a:p>
                  </a:txBody>
                  <a:tcPr/>
                </a:tc>
                <a:tc>
                  <a:txBody>
                    <a:bodyPr/>
                    <a:lstStyle/>
                    <a:p>
                      <a:r>
                        <a:rPr lang="en-GB" dirty="0"/>
                        <a:t>               Q</a:t>
                      </a:r>
                      <a:endParaRPr lang="en-SG" dirty="0"/>
                    </a:p>
                  </a:txBody>
                  <a:tcPr/>
                </a:tc>
                <a:tc>
                  <a:txBody>
                    <a:bodyPr/>
                    <a:lstStyle/>
                    <a:p>
                      <a:r>
                        <a:rPr lang="en-GB" dirty="0"/>
                        <a:t>         P  or Q</a:t>
                      </a:r>
                      <a:endParaRPr lang="en-SG" dirty="0"/>
                    </a:p>
                  </a:txBody>
                  <a:tcPr/>
                </a:tc>
                <a:extLst>
                  <a:ext uri="{0D108BD9-81ED-4DB2-BD59-A6C34878D82A}">
                    <a16:rowId xmlns:a16="http://schemas.microsoft.com/office/drawing/2014/main" val="3958162147"/>
                  </a:ext>
                </a:extLst>
              </a:tr>
              <a:tr h="363300">
                <a:tc>
                  <a:txBody>
                    <a:bodyPr/>
                    <a:lstStyle/>
                    <a:p>
                      <a:r>
                        <a:rPr lang="en-GB" dirty="0"/>
                        <a:t>            T</a:t>
                      </a:r>
                      <a:endParaRPr lang="en-SG" dirty="0"/>
                    </a:p>
                  </a:txBody>
                  <a:tcPr/>
                </a:tc>
                <a:tc>
                  <a:txBody>
                    <a:bodyPr/>
                    <a:lstStyle/>
                    <a:p>
                      <a:r>
                        <a:rPr lang="en-SG" dirty="0"/>
                        <a:t>F</a:t>
                      </a:r>
                    </a:p>
                  </a:txBody>
                  <a:tcPr/>
                </a:tc>
                <a:tc>
                  <a:txBody>
                    <a:bodyPr/>
                    <a:lstStyle/>
                    <a:p>
                      <a:r>
                        <a:rPr lang="en-GB" dirty="0"/>
                        <a:t>              T</a:t>
                      </a:r>
                      <a:endParaRPr lang="en-SG" dirty="0"/>
                    </a:p>
                  </a:txBody>
                  <a:tcPr/>
                </a:tc>
                <a:tc>
                  <a:txBody>
                    <a:bodyPr/>
                    <a:lstStyle/>
                    <a:p>
                      <a:r>
                        <a:rPr lang="en-GB" dirty="0"/>
                        <a:t>               F</a:t>
                      </a:r>
                      <a:r>
                        <a:rPr lang="en-GB" dirty="0">
                          <a:solidFill>
                            <a:srgbClr val="FF0000"/>
                          </a:solidFill>
                        </a:rPr>
                        <a:t>/T</a:t>
                      </a:r>
                      <a:endParaRPr lang="en-SG" dirty="0"/>
                    </a:p>
                  </a:txBody>
                  <a:tcPr/>
                </a:tc>
                <a:extLst>
                  <a:ext uri="{0D108BD9-81ED-4DB2-BD59-A6C34878D82A}">
                    <a16:rowId xmlns:a16="http://schemas.microsoft.com/office/drawing/2014/main" val="3409280451"/>
                  </a:ext>
                </a:extLst>
              </a:tr>
              <a:tr h="363300">
                <a:tc>
                  <a:txBody>
                    <a:bodyPr/>
                    <a:lstStyle/>
                    <a:p>
                      <a:r>
                        <a:rPr lang="en-GB" dirty="0"/>
                        <a:t>            T</a:t>
                      </a:r>
                      <a:endParaRPr lang="en-SG" dirty="0"/>
                    </a:p>
                  </a:txBody>
                  <a:tcPr/>
                </a:tc>
                <a:tc>
                  <a:txBody>
                    <a:bodyPr/>
                    <a:lstStyle/>
                    <a:p>
                      <a:r>
                        <a:rPr lang="en-SG" dirty="0"/>
                        <a:t>F</a:t>
                      </a:r>
                    </a:p>
                  </a:txBody>
                  <a:tcPr/>
                </a:tc>
                <a:tc>
                  <a:txBody>
                    <a:bodyPr/>
                    <a:lstStyle/>
                    <a:p>
                      <a:r>
                        <a:rPr lang="en-GB" dirty="0"/>
                        <a:t>              F </a:t>
                      </a:r>
                      <a:endParaRPr lang="en-SG" dirty="0"/>
                    </a:p>
                  </a:txBody>
                  <a:tcPr/>
                </a:tc>
                <a:tc>
                  <a:txBody>
                    <a:bodyPr/>
                    <a:lstStyle/>
                    <a:p>
                      <a:r>
                        <a:rPr lang="en-GB" dirty="0"/>
                        <a:t>               T</a:t>
                      </a:r>
                      <a:endParaRPr lang="en-SG" dirty="0"/>
                    </a:p>
                  </a:txBody>
                  <a:tcPr/>
                </a:tc>
                <a:extLst>
                  <a:ext uri="{0D108BD9-81ED-4DB2-BD59-A6C34878D82A}">
                    <a16:rowId xmlns:a16="http://schemas.microsoft.com/office/drawing/2014/main" val="3809634044"/>
                  </a:ext>
                </a:extLst>
              </a:tr>
              <a:tr h="363300">
                <a:tc>
                  <a:txBody>
                    <a:bodyPr/>
                    <a:lstStyle/>
                    <a:p>
                      <a:r>
                        <a:rPr lang="en-GB" dirty="0"/>
                        <a:t>            F</a:t>
                      </a:r>
                      <a:endParaRPr lang="en-SG" dirty="0"/>
                    </a:p>
                  </a:txBody>
                  <a:tcPr/>
                </a:tc>
                <a:tc>
                  <a:txBody>
                    <a:bodyPr/>
                    <a:lstStyle/>
                    <a:p>
                      <a:r>
                        <a:rPr lang="en-SG" dirty="0"/>
                        <a:t>T</a:t>
                      </a:r>
                    </a:p>
                  </a:txBody>
                  <a:tcPr/>
                </a:tc>
                <a:tc>
                  <a:txBody>
                    <a:bodyPr/>
                    <a:lstStyle/>
                    <a:p>
                      <a:r>
                        <a:rPr lang="en-GB" dirty="0"/>
                        <a:t>              T</a:t>
                      </a:r>
                      <a:endParaRPr lang="en-SG" dirty="0"/>
                    </a:p>
                  </a:txBody>
                  <a:tcPr/>
                </a:tc>
                <a:tc>
                  <a:txBody>
                    <a:bodyPr/>
                    <a:lstStyle/>
                    <a:p>
                      <a:r>
                        <a:rPr lang="en-GB" dirty="0"/>
                        <a:t>               T</a:t>
                      </a:r>
                      <a:endParaRPr lang="en-SG" dirty="0"/>
                    </a:p>
                  </a:txBody>
                  <a:tcPr/>
                </a:tc>
                <a:extLst>
                  <a:ext uri="{0D108BD9-81ED-4DB2-BD59-A6C34878D82A}">
                    <a16:rowId xmlns:a16="http://schemas.microsoft.com/office/drawing/2014/main" val="2330790153"/>
                  </a:ext>
                </a:extLst>
              </a:tr>
              <a:tr h="363300">
                <a:tc>
                  <a:txBody>
                    <a:bodyPr/>
                    <a:lstStyle/>
                    <a:p>
                      <a:r>
                        <a:rPr lang="en-GB" dirty="0"/>
                        <a:t>            F</a:t>
                      </a:r>
                      <a:endParaRPr lang="en-SG" dirty="0"/>
                    </a:p>
                  </a:txBody>
                  <a:tcPr/>
                </a:tc>
                <a:tc>
                  <a:txBody>
                    <a:bodyPr/>
                    <a:lstStyle/>
                    <a:p>
                      <a:r>
                        <a:rPr lang="en-SG" dirty="0"/>
                        <a:t>T</a:t>
                      </a:r>
                    </a:p>
                  </a:txBody>
                  <a:tcPr/>
                </a:tc>
                <a:tc>
                  <a:txBody>
                    <a:bodyPr/>
                    <a:lstStyle/>
                    <a:p>
                      <a:r>
                        <a:rPr lang="en-GB" dirty="0"/>
                        <a:t>              F</a:t>
                      </a:r>
                      <a:endParaRPr lang="en-SG" dirty="0"/>
                    </a:p>
                  </a:txBody>
                  <a:tcPr/>
                </a:tc>
                <a:tc>
                  <a:txBody>
                    <a:bodyPr/>
                    <a:lstStyle/>
                    <a:p>
                      <a:r>
                        <a:rPr lang="en-GB" dirty="0"/>
                        <a:t>               F</a:t>
                      </a:r>
                      <a:endParaRPr lang="en-SG" dirty="0"/>
                    </a:p>
                  </a:txBody>
                  <a:tcPr/>
                </a:tc>
                <a:extLst>
                  <a:ext uri="{0D108BD9-81ED-4DB2-BD59-A6C34878D82A}">
                    <a16:rowId xmlns:a16="http://schemas.microsoft.com/office/drawing/2014/main" val="422645974"/>
                  </a:ext>
                </a:extLst>
              </a:tr>
            </a:tbl>
          </a:graphicData>
        </a:graphic>
      </p:graphicFrame>
    </p:spTree>
    <p:extLst>
      <p:ext uri="{BB962C8B-B14F-4D97-AF65-F5344CB8AC3E}">
        <p14:creationId xmlns:p14="http://schemas.microsoft.com/office/powerpoint/2010/main" val="3576158966"/>
      </p:ext>
    </p:extLst>
  </p:cSld>
  <p:clrMapOvr>
    <a:masterClrMapping/>
  </p:clrMapOvr>
  <mc:AlternateContent xmlns:mc="http://schemas.openxmlformats.org/markup-compatibility/2006" xmlns:p14="http://schemas.microsoft.com/office/powerpoint/2010/main">
    <mc:Choice Requires="p14">
      <p:transition spd="slow" p14:dur="2000" advTm="193806"/>
    </mc:Choice>
    <mc:Fallback xmlns="">
      <p:transition spd="slow" advTm="193806"/>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nip and Round Single Corner Rectangle 6"/>
          <p:cNvSpPr/>
          <p:nvPr/>
        </p:nvSpPr>
        <p:spPr>
          <a:xfrm>
            <a:off x="-1" y="95254"/>
            <a:ext cx="8812428" cy="864358"/>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marL="609585" indent="-609585" eaLnBrk="0" fontAlgn="base" hangingPunct="0">
              <a:spcBef>
                <a:spcPct val="20000"/>
              </a:spcBef>
              <a:spcAft>
                <a:spcPct val="0"/>
              </a:spcAft>
              <a:defRPr/>
            </a:pPr>
            <a:r>
              <a:rPr lang="en-US" sz="3200" b="1" dirty="0">
                <a:solidFill>
                  <a:srgbClr val="FFFFFF"/>
                </a:solidFill>
                <a:latin typeface="Times New Roman" panose="02020603050405020304" pitchFamily="18" charset="0"/>
                <a:cs typeface="Times New Roman" panose="02020603050405020304" pitchFamily="18" charset="0"/>
              </a:rPr>
              <a:t>Disjunctive Syllogism: Examples</a:t>
            </a:r>
            <a:endParaRPr lang="en-US" sz="3200" b="1" dirty="0">
              <a:solidFill>
                <a:srgbClr val="FF0000"/>
              </a:solidFill>
              <a:latin typeface="Times New Roman" panose="02020603050405020304" pitchFamily="18" charset="0"/>
              <a:cs typeface="Times New Roman" panose="02020603050405020304" pitchFamily="18" charset="0"/>
            </a:endParaRPr>
          </a:p>
        </p:txBody>
      </p:sp>
      <p:sp>
        <p:nvSpPr>
          <p:cNvPr id="8" name="Snip and Round Single Corner Rectangle 7"/>
          <p:cNvSpPr/>
          <p:nvPr/>
        </p:nvSpPr>
        <p:spPr>
          <a:xfrm>
            <a:off x="3" y="6477001"/>
            <a:ext cx="8863013" cy="323851"/>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a:spcBef>
                <a:spcPct val="20000"/>
              </a:spcBef>
              <a:buFont typeface="Arial" panose="020B0604020202020204" pitchFamily="34" charset="0"/>
              <a:buChar char="•"/>
              <a:tabLst>
                <a:tab pos="4389438" algn="l"/>
              </a:tabLst>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tabLst>
                <a:tab pos="4389438" algn="l"/>
              </a:tabLst>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tabLst>
                <a:tab pos="4389438" algn="l"/>
              </a:tabLst>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9pPr>
          </a:lstStyle>
          <a:p>
            <a:pPr algn="r" fontAlgn="base">
              <a:spcBef>
                <a:spcPct val="0"/>
              </a:spcBef>
              <a:spcAft>
                <a:spcPct val="0"/>
              </a:spcAft>
              <a:buNone/>
              <a:defRPr/>
            </a:pPr>
            <a:fld id="{5C157F89-BC4E-485A-A9B8-EC5F2289648F}" type="slidenum">
              <a:rPr lang="en-US" altLang="en-US" sz="1300">
                <a:solidFill>
                  <a:srgbClr val="FFFFFF"/>
                </a:solidFill>
                <a:latin typeface="Gill Sans MT" panose="020B0502020104020203" pitchFamily="34" charset="0"/>
              </a:rPr>
              <a:pPr algn="r" fontAlgn="base">
                <a:spcBef>
                  <a:spcPct val="0"/>
                </a:spcBef>
                <a:spcAft>
                  <a:spcPct val="0"/>
                </a:spcAft>
                <a:buNone/>
                <a:defRPr/>
              </a:pPr>
              <a:t>27</a:t>
            </a:fld>
            <a:endParaRPr lang="en-US" altLang="en-US" sz="1300">
              <a:solidFill>
                <a:srgbClr val="FFFFFF"/>
              </a:solidFill>
              <a:latin typeface="Gill Sans MT" panose="020B0502020104020203" pitchFamily="34" charset="0"/>
            </a:endParaRPr>
          </a:p>
        </p:txBody>
      </p:sp>
      <p:sp>
        <p:nvSpPr>
          <p:cNvPr id="27" name="TextBox 26"/>
          <p:cNvSpPr txBox="1"/>
          <p:nvPr/>
        </p:nvSpPr>
        <p:spPr>
          <a:xfrm>
            <a:off x="11769" y="1135330"/>
            <a:ext cx="8624232" cy="4431983"/>
          </a:xfrm>
          <a:prstGeom prst="rect">
            <a:avLst/>
          </a:prstGeom>
          <a:noFill/>
        </p:spPr>
        <p:txBody>
          <a:bodyPr wrap="square" lIns="91440" tIns="45720" rIns="91440" bIns="45720" anchor="t">
            <a:spAutoFit/>
          </a:bodyPr>
          <a:lstStyle/>
          <a:p>
            <a:pPr fontAlgn="base">
              <a:spcBef>
                <a:spcPct val="0"/>
              </a:spcBef>
              <a:spcAft>
                <a:spcPct val="0"/>
              </a:spcAft>
              <a:defRPr/>
            </a:pPr>
            <a:r>
              <a:rPr lang="en-US" sz="2000" b="1" dirty="0">
                <a:latin typeface="Times New Roman" panose="02020603050405020304" pitchFamily="18" charset="0"/>
                <a:ea typeface="ＭＳ Ｐゴシック" charset="0"/>
                <a:cs typeface="Times New Roman" panose="02020603050405020304" pitchFamily="18" charset="0"/>
              </a:rPr>
              <a:t>Consider the following examples. Is the inference valid? </a:t>
            </a:r>
          </a:p>
          <a:p>
            <a:pPr fontAlgn="base">
              <a:spcBef>
                <a:spcPct val="0"/>
              </a:spcBef>
              <a:spcAft>
                <a:spcPct val="0"/>
              </a:spcAft>
              <a:defRPr/>
            </a:pPr>
            <a:r>
              <a:rPr lang="en-US" sz="2000" b="1" dirty="0">
                <a:latin typeface="Times New Roman" panose="02020603050405020304" pitchFamily="18" charset="0"/>
                <a:ea typeface="ＭＳ Ｐゴシック" charset="0"/>
                <a:cs typeface="Times New Roman" panose="02020603050405020304" pitchFamily="18" charset="0"/>
              </a:rPr>
              <a:t>Are the arguments sound?</a:t>
            </a:r>
          </a:p>
          <a:p>
            <a:pPr fontAlgn="base">
              <a:spcBef>
                <a:spcPct val="0"/>
              </a:spcBef>
              <a:spcAft>
                <a:spcPct val="0"/>
              </a:spcAft>
              <a:defRPr/>
            </a:pPr>
            <a:endParaRPr lang="en-US" sz="2200" b="1" dirty="0">
              <a:latin typeface="Times New Roman" panose="02020603050405020304" pitchFamily="18" charset="0"/>
              <a:ea typeface="ＭＳ Ｐゴシック" charset="0"/>
              <a:cs typeface="Times New Roman" panose="02020603050405020304" pitchFamily="18" charset="0"/>
            </a:endParaRPr>
          </a:p>
          <a:p>
            <a:pPr fontAlgn="base">
              <a:spcBef>
                <a:spcPct val="0"/>
              </a:spcBef>
              <a:spcAft>
                <a:spcPct val="0"/>
              </a:spcAft>
              <a:defRPr/>
            </a:pPr>
            <a:endParaRPr lang="en-US" sz="2000" dirty="0">
              <a:latin typeface="Times New Roman" panose="02020603050405020304" pitchFamily="18" charset="0"/>
              <a:ea typeface="ＭＳ Ｐゴシック" charset="0"/>
              <a:cs typeface="Times New Roman" panose="02020603050405020304" pitchFamily="18" charset="0"/>
            </a:endParaRPr>
          </a:p>
          <a:p>
            <a:pPr lvl="2" fontAlgn="base">
              <a:spcBef>
                <a:spcPct val="0"/>
              </a:spcBef>
              <a:spcAft>
                <a:spcPct val="0"/>
              </a:spcAft>
              <a:defRPr/>
            </a:pPr>
            <a:r>
              <a:rPr lang="en-US" sz="2000" dirty="0">
                <a:latin typeface="Times New Roman"/>
                <a:ea typeface="ＭＳ Ｐゴシック"/>
                <a:cs typeface="Times New Roman"/>
              </a:rPr>
              <a:t>1.	Sovan is teaching or wearing jeans.</a:t>
            </a:r>
          </a:p>
          <a:p>
            <a:pPr lvl="2" fontAlgn="base">
              <a:spcBef>
                <a:spcPct val="0"/>
              </a:spcBef>
              <a:spcAft>
                <a:spcPct val="0"/>
              </a:spcAft>
              <a:defRPr/>
            </a:pPr>
            <a:r>
              <a:rPr lang="en-US" sz="2000" dirty="0">
                <a:latin typeface="Times New Roman"/>
                <a:ea typeface="ＭＳ Ｐゴシック"/>
                <a:cs typeface="Times New Roman"/>
              </a:rPr>
              <a:t>	Sovan is not wearing jeans.</a:t>
            </a:r>
          </a:p>
          <a:p>
            <a:pPr lvl="2" fontAlgn="base">
              <a:spcBef>
                <a:spcPct val="0"/>
              </a:spcBef>
              <a:spcAft>
                <a:spcPct val="0"/>
              </a:spcAft>
              <a:defRPr/>
            </a:pPr>
            <a:r>
              <a:rPr lang="en-US" sz="2000" dirty="0">
                <a:latin typeface="Times New Roman"/>
                <a:ea typeface="ＭＳ Ｐゴシック"/>
                <a:cs typeface="Times New Roman"/>
              </a:rPr>
              <a:t>	_____________________________</a:t>
            </a:r>
          </a:p>
          <a:p>
            <a:pPr lvl="2" fontAlgn="base">
              <a:spcBef>
                <a:spcPct val="0"/>
              </a:spcBef>
              <a:spcAft>
                <a:spcPct val="0"/>
              </a:spcAft>
              <a:defRPr/>
            </a:pPr>
            <a:r>
              <a:rPr lang="en-US" sz="2000" dirty="0">
                <a:latin typeface="Times New Roman"/>
                <a:ea typeface="ＭＳ Ｐゴシック"/>
                <a:cs typeface="Times New Roman"/>
              </a:rPr>
              <a:t>	So, Sovan is teaching.</a:t>
            </a:r>
          </a:p>
          <a:p>
            <a:pPr lvl="2" fontAlgn="base">
              <a:spcBef>
                <a:spcPct val="0"/>
              </a:spcBef>
              <a:spcAft>
                <a:spcPct val="0"/>
              </a:spcAft>
              <a:defRPr/>
            </a:pPr>
            <a:endParaRPr lang="en-US" sz="2000" dirty="0">
              <a:latin typeface="Times New Roman" panose="02020603050405020304" pitchFamily="18" charset="0"/>
              <a:ea typeface="ＭＳ Ｐゴシック" charset="0"/>
              <a:cs typeface="Times New Roman" panose="02020603050405020304" pitchFamily="18" charset="0"/>
            </a:endParaRPr>
          </a:p>
          <a:p>
            <a:pPr lvl="2" fontAlgn="base">
              <a:spcBef>
                <a:spcPct val="0"/>
              </a:spcBef>
              <a:spcAft>
                <a:spcPct val="0"/>
              </a:spcAft>
              <a:defRPr/>
            </a:pPr>
            <a:r>
              <a:rPr lang="en-US" sz="2000" dirty="0">
                <a:latin typeface="Times New Roman"/>
                <a:ea typeface="ＭＳ Ｐゴシック"/>
                <a:cs typeface="Times New Roman"/>
              </a:rPr>
              <a:t>2.	Either Sovan is playing tennis or walking his dogs.</a:t>
            </a:r>
          </a:p>
          <a:p>
            <a:pPr lvl="2" fontAlgn="base">
              <a:spcBef>
                <a:spcPct val="0"/>
              </a:spcBef>
              <a:spcAft>
                <a:spcPct val="0"/>
              </a:spcAft>
              <a:defRPr/>
            </a:pPr>
            <a:r>
              <a:rPr lang="en-US" sz="2000" dirty="0">
                <a:latin typeface="Times New Roman"/>
                <a:ea typeface="ＭＳ Ｐゴシック"/>
                <a:cs typeface="Times New Roman"/>
              </a:rPr>
              <a:t>	Sovan is not playing tennis.</a:t>
            </a:r>
          </a:p>
          <a:p>
            <a:pPr lvl="2" fontAlgn="base">
              <a:spcBef>
                <a:spcPct val="0"/>
              </a:spcBef>
              <a:spcAft>
                <a:spcPct val="0"/>
              </a:spcAft>
              <a:defRPr/>
            </a:pPr>
            <a:r>
              <a:rPr lang="en-US" sz="2000" dirty="0">
                <a:latin typeface="Times New Roman"/>
                <a:ea typeface="ＭＳ Ｐゴシック"/>
                <a:cs typeface="Times New Roman"/>
              </a:rPr>
              <a:t>	_____________________________</a:t>
            </a:r>
          </a:p>
          <a:p>
            <a:pPr lvl="2" fontAlgn="base">
              <a:spcBef>
                <a:spcPct val="0"/>
              </a:spcBef>
              <a:spcAft>
                <a:spcPct val="0"/>
              </a:spcAft>
              <a:defRPr/>
            </a:pPr>
            <a:r>
              <a:rPr lang="en-US" sz="2000" dirty="0">
                <a:latin typeface="Times New Roman"/>
                <a:ea typeface="ＭＳ Ｐゴシック"/>
                <a:cs typeface="Times New Roman"/>
              </a:rPr>
              <a:t>	</a:t>
            </a:r>
          </a:p>
          <a:p>
            <a:pPr lvl="2" fontAlgn="base">
              <a:spcBef>
                <a:spcPct val="0"/>
              </a:spcBef>
              <a:spcAft>
                <a:spcPct val="0"/>
              </a:spcAft>
              <a:defRPr/>
            </a:pPr>
            <a:r>
              <a:rPr lang="en-US" sz="2000" dirty="0">
                <a:latin typeface="Times New Roman"/>
                <a:ea typeface="ＭＳ Ｐゴシック"/>
                <a:cs typeface="Times New Roman"/>
              </a:rPr>
              <a:t>	So, Sovan is walking his dogs.</a:t>
            </a:r>
          </a:p>
        </p:txBody>
      </p:sp>
    </p:spTree>
    <p:extLst>
      <p:ext uri="{BB962C8B-B14F-4D97-AF65-F5344CB8AC3E}">
        <p14:creationId xmlns:p14="http://schemas.microsoft.com/office/powerpoint/2010/main" val="177279994"/>
      </p:ext>
    </p:extLst>
  </p:cSld>
  <p:clrMapOvr>
    <a:masterClrMapping/>
  </p:clrMapOvr>
  <mc:AlternateContent xmlns:mc="http://schemas.openxmlformats.org/markup-compatibility/2006" xmlns:p14="http://schemas.microsoft.com/office/powerpoint/2010/main">
    <mc:Choice Requires="p14">
      <p:transition spd="slow" p14:dur="2000" advTm="142139"/>
    </mc:Choice>
    <mc:Fallback xmlns="">
      <p:transition spd="slow" advTm="142139"/>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nip and Round Single Corner Rectangle 6"/>
          <p:cNvSpPr/>
          <p:nvPr/>
        </p:nvSpPr>
        <p:spPr>
          <a:xfrm>
            <a:off x="-1" y="95254"/>
            <a:ext cx="8796607" cy="853785"/>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fontAlgn="base">
              <a:spcBef>
                <a:spcPct val="0"/>
              </a:spcBef>
              <a:spcAft>
                <a:spcPct val="0"/>
              </a:spcAft>
              <a:defRPr/>
            </a:pPr>
            <a:r>
              <a:rPr lang="en-US" sz="2800" b="1" spc="-151" dirty="0">
                <a:solidFill>
                  <a:prstClr val="white"/>
                </a:solidFill>
                <a:latin typeface="Times New Roman" panose="02020603050405020304" pitchFamily="18" charset="0"/>
                <a:cs typeface="Times New Roman" panose="02020603050405020304" pitchFamily="18" charset="0"/>
              </a:rPr>
              <a:t>Standard Propositional Forms (8):  Affirming the Disjunct (AD)</a:t>
            </a:r>
          </a:p>
        </p:txBody>
      </p:sp>
      <p:sp>
        <p:nvSpPr>
          <p:cNvPr id="8" name="Snip and Round Single Corner Rectangle 7"/>
          <p:cNvSpPr/>
          <p:nvPr/>
        </p:nvSpPr>
        <p:spPr>
          <a:xfrm>
            <a:off x="3" y="6477001"/>
            <a:ext cx="8863013" cy="323851"/>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a:spcBef>
                <a:spcPct val="20000"/>
              </a:spcBef>
              <a:buFont typeface="Arial" panose="020B0604020202020204" pitchFamily="34" charset="0"/>
              <a:buChar char="•"/>
              <a:tabLst>
                <a:tab pos="4389438" algn="l"/>
              </a:tabLst>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tabLst>
                <a:tab pos="4389438" algn="l"/>
              </a:tabLst>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tabLst>
                <a:tab pos="4389438" algn="l"/>
              </a:tabLst>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9pPr>
          </a:lstStyle>
          <a:p>
            <a:pPr algn="r" fontAlgn="base">
              <a:spcBef>
                <a:spcPct val="0"/>
              </a:spcBef>
              <a:spcAft>
                <a:spcPct val="0"/>
              </a:spcAft>
              <a:buNone/>
              <a:defRPr/>
            </a:pPr>
            <a:fld id="{02404CBC-9017-4C4D-9A9D-4846F12B969B}" type="slidenum">
              <a:rPr lang="en-US" altLang="en-US" sz="1300">
                <a:solidFill>
                  <a:srgbClr val="FFFFFF"/>
                </a:solidFill>
                <a:latin typeface="Gill Sans MT" panose="020B0502020104020203" pitchFamily="34" charset="0"/>
              </a:rPr>
              <a:pPr algn="r" fontAlgn="base">
                <a:spcBef>
                  <a:spcPct val="0"/>
                </a:spcBef>
                <a:spcAft>
                  <a:spcPct val="0"/>
                </a:spcAft>
                <a:buNone/>
                <a:defRPr/>
              </a:pPr>
              <a:t>28</a:t>
            </a:fld>
            <a:endParaRPr lang="en-US" altLang="en-US" sz="1300">
              <a:solidFill>
                <a:srgbClr val="FFFFFF"/>
              </a:solidFill>
              <a:latin typeface="Gill Sans MT" panose="020B0502020104020203" pitchFamily="34" charset="0"/>
            </a:endParaRPr>
          </a:p>
        </p:txBody>
      </p:sp>
      <p:sp>
        <p:nvSpPr>
          <p:cNvPr id="8196" name="Rectangle 4"/>
          <p:cNvSpPr>
            <a:spLocks noGrp="1" noChangeArrowheads="1"/>
          </p:cNvSpPr>
          <p:nvPr>
            <p:ph type="subTitle" idx="1"/>
          </p:nvPr>
        </p:nvSpPr>
        <p:spPr>
          <a:xfrm>
            <a:off x="1" y="1081522"/>
            <a:ext cx="8863013" cy="3096939"/>
          </a:xfrm>
        </p:spPr>
        <p:txBody>
          <a:bodyPr/>
          <a:lstStyle/>
          <a:p>
            <a:pPr algn="l" eaLnBrk="1" hangingPunct="1"/>
            <a:r>
              <a:rPr lang="en-US" altLang="en-US" sz="2400" b="1" dirty="0">
                <a:solidFill>
                  <a:schemeClr val="tx1"/>
                </a:solidFill>
                <a:latin typeface="Times New Roman" panose="02020603050405020304" pitchFamily="18" charset="0"/>
                <a:cs typeface="Times New Roman" panose="02020603050405020304" pitchFamily="18" charset="0"/>
              </a:rPr>
              <a:t>The AD takes the structure:</a:t>
            </a:r>
          </a:p>
          <a:p>
            <a:pPr marL="456565" lvl="1" algn="l" eaLnBrk="1" hangingPunct="1"/>
            <a:r>
              <a:rPr lang="en-US" altLang="en-US" sz="2400" dirty="0">
                <a:solidFill>
                  <a:schemeClr val="tx1"/>
                </a:solidFill>
                <a:latin typeface="Times New Roman"/>
                <a:ea typeface="MS PGothic"/>
                <a:cs typeface="Times New Roman"/>
              </a:rPr>
              <a:t>Either P or Q</a:t>
            </a:r>
          </a:p>
          <a:p>
            <a:pPr marL="456565" lvl="1" algn="l" eaLnBrk="1" hangingPunct="1"/>
            <a:r>
              <a:rPr lang="en-US" altLang="en-US" sz="2400" dirty="0">
                <a:solidFill>
                  <a:schemeClr val="tx1"/>
                </a:solidFill>
                <a:latin typeface="Times New Roman"/>
                <a:ea typeface="MS PGothic"/>
                <a:cs typeface="Times New Roman"/>
              </a:rPr>
              <a:t>Q		[or, P]</a:t>
            </a:r>
          </a:p>
          <a:p>
            <a:pPr marL="456565" lvl="1" algn="l" eaLnBrk="1" hangingPunct="1"/>
            <a:r>
              <a:rPr lang="en-US" altLang="en-US" sz="2400" dirty="0">
                <a:solidFill>
                  <a:schemeClr val="tx1"/>
                </a:solidFill>
                <a:latin typeface="Times New Roman"/>
                <a:ea typeface="MS PGothic"/>
                <a:cs typeface="Times New Roman"/>
              </a:rPr>
              <a:t>_____________</a:t>
            </a:r>
          </a:p>
          <a:p>
            <a:pPr marL="456565" lvl="1" algn="l" eaLnBrk="1" hangingPunct="1"/>
            <a:r>
              <a:rPr lang="en-US" altLang="en-US" sz="2400" dirty="0">
                <a:solidFill>
                  <a:schemeClr val="tx1"/>
                </a:solidFill>
                <a:latin typeface="Times New Roman"/>
                <a:ea typeface="MS PGothic"/>
                <a:cs typeface="Times New Roman"/>
              </a:rPr>
              <a:t>So, not - P[or, So, not - Q]</a:t>
            </a:r>
          </a:p>
          <a:p>
            <a:pPr algn="l" eaLnBrk="1" hangingPunct="1"/>
            <a:r>
              <a:rPr lang="en-US" altLang="en-US" sz="2400" dirty="0">
                <a:solidFill>
                  <a:schemeClr val="tx1"/>
                </a:solidFill>
                <a:latin typeface="Times New Roman"/>
                <a:ea typeface="MS PGothic"/>
                <a:cs typeface="Times New Roman"/>
              </a:rPr>
              <a:t>	</a:t>
            </a:r>
          </a:p>
          <a:p>
            <a:pPr marL="342900" indent="-342900" algn="l" eaLnBrk="1" hangingPunct="1">
              <a:buFont typeface="Wingdings" panose="05000000000000000000" pitchFamily="2" charset="2"/>
              <a:buChar char="§"/>
            </a:pPr>
            <a:r>
              <a:rPr lang="en-US" altLang="en-US" sz="2400" dirty="0">
                <a:solidFill>
                  <a:schemeClr val="tx1"/>
                </a:solidFill>
                <a:latin typeface="Times New Roman"/>
                <a:ea typeface="MS PGothic"/>
                <a:cs typeface="Times New Roman"/>
              </a:rPr>
              <a:t>The VALIDITY of AD is ambiguous. Why?</a:t>
            </a:r>
          </a:p>
          <a:p>
            <a:pPr marL="342265" indent="-342265" algn="l" eaLnBrk="1" hangingPunct="1">
              <a:buFont typeface="Arial" panose="020B0604020202020204" pitchFamily="34" charset="0"/>
              <a:buChar cha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l" eaLnBrk="1" hangingPunct="1"/>
            <a:br>
              <a:rPr lang="en-US" altLang="en-US" sz="2400" b="1" dirty="0">
                <a:solidFill>
                  <a:schemeClr val="tx1"/>
                </a:solidFill>
                <a:latin typeface="Times New Roman" panose="02020603050405020304" pitchFamily="18" charset="0"/>
                <a:cs typeface="Times New Roman" panose="02020603050405020304" pitchFamily="18" charset="0"/>
              </a:rPr>
            </a:br>
            <a:endParaRPr lang="en-US" altLang="en-US" sz="2400" b="1"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949AD2C-0578-4C47-B99D-F1209D289F4C}"/>
              </a:ext>
            </a:extLst>
          </p:cNvPr>
          <p:cNvSpPr txBox="1"/>
          <p:nvPr/>
        </p:nvSpPr>
        <p:spPr>
          <a:xfrm>
            <a:off x="4380089" y="1446732"/>
            <a:ext cx="3951112" cy="1569660"/>
          </a:xfrm>
          <a:prstGeom prst="rect">
            <a:avLst/>
          </a:prstGeom>
          <a:noFill/>
        </p:spPr>
        <p:txBody>
          <a:bodyPr wrap="square" rtlCol="0">
            <a:spAutoFit/>
          </a:bodyPr>
          <a:lstStyle/>
          <a:p>
            <a:pPr algn="ctr"/>
            <a:r>
              <a:rPr lang="en-SG" sz="2400" b="1" dirty="0">
                <a:latin typeface="Times New Roman" panose="02020603050405020304" pitchFamily="18" charset="0"/>
                <a:cs typeface="Times New Roman" panose="02020603050405020304" pitchFamily="18" charset="0"/>
              </a:rPr>
              <a:t>P or Q +  Q</a:t>
            </a:r>
          </a:p>
          <a:p>
            <a:pPr algn="ctr"/>
            <a:endParaRPr lang="en-SG" sz="2400" b="1" dirty="0">
              <a:latin typeface="Times New Roman" panose="02020603050405020304" pitchFamily="18" charset="0"/>
              <a:cs typeface="Times New Roman" panose="02020603050405020304" pitchFamily="18" charset="0"/>
            </a:endParaRPr>
          </a:p>
          <a:p>
            <a:pPr algn="ctr"/>
            <a:endParaRPr lang="en-SG" sz="2400" b="1" dirty="0">
              <a:latin typeface="Times New Roman" panose="02020603050405020304" pitchFamily="18" charset="0"/>
              <a:cs typeface="Times New Roman" panose="02020603050405020304" pitchFamily="18" charset="0"/>
            </a:endParaRPr>
          </a:p>
          <a:p>
            <a:pPr algn="ctr"/>
            <a:r>
              <a:rPr lang="en-SG" sz="2400" b="1" dirty="0">
                <a:latin typeface="Times New Roman" panose="02020603050405020304" pitchFamily="18" charset="0"/>
                <a:cs typeface="Times New Roman" panose="02020603050405020304" pitchFamily="18" charset="0"/>
              </a:rPr>
              <a:t>Not - P </a:t>
            </a:r>
          </a:p>
        </p:txBody>
      </p:sp>
      <p:cxnSp>
        <p:nvCxnSpPr>
          <p:cNvPr id="6" name="Straight Connector 5">
            <a:extLst>
              <a:ext uri="{FF2B5EF4-FFF2-40B4-BE49-F238E27FC236}">
                <a16:creationId xmlns:a16="http://schemas.microsoft.com/office/drawing/2014/main" id="{38F80074-0FEB-48B1-AB7E-C357A41A38F3}"/>
              </a:ext>
            </a:extLst>
          </p:cNvPr>
          <p:cNvCxnSpPr>
            <a:cxnSpLocks/>
          </p:cNvCxnSpPr>
          <p:nvPr/>
        </p:nvCxnSpPr>
        <p:spPr>
          <a:xfrm>
            <a:off x="4846647" y="2055692"/>
            <a:ext cx="33528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675982C5-CA88-4C97-AFB2-2DDF1EA4F5B0}"/>
              </a:ext>
            </a:extLst>
          </p:cNvPr>
          <p:cNvCxnSpPr>
            <a:cxnSpLocks/>
          </p:cNvCxnSpPr>
          <p:nvPr/>
        </p:nvCxnSpPr>
        <p:spPr>
          <a:xfrm>
            <a:off x="6355645" y="2055692"/>
            <a:ext cx="0" cy="53057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8575EEFA-7AAD-4368-9C6E-2BD0239044A2}"/>
              </a:ext>
            </a:extLst>
          </p:cNvPr>
          <p:cNvCxnSpPr/>
          <p:nvPr/>
        </p:nvCxnSpPr>
        <p:spPr>
          <a:xfrm>
            <a:off x="4007555" y="1711380"/>
            <a:ext cx="0" cy="1219200"/>
          </a:xfrm>
          <a:prstGeom prst="line">
            <a:avLst/>
          </a:prstGeom>
        </p:spPr>
        <p:style>
          <a:lnRef idx="2">
            <a:schemeClr val="accent1"/>
          </a:lnRef>
          <a:fillRef idx="0">
            <a:schemeClr val="accent1"/>
          </a:fillRef>
          <a:effectRef idx="1">
            <a:schemeClr val="accent1"/>
          </a:effectRef>
          <a:fontRef idx="minor">
            <a:schemeClr val="tx1"/>
          </a:fontRef>
        </p:style>
      </p:cxnSp>
      <p:graphicFrame>
        <p:nvGraphicFramePr>
          <p:cNvPr id="3" name="Table 3">
            <a:extLst>
              <a:ext uri="{FF2B5EF4-FFF2-40B4-BE49-F238E27FC236}">
                <a16:creationId xmlns:a16="http://schemas.microsoft.com/office/drawing/2014/main" id="{D62331B1-2158-2E62-7037-607697E65A61}"/>
              </a:ext>
            </a:extLst>
          </p:cNvPr>
          <p:cNvGraphicFramePr>
            <a:graphicFrameLocks noGrp="1"/>
          </p:cNvGraphicFramePr>
          <p:nvPr>
            <p:extLst>
              <p:ext uri="{D42A27DB-BD31-4B8C-83A1-F6EECF244321}">
                <p14:modId xmlns:p14="http://schemas.microsoft.com/office/powerpoint/2010/main" val="1815206561"/>
              </p:ext>
            </p:extLst>
          </p:nvPr>
        </p:nvGraphicFramePr>
        <p:xfrm>
          <a:off x="1233806" y="4522506"/>
          <a:ext cx="5787342" cy="1828800"/>
        </p:xfrm>
        <a:graphic>
          <a:graphicData uri="http://schemas.openxmlformats.org/drawingml/2006/table">
            <a:tbl>
              <a:tblPr firstRow="1" bandRow="1">
                <a:tableStyleId>{5C22544A-7EE6-4342-B048-85BDC9FD1C3A}</a:tableStyleId>
              </a:tblPr>
              <a:tblGrid>
                <a:gridCol w="964557">
                  <a:extLst>
                    <a:ext uri="{9D8B030D-6E8A-4147-A177-3AD203B41FA5}">
                      <a16:colId xmlns:a16="http://schemas.microsoft.com/office/drawing/2014/main" val="1558583378"/>
                    </a:ext>
                  </a:extLst>
                </a:gridCol>
                <a:gridCol w="964557">
                  <a:extLst>
                    <a:ext uri="{9D8B030D-6E8A-4147-A177-3AD203B41FA5}">
                      <a16:colId xmlns:a16="http://schemas.microsoft.com/office/drawing/2014/main" val="2594049385"/>
                    </a:ext>
                  </a:extLst>
                </a:gridCol>
                <a:gridCol w="1929114">
                  <a:extLst>
                    <a:ext uri="{9D8B030D-6E8A-4147-A177-3AD203B41FA5}">
                      <a16:colId xmlns:a16="http://schemas.microsoft.com/office/drawing/2014/main" val="2897636492"/>
                    </a:ext>
                  </a:extLst>
                </a:gridCol>
                <a:gridCol w="1929114">
                  <a:extLst>
                    <a:ext uri="{9D8B030D-6E8A-4147-A177-3AD203B41FA5}">
                      <a16:colId xmlns:a16="http://schemas.microsoft.com/office/drawing/2014/main" val="3409066784"/>
                    </a:ext>
                  </a:extLst>
                </a:gridCol>
              </a:tblGrid>
              <a:tr h="363300">
                <a:tc gridSpan="2">
                  <a:txBody>
                    <a:bodyPr/>
                    <a:lstStyle/>
                    <a:p>
                      <a:r>
                        <a:rPr lang="en-GB" dirty="0"/>
                        <a:t>         P        not P</a:t>
                      </a:r>
                      <a:endParaRPr lang="en-SG" dirty="0"/>
                    </a:p>
                  </a:txBody>
                  <a:tcPr/>
                </a:tc>
                <a:tc hMerge="1">
                  <a:txBody>
                    <a:bodyPr/>
                    <a:lstStyle/>
                    <a:p>
                      <a:endParaRPr lang="en-US"/>
                    </a:p>
                  </a:txBody>
                  <a:tcPr/>
                </a:tc>
                <a:tc>
                  <a:txBody>
                    <a:bodyPr/>
                    <a:lstStyle/>
                    <a:p>
                      <a:r>
                        <a:rPr lang="en-GB" dirty="0"/>
                        <a:t>               Q</a:t>
                      </a:r>
                      <a:endParaRPr lang="en-SG" dirty="0"/>
                    </a:p>
                  </a:txBody>
                  <a:tcPr/>
                </a:tc>
                <a:tc>
                  <a:txBody>
                    <a:bodyPr/>
                    <a:lstStyle/>
                    <a:p>
                      <a:r>
                        <a:rPr lang="en-GB" dirty="0"/>
                        <a:t>         P  or Q</a:t>
                      </a:r>
                      <a:endParaRPr lang="en-SG" dirty="0"/>
                    </a:p>
                  </a:txBody>
                  <a:tcPr/>
                </a:tc>
                <a:extLst>
                  <a:ext uri="{0D108BD9-81ED-4DB2-BD59-A6C34878D82A}">
                    <a16:rowId xmlns:a16="http://schemas.microsoft.com/office/drawing/2014/main" val="3958162147"/>
                  </a:ext>
                </a:extLst>
              </a:tr>
              <a:tr h="363300">
                <a:tc>
                  <a:txBody>
                    <a:bodyPr/>
                    <a:lstStyle/>
                    <a:p>
                      <a:r>
                        <a:rPr lang="en-GB" dirty="0"/>
                        <a:t>            T</a:t>
                      </a:r>
                      <a:endParaRPr lang="en-SG" dirty="0"/>
                    </a:p>
                  </a:txBody>
                  <a:tcPr/>
                </a:tc>
                <a:tc>
                  <a:txBody>
                    <a:bodyPr/>
                    <a:lstStyle/>
                    <a:p>
                      <a:r>
                        <a:rPr lang="en-SG" dirty="0"/>
                        <a:t>F</a:t>
                      </a:r>
                    </a:p>
                  </a:txBody>
                  <a:tcPr/>
                </a:tc>
                <a:tc>
                  <a:txBody>
                    <a:bodyPr/>
                    <a:lstStyle/>
                    <a:p>
                      <a:r>
                        <a:rPr lang="en-GB" dirty="0"/>
                        <a:t>              T</a:t>
                      </a:r>
                      <a:endParaRPr lang="en-SG" dirty="0"/>
                    </a:p>
                  </a:txBody>
                  <a:tcPr/>
                </a:tc>
                <a:tc>
                  <a:txBody>
                    <a:bodyPr/>
                    <a:lstStyle/>
                    <a:p>
                      <a:r>
                        <a:rPr lang="en-GB" dirty="0"/>
                        <a:t>               F</a:t>
                      </a:r>
                      <a:r>
                        <a:rPr lang="en-GB" dirty="0">
                          <a:solidFill>
                            <a:srgbClr val="FF0000"/>
                          </a:solidFill>
                        </a:rPr>
                        <a:t>/T</a:t>
                      </a:r>
                      <a:endParaRPr lang="en-SG" dirty="0"/>
                    </a:p>
                  </a:txBody>
                  <a:tcPr/>
                </a:tc>
                <a:extLst>
                  <a:ext uri="{0D108BD9-81ED-4DB2-BD59-A6C34878D82A}">
                    <a16:rowId xmlns:a16="http://schemas.microsoft.com/office/drawing/2014/main" val="3409280451"/>
                  </a:ext>
                </a:extLst>
              </a:tr>
              <a:tr h="363300">
                <a:tc>
                  <a:txBody>
                    <a:bodyPr/>
                    <a:lstStyle/>
                    <a:p>
                      <a:r>
                        <a:rPr lang="en-GB" dirty="0"/>
                        <a:t>            T</a:t>
                      </a:r>
                      <a:endParaRPr lang="en-SG" dirty="0"/>
                    </a:p>
                  </a:txBody>
                  <a:tcPr/>
                </a:tc>
                <a:tc>
                  <a:txBody>
                    <a:bodyPr/>
                    <a:lstStyle/>
                    <a:p>
                      <a:r>
                        <a:rPr lang="en-SG" dirty="0"/>
                        <a:t>F</a:t>
                      </a:r>
                    </a:p>
                  </a:txBody>
                  <a:tcPr/>
                </a:tc>
                <a:tc>
                  <a:txBody>
                    <a:bodyPr/>
                    <a:lstStyle/>
                    <a:p>
                      <a:r>
                        <a:rPr lang="en-GB" dirty="0"/>
                        <a:t>              F </a:t>
                      </a:r>
                      <a:endParaRPr lang="en-SG" dirty="0"/>
                    </a:p>
                  </a:txBody>
                  <a:tcPr/>
                </a:tc>
                <a:tc>
                  <a:txBody>
                    <a:bodyPr/>
                    <a:lstStyle/>
                    <a:p>
                      <a:r>
                        <a:rPr lang="en-GB" dirty="0"/>
                        <a:t>               T</a:t>
                      </a:r>
                      <a:endParaRPr lang="en-SG" dirty="0"/>
                    </a:p>
                  </a:txBody>
                  <a:tcPr/>
                </a:tc>
                <a:extLst>
                  <a:ext uri="{0D108BD9-81ED-4DB2-BD59-A6C34878D82A}">
                    <a16:rowId xmlns:a16="http://schemas.microsoft.com/office/drawing/2014/main" val="3809634044"/>
                  </a:ext>
                </a:extLst>
              </a:tr>
              <a:tr h="363300">
                <a:tc>
                  <a:txBody>
                    <a:bodyPr/>
                    <a:lstStyle/>
                    <a:p>
                      <a:r>
                        <a:rPr lang="en-GB" dirty="0"/>
                        <a:t>            F</a:t>
                      </a:r>
                      <a:endParaRPr lang="en-SG" dirty="0"/>
                    </a:p>
                  </a:txBody>
                  <a:tcPr/>
                </a:tc>
                <a:tc>
                  <a:txBody>
                    <a:bodyPr/>
                    <a:lstStyle/>
                    <a:p>
                      <a:r>
                        <a:rPr lang="en-SG" dirty="0"/>
                        <a:t>T</a:t>
                      </a:r>
                    </a:p>
                  </a:txBody>
                  <a:tcPr/>
                </a:tc>
                <a:tc>
                  <a:txBody>
                    <a:bodyPr/>
                    <a:lstStyle/>
                    <a:p>
                      <a:r>
                        <a:rPr lang="en-GB" dirty="0"/>
                        <a:t>              T</a:t>
                      </a:r>
                      <a:endParaRPr lang="en-SG" dirty="0"/>
                    </a:p>
                  </a:txBody>
                  <a:tcPr/>
                </a:tc>
                <a:tc>
                  <a:txBody>
                    <a:bodyPr/>
                    <a:lstStyle/>
                    <a:p>
                      <a:r>
                        <a:rPr lang="en-GB" dirty="0"/>
                        <a:t>               T</a:t>
                      </a:r>
                      <a:endParaRPr lang="en-SG" dirty="0"/>
                    </a:p>
                  </a:txBody>
                  <a:tcPr/>
                </a:tc>
                <a:extLst>
                  <a:ext uri="{0D108BD9-81ED-4DB2-BD59-A6C34878D82A}">
                    <a16:rowId xmlns:a16="http://schemas.microsoft.com/office/drawing/2014/main" val="2330790153"/>
                  </a:ext>
                </a:extLst>
              </a:tr>
              <a:tr h="363300">
                <a:tc>
                  <a:txBody>
                    <a:bodyPr/>
                    <a:lstStyle/>
                    <a:p>
                      <a:r>
                        <a:rPr lang="en-GB" dirty="0"/>
                        <a:t>            F</a:t>
                      </a:r>
                      <a:endParaRPr lang="en-SG" dirty="0"/>
                    </a:p>
                  </a:txBody>
                  <a:tcPr/>
                </a:tc>
                <a:tc>
                  <a:txBody>
                    <a:bodyPr/>
                    <a:lstStyle/>
                    <a:p>
                      <a:r>
                        <a:rPr lang="en-SG" dirty="0"/>
                        <a:t>T</a:t>
                      </a:r>
                    </a:p>
                  </a:txBody>
                  <a:tcPr/>
                </a:tc>
                <a:tc>
                  <a:txBody>
                    <a:bodyPr/>
                    <a:lstStyle/>
                    <a:p>
                      <a:r>
                        <a:rPr lang="en-GB" dirty="0"/>
                        <a:t>              F</a:t>
                      </a:r>
                      <a:endParaRPr lang="en-SG" dirty="0"/>
                    </a:p>
                  </a:txBody>
                  <a:tcPr/>
                </a:tc>
                <a:tc>
                  <a:txBody>
                    <a:bodyPr/>
                    <a:lstStyle/>
                    <a:p>
                      <a:r>
                        <a:rPr lang="en-GB" dirty="0"/>
                        <a:t>               F</a:t>
                      </a:r>
                      <a:endParaRPr lang="en-SG" dirty="0"/>
                    </a:p>
                  </a:txBody>
                  <a:tcPr/>
                </a:tc>
                <a:extLst>
                  <a:ext uri="{0D108BD9-81ED-4DB2-BD59-A6C34878D82A}">
                    <a16:rowId xmlns:a16="http://schemas.microsoft.com/office/drawing/2014/main" val="422645974"/>
                  </a:ext>
                </a:extLst>
              </a:tr>
            </a:tbl>
          </a:graphicData>
        </a:graphic>
      </p:graphicFrame>
    </p:spTree>
    <p:extLst>
      <p:ext uri="{BB962C8B-B14F-4D97-AF65-F5344CB8AC3E}">
        <p14:creationId xmlns:p14="http://schemas.microsoft.com/office/powerpoint/2010/main" val="2084265829"/>
      </p:ext>
    </p:extLst>
  </p:cSld>
  <p:clrMapOvr>
    <a:masterClrMapping/>
  </p:clrMapOvr>
  <mc:AlternateContent xmlns:mc="http://schemas.openxmlformats.org/markup-compatibility/2006" xmlns:p14="http://schemas.microsoft.com/office/powerpoint/2010/main">
    <mc:Choice Requires="p14">
      <p:transition spd="slow" p14:dur="2000" advTm="196535"/>
    </mc:Choice>
    <mc:Fallback xmlns="">
      <p:transition spd="slow" advTm="196535"/>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nip and Round Single Corner Rectangle 6"/>
          <p:cNvSpPr/>
          <p:nvPr/>
        </p:nvSpPr>
        <p:spPr>
          <a:xfrm>
            <a:off x="-1" y="95254"/>
            <a:ext cx="8741002" cy="1008994"/>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marL="609585" indent="-609585" eaLnBrk="0" fontAlgn="base" hangingPunct="0">
              <a:spcBef>
                <a:spcPct val="20000"/>
              </a:spcBef>
              <a:spcAft>
                <a:spcPct val="0"/>
              </a:spcAft>
              <a:defRPr/>
            </a:pPr>
            <a:r>
              <a:rPr lang="en-US" sz="3400" b="1" dirty="0">
                <a:solidFill>
                  <a:srgbClr val="FFFFFF"/>
                </a:solidFill>
                <a:latin typeface="Times New Roman" panose="02020603050405020304" pitchFamily="18" charset="0"/>
                <a:cs typeface="Times New Roman" panose="02020603050405020304" pitchFamily="18" charset="0"/>
              </a:rPr>
              <a:t>Affirming the Disjunct: Examples</a:t>
            </a:r>
            <a:endParaRPr lang="en-US" sz="3400" b="1" dirty="0">
              <a:solidFill>
                <a:srgbClr val="FF0000"/>
              </a:solidFill>
              <a:latin typeface="Times New Roman" panose="02020603050405020304" pitchFamily="18" charset="0"/>
              <a:cs typeface="Times New Roman" panose="02020603050405020304" pitchFamily="18" charset="0"/>
            </a:endParaRPr>
          </a:p>
        </p:txBody>
      </p:sp>
      <p:sp>
        <p:nvSpPr>
          <p:cNvPr id="8" name="Snip and Round Single Corner Rectangle 7"/>
          <p:cNvSpPr/>
          <p:nvPr/>
        </p:nvSpPr>
        <p:spPr>
          <a:xfrm>
            <a:off x="3" y="6477001"/>
            <a:ext cx="8863013" cy="323851"/>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a:spcBef>
                <a:spcPct val="20000"/>
              </a:spcBef>
              <a:buFont typeface="Arial" panose="020B0604020202020204" pitchFamily="34" charset="0"/>
              <a:buChar char="•"/>
              <a:tabLst>
                <a:tab pos="4389438" algn="l"/>
              </a:tabLst>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tabLst>
                <a:tab pos="4389438" algn="l"/>
              </a:tabLst>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tabLst>
                <a:tab pos="4389438" algn="l"/>
              </a:tabLst>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9pPr>
          </a:lstStyle>
          <a:p>
            <a:pPr algn="r" fontAlgn="base">
              <a:spcBef>
                <a:spcPct val="0"/>
              </a:spcBef>
              <a:spcAft>
                <a:spcPct val="0"/>
              </a:spcAft>
              <a:buNone/>
              <a:defRPr/>
            </a:pPr>
            <a:fld id="{5C157F89-BC4E-485A-A9B8-EC5F2289648F}" type="slidenum">
              <a:rPr lang="en-US" altLang="en-US" sz="1300">
                <a:solidFill>
                  <a:srgbClr val="FFFFFF"/>
                </a:solidFill>
                <a:latin typeface="Gill Sans MT" panose="020B0502020104020203" pitchFamily="34" charset="0"/>
              </a:rPr>
              <a:pPr algn="r" fontAlgn="base">
                <a:spcBef>
                  <a:spcPct val="0"/>
                </a:spcBef>
                <a:spcAft>
                  <a:spcPct val="0"/>
                </a:spcAft>
                <a:buNone/>
                <a:defRPr/>
              </a:pPr>
              <a:t>29</a:t>
            </a:fld>
            <a:endParaRPr lang="en-US" altLang="en-US" sz="1300">
              <a:solidFill>
                <a:srgbClr val="FFFFFF"/>
              </a:solidFill>
              <a:latin typeface="Gill Sans MT" panose="020B0502020104020203" pitchFamily="34" charset="0"/>
            </a:endParaRPr>
          </a:p>
        </p:txBody>
      </p:sp>
      <p:sp>
        <p:nvSpPr>
          <p:cNvPr id="27" name="TextBox 26"/>
          <p:cNvSpPr txBox="1"/>
          <p:nvPr/>
        </p:nvSpPr>
        <p:spPr>
          <a:xfrm>
            <a:off x="11769" y="1135330"/>
            <a:ext cx="8974187" cy="4531692"/>
          </a:xfrm>
          <a:prstGeom prst="rect">
            <a:avLst/>
          </a:prstGeom>
          <a:noFill/>
        </p:spPr>
        <p:txBody>
          <a:bodyPr wrap="square" lIns="91440" tIns="45720" rIns="91440" bIns="45720" anchor="t">
            <a:spAutoFit/>
          </a:bodyPr>
          <a:lstStyle/>
          <a:p>
            <a:pPr fontAlgn="base">
              <a:spcBef>
                <a:spcPct val="0"/>
              </a:spcBef>
              <a:spcAft>
                <a:spcPct val="0"/>
              </a:spcAft>
              <a:defRPr/>
            </a:pPr>
            <a:r>
              <a:rPr lang="en-US" sz="2000" b="1" dirty="0">
                <a:latin typeface="Times New Roman" panose="02020603050405020304" pitchFamily="18" charset="0"/>
                <a:ea typeface="ＭＳ Ｐゴシック" charset="0"/>
                <a:cs typeface="Times New Roman" panose="02020603050405020304" pitchFamily="18" charset="0"/>
              </a:rPr>
              <a:t>To reinforce why the validity of AD is ambiguous, consider the following examples: which of the inferences are valid?</a:t>
            </a:r>
          </a:p>
          <a:p>
            <a:pPr fontAlgn="base">
              <a:spcBef>
                <a:spcPct val="0"/>
              </a:spcBef>
              <a:spcAft>
                <a:spcPct val="0"/>
              </a:spcAft>
              <a:defRPr/>
            </a:pPr>
            <a:endParaRPr lang="en-US" sz="2000" dirty="0">
              <a:latin typeface="Times New Roman" panose="02020603050405020304" pitchFamily="18" charset="0"/>
              <a:ea typeface="ＭＳ Ｐゴシック" charset="0"/>
              <a:cs typeface="Times New Roman" panose="02020603050405020304" pitchFamily="18" charset="0"/>
            </a:endParaRPr>
          </a:p>
          <a:p>
            <a:pPr lvl="2" fontAlgn="base">
              <a:spcBef>
                <a:spcPct val="0"/>
              </a:spcBef>
              <a:spcAft>
                <a:spcPct val="0"/>
              </a:spcAft>
              <a:defRPr/>
            </a:pPr>
            <a:r>
              <a:rPr lang="en-US" sz="2000" dirty="0">
                <a:latin typeface="Times New Roman"/>
                <a:ea typeface="ＭＳ Ｐゴシック"/>
                <a:cs typeface="Times New Roman"/>
              </a:rPr>
              <a:t>1.	Sovan is married to either Emma or Gabby. (</a:t>
            </a:r>
            <a:r>
              <a:rPr lang="en-US" sz="2000" dirty="0">
                <a:solidFill>
                  <a:srgbClr val="FF0000"/>
                </a:solidFill>
                <a:latin typeface="Times New Roman"/>
                <a:ea typeface="ＭＳ Ｐゴシック"/>
                <a:cs typeface="Times New Roman"/>
              </a:rPr>
              <a:t>Singapore</a:t>
            </a:r>
            <a:r>
              <a:rPr lang="en-US" sz="2000" dirty="0">
                <a:latin typeface="Times New Roman"/>
                <a:ea typeface="ＭＳ Ｐゴシック"/>
                <a:cs typeface="Times New Roman"/>
              </a:rPr>
              <a:t>)</a:t>
            </a:r>
          </a:p>
          <a:p>
            <a:pPr lvl="2" fontAlgn="base">
              <a:spcBef>
                <a:spcPct val="0"/>
              </a:spcBef>
              <a:spcAft>
                <a:spcPct val="0"/>
              </a:spcAft>
              <a:defRPr/>
            </a:pPr>
            <a:r>
              <a:rPr lang="en-US" sz="2000" dirty="0">
                <a:latin typeface="Times New Roman"/>
                <a:ea typeface="ＭＳ Ｐゴシック"/>
                <a:cs typeface="Times New Roman"/>
              </a:rPr>
              <a:t>	Sovan is married to Emma.</a:t>
            </a:r>
          </a:p>
          <a:p>
            <a:pPr lvl="2" fontAlgn="base">
              <a:spcBef>
                <a:spcPct val="0"/>
              </a:spcBef>
              <a:spcAft>
                <a:spcPct val="0"/>
              </a:spcAft>
              <a:defRPr/>
            </a:pPr>
            <a:r>
              <a:rPr lang="en-US" sz="2000" dirty="0">
                <a:latin typeface="Times New Roman"/>
                <a:ea typeface="ＭＳ Ｐゴシック"/>
                <a:cs typeface="Times New Roman"/>
              </a:rPr>
              <a:t>	_____________________________</a:t>
            </a:r>
          </a:p>
          <a:p>
            <a:pPr lvl="2" fontAlgn="base">
              <a:spcBef>
                <a:spcPct val="0"/>
              </a:spcBef>
              <a:spcAft>
                <a:spcPct val="0"/>
              </a:spcAft>
              <a:defRPr/>
            </a:pPr>
            <a:r>
              <a:rPr lang="en-US" sz="2000" dirty="0">
                <a:latin typeface="Times New Roman"/>
                <a:ea typeface="ＭＳ Ｐゴシック"/>
                <a:cs typeface="Times New Roman"/>
              </a:rPr>
              <a:t>	So, Sovan is not married to Gabby.</a:t>
            </a:r>
          </a:p>
          <a:p>
            <a:pPr lvl="2" fontAlgn="base">
              <a:spcBef>
                <a:spcPct val="0"/>
              </a:spcBef>
              <a:spcAft>
                <a:spcPct val="0"/>
              </a:spcAft>
              <a:defRPr/>
            </a:pPr>
            <a:endParaRPr lang="en-US" sz="2000" dirty="0">
              <a:latin typeface="Times New Roman" panose="02020603050405020304" pitchFamily="18" charset="0"/>
              <a:ea typeface="ＭＳ Ｐゴシック" charset="0"/>
              <a:cs typeface="Times New Roman" panose="02020603050405020304" pitchFamily="18" charset="0"/>
            </a:endParaRPr>
          </a:p>
          <a:p>
            <a:pPr lvl="2" fontAlgn="base">
              <a:spcBef>
                <a:spcPct val="0"/>
              </a:spcBef>
              <a:spcAft>
                <a:spcPct val="0"/>
              </a:spcAft>
              <a:defRPr/>
            </a:pPr>
            <a:endParaRPr lang="en-US" sz="2000" dirty="0">
              <a:latin typeface="Times New Roman" panose="02020603050405020304" pitchFamily="18" charset="0"/>
              <a:ea typeface="ＭＳ Ｐゴシック" charset="0"/>
              <a:cs typeface="Times New Roman" panose="02020603050405020304" pitchFamily="18" charset="0"/>
            </a:endParaRPr>
          </a:p>
          <a:p>
            <a:pPr lvl="2" fontAlgn="base">
              <a:spcBef>
                <a:spcPct val="0"/>
              </a:spcBef>
              <a:spcAft>
                <a:spcPct val="0"/>
              </a:spcAft>
              <a:defRPr/>
            </a:pPr>
            <a:r>
              <a:rPr lang="en-US" sz="2000" dirty="0">
                <a:latin typeface="Times New Roman"/>
                <a:ea typeface="ＭＳ Ｐゴシック"/>
                <a:cs typeface="Times New Roman"/>
              </a:rPr>
              <a:t>2.	Sovan is married to either Emma or Gabby</a:t>
            </a:r>
            <a:r>
              <a:rPr lang="en-US" sz="2000" dirty="0">
                <a:solidFill>
                  <a:srgbClr val="FF0000"/>
                </a:solidFill>
                <a:latin typeface="Times New Roman"/>
                <a:ea typeface="ＭＳ Ｐゴシック"/>
                <a:cs typeface="Times New Roman"/>
              </a:rPr>
              <a:t> (Polygamous society)</a:t>
            </a:r>
            <a:r>
              <a:rPr lang="en-US" sz="2000" dirty="0">
                <a:latin typeface="Times New Roman"/>
                <a:ea typeface="ＭＳ Ｐゴシック"/>
                <a:cs typeface="Times New Roman"/>
              </a:rPr>
              <a:t> .</a:t>
            </a:r>
          </a:p>
          <a:p>
            <a:pPr lvl="2" fontAlgn="base">
              <a:spcBef>
                <a:spcPct val="0"/>
              </a:spcBef>
              <a:spcAft>
                <a:spcPct val="0"/>
              </a:spcAft>
              <a:defRPr/>
            </a:pPr>
            <a:r>
              <a:rPr lang="en-US" sz="2000" dirty="0">
                <a:latin typeface="Times New Roman"/>
                <a:ea typeface="ＭＳ Ｐゴシック"/>
                <a:cs typeface="Times New Roman"/>
              </a:rPr>
              <a:t>	Sovan is married to Emma.</a:t>
            </a:r>
          </a:p>
          <a:p>
            <a:pPr lvl="2" fontAlgn="base">
              <a:spcBef>
                <a:spcPct val="0"/>
              </a:spcBef>
              <a:spcAft>
                <a:spcPct val="0"/>
              </a:spcAft>
              <a:defRPr/>
            </a:pPr>
            <a:r>
              <a:rPr lang="en-US" sz="2000" dirty="0">
                <a:latin typeface="Times New Roman"/>
                <a:ea typeface="ＭＳ Ｐゴシック"/>
                <a:cs typeface="Times New Roman"/>
              </a:rPr>
              <a:t>	_____________________________</a:t>
            </a:r>
          </a:p>
          <a:p>
            <a:pPr lvl="2" fontAlgn="base">
              <a:spcBef>
                <a:spcPct val="0"/>
              </a:spcBef>
              <a:spcAft>
                <a:spcPct val="0"/>
              </a:spcAft>
              <a:defRPr/>
            </a:pPr>
            <a:r>
              <a:rPr lang="en-US" sz="2000" dirty="0">
                <a:latin typeface="Times New Roman"/>
                <a:ea typeface="ＭＳ Ｐゴシック"/>
                <a:cs typeface="Times New Roman"/>
              </a:rPr>
              <a:t>	So, Sovan is not married to Gabby.</a:t>
            </a:r>
          </a:p>
          <a:p>
            <a:pPr fontAlgn="base">
              <a:spcBef>
                <a:spcPct val="0"/>
              </a:spcBef>
              <a:spcAft>
                <a:spcPct val="0"/>
              </a:spcAft>
              <a:defRPr/>
            </a:pPr>
            <a:endParaRPr lang="en-US" sz="2000" b="1" dirty="0">
              <a:latin typeface="Times New Roman" panose="02020603050405020304" pitchFamily="18" charset="0"/>
              <a:ea typeface="ＭＳ Ｐゴシック" charset="0"/>
              <a:cs typeface="Times New Roman" panose="02020603050405020304" pitchFamily="18" charset="0"/>
            </a:endParaRPr>
          </a:p>
        </p:txBody>
      </p:sp>
    </p:spTree>
    <p:extLst>
      <p:ext uri="{BB962C8B-B14F-4D97-AF65-F5344CB8AC3E}">
        <p14:creationId xmlns:p14="http://schemas.microsoft.com/office/powerpoint/2010/main" val="3985372121"/>
      </p:ext>
    </p:extLst>
  </p:cSld>
  <p:clrMapOvr>
    <a:masterClrMapping/>
  </p:clrMapOvr>
  <mc:AlternateContent xmlns:mc="http://schemas.openxmlformats.org/markup-compatibility/2006" xmlns:p14="http://schemas.microsoft.com/office/powerpoint/2010/main">
    <mc:Choice Requires="p14">
      <p:transition spd="slow" p14:dur="2000" advTm="157047"/>
    </mc:Choice>
    <mc:Fallback xmlns="">
      <p:transition spd="slow" advTm="157047"/>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nip and Round Single Corner Rectangle 6"/>
          <p:cNvSpPr/>
          <p:nvPr/>
        </p:nvSpPr>
        <p:spPr>
          <a:xfrm>
            <a:off x="1" y="164248"/>
            <a:ext cx="8863013" cy="963857"/>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marL="609585" indent="-609585" eaLnBrk="0" fontAlgn="base" hangingPunct="0">
              <a:spcBef>
                <a:spcPct val="20000"/>
              </a:spcBef>
              <a:spcAft>
                <a:spcPct val="0"/>
              </a:spcAft>
              <a:defRPr/>
            </a:pPr>
            <a:r>
              <a:rPr lang="en-US" sz="3400" b="1" dirty="0">
                <a:solidFill>
                  <a:srgbClr val="FFFFFF"/>
                </a:solidFill>
                <a:latin typeface="Times New Roman" panose="02020603050405020304" pitchFamily="18" charset="0"/>
                <a:cs typeface="Times New Roman" panose="02020603050405020304" pitchFamily="18" charset="0"/>
              </a:rPr>
              <a:t>Affirming the Disjunct &amp; Charity</a:t>
            </a:r>
            <a:endParaRPr lang="en-US" sz="3400" b="1" dirty="0">
              <a:solidFill>
                <a:srgbClr val="FF0000"/>
              </a:solidFill>
              <a:latin typeface="Times New Roman" panose="02020603050405020304" pitchFamily="18" charset="0"/>
              <a:cs typeface="Times New Roman" panose="02020603050405020304" pitchFamily="18" charset="0"/>
            </a:endParaRPr>
          </a:p>
        </p:txBody>
      </p:sp>
      <p:sp>
        <p:nvSpPr>
          <p:cNvPr id="8" name="Snip and Round Single Corner Rectangle 7"/>
          <p:cNvSpPr/>
          <p:nvPr/>
        </p:nvSpPr>
        <p:spPr>
          <a:xfrm>
            <a:off x="3" y="6477001"/>
            <a:ext cx="8863013" cy="323851"/>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a:spcBef>
                <a:spcPct val="20000"/>
              </a:spcBef>
              <a:buFont typeface="Arial" panose="020B0604020202020204" pitchFamily="34" charset="0"/>
              <a:buChar char="•"/>
              <a:tabLst>
                <a:tab pos="4389438" algn="l"/>
              </a:tabLst>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tabLst>
                <a:tab pos="4389438" algn="l"/>
              </a:tabLst>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tabLst>
                <a:tab pos="4389438" algn="l"/>
              </a:tabLst>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9pPr>
          </a:lstStyle>
          <a:p>
            <a:pPr algn="r" fontAlgn="base">
              <a:spcBef>
                <a:spcPct val="0"/>
              </a:spcBef>
              <a:spcAft>
                <a:spcPct val="0"/>
              </a:spcAft>
              <a:buNone/>
              <a:defRPr/>
            </a:pPr>
            <a:fld id="{5C157F89-BC4E-485A-A9B8-EC5F2289648F}" type="slidenum">
              <a:rPr lang="en-US" altLang="en-US" sz="1300">
                <a:solidFill>
                  <a:srgbClr val="FFFFFF"/>
                </a:solidFill>
                <a:latin typeface="Gill Sans MT" panose="020B0502020104020203" pitchFamily="34" charset="0"/>
              </a:rPr>
              <a:pPr algn="r" fontAlgn="base">
                <a:spcBef>
                  <a:spcPct val="0"/>
                </a:spcBef>
                <a:spcAft>
                  <a:spcPct val="0"/>
                </a:spcAft>
                <a:buNone/>
                <a:defRPr/>
              </a:pPr>
              <a:t>30</a:t>
            </a:fld>
            <a:endParaRPr lang="en-US" altLang="en-US" sz="1300">
              <a:solidFill>
                <a:srgbClr val="FFFFFF"/>
              </a:solidFill>
              <a:latin typeface="Gill Sans MT" panose="020B0502020104020203" pitchFamily="34" charset="0"/>
            </a:endParaRPr>
          </a:p>
        </p:txBody>
      </p:sp>
      <p:sp>
        <p:nvSpPr>
          <p:cNvPr id="5" name="TextBox 4">
            <a:extLst>
              <a:ext uri="{FF2B5EF4-FFF2-40B4-BE49-F238E27FC236}">
                <a16:creationId xmlns:a16="http://schemas.microsoft.com/office/drawing/2014/main" id="{E808FB8E-828A-45F8-B148-4AD56A435E60}"/>
              </a:ext>
            </a:extLst>
          </p:cNvPr>
          <p:cNvSpPr txBox="1"/>
          <p:nvPr/>
        </p:nvSpPr>
        <p:spPr>
          <a:xfrm>
            <a:off x="140493" y="1255016"/>
            <a:ext cx="8863013" cy="5016758"/>
          </a:xfrm>
          <a:prstGeom prst="rect">
            <a:avLst/>
          </a:prstGeom>
          <a:noFill/>
        </p:spPr>
        <p:txBody>
          <a:bodyPr wrap="square" lIns="91440" tIns="45720" rIns="91440" bIns="45720" anchor="t">
            <a:spAutoFit/>
          </a:bodyPr>
          <a:lstStyle/>
          <a:p>
            <a:pPr fontAlgn="base">
              <a:spcBef>
                <a:spcPct val="0"/>
              </a:spcBef>
              <a:spcAft>
                <a:spcPct val="0"/>
              </a:spcAft>
              <a:defRPr/>
            </a:pPr>
            <a:r>
              <a:rPr lang="en-US" sz="2000" dirty="0">
                <a:latin typeface="Times New Roman"/>
                <a:ea typeface="ＭＳ Ｐゴシック"/>
                <a:cs typeface="Times New Roman"/>
              </a:rPr>
              <a:t>So, should you read the disjunction, in the AD, as ‘exclusive’ or ‘inclusive’?</a:t>
            </a:r>
          </a:p>
          <a:p>
            <a:pPr marL="570865" indent="-570865" fontAlgn="base">
              <a:spcBef>
                <a:spcPct val="0"/>
              </a:spcBef>
              <a:spcAft>
                <a:spcPct val="0"/>
              </a:spcAft>
              <a:buFont typeface="Wingdings" panose="05000000000000000000" pitchFamily="2" charset="2"/>
              <a:buChar char="§"/>
              <a:defRPr/>
            </a:pPr>
            <a:endParaRPr lang="en-US" sz="2000" dirty="0">
              <a:latin typeface="Times New Roman" panose="02020603050405020304" pitchFamily="18" charset="0"/>
              <a:ea typeface="ＭＳ Ｐゴシック" charset="0"/>
              <a:cs typeface="Times New Roman" panose="02020603050405020304" pitchFamily="18" charset="0"/>
            </a:endParaRPr>
          </a:p>
          <a:p>
            <a:pPr marL="570865" indent="-570865" fontAlgn="base">
              <a:spcBef>
                <a:spcPct val="0"/>
              </a:spcBef>
              <a:spcAft>
                <a:spcPct val="0"/>
              </a:spcAft>
              <a:buFont typeface="Wingdings" panose="05000000000000000000" pitchFamily="2" charset="2"/>
              <a:buChar char="§"/>
              <a:defRPr/>
            </a:pPr>
            <a:r>
              <a:rPr lang="en-US" sz="2000" dirty="0">
                <a:latin typeface="Times New Roman"/>
                <a:ea typeface="ＭＳ Ｐゴシック"/>
                <a:cs typeface="Times New Roman"/>
              </a:rPr>
              <a:t>Well, ask the person! (and, if you are stating the disjunction, make it clear).</a:t>
            </a:r>
          </a:p>
          <a:p>
            <a:pPr marL="570865" indent="-570865" fontAlgn="base">
              <a:spcBef>
                <a:spcPct val="0"/>
              </a:spcBef>
              <a:spcAft>
                <a:spcPct val="0"/>
              </a:spcAft>
              <a:buFont typeface="Wingdings" panose="05000000000000000000" pitchFamily="2" charset="2"/>
              <a:buChar char="§"/>
              <a:defRPr/>
            </a:pPr>
            <a:endParaRPr lang="en-US" sz="2000" dirty="0">
              <a:latin typeface="Times New Roman" panose="02020603050405020304" pitchFamily="18" charset="0"/>
              <a:ea typeface="ＭＳ Ｐゴシック" charset="0"/>
              <a:cs typeface="Times New Roman" panose="02020603050405020304" pitchFamily="18" charset="0"/>
            </a:endParaRPr>
          </a:p>
          <a:p>
            <a:pPr fontAlgn="base">
              <a:spcBef>
                <a:spcPct val="0"/>
              </a:spcBef>
              <a:spcAft>
                <a:spcPct val="0"/>
              </a:spcAft>
              <a:defRPr/>
            </a:pPr>
            <a:r>
              <a:rPr lang="en-US" sz="2000" dirty="0">
                <a:latin typeface="Times New Roman"/>
                <a:ea typeface="ＭＳ Ｐゴシック"/>
                <a:cs typeface="Times New Roman"/>
              </a:rPr>
              <a:t>If the ambiguity can’t be resolved by asking, then use ______.</a:t>
            </a:r>
          </a:p>
          <a:p>
            <a:pPr marL="570865" indent="-570865" fontAlgn="base">
              <a:spcBef>
                <a:spcPct val="0"/>
              </a:spcBef>
              <a:spcAft>
                <a:spcPct val="0"/>
              </a:spcAft>
              <a:buFont typeface="Wingdings" panose="05000000000000000000" pitchFamily="2" charset="2"/>
              <a:buChar char="§"/>
              <a:defRPr/>
            </a:pPr>
            <a:endParaRPr lang="en-US" sz="2000" dirty="0">
              <a:latin typeface="Times New Roman" panose="02020603050405020304" pitchFamily="18" charset="0"/>
              <a:ea typeface="ＭＳ Ｐゴシック" charset="0"/>
              <a:cs typeface="Times New Roman" panose="02020603050405020304" pitchFamily="18" charset="0"/>
            </a:endParaRPr>
          </a:p>
          <a:p>
            <a:pPr fontAlgn="base">
              <a:spcBef>
                <a:spcPct val="0"/>
              </a:spcBef>
              <a:spcAft>
                <a:spcPct val="0"/>
              </a:spcAft>
              <a:defRPr/>
            </a:pPr>
            <a:r>
              <a:rPr lang="en-US" sz="2000" dirty="0">
                <a:latin typeface="Times New Roman"/>
                <a:ea typeface="ＭＳ Ｐゴシック"/>
                <a:cs typeface="Times New Roman"/>
              </a:rPr>
              <a:t>How do you use charity?</a:t>
            </a:r>
          </a:p>
          <a:p>
            <a:pPr marL="1028065" lvl="1" indent="-570865" fontAlgn="base">
              <a:spcBef>
                <a:spcPct val="0"/>
              </a:spcBef>
              <a:spcAft>
                <a:spcPct val="0"/>
              </a:spcAft>
              <a:buFont typeface="Wingdings" panose="05000000000000000000" pitchFamily="2" charset="2"/>
              <a:buChar char="§"/>
              <a:defRPr/>
            </a:pPr>
            <a:r>
              <a:rPr lang="en-US" sz="2000" dirty="0">
                <a:latin typeface="Times New Roman"/>
                <a:ea typeface="ＭＳ Ｐゴシック"/>
                <a:cs typeface="Times New Roman"/>
              </a:rPr>
              <a:t>If the exclusive disjunction is </a:t>
            </a:r>
            <a:r>
              <a:rPr lang="en-US" sz="2000" u="sng" dirty="0">
                <a:latin typeface="Times New Roman"/>
                <a:ea typeface="ＭＳ Ｐゴシック"/>
                <a:cs typeface="Times New Roman"/>
              </a:rPr>
              <a:t>clearly true </a:t>
            </a:r>
            <a:r>
              <a:rPr lang="en-US" sz="2000" dirty="0">
                <a:latin typeface="Times New Roman"/>
                <a:ea typeface="ＭＳ Ｐゴシック"/>
                <a:cs typeface="Times New Roman"/>
              </a:rPr>
              <a:t>(exactly one disjunct is true), then read it exclusively (why?); and treat ‘affirming the disjunct’ as valid.</a:t>
            </a:r>
          </a:p>
          <a:p>
            <a:pPr marL="1028065" lvl="1" indent="-570865" fontAlgn="base">
              <a:spcBef>
                <a:spcPct val="0"/>
              </a:spcBef>
              <a:spcAft>
                <a:spcPct val="0"/>
              </a:spcAft>
              <a:buFont typeface="Wingdings" panose="05000000000000000000" pitchFamily="2" charset="2"/>
              <a:buChar char="§"/>
              <a:defRPr/>
            </a:pPr>
            <a:r>
              <a:rPr lang="en-US" sz="2000" dirty="0">
                <a:latin typeface="Times New Roman"/>
                <a:ea typeface="ＭＳ Ｐゴシック"/>
                <a:cs typeface="Times New Roman"/>
              </a:rPr>
              <a:t>If the exclusive disjunction is </a:t>
            </a:r>
            <a:r>
              <a:rPr lang="en-US" sz="2000" u="sng" dirty="0">
                <a:latin typeface="Times New Roman"/>
                <a:ea typeface="ＭＳ Ｐゴシック"/>
                <a:cs typeface="Times New Roman"/>
              </a:rPr>
              <a:t>not clearly true </a:t>
            </a:r>
            <a:r>
              <a:rPr lang="en-US" sz="2000" dirty="0">
                <a:latin typeface="Times New Roman"/>
                <a:ea typeface="ＭＳ Ｐゴシック"/>
                <a:cs typeface="Times New Roman"/>
              </a:rPr>
              <a:t>(possible that both disjuncts are true), then </a:t>
            </a:r>
            <a:r>
              <a:rPr lang="en-US" sz="2000" b="1" dirty="0">
                <a:latin typeface="Times New Roman"/>
                <a:ea typeface="ＭＳ Ｐゴシック"/>
                <a:cs typeface="Times New Roman"/>
              </a:rPr>
              <a:t>it is not clear which way charity blows</a:t>
            </a:r>
            <a:r>
              <a:rPr lang="en-US" sz="2000" dirty="0">
                <a:latin typeface="Times New Roman"/>
                <a:ea typeface="ＭＳ Ｐゴシック"/>
                <a:cs typeface="Times New Roman"/>
              </a:rPr>
              <a:t>:</a:t>
            </a:r>
          </a:p>
          <a:p>
            <a:pPr marL="1485265" lvl="2" indent="-570865" fontAlgn="base">
              <a:spcBef>
                <a:spcPct val="0"/>
              </a:spcBef>
              <a:spcAft>
                <a:spcPct val="0"/>
              </a:spcAft>
              <a:buFont typeface="Wingdings" panose="05000000000000000000" pitchFamily="2" charset="2"/>
              <a:buChar char="§"/>
              <a:defRPr/>
            </a:pPr>
            <a:r>
              <a:rPr lang="en-US" sz="2000" dirty="0">
                <a:latin typeface="Times New Roman"/>
                <a:ea typeface="ＭＳ Ｐゴシック"/>
                <a:cs typeface="Times New Roman"/>
              </a:rPr>
              <a:t>If you treat it exclusively in an ‘affirming the disjunct’ , then the premise might be false (but, the inference valid)</a:t>
            </a:r>
          </a:p>
          <a:p>
            <a:pPr marL="1485265" lvl="2" indent="-570865" fontAlgn="base">
              <a:spcBef>
                <a:spcPct val="0"/>
              </a:spcBef>
              <a:spcAft>
                <a:spcPct val="0"/>
              </a:spcAft>
              <a:buFont typeface="Wingdings" panose="05000000000000000000" pitchFamily="2" charset="2"/>
              <a:buChar char="§"/>
              <a:defRPr/>
            </a:pPr>
            <a:r>
              <a:rPr lang="en-US" sz="2000" dirty="0">
                <a:latin typeface="Times New Roman"/>
                <a:ea typeface="ＭＳ Ｐゴシック"/>
                <a:cs typeface="Times New Roman"/>
              </a:rPr>
              <a:t>If you treat it inclusively in an ‘affirming the disjunct’, then the inference is invalid (even if the premise might be true)</a:t>
            </a:r>
          </a:p>
          <a:p>
            <a:pPr marL="570865" indent="-570865" fontAlgn="base">
              <a:spcBef>
                <a:spcPct val="0"/>
              </a:spcBef>
              <a:spcAft>
                <a:spcPct val="0"/>
              </a:spcAft>
              <a:buFont typeface="Wingdings" panose="05000000000000000000" pitchFamily="2" charset="2"/>
              <a:buChar char="§"/>
              <a:defRPr/>
            </a:pPr>
            <a:endParaRPr lang="en-US" sz="2000" b="1" dirty="0">
              <a:latin typeface="Times New Roman" panose="02020603050405020304" pitchFamily="18" charset="0"/>
              <a:ea typeface="ＭＳ Ｐゴシック" charset="0"/>
              <a:cs typeface="Times New Roman" panose="02020603050405020304" pitchFamily="18" charset="0"/>
            </a:endParaRPr>
          </a:p>
        </p:txBody>
      </p:sp>
    </p:spTree>
    <p:extLst>
      <p:ext uri="{BB962C8B-B14F-4D97-AF65-F5344CB8AC3E}">
        <p14:creationId xmlns:p14="http://schemas.microsoft.com/office/powerpoint/2010/main" val="2438549132"/>
      </p:ext>
    </p:extLst>
  </p:cSld>
  <p:clrMapOvr>
    <a:masterClrMapping/>
  </p:clrMapOvr>
  <mc:AlternateContent xmlns:mc="http://schemas.openxmlformats.org/markup-compatibility/2006" xmlns:p14="http://schemas.microsoft.com/office/powerpoint/2010/main">
    <mc:Choice Requires="p14">
      <p:transition spd="slow" p14:dur="2000" advTm="173346"/>
    </mc:Choice>
    <mc:Fallback xmlns="">
      <p:transition spd="slow" advTm="173346"/>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nip and Round Single Corner Rectangle 6"/>
          <p:cNvSpPr/>
          <p:nvPr/>
        </p:nvSpPr>
        <p:spPr>
          <a:xfrm>
            <a:off x="-1" y="95255"/>
            <a:ext cx="8863013" cy="860424"/>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fontAlgn="base">
              <a:spcBef>
                <a:spcPct val="0"/>
              </a:spcBef>
              <a:spcAft>
                <a:spcPct val="0"/>
              </a:spcAft>
              <a:defRPr/>
            </a:pPr>
            <a:r>
              <a:rPr lang="en-US" sz="3200" b="1" spc="-151" dirty="0">
                <a:solidFill>
                  <a:prstClr val="white"/>
                </a:solidFill>
                <a:latin typeface="Times New Roman" panose="02020603050405020304" pitchFamily="18" charset="0"/>
                <a:cs typeface="Times New Roman" panose="02020603050405020304" pitchFamily="18" charset="0"/>
              </a:rPr>
              <a:t>Standard Propositional Forms (9):  Dilemma</a:t>
            </a:r>
          </a:p>
        </p:txBody>
      </p:sp>
      <p:sp>
        <p:nvSpPr>
          <p:cNvPr id="8" name="Snip and Round Single Corner Rectangle 7"/>
          <p:cNvSpPr/>
          <p:nvPr/>
        </p:nvSpPr>
        <p:spPr>
          <a:xfrm>
            <a:off x="3" y="6477001"/>
            <a:ext cx="8863013" cy="323851"/>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a:spcBef>
                <a:spcPct val="20000"/>
              </a:spcBef>
              <a:buFont typeface="Arial" panose="020B0604020202020204" pitchFamily="34" charset="0"/>
              <a:buChar char="•"/>
              <a:tabLst>
                <a:tab pos="4389438" algn="l"/>
              </a:tabLst>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tabLst>
                <a:tab pos="4389438" algn="l"/>
              </a:tabLst>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tabLst>
                <a:tab pos="4389438" algn="l"/>
              </a:tabLst>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9pPr>
          </a:lstStyle>
          <a:p>
            <a:pPr algn="r" fontAlgn="base">
              <a:spcBef>
                <a:spcPct val="0"/>
              </a:spcBef>
              <a:spcAft>
                <a:spcPct val="0"/>
              </a:spcAft>
              <a:buNone/>
              <a:defRPr/>
            </a:pPr>
            <a:fld id="{02404CBC-9017-4C4D-9A9D-4846F12B969B}" type="slidenum">
              <a:rPr lang="en-US" altLang="en-US" sz="1300">
                <a:solidFill>
                  <a:srgbClr val="FFFFFF"/>
                </a:solidFill>
                <a:latin typeface="Gill Sans MT" panose="020B0502020104020203" pitchFamily="34" charset="0"/>
              </a:rPr>
              <a:pPr algn="r" fontAlgn="base">
                <a:spcBef>
                  <a:spcPct val="0"/>
                </a:spcBef>
                <a:spcAft>
                  <a:spcPct val="0"/>
                </a:spcAft>
                <a:buNone/>
                <a:defRPr/>
              </a:pPr>
              <a:t>31</a:t>
            </a:fld>
            <a:endParaRPr lang="en-US" altLang="en-US" sz="1300">
              <a:solidFill>
                <a:srgbClr val="FFFFFF"/>
              </a:solidFill>
              <a:latin typeface="Gill Sans MT" panose="020B0502020104020203" pitchFamily="34" charset="0"/>
            </a:endParaRPr>
          </a:p>
        </p:txBody>
      </p:sp>
      <p:sp>
        <p:nvSpPr>
          <p:cNvPr id="8196" name="Rectangle 4"/>
          <p:cNvSpPr>
            <a:spLocks noGrp="1" noChangeArrowheads="1"/>
          </p:cNvSpPr>
          <p:nvPr>
            <p:ph type="subTitle" idx="1"/>
          </p:nvPr>
        </p:nvSpPr>
        <p:spPr>
          <a:xfrm>
            <a:off x="280987" y="955679"/>
            <a:ext cx="8260819" cy="5395479"/>
          </a:xfrm>
        </p:spPr>
        <p:txBody>
          <a:bodyPr/>
          <a:lstStyle/>
          <a:p>
            <a:pPr algn="l" eaLnBrk="1" hangingPunct="1"/>
            <a:r>
              <a:rPr lang="en-US" altLang="en-US" sz="2000" dirty="0">
                <a:solidFill>
                  <a:schemeClr val="tx1"/>
                </a:solidFill>
                <a:latin typeface="Times New Roman"/>
                <a:ea typeface="MS PGothic"/>
                <a:cs typeface="Times New Roman"/>
              </a:rPr>
              <a:t>Dilemmas come in two forms, constructive and destructive; both are valid</a:t>
            </a:r>
            <a:endParaRPr lang="en-US" altLang="en-US" sz="2000" dirty="0">
              <a:solidFill>
                <a:schemeClr val="tx1"/>
              </a:solidFill>
              <a:latin typeface="Times New Roman" panose="02020603050405020304" pitchFamily="18" charset="0"/>
              <a:cs typeface="Times New Roman" panose="02020603050405020304" pitchFamily="18" charset="0"/>
            </a:endParaRPr>
          </a:p>
          <a:p>
            <a:pPr marL="342265" indent="-342265" algn="l" eaLnBrk="1" hangingPunct="1">
              <a:buFont typeface="Wingdings" panose="05000000000000000000" pitchFamily="2" charset="2"/>
              <a:buChar char="§"/>
            </a:pPr>
            <a:r>
              <a:rPr lang="en-US" altLang="en-US" sz="1800" dirty="0">
                <a:solidFill>
                  <a:schemeClr val="tx1"/>
                </a:solidFill>
                <a:latin typeface="Times New Roman"/>
                <a:ea typeface="MS PGothic"/>
                <a:cs typeface="Times New Roman"/>
              </a:rPr>
              <a:t>The </a:t>
            </a:r>
            <a:r>
              <a:rPr lang="en-US" altLang="en-US" sz="1800" dirty="0">
                <a:solidFill>
                  <a:schemeClr val="tx1"/>
                </a:solidFill>
                <a:highlight>
                  <a:srgbClr val="FFFF00"/>
                </a:highlight>
                <a:latin typeface="Times New Roman"/>
                <a:ea typeface="MS PGothic"/>
                <a:cs typeface="Times New Roman"/>
              </a:rPr>
              <a:t>constructive</a:t>
            </a:r>
            <a:r>
              <a:rPr lang="en-US" altLang="en-US" sz="1800" dirty="0">
                <a:solidFill>
                  <a:schemeClr val="tx1"/>
                </a:solidFill>
                <a:latin typeface="Times New Roman"/>
                <a:ea typeface="MS PGothic"/>
                <a:cs typeface="Times New Roman"/>
              </a:rPr>
              <a:t> dilemma has this structure:</a:t>
            </a:r>
          </a:p>
          <a:p>
            <a:pPr marL="456565" lvl="1" algn="l" eaLnBrk="1" hangingPunct="1"/>
            <a:r>
              <a:rPr lang="en-US" altLang="en-US" sz="1800" dirty="0">
                <a:solidFill>
                  <a:schemeClr val="tx1"/>
                </a:solidFill>
                <a:latin typeface="Times New Roman"/>
                <a:ea typeface="MS PGothic"/>
                <a:cs typeface="Times New Roman"/>
              </a:rPr>
              <a:t>If P then R</a:t>
            </a:r>
          </a:p>
          <a:p>
            <a:pPr marL="456565" lvl="1" algn="l" eaLnBrk="1" hangingPunct="1"/>
            <a:r>
              <a:rPr lang="en-US" altLang="en-US" sz="1800" dirty="0">
                <a:solidFill>
                  <a:schemeClr val="tx1"/>
                </a:solidFill>
                <a:latin typeface="Times New Roman"/>
                <a:ea typeface="MS PGothic"/>
                <a:cs typeface="Times New Roman"/>
              </a:rPr>
              <a:t>If Q then S</a:t>
            </a:r>
          </a:p>
          <a:p>
            <a:pPr marL="456565" lvl="1" algn="l" eaLnBrk="1" hangingPunct="1"/>
            <a:r>
              <a:rPr lang="en-US" altLang="en-US" sz="1800" dirty="0">
                <a:solidFill>
                  <a:schemeClr val="tx1"/>
                </a:solidFill>
                <a:latin typeface="Times New Roman"/>
                <a:ea typeface="MS PGothic"/>
                <a:cs typeface="Times New Roman"/>
              </a:rPr>
              <a:t>Either P or Q</a:t>
            </a:r>
          </a:p>
          <a:p>
            <a:pPr marL="456565" lvl="1" algn="l" eaLnBrk="1" hangingPunct="1"/>
            <a:r>
              <a:rPr lang="en-US" altLang="en-US" sz="1800" dirty="0">
                <a:solidFill>
                  <a:schemeClr val="tx1"/>
                </a:solidFill>
                <a:latin typeface="Times New Roman"/>
                <a:ea typeface="MS PGothic"/>
                <a:cs typeface="Times New Roman"/>
              </a:rPr>
              <a:t>_____________</a:t>
            </a:r>
          </a:p>
          <a:p>
            <a:pPr marL="456565" lvl="1" algn="l" eaLnBrk="1" hangingPunct="1"/>
            <a:r>
              <a:rPr lang="en-US" altLang="en-US" sz="1800" dirty="0">
                <a:solidFill>
                  <a:schemeClr val="tx1"/>
                </a:solidFill>
                <a:latin typeface="Times New Roman"/>
                <a:ea typeface="MS PGothic"/>
                <a:cs typeface="Times New Roman"/>
              </a:rPr>
              <a:t>So, either R or S	</a:t>
            </a:r>
          </a:p>
          <a:p>
            <a:pPr algn="l" eaLnBrk="1" hangingPunct="1"/>
            <a:r>
              <a:rPr lang="en-US" altLang="en-US" sz="1600" dirty="0">
                <a:solidFill>
                  <a:schemeClr val="tx1"/>
                </a:solidFill>
                <a:latin typeface="Times New Roman"/>
                <a:ea typeface="MS PGothic"/>
                <a:cs typeface="Times New Roman"/>
              </a:rPr>
              <a:t>	</a:t>
            </a:r>
          </a:p>
          <a:p>
            <a:pPr marL="342265" indent="-342265" algn="l" eaLnBrk="1" hangingPunct="1">
              <a:buFont typeface="Wingdings" panose="05000000000000000000" pitchFamily="2" charset="2"/>
              <a:buChar char="§"/>
            </a:pPr>
            <a:r>
              <a:rPr lang="en-US" altLang="en-US" sz="1800" dirty="0">
                <a:solidFill>
                  <a:schemeClr val="tx1"/>
                </a:solidFill>
                <a:latin typeface="Times New Roman"/>
                <a:ea typeface="MS PGothic"/>
                <a:cs typeface="Times New Roman"/>
              </a:rPr>
              <a:t>The </a:t>
            </a:r>
            <a:r>
              <a:rPr lang="en-US" altLang="en-US" sz="1800" dirty="0">
                <a:solidFill>
                  <a:schemeClr val="tx1"/>
                </a:solidFill>
                <a:highlight>
                  <a:srgbClr val="FFFF00"/>
                </a:highlight>
                <a:latin typeface="Times New Roman"/>
                <a:ea typeface="MS PGothic"/>
                <a:cs typeface="Times New Roman"/>
              </a:rPr>
              <a:t>destructive</a:t>
            </a:r>
            <a:r>
              <a:rPr lang="en-US" altLang="en-US" sz="1800" dirty="0">
                <a:solidFill>
                  <a:schemeClr val="tx1"/>
                </a:solidFill>
                <a:latin typeface="Times New Roman"/>
                <a:ea typeface="MS PGothic"/>
                <a:cs typeface="Times New Roman"/>
              </a:rPr>
              <a:t> dilemma has this structure:</a:t>
            </a:r>
          </a:p>
          <a:p>
            <a:pPr marL="456565" lvl="1" algn="l" eaLnBrk="1" hangingPunct="1"/>
            <a:r>
              <a:rPr lang="en-US" altLang="en-US" sz="1800" dirty="0">
                <a:solidFill>
                  <a:schemeClr val="tx1"/>
                </a:solidFill>
                <a:latin typeface="Times New Roman"/>
                <a:ea typeface="MS PGothic"/>
                <a:cs typeface="Times New Roman"/>
              </a:rPr>
              <a:t>If P then R</a:t>
            </a:r>
          </a:p>
          <a:p>
            <a:pPr marL="456565" lvl="1" algn="l" eaLnBrk="1" hangingPunct="1"/>
            <a:r>
              <a:rPr lang="en-US" altLang="en-US" sz="1800" dirty="0">
                <a:solidFill>
                  <a:schemeClr val="tx1"/>
                </a:solidFill>
                <a:latin typeface="Times New Roman"/>
                <a:ea typeface="MS PGothic"/>
                <a:cs typeface="Times New Roman"/>
              </a:rPr>
              <a:t>If Q then S</a:t>
            </a:r>
          </a:p>
          <a:p>
            <a:pPr marL="456565" lvl="1" algn="l" eaLnBrk="1" hangingPunct="1"/>
            <a:r>
              <a:rPr lang="en-US" altLang="en-US" sz="1800" dirty="0">
                <a:solidFill>
                  <a:schemeClr val="tx1"/>
                </a:solidFill>
                <a:latin typeface="Times New Roman"/>
                <a:ea typeface="MS PGothic"/>
                <a:cs typeface="Times New Roman"/>
              </a:rPr>
              <a:t>Either not-R or not-S</a:t>
            </a:r>
          </a:p>
          <a:p>
            <a:pPr marL="456565" lvl="1" algn="l" eaLnBrk="1" hangingPunct="1"/>
            <a:r>
              <a:rPr lang="en-US" altLang="en-US" sz="1800" dirty="0">
                <a:solidFill>
                  <a:schemeClr val="tx1"/>
                </a:solidFill>
                <a:latin typeface="Times New Roman"/>
                <a:ea typeface="MS PGothic"/>
                <a:cs typeface="Times New Roman"/>
              </a:rPr>
              <a:t>_____________</a:t>
            </a:r>
          </a:p>
          <a:p>
            <a:pPr marL="456565" lvl="1" algn="l" eaLnBrk="1" hangingPunct="1"/>
            <a:r>
              <a:rPr lang="en-US" altLang="en-US" sz="1800" dirty="0">
                <a:solidFill>
                  <a:schemeClr val="tx1"/>
                </a:solidFill>
                <a:latin typeface="Times New Roman"/>
                <a:ea typeface="MS PGothic"/>
                <a:cs typeface="Times New Roman"/>
              </a:rPr>
              <a:t>So, either not-P or not-Q</a:t>
            </a:r>
          </a:p>
          <a:p>
            <a:pPr marL="285115" indent="-285115" algn="l" eaLnBrk="1" hangingPunct="1">
              <a:buFont typeface="Arial" panose="020B0604020202020204" pitchFamily="34" charset="0"/>
              <a:buChar char="•"/>
            </a:pPr>
            <a:endParaRPr lang="en-US" altLang="en-US" sz="1600" dirty="0">
              <a:solidFill>
                <a:schemeClr val="tx1"/>
              </a:solidFill>
              <a:latin typeface="Times New Roman" panose="02020603050405020304" pitchFamily="18" charset="0"/>
              <a:cs typeface="Times New Roman" panose="02020603050405020304" pitchFamily="18" charset="0"/>
            </a:endParaRPr>
          </a:p>
          <a:p>
            <a:pPr algn="l" eaLnBrk="1" hangingPunct="1"/>
            <a:endParaRPr lang="en-US" altLang="en-US" sz="1600" b="1" dirty="0">
              <a:solidFill>
                <a:schemeClr val="tx1"/>
              </a:solidFill>
              <a:latin typeface="Times New Roman" panose="02020603050405020304" pitchFamily="18" charset="0"/>
              <a:cs typeface="Times New Roman" panose="02020603050405020304" pitchFamily="18" charset="0"/>
            </a:endParaRPr>
          </a:p>
          <a:p>
            <a:pPr algn="l" eaLnBrk="1" hangingPunct="1"/>
            <a:br>
              <a:rPr lang="en-US" altLang="en-US" sz="1600" b="1" dirty="0">
                <a:solidFill>
                  <a:schemeClr val="tx1"/>
                </a:solidFill>
                <a:latin typeface="Times New Roman" panose="02020603050405020304" pitchFamily="18" charset="0"/>
                <a:cs typeface="Times New Roman" panose="02020603050405020304" pitchFamily="18" charset="0"/>
              </a:rPr>
            </a:br>
            <a:endParaRPr lang="en-US" altLang="en-US" sz="1600" b="1"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5A66B29-553B-4762-BA33-C6D99D14067C}"/>
              </a:ext>
            </a:extLst>
          </p:cNvPr>
          <p:cNvSpPr txBox="1"/>
          <p:nvPr/>
        </p:nvSpPr>
        <p:spPr>
          <a:xfrm>
            <a:off x="5009265" y="1872282"/>
            <a:ext cx="3951112" cy="1077218"/>
          </a:xfrm>
          <a:prstGeom prst="rect">
            <a:avLst/>
          </a:prstGeom>
          <a:noFill/>
        </p:spPr>
        <p:txBody>
          <a:bodyPr wrap="square" rtlCol="0">
            <a:spAutoFit/>
          </a:bodyPr>
          <a:lstStyle/>
          <a:p>
            <a:pPr algn="ctr"/>
            <a:r>
              <a:rPr lang="en-SG" sz="1600" b="1" dirty="0">
                <a:latin typeface="Times New Roman" panose="02020603050405020304" pitchFamily="18" charset="0"/>
                <a:cs typeface="Times New Roman" panose="02020603050405020304" pitchFamily="18" charset="0"/>
              </a:rPr>
              <a:t>If P then R + If Q then S + P or Q</a:t>
            </a:r>
          </a:p>
          <a:p>
            <a:pPr algn="ctr"/>
            <a:endParaRPr lang="en-SG" sz="1600" b="1" dirty="0">
              <a:latin typeface="Times New Roman" panose="02020603050405020304" pitchFamily="18" charset="0"/>
              <a:cs typeface="Times New Roman" panose="02020603050405020304" pitchFamily="18" charset="0"/>
            </a:endParaRPr>
          </a:p>
          <a:p>
            <a:pPr algn="ctr"/>
            <a:endParaRPr lang="en-SG" sz="1600" b="1" dirty="0">
              <a:latin typeface="Times New Roman" panose="02020603050405020304" pitchFamily="18" charset="0"/>
              <a:cs typeface="Times New Roman" panose="02020603050405020304" pitchFamily="18" charset="0"/>
            </a:endParaRPr>
          </a:p>
          <a:p>
            <a:pPr algn="ctr"/>
            <a:r>
              <a:rPr lang="en-SG" sz="1600" b="1" dirty="0">
                <a:latin typeface="Times New Roman" panose="02020603050405020304" pitchFamily="18" charset="0"/>
                <a:cs typeface="Times New Roman" panose="02020603050405020304" pitchFamily="18" charset="0"/>
              </a:rPr>
              <a:t>R or S </a:t>
            </a:r>
          </a:p>
        </p:txBody>
      </p:sp>
      <p:cxnSp>
        <p:nvCxnSpPr>
          <p:cNvPr id="6" name="Straight Connector 5">
            <a:extLst>
              <a:ext uri="{FF2B5EF4-FFF2-40B4-BE49-F238E27FC236}">
                <a16:creationId xmlns:a16="http://schemas.microsoft.com/office/drawing/2014/main" id="{F43828FD-7755-4AB3-A5CF-8E88A07506F3}"/>
              </a:ext>
            </a:extLst>
          </p:cNvPr>
          <p:cNvCxnSpPr>
            <a:cxnSpLocks/>
          </p:cNvCxnSpPr>
          <p:nvPr/>
        </p:nvCxnSpPr>
        <p:spPr>
          <a:xfrm>
            <a:off x="5426074" y="2203995"/>
            <a:ext cx="3115733" cy="1"/>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11BFA133-0172-4F2F-BA9B-0DC46FA0B70E}"/>
              </a:ext>
            </a:extLst>
          </p:cNvPr>
          <p:cNvCxnSpPr>
            <a:cxnSpLocks/>
          </p:cNvCxnSpPr>
          <p:nvPr/>
        </p:nvCxnSpPr>
        <p:spPr>
          <a:xfrm>
            <a:off x="6858070" y="2218608"/>
            <a:ext cx="0" cy="3845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0616C001-1902-47A8-B58F-F4D13E35A6BD}"/>
              </a:ext>
            </a:extLst>
          </p:cNvPr>
          <p:cNvCxnSpPr/>
          <p:nvPr/>
        </p:nvCxnSpPr>
        <p:spPr>
          <a:xfrm>
            <a:off x="5259670" y="1872282"/>
            <a:ext cx="0" cy="1219200"/>
          </a:xfrm>
          <a:prstGeom prst="line">
            <a:avLst/>
          </a:prstGeom>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F126B1C2-70C5-47D4-9EE4-D048BD5C0C71}"/>
              </a:ext>
            </a:extLst>
          </p:cNvPr>
          <p:cNvSpPr txBox="1"/>
          <p:nvPr/>
        </p:nvSpPr>
        <p:spPr>
          <a:xfrm>
            <a:off x="5008384" y="4004439"/>
            <a:ext cx="3951112" cy="1077218"/>
          </a:xfrm>
          <a:prstGeom prst="rect">
            <a:avLst/>
          </a:prstGeom>
          <a:noFill/>
        </p:spPr>
        <p:txBody>
          <a:bodyPr wrap="square" rtlCol="0">
            <a:spAutoFit/>
          </a:bodyPr>
          <a:lstStyle/>
          <a:p>
            <a:pPr algn="ctr"/>
            <a:r>
              <a:rPr lang="en-SG" sz="1600" b="1" dirty="0">
                <a:latin typeface="Times New Roman" panose="02020603050405020304" pitchFamily="18" charset="0"/>
                <a:cs typeface="Times New Roman" panose="02020603050405020304" pitchFamily="18" charset="0"/>
              </a:rPr>
              <a:t>If P then R + If Q then S + not R or not S</a:t>
            </a:r>
          </a:p>
          <a:p>
            <a:pPr algn="ctr"/>
            <a:endParaRPr lang="en-SG" sz="1600" b="1" dirty="0">
              <a:latin typeface="Times New Roman" panose="02020603050405020304" pitchFamily="18" charset="0"/>
              <a:cs typeface="Times New Roman" panose="02020603050405020304" pitchFamily="18" charset="0"/>
            </a:endParaRPr>
          </a:p>
          <a:p>
            <a:pPr algn="ctr"/>
            <a:endParaRPr lang="en-SG" sz="1600" b="1" dirty="0">
              <a:latin typeface="Times New Roman" panose="02020603050405020304" pitchFamily="18" charset="0"/>
              <a:cs typeface="Times New Roman" panose="02020603050405020304" pitchFamily="18" charset="0"/>
            </a:endParaRPr>
          </a:p>
          <a:p>
            <a:pPr algn="ctr"/>
            <a:r>
              <a:rPr lang="en-SG" sz="1600" b="1" dirty="0">
                <a:latin typeface="Times New Roman" panose="02020603050405020304" pitchFamily="18" charset="0"/>
                <a:cs typeface="Times New Roman" panose="02020603050405020304" pitchFamily="18" charset="0"/>
              </a:rPr>
              <a:t>Not P or Not Q</a:t>
            </a:r>
          </a:p>
        </p:txBody>
      </p:sp>
      <p:cxnSp>
        <p:nvCxnSpPr>
          <p:cNvPr id="17" name="Straight Connector 16">
            <a:extLst>
              <a:ext uri="{FF2B5EF4-FFF2-40B4-BE49-F238E27FC236}">
                <a16:creationId xmlns:a16="http://schemas.microsoft.com/office/drawing/2014/main" id="{F6814947-6ACE-420E-9BB9-15181C8E7F2C}"/>
              </a:ext>
            </a:extLst>
          </p:cNvPr>
          <p:cNvCxnSpPr>
            <a:cxnSpLocks/>
          </p:cNvCxnSpPr>
          <p:nvPr/>
        </p:nvCxnSpPr>
        <p:spPr>
          <a:xfrm>
            <a:off x="5091359" y="4344745"/>
            <a:ext cx="353342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207CFD5C-9316-4A06-A3A3-4DAF87AEE0EA}"/>
              </a:ext>
            </a:extLst>
          </p:cNvPr>
          <p:cNvCxnSpPr>
            <a:cxnSpLocks/>
          </p:cNvCxnSpPr>
          <p:nvPr/>
        </p:nvCxnSpPr>
        <p:spPr>
          <a:xfrm>
            <a:off x="6858070" y="4350765"/>
            <a:ext cx="0" cy="3845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0B46D177-AD9E-4EF1-990A-750317DD64FC}"/>
              </a:ext>
            </a:extLst>
          </p:cNvPr>
          <p:cNvCxnSpPr/>
          <p:nvPr/>
        </p:nvCxnSpPr>
        <p:spPr>
          <a:xfrm>
            <a:off x="5091359" y="3862457"/>
            <a:ext cx="0" cy="121920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04594694"/>
      </p:ext>
    </p:extLst>
  </p:cSld>
  <p:clrMapOvr>
    <a:masterClrMapping/>
  </p:clrMapOvr>
  <mc:AlternateContent xmlns:mc="http://schemas.openxmlformats.org/markup-compatibility/2006" xmlns:p14="http://schemas.microsoft.com/office/powerpoint/2010/main">
    <mc:Choice Requires="p14">
      <p:transition spd="slow" p14:dur="2000" advTm="195870"/>
    </mc:Choice>
    <mc:Fallback xmlns="">
      <p:transition spd="slow" advTm="19587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nip and Round Single Corner Rectangle 6"/>
          <p:cNvSpPr/>
          <p:nvPr/>
        </p:nvSpPr>
        <p:spPr>
          <a:xfrm>
            <a:off x="-1" y="95254"/>
            <a:ext cx="8863013" cy="911362"/>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marL="609585" indent="-609585" eaLnBrk="0" fontAlgn="base" hangingPunct="0">
              <a:spcBef>
                <a:spcPct val="20000"/>
              </a:spcBef>
              <a:spcAft>
                <a:spcPct val="0"/>
              </a:spcAft>
              <a:defRPr/>
            </a:pPr>
            <a:r>
              <a:rPr lang="en-US" sz="3400" b="1" dirty="0">
                <a:solidFill>
                  <a:srgbClr val="FFFFFF"/>
                </a:solidFill>
                <a:latin typeface="Times New Roman" panose="02020603050405020304" pitchFamily="18" charset="0"/>
                <a:cs typeface="Times New Roman" panose="02020603050405020304" pitchFamily="18" charset="0"/>
              </a:rPr>
              <a:t>Dilemma: Examples</a:t>
            </a:r>
            <a:endParaRPr lang="en-US" sz="3400" b="1" dirty="0">
              <a:solidFill>
                <a:srgbClr val="FF0000"/>
              </a:solidFill>
              <a:latin typeface="Times New Roman" panose="02020603050405020304" pitchFamily="18" charset="0"/>
              <a:cs typeface="Times New Roman" panose="02020603050405020304" pitchFamily="18" charset="0"/>
            </a:endParaRPr>
          </a:p>
        </p:txBody>
      </p:sp>
      <p:sp>
        <p:nvSpPr>
          <p:cNvPr id="8" name="Snip and Round Single Corner Rectangle 7"/>
          <p:cNvSpPr/>
          <p:nvPr/>
        </p:nvSpPr>
        <p:spPr>
          <a:xfrm>
            <a:off x="3" y="6477001"/>
            <a:ext cx="8863013" cy="323851"/>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a:spcBef>
                <a:spcPct val="20000"/>
              </a:spcBef>
              <a:buFont typeface="Arial" panose="020B0604020202020204" pitchFamily="34" charset="0"/>
              <a:buChar char="•"/>
              <a:tabLst>
                <a:tab pos="4389438" algn="l"/>
              </a:tabLst>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tabLst>
                <a:tab pos="4389438" algn="l"/>
              </a:tabLst>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tabLst>
                <a:tab pos="4389438" algn="l"/>
              </a:tabLst>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9pPr>
          </a:lstStyle>
          <a:p>
            <a:pPr algn="r" fontAlgn="base">
              <a:spcBef>
                <a:spcPct val="0"/>
              </a:spcBef>
              <a:spcAft>
                <a:spcPct val="0"/>
              </a:spcAft>
              <a:buNone/>
              <a:defRPr/>
            </a:pPr>
            <a:fld id="{5C157F89-BC4E-485A-A9B8-EC5F2289648F}" type="slidenum">
              <a:rPr lang="en-US" altLang="en-US" sz="1300">
                <a:solidFill>
                  <a:srgbClr val="FFFFFF"/>
                </a:solidFill>
                <a:latin typeface="Gill Sans MT" panose="020B0502020104020203" pitchFamily="34" charset="0"/>
              </a:rPr>
              <a:pPr algn="r" fontAlgn="base">
                <a:spcBef>
                  <a:spcPct val="0"/>
                </a:spcBef>
                <a:spcAft>
                  <a:spcPct val="0"/>
                </a:spcAft>
                <a:buNone/>
                <a:defRPr/>
              </a:pPr>
              <a:t>32</a:t>
            </a:fld>
            <a:endParaRPr lang="en-US" altLang="en-US" sz="1300">
              <a:solidFill>
                <a:srgbClr val="FFFFFF"/>
              </a:solidFill>
              <a:latin typeface="Gill Sans MT" panose="020B0502020104020203" pitchFamily="34" charset="0"/>
            </a:endParaRPr>
          </a:p>
        </p:txBody>
      </p:sp>
      <p:sp>
        <p:nvSpPr>
          <p:cNvPr id="27" name="TextBox 26"/>
          <p:cNvSpPr txBox="1"/>
          <p:nvPr/>
        </p:nvSpPr>
        <p:spPr>
          <a:xfrm>
            <a:off x="-19905" y="1006616"/>
            <a:ext cx="8851244" cy="4801314"/>
          </a:xfrm>
          <a:prstGeom prst="rect">
            <a:avLst/>
          </a:prstGeom>
          <a:noFill/>
        </p:spPr>
        <p:txBody>
          <a:bodyPr wrap="square" lIns="91440" tIns="45720" rIns="91440" bIns="45720" anchor="t">
            <a:spAutoFit/>
          </a:bodyPr>
          <a:lstStyle/>
          <a:p>
            <a:pPr fontAlgn="base">
              <a:spcBef>
                <a:spcPct val="0"/>
              </a:spcBef>
              <a:spcAft>
                <a:spcPct val="0"/>
              </a:spcAft>
              <a:defRPr/>
            </a:pPr>
            <a:r>
              <a:rPr lang="en-US" b="1" dirty="0">
                <a:latin typeface="Times New Roman" panose="02020603050405020304" pitchFamily="18" charset="0"/>
                <a:ea typeface="ＭＳ Ｐゴシック" charset="0"/>
                <a:cs typeface="Times New Roman" panose="02020603050405020304" pitchFamily="18" charset="0"/>
              </a:rPr>
              <a:t>Consider the following examples. Is the inference valid? </a:t>
            </a:r>
          </a:p>
          <a:p>
            <a:pPr fontAlgn="base">
              <a:spcBef>
                <a:spcPct val="0"/>
              </a:spcBef>
              <a:spcAft>
                <a:spcPct val="0"/>
              </a:spcAft>
              <a:defRPr/>
            </a:pPr>
            <a:r>
              <a:rPr lang="en-US" b="1" dirty="0">
                <a:latin typeface="Times New Roman" panose="02020603050405020304" pitchFamily="18" charset="0"/>
                <a:ea typeface="ＭＳ Ｐゴシック" charset="0"/>
                <a:cs typeface="Times New Roman" panose="02020603050405020304" pitchFamily="18" charset="0"/>
              </a:rPr>
              <a:t>Are the arguments sound?</a:t>
            </a:r>
          </a:p>
          <a:p>
            <a:pPr fontAlgn="base">
              <a:spcBef>
                <a:spcPct val="0"/>
              </a:spcBef>
              <a:spcAft>
                <a:spcPct val="0"/>
              </a:spcAft>
              <a:defRPr/>
            </a:pPr>
            <a:endParaRPr lang="en-US" b="1" dirty="0">
              <a:latin typeface="Times New Roman" panose="02020603050405020304" pitchFamily="18" charset="0"/>
              <a:ea typeface="ＭＳ Ｐゴシック" charset="0"/>
              <a:cs typeface="Times New Roman" panose="02020603050405020304" pitchFamily="18" charset="0"/>
            </a:endParaRPr>
          </a:p>
          <a:p>
            <a:pPr fontAlgn="base">
              <a:spcBef>
                <a:spcPct val="0"/>
              </a:spcBef>
              <a:spcAft>
                <a:spcPct val="0"/>
              </a:spcAft>
              <a:defRPr/>
            </a:pPr>
            <a:endParaRPr lang="en-US" b="1" dirty="0">
              <a:latin typeface="Times New Roman" panose="02020603050405020304" pitchFamily="18" charset="0"/>
              <a:ea typeface="ＭＳ Ｐゴシック" charset="0"/>
              <a:cs typeface="Times New Roman" panose="02020603050405020304" pitchFamily="18" charset="0"/>
            </a:endParaRPr>
          </a:p>
          <a:p>
            <a:pPr lvl="2" fontAlgn="base">
              <a:spcBef>
                <a:spcPct val="0"/>
              </a:spcBef>
              <a:spcAft>
                <a:spcPct val="0"/>
              </a:spcAft>
              <a:defRPr/>
            </a:pPr>
            <a:r>
              <a:rPr lang="en-US" dirty="0">
                <a:latin typeface="Times New Roman"/>
                <a:ea typeface="ＭＳ Ｐゴシック"/>
                <a:cs typeface="Times New Roman"/>
              </a:rPr>
              <a:t>1.	Either I will get an A for CTRW or not.</a:t>
            </a:r>
          </a:p>
          <a:p>
            <a:pPr lvl="2" fontAlgn="base">
              <a:spcBef>
                <a:spcPct val="0"/>
              </a:spcBef>
              <a:spcAft>
                <a:spcPct val="0"/>
              </a:spcAft>
              <a:defRPr/>
            </a:pPr>
            <a:r>
              <a:rPr lang="en-US" dirty="0">
                <a:latin typeface="Times New Roman"/>
                <a:ea typeface="ＭＳ Ｐゴシック"/>
                <a:cs typeface="Times New Roman"/>
              </a:rPr>
              <a:t>	If I get an A, studying hard is redundant.</a:t>
            </a:r>
          </a:p>
          <a:p>
            <a:pPr lvl="2" fontAlgn="base">
              <a:spcBef>
                <a:spcPct val="0"/>
              </a:spcBef>
              <a:spcAft>
                <a:spcPct val="0"/>
              </a:spcAft>
              <a:defRPr/>
            </a:pPr>
            <a:r>
              <a:rPr lang="en-US" dirty="0">
                <a:latin typeface="Times New Roman"/>
                <a:ea typeface="ＭＳ Ｐゴシック"/>
                <a:cs typeface="Times New Roman"/>
              </a:rPr>
              <a:t>	If I don’t, studying hard is futile.</a:t>
            </a:r>
          </a:p>
          <a:p>
            <a:pPr lvl="2" fontAlgn="base">
              <a:spcBef>
                <a:spcPct val="0"/>
              </a:spcBef>
              <a:spcAft>
                <a:spcPct val="0"/>
              </a:spcAft>
              <a:defRPr/>
            </a:pPr>
            <a:r>
              <a:rPr lang="en-US" dirty="0">
                <a:latin typeface="Times New Roman"/>
                <a:ea typeface="ＭＳ Ｐゴシック"/>
                <a:cs typeface="Times New Roman"/>
              </a:rPr>
              <a:t>	_____________________________</a:t>
            </a:r>
          </a:p>
          <a:p>
            <a:pPr lvl="2" fontAlgn="base">
              <a:spcBef>
                <a:spcPct val="0"/>
              </a:spcBef>
              <a:spcAft>
                <a:spcPct val="0"/>
              </a:spcAft>
              <a:defRPr/>
            </a:pPr>
            <a:r>
              <a:rPr lang="en-US" dirty="0">
                <a:latin typeface="Times New Roman"/>
                <a:ea typeface="ＭＳ Ｐゴシック"/>
                <a:cs typeface="Times New Roman"/>
              </a:rPr>
              <a:t>	So, studying hard is either redundant or futile.</a:t>
            </a:r>
          </a:p>
          <a:p>
            <a:pPr lvl="2" fontAlgn="base">
              <a:spcBef>
                <a:spcPct val="0"/>
              </a:spcBef>
              <a:spcAft>
                <a:spcPct val="0"/>
              </a:spcAft>
              <a:defRPr/>
            </a:pPr>
            <a:endParaRPr lang="en-US" dirty="0">
              <a:latin typeface="Times New Roman" panose="02020603050405020304" pitchFamily="18" charset="0"/>
              <a:ea typeface="ＭＳ Ｐゴシック" charset="0"/>
              <a:cs typeface="Times New Roman" panose="02020603050405020304" pitchFamily="18" charset="0"/>
            </a:endParaRPr>
          </a:p>
          <a:p>
            <a:pPr lvl="2" fontAlgn="base">
              <a:spcBef>
                <a:spcPct val="0"/>
              </a:spcBef>
              <a:spcAft>
                <a:spcPct val="0"/>
              </a:spcAft>
              <a:defRPr/>
            </a:pPr>
            <a:endParaRPr lang="en-US" dirty="0">
              <a:latin typeface="Times New Roman" panose="02020603050405020304" pitchFamily="18" charset="0"/>
              <a:ea typeface="ＭＳ Ｐゴシック" charset="0"/>
              <a:cs typeface="Times New Roman" panose="02020603050405020304" pitchFamily="18" charset="0"/>
            </a:endParaRPr>
          </a:p>
          <a:p>
            <a:pPr lvl="2" fontAlgn="base">
              <a:spcBef>
                <a:spcPct val="0"/>
              </a:spcBef>
              <a:spcAft>
                <a:spcPct val="0"/>
              </a:spcAft>
              <a:defRPr/>
            </a:pPr>
            <a:r>
              <a:rPr lang="en-US" dirty="0">
                <a:latin typeface="Times New Roman"/>
                <a:ea typeface="ＭＳ Ｐゴシック"/>
                <a:cs typeface="Times New Roman"/>
              </a:rPr>
              <a:t>2.	If I study medicine, I’d be a doctor.</a:t>
            </a:r>
          </a:p>
          <a:p>
            <a:pPr lvl="2" fontAlgn="base">
              <a:spcBef>
                <a:spcPct val="0"/>
              </a:spcBef>
              <a:spcAft>
                <a:spcPct val="0"/>
              </a:spcAft>
              <a:defRPr/>
            </a:pPr>
            <a:r>
              <a:rPr lang="en-US" dirty="0">
                <a:latin typeface="Times New Roman"/>
                <a:ea typeface="ＭＳ Ｐゴシック"/>
                <a:cs typeface="Times New Roman"/>
              </a:rPr>
              <a:t>	If I study law, I’d be a lawyer.</a:t>
            </a:r>
          </a:p>
          <a:p>
            <a:pPr lvl="2" fontAlgn="base">
              <a:spcBef>
                <a:spcPct val="0"/>
              </a:spcBef>
              <a:spcAft>
                <a:spcPct val="0"/>
              </a:spcAft>
              <a:defRPr/>
            </a:pPr>
            <a:r>
              <a:rPr lang="en-US" dirty="0">
                <a:latin typeface="Times New Roman"/>
                <a:ea typeface="ＭＳ Ｐゴシック"/>
                <a:cs typeface="Times New Roman"/>
              </a:rPr>
              <a:t>	I wouldn’t be a doctor or a lawyer. </a:t>
            </a:r>
          </a:p>
          <a:p>
            <a:pPr lvl="2" fontAlgn="base">
              <a:spcBef>
                <a:spcPct val="0"/>
              </a:spcBef>
              <a:spcAft>
                <a:spcPct val="0"/>
              </a:spcAft>
              <a:defRPr/>
            </a:pPr>
            <a:r>
              <a:rPr lang="en-US" dirty="0">
                <a:latin typeface="Times New Roman"/>
                <a:ea typeface="ＭＳ Ｐゴシック"/>
                <a:cs typeface="Times New Roman"/>
              </a:rPr>
              <a:t>	_____________________________</a:t>
            </a:r>
          </a:p>
          <a:p>
            <a:pPr lvl="2" fontAlgn="base">
              <a:spcBef>
                <a:spcPct val="0"/>
              </a:spcBef>
              <a:spcAft>
                <a:spcPct val="0"/>
              </a:spcAft>
              <a:defRPr/>
            </a:pPr>
            <a:r>
              <a:rPr lang="en-US" dirty="0">
                <a:latin typeface="Times New Roman"/>
                <a:ea typeface="ＭＳ Ｐゴシック"/>
                <a:cs typeface="Times New Roman"/>
              </a:rPr>
              <a:t>	So, either I wouldn’t study medicine or law</a:t>
            </a:r>
            <a:r>
              <a:rPr lang="en-US" b="1" dirty="0">
                <a:latin typeface="Times New Roman"/>
                <a:ea typeface="ＭＳ Ｐゴシック"/>
                <a:cs typeface="Times New Roman"/>
              </a:rPr>
              <a:t>.</a:t>
            </a:r>
          </a:p>
          <a:p>
            <a:pPr fontAlgn="base">
              <a:spcBef>
                <a:spcPct val="0"/>
              </a:spcBef>
              <a:spcAft>
                <a:spcPct val="0"/>
              </a:spcAft>
              <a:defRPr/>
            </a:pPr>
            <a:endParaRPr lang="en-US" b="1" dirty="0">
              <a:latin typeface="Times New Roman" panose="02020603050405020304" pitchFamily="18" charset="0"/>
              <a:ea typeface="ＭＳ Ｐゴシック" charset="0"/>
              <a:cs typeface="Times New Roman" panose="02020603050405020304" pitchFamily="18" charset="0"/>
            </a:endParaRPr>
          </a:p>
        </p:txBody>
      </p:sp>
    </p:spTree>
    <p:extLst>
      <p:ext uri="{BB962C8B-B14F-4D97-AF65-F5344CB8AC3E}">
        <p14:creationId xmlns:p14="http://schemas.microsoft.com/office/powerpoint/2010/main" val="92043988"/>
      </p:ext>
    </p:extLst>
  </p:cSld>
  <p:clrMapOvr>
    <a:masterClrMapping/>
  </p:clrMapOvr>
  <mc:AlternateContent xmlns:mc="http://schemas.openxmlformats.org/markup-compatibility/2006" xmlns:p14="http://schemas.microsoft.com/office/powerpoint/2010/main">
    <mc:Choice Requires="p14">
      <p:transition spd="slow" p14:dur="2000" advTm="137356"/>
    </mc:Choice>
    <mc:Fallback xmlns="">
      <p:transition spd="slow" advTm="137356"/>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969D8F8-E433-07F1-A698-C102A5DAAC0D}"/>
              </a:ext>
            </a:extLst>
          </p:cNvPr>
          <p:cNvGrpSpPr/>
          <p:nvPr/>
        </p:nvGrpSpPr>
        <p:grpSpPr>
          <a:xfrm>
            <a:off x="426045" y="1223928"/>
            <a:ext cx="8286155" cy="4984823"/>
            <a:chOff x="432793" y="1215490"/>
            <a:chExt cx="8286155" cy="4984823"/>
          </a:xfrm>
        </p:grpSpPr>
        <p:sp>
          <p:nvSpPr>
            <p:cNvPr id="9220" name="TextBox 21">
              <a:extLst>
                <a:ext uri="{FF2B5EF4-FFF2-40B4-BE49-F238E27FC236}">
                  <a16:creationId xmlns:a16="http://schemas.microsoft.com/office/drawing/2014/main" id="{7A5511D6-5097-413D-88B4-8077BC48B5E6}"/>
                </a:ext>
              </a:extLst>
            </p:cNvPr>
            <p:cNvSpPr txBox="1">
              <a:spLocks noChangeArrowheads="1"/>
            </p:cNvSpPr>
            <p:nvPr/>
          </p:nvSpPr>
          <p:spPr bwMode="auto">
            <a:xfrm>
              <a:off x="510779" y="3101019"/>
              <a:ext cx="2663428" cy="715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SG" altLang="en-US" sz="1350">
                  <a:latin typeface="Times New Roman" panose="02020603050405020304" pitchFamily="18" charset="0"/>
                  <a:ea typeface="Tahoma" panose="020B0604030504040204" pitchFamily="34" charset="0"/>
                  <a:cs typeface="Times New Roman" panose="02020603050405020304" pitchFamily="18" charset="0"/>
                </a:rPr>
                <a:t>There is no important difference between currently legal and currently illegal drugs</a:t>
              </a:r>
            </a:p>
          </p:txBody>
        </p:sp>
        <p:sp>
          <p:nvSpPr>
            <p:cNvPr id="9221" name="TextBox 22">
              <a:extLst>
                <a:ext uri="{FF2B5EF4-FFF2-40B4-BE49-F238E27FC236}">
                  <a16:creationId xmlns:a16="http://schemas.microsoft.com/office/drawing/2014/main" id="{78F030B4-A8E7-4AB3-9CE3-3E120A241659}"/>
                </a:ext>
              </a:extLst>
            </p:cNvPr>
            <p:cNvSpPr txBox="1">
              <a:spLocks noChangeArrowheads="1"/>
            </p:cNvSpPr>
            <p:nvPr/>
          </p:nvSpPr>
          <p:spPr bwMode="auto">
            <a:xfrm>
              <a:off x="3826669" y="3110543"/>
              <a:ext cx="2057400" cy="715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SG" altLang="en-US" sz="1350" dirty="0">
                  <a:highlight>
                    <a:srgbClr val="FFFF00"/>
                  </a:highlight>
                  <a:latin typeface="Times New Roman" panose="02020603050405020304" pitchFamily="18" charset="0"/>
                  <a:ea typeface="Tahoma" panose="020B0604030504040204" pitchFamily="34" charset="0"/>
                  <a:cs typeface="Times New Roman" panose="02020603050405020304" pitchFamily="18" charset="0"/>
                </a:rPr>
                <a:t>If</a:t>
              </a:r>
              <a:r>
                <a:rPr lang="en-SG" altLang="en-US" sz="1350" dirty="0">
                  <a:latin typeface="Times New Roman" panose="02020603050405020304" pitchFamily="18" charset="0"/>
                  <a:ea typeface="Tahoma" panose="020B0604030504040204" pitchFamily="34" charset="0"/>
                  <a:cs typeface="Times New Roman" panose="02020603050405020304" pitchFamily="18" charset="0"/>
                </a:rPr>
                <a:t> there’s no important difference, they should be treated identically in law</a:t>
              </a:r>
            </a:p>
          </p:txBody>
        </p:sp>
        <p:sp>
          <p:nvSpPr>
            <p:cNvPr id="9222" name="TextBox 23">
              <a:extLst>
                <a:ext uri="{FF2B5EF4-FFF2-40B4-BE49-F238E27FC236}">
                  <a16:creationId xmlns:a16="http://schemas.microsoft.com/office/drawing/2014/main" id="{B826FDA0-0D47-4B12-AA08-F0EAD54E7E28}"/>
                </a:ext>
              </a:extLst>
            </p:cNvPr>
            <p:cNvSpPr txBox="1">
              <a:spLocks noChangeArrowheads="1"/>
            </p:cNvSpPr>
            <p:nvPr/>
          </p:nvSpPr>
          <p:spPr bwMode="auto">
            <a:xfrm>
              <a:off x="2427685" y="3333189"/>
              <a:ext cx="205740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SG" altLang="en-US" sz="1350">
                  <a:latin typeface="Times New Roman" panose="02020603050405020304" pitchFamily="18" charset="0"/>
                  <a:ea typeface="Tahoma" panose="020B0604030504040204" pitchFamily="34" charset="0"/>
                  <a:cs typeface="Times New Roman" panose="02020603050405020304" pitchFamily="18" charset="0"/>
                </a:rPr>
                <a:t>+</a:t>
              </a:r>
            </a:p>
          </p:txBody>
        </p:sp>
        <p:cxnSp>
          <p:nvCxnSpPr>
            <p:cNvPr id="25" name="Straight Connector 24">
              <a:extLst>
                <a:ext uri="{FF2B5EF4-FFF2-40B4-BE49-F238E27FC236}">
                  <a16:creationId xmlns:a16="http://schemas.microsoft.com/office/drawing/2014/main" id="{6E1C6231-0457-4AAF-ADF1-52F5D295CF50}"/>
                </a:ext>
              </a:extLst>
            </p:cNvPr>
            <p:cNvCxnSpPr/>
            <p:nvPr/>
          </p:nvCxnSpPr>
          <p:spPr>
            <a:xfrm>
              <a:off x="916782" y="3847540"/>
              <a:ext cx="495181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F772646D-6ECA-494E-8C83-F69EB1754C63}"/>
                </a:ext>
              </a:extLst>
            </p:cNvPr>
            <p:cNvCxnSpPr/>
            <p:nvPr/>
          </p:nvCxnSpPr>
          <p:spPr>
            <a:xfrm>
              <a:off x="2166938" y="3854683"/>
              <a:ext cx="0" cy="4619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225" name="TextBox 26">
              <a:extLst>
                <a:ext uri="{FF2B5EF4-FFF2-40B4-BE49-F238E27FC236}">
                  <a16:creationId xmlns:a16="http://schemas.microsoft.com/office/drawing/2014/main" id="{E27548E7-A8E7-4D8A-BF0F-ACA88AE5BD2B}"/>
                </a:ext>
              </a:extLst>
            </p:cNvPr>
            <p:cNvSpPr txBox="1">
              <a:spLocks noChangeArrowheads="1"/>
            </p:cNvSpPr>
            <p:nvPr/>
          </p:nvSpPr>
          <p:spPr bwMode="auto">
            <a:xfrm>
              <a:off x="685800" y="4420231"/>
              <a:ext cx="3090863" cy="715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SG" altLang="en-US" sz="1350" dirty="0">
                  <a:latin typeface="Times New Roman" panose="02020603050405020304" pitchFamily="18" charset="0"/>
                  <a:ea typeface="Tahoma" panose="020B0604030504040204" pitchFamily="34" charset="0"/>
                  <a:cs typeface="Times New Roman" panose="02020603050405020304" pitchFamily="18" charset="0"/>
                </a:rPr>
                <a:t>Either we should legalise currently illegal drugs </a:t>
              </a:r>
              <a:r>
                <a:rPr lang="en-SG" altLang="en-US" sz="1350" dirty="0">
                  <a:highlight>
                    <a:srgbClr val="FFFF00"/>
                  </a:highlight>
                  <a:latin typeface="Times New Roman" panose="02020603050405020304" pitchFamily="18" charset="0"/>
                  <a:ea typeface="Tahoma" panose="020B0604030504040204" pitchFamily="34" charset="0"/>
                  <a:cs typeface="Times New Roman" panose="02020603050405020304" pitchFamily="18" charset="0"/>
                </a:rPr>
                <a:t>or</a:t>
              </a:r>
              <a:r>
                <a:rPr lang="en-SG" altLang="en-US" sz="1350" dirty="0">
                  <a:latin typeface="Times New Roman" panose="02020603050405020304" pitchFamily="18" charset="0"/>
                  <a:ea typeface="Tahoma" panose="020B0604030504040204" pitchFamily="34" charset="0"/>
                  <a:cs typeface="Times New Roman" panose="02020603050405020304" pitchFamily="18" charset="0"/>
                </a:rPr>
                <a:t> make currently legal drugs illegal</a:t>
              </a:r>
            </a:p>
          </p:txBody>
        </p:sp>
        <p:sp>
          <p:nvSpPr>
            <p:cNvPr id="9226" name="TextBox 27">
              <a:extLst>
                <a:ext uri="{FF2B5EF4-FFF2-40B4-BE49-F238E27FC236}">
                  <a16:creationId xmlns:a16="http://schemas.microsoft.com/office/drawing/2014/main" id="{A68D329E-90D2-4995-9373-9F89AE3E3A21}"/>
                </a:ext>
              </a:extLst>
            </p:cNvPr>
            <p:cNvSpPr txBox="1">
              <a:spLocks noChangeArrowheads="1"/>
            </p:cNvSpPr>
            <p:nvPr/>
          </p:nvSpPr>
          <p:spPr bwMode="auto">
            <a:xfrm>
              <a:off x="4855369" y="4420231"/>
              <a:ext cx="2881313"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SG" altLang="en-US" sz="1350">
                  <a:latin typeface="Times New Roman" panose="02020603050405020304" pitchFamily="18" charset="0"/>
                  <a:ea typeface="Tahoma" panose="020B0604030504040204" pitchFamily="34" charset="0"/>
                  <a:cs typeface="Times New Roman" panose="02020603050405020304" pitchFamily="18" charset="0"/>
                </a:rPr>
                <a:t>We shouldn’t (</a:t>
              </a:r>
              <a:r>
                <a:rPr lang="en-SG" altLang="en-US" sz="1350">
                  <a:solidFill>
                    <a:srgbClr val="FF0000"/>
                  </a:solidFill>
                  <a:latin typeface="Times New Roman" panose="02020603050405020304" pitchFamily="18" charset="0"/>
                  <a:ea typeface="Tahoma" panose="020B0604030504040204" pitchFamily="34" charset="0"/>
                  <a:cs typeface="Times New Roman" panose="02020603050405020304" pitchFamily="18" charset="0"/>
                </a:rPr>
                <a:t>in a liberal society) </a:t>
              </a:r>
              <a:r>
                <a:rPr lang="en-SG" altLang="en-US" sz="1350">
                  <a:latin typeface="Times New Roman" panose="02020603050405020304" pitchFamily="18" charset="0"/>
                  <a:ea typeface="Tahoma" panose="020B0604030504040204" pitchFamily="34" charset="0"/>
                  <a:cs typeface="Times New Roman" panose="02020603050405020304" pitchFamily="18" charset="0"/>
                </a:rPr>
                <a:t>make currently legal drugs illegal.</a:t>
              </a:r>
            </a:p>
          </p:txBody>
        </p:sp>
        <p:sp>
          <p:nvSpPr>
            <p:cNvPr id="9227" name="TextBox 28">
              <a:extLst>
                <a:ext uri="{FF2B5EF4-FFF2-40B4-BE49-F238E27FC236}">
                  <a16:creationId xmlns:a16="http://schemas.microsoft.com/office/drawing/2014/main" id="{17A60DD4-AA97-41D5-AA68-02988C055551}"/>
                </a:ext>
              </a:extLst>
            </p:cNvPr>
            <p:cNvSpPr txBox="1">
              <a:spLocks noChangeArrowheads="1"/>
            </p:cNvSpPr>
            <p:nvPr/>
          </p:nvSpPr>
          <p:spPr bwMode="auto">
            <a:xfrm>
              <a:off x="3124200" y="4432137"/>
              <a:ext cx="205740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SG" altLang="en-US" sz="1350">
                  <a:latin typeface="Times New Roman" panose="02020603050405020304" pitchFamily="18" charset="0"/>
                  <a:ea typeface="Tahoma" panose="020B0604030504040204" pitchFamily="34" charset="0"/>
                  <a:cs typeface="Times New Roman" panose="02020603050405020304" pitchFamily="18" charset="0"/>
                </a:rPr>
                <a:t>+</a:t>
              </a:r>
            </a:p>
          </p:txBody>
        </p:sp>
        <p:cxnSp>
          <p:nvCxnSpPr>
            <p:cNvPr id="30" name="Straight Connector 29">
              <a:extLst>
                <a:ext uri="{FF2B5EF4-FFF2-40B4-BE49-F238E27FC236}">
                  <a16:creationId xmlns:a16="http://schemas.microsoft.com/office/drawing/2014/main" id="{5F8D24E7-FED2-4267-93CB-DC2060854D5A}"/>
                </a:ext>
              </a:extLst>
            </p:cNvPr>
            <p:cNvCxnSpPr>
              <a:cxnSpLocks/>
            </p:cNvCxnSpPr>
            <p:nvPr/>
          </p:nvCxnSpPr>
          <p:spPr>
            <a:xfrm>
              <a:off x="685800" y="5148366"/>
              <a:ext cx="681940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68B665DD-17F0-4374-BFEB-7FAA40BBE65A}"/>
                </a:ext>
              </a:extLst>
            </p:cNvPr>
            <p:cNvCxnSpPr/>
            <p:nvPr/>
          </p:nvCxnSpPr>
          <p:spPr>
            <a:xfrm>
              <a:off x="4152900" y="5148366"/>
              <a:ext cx="0" cy="4619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230" name="TextBox 31">
              <a:extLst>
                <a:ext uri="{FF2B5EF4-FFF2-40B4-BE49-F238E27FC236}">
                  <a16:creationId xmlns:a16="http://schemas.microsoft.com/office/drawing/2014/main" id="{1A137A9F-074B-4306-BA14-15581E83E531}"/>
                </a:ext>
              </a:extLst>
            </p:cNvPr>
            <p:cNvSpPr txBox="1">
              <a:spLocks noChangeArrowheads="1"/>
            </p:cNvSpPr>
            <p:nvPr/>
          </p:nvSpPr>
          <p:spPr bwMode="auto">
            <a:xfrm>
              <a:off x="3144441" y="5692482"/>
              <a:ext cx="205740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SG" altLang="en-US" sz="1350">
                  <a:latin typeface="Times New Roman" panose="02020603050405020304" pitchFamily="18" charset="0"/>
                  <a:ea typeface="Tahoma" panose="020B0604030504040204" pitchFamily="34" charset="0"/>
                  <a:cs typeface="Times New Roman" panose="02020603050405020304" pitchFamily="18" charset="0"/>
                </a:rPr>
                <a:t>We should legalise currently illegal drugs</a:t>
              </a:r>
            </a:p>
          </p:txBody>
        </p:sp>
        <p:sp>
          <p:nvSpPr>
            <p:cNvPr id="9231" name="TextBox 32">
              <a:extLst>
                <a:ext uri="{FF2B5EF4-FFF2-40B4-BE49-F238E27FC236}">
                  <a16:creationId xmlns:a16="http://schemas.microsoft.com/office/drawing/2014/main" id="{EC753E48-807B-48BC-A2E5-A45BD8735E1A}"/>
                </a:ext>
              </a:extLst>
            </p:cNvPr>
            <p:cNvSpPr txBox="1">
              <a:spLocks noChangeArrowheads="1"/>
            </p:cNvSpPr>
            <p:nvPr/>
          </p:nvSpPr>
          <p:spPr bwMode="auto">
            <a:xfrm>
              <a:off x="3747068" y="1362132"/>
              <a:ext cx="2391965" cy="1131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SG" altLang="en-US" sz="1350" dirty="0">
                  <a:latin typeface="Times New Roman" panose="02020603050405020304" pitchFamily="18" charset="0"/>
                  <a:ea typeface="Tahoma" panose="020B0604030504040204" pitchFamily="34" charset="0"/>
                  <a:cs typeface="Times New Roman" panose="02020603050405020304" pitchFamily="18" charset="0"/>
                </a:rPr>
                <a:t>We should not(</a:t>
              </a:r>
              <a:r>
                <a:rPr lang="en-SG" altLang="en-US" sz="1350"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in a liberal society)</a:t>
              </a:r>
              <a:r>
                <a:rPr lang="en-SG" altLang="en-US" sz="1350" dirty="0">
                  <a:latin typeface="Times New Roman" panose="02020603050405020304" pitchFamily="18" charset="0"/>
                  <a:ea typeface="Tahoma" panose="020B0604030504040204" pitchFamily="34" charset="0"/>
                  <a:cs typeface="Times New Roman" panose="02020603050405020304" pitchFamily="18" charset="0"/>
                </a:rPr>
                <a:t> police private behaviour </a:t>
              </a:r>
              <a:r>
                <a:rPr lang="en-SG" altLang="en-US" sz="1350" dirty="0">
                  <a:highlight>
                    <a:srgbClr val="FFFF00"/>
                  </a:highlight>
                  <a:latin typeface="Times New Roman" panose="02020603050405020304" pitchFamily="18" charset="0"/>
                  <a:ea typeface="Tahoma" panose="020B0604030504040204" pitchFamily="34" charset="0"/>
                  <a:cs typeface="Times New Roman" panose="02020603050405020304" pitchFamily="18" charset="0"/>
                </a:rPr>
                <a:t>unless </a:t>
              </a:r>
              <a:r>
                <a:rPr lang="en-SG" altLang="en-US" sz="1350" dirty="0">
                  <a:latin typeface="Times New Roman" panose="02020603050405020304" pitchFamily="18" charset="0"/>
                  <a:ea typeface="Tahoma" panose="020B0604030504040204" pitchFamily="34" charset="0"/>
                  <a:cs typeface="Times New Roman" panose="02020603050405020304" pitchFamily="18" charset="0"/>
                </a:rPr>
                <a:t>it damages the social fabric or causes harm to unwilling third parties</a:t>
              </a:r>
            </a:p>
          </p:txBody>
        </p:sp>
        <p:sp>
          <p:nvSpPr>
            <p:cNvPr id="9232" name="TextBox 33">
              <a:extLst>
                <a:ext uri="{FF2B5EF4-FFF2-40B4-BE49-F238E27FC236}">
                  <a16:creationId xmlns:a16="http://schemas.microsoft.com/office/drawing/2014/main" id="{12BD548E-D9EC-4FF6-B298-0719A7D919B7}"/>
                </a:ext>
              </a:extLst>
            </p:cNvPr>
            <p:cNvSpPr txBox="1">
              <a:spLocks noChangeArrowheads="1"/>
            </p:cNvSpPr>
            <p:nvPr/>
          </p:nvSpPr>
          <p:spPr bwMode="auto">
            <a:xfrm>
              <a:off x="6661548" y="1383699"/>
              <a:ext cx="20574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SG" altLang="en-US" sz="1350" dirty="0">
                  <a:latin typeface="Times New Roman" panose="02020603050405020304" pitchFamily="18" charset="0"/>
                  <a:ea typeface="Tahoma" panose="020B0604030504040204" pitchFamily="34" charset="0"/>
                  <a:cs typeface="Times New Roman" panose="02020603050405020304" pitchFamily="18" charset="0"/>
                </a:rPr>
                <a:t>Use of currently legal drugs does not damage the social fabric or cause harm to unwilling third parties</a:t>
              </a:r>
            </a:p>
          </p:txBody>
        </p:sp>
        <p:sp>
          <p:nvSpPr>
            <p:cNvPr id="9233" name="TextBox 34">
              <a:extLst>
                <a:ext uri="{FF2B5EF4-FFF2-40B4-BE49-F238E27FC236}">
                  <a16:creationId xmlns:a16="http://schemas.microsoft.com/office/drawing/2014/main" id="{3FFC0A67-5D1F-4253-8C0A-6CAC9AA30D15}"/>
                </a:ext>
              </a:extLst>
            </p:cNvPr>
            <p:cNvSpPr txBox="1">
              <a:spLocks noChangeArrowheads="1"/>
            </p:cNvSpPr>
            <p:nvPr/>
          </p:nvSpPr>
          <p:spPr bwMode="auto">
            <a:xfrm>
              <a:off x="5278041" y="2061602"/>
              <a:ext cx="205740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SG" altLang="en-US" sz="1350">
                  <a:latin typeface="Times New Roman" panose="02020603050405020304" pitchFamily="18" charset="0"/>
                  <a:ea typeface="Tahoma" panose="020B0604030504040204" pitchFamily="34" charset="0"/>
                  <a:cs typeface="Times New Roman" panose="02020603050405020304" pitchFamily="18" charset="0"/>
                </a:rPr>
                <a:t>+</a:t>
              </a:r>
            </a:p>
          </p:txBody>
        </p:sp>
        <p:cxnSp>
          <p:nvCxnSpPr>
            <p:cNvPr id="36" name="Straight Connector 35">
              <a:extLst>
                <a:ext uri="{FF2B5EF4-FFF2-40B4-BE49-F238E27FC236}">
                  <a16:creationId xmlns:a16="http://schemas.microsoft.com/office/drawing/2014/main" id="{2F3B8AB0-A7DD-41D8-BFBD-45C064B1B45A}"/>
                </a:ext>
              </a:extLst>
            </p:cNvPr>
            <p:cNvCxnSpPr/>
            <p:nvPr/>
          </p:nvCxnSpPr>
          <p:spPr>
            <a:xfrm>
              <a:off x="3767138" y="2577143"/>
              <a:ext cx="495181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D191566E-09B7-4168-9958-93B23D96BDA2}"/>
                </a:ext>
              </a:extLst>
            </p:cNvPr>
            <p:cNvCxnSpPr>
              <a:cxnSpLocks/>
            </p:cNvCxnSpPr>
            <p:nvPr/>
          </p:nvCxnSpPr>
          <p:spPr>
            <a:xfrm>
              <a:off x="6413897" y="2577143"/>
              <a:ext cx="0" cy="17395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236" name="TextBox 37">
              <a:extLst>
                <a:ext uri="{FF2B5EF4-FFF2-40B4-BE49-F238E27FC236}">
                  <a16:creationId xmlns:a16="http://schemas.microsoft.com/office/drawing/2014/main" id="{84110CB2-783C-472D-A0BE-0D4511E0A71D}"/>
                </a:ext>
              </a:extLst>
            </p:cNvPr>
            <p:cNvSpPr txBox="1">
              <a:spLocks noChangeArrowheads="1"/>
            </p:cNvSpPr>
            <p:nvPr/>
          </p:nvSpPr>
          <p:spPr bwMode="auto">
            <a:xfrm>
              <a:off x="432793" y="1215490"/>
              <a:ext cx="28194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SG" altLang="en-US" sz="1350" dirty="0">
                  <a:latin typeface="Times New Roman" panose="02020603050405020304" pitchFamily="18" charset="0"/>
                  <a:ea typeface="Tahoma" panose="020B0604030504040204" pitchFamily="34" charset="0"/>
                  <a:cs typeface="Times New Roman" panose="02020603050405020304" pitchFamily="18" charset="0"/>
                </a:rPr>
                <a:t>Currently </a:t>
              </a:r>
              <a:r>
                <a:rPr lang="en-SG" altLang="en-US" sz="1350"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legal</a:t>
              </a:r>
              <a:r>
                <a:rPr lang="en-SG" altLang="en-US" sz="1350" dirty="0">
                  <a:latin typeface="Times New Roman" panose="02020603050405020304" pitchFamily="18" charset="0"/>
                  <a:ea typeface="Tahoma" panose="020B0604030504040204" pitchFamily="34" charset="0"/>
                  <a:cs typeface="Times New Roman" panose="02020603050405020304" pitchFamily="18" charset="0"/>
                </a:rPr>
                <a:t> and currently </a:t>
              </a:r>
              <a:r>
                <a:rPr lang="en-SG" altLang="en-US" sz="1350" dirty="0">
                  <a:solidFill>
                    <a:srgbClr val="7030A0"/>
                  </a:solidFill>
                  <a:latin typeface="Times New Roman" panose="02020603050405020304" pitchFamily="18" charset="0"/>
                  <a:ea typeface="Tahoma" panose="020B0604030504040204" pitchFamily="34" charset="0"/>
                  <a:cs typeface="Times New Roman" panose="02020603050405020304" pitchFamily="18" charset="0"/>
                </a:rPr>
                <a:t>illegal</a:t>
              </a:r>
              <a:r>
                <a:rPr lang="en-SG" altLang="en-US" sz="1350" dirty="0">
                  <a:latin typeface="Times New Roman" panose="02020603050405020304" pitchFamily="18" charset="0"/>
                  <a:ea typeface="Tahoma" panose="020B0604030504040204" pitchFamily="34" charset="0"/>
                  <a:cs typeface="Times New Roman" panose="02020603050405020304" pitchFamily="18" charset="0"/>
                </a:rPr>
                <a:t> drugs (</a:t>
              </a:r>
              <a:r>
                <a:rPr lang="en-SG" altLang="en-US" sz="1350"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nicotine</a:t>
              </a:r>
              <a:r>
                <a:rPr lang="en-SG" altLang="en-US" sz="1350" dirty="0">
                  <a:latin typeface="Times New Roman" panose="02020603050405020304" pitchFamily="18" charset="0"/>
                  <a:ea typeface="Tahoma" panose="020B0604030504040204" pitchFamily="34" charset="0"/>
                  <a:cs typeface="Times New Roman" panose="02020603050405020304" pitchFamily="18" charset="0"/>
                </a:rPr>
                <a:t> and</a:t>
              </a:r>
              <a:r>
                <a:rPr lang="en-SG" altLang="en-US" sz="1350" dirty="0">
                  <a:solidFill>
                    <a:srgbClr val="7030A0"/>
                  </a:solidFill>
                  <a:latin typeface="Times New Roman" panose="02020603050405020304" pitchFamily="18" charset="0"/>
                  <a:ea typeface="Tahoma" panose="020B0604030504040204" pitchFamily="34" charset="0"/>
                  <a:cs typeface="Times New Roman" panose="02020603050405020304" pitchFamily="18" charset="0"/>
                </a:rPr>
                <a:t> </a:t>
              </a:r>
              <a:r>
                <a:rPr lang="en-SG" altLang="en-US" sz="1350" dirty="0" err="1">
                  <a:solidFill>
                    <a:srgbClr val="7030A0"/>
                  </a:solidFill>
                  <a:latin typeface="Times New Roman" panose="02020603050405020304" pitchFamily="18" charset="0"/>
                  <a:ea typeface="Tahoma" panose="020B0604030504040204" pitchFamily="34" charset="0"/>
                  <a:cs typeface="Times New Roman" panose="02020603050405020304" pitchFamily="18" charset="0"/>
                </a:rPr>
                <a:t>ganja</a:t>
              </a:r>
              <a:r>
                <a:rPr lang="en-SG" altLang="en-US" sz="1350" dirty="0">
                  <a:latin typeface="Times New Roman" panose="02020603050405020304" pitchFamily="18" charset="0"/>
                  <a:ea typeface="Tahoma" panose="020B0604030504040204" pitchFamily="34" charset="0"/>
                  <a:cs typeface="Times New Roman" panose="02020603050405020304" pitchFamily="18" charset="0"/>
                </a:rPr>
                <a:t>) are used for the same purposes and pose similar health risks</a:t>
              </a:r>
            </a:p>
          </p:txBody>
        </p:sp>
        <p:cxnSp>
          <p:nvCxnSpPr>
            <p:cNvPr id="39" name="Straight Connector 38">
              <a:extLst>
                <a:ext uri="{FF2B5EF4-FFF2-40B4-BE49-F238E27FC236}">
                  <a16:creationId xmlns:a16="http://schemas.microsoft.com/office/drawing/2014/main" id="{575BE873-CEDF-4551-978A-6B838E760610}"/>
                </a:ext>
              </a:extLst>
            </p:cNvPr>
            <p:cNvCxnSpPr>
              <a:cxnSpLocks/>
            </p:cNvCxnSpPr>
            <p:nvPr/>
          </p:nvCxnSpPr>
          <p:spPr>
            <a:xfrm flipV="1">
              <a:off x="510778" y="2092558"/>
              <a:ext cx="2613422" cy="1191"/>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1BE47486-9B83-42FD-931D-D20E9CDE8E2B}"/>
                </a:ext>
              </a:extLst>
            </p:cNvPr>
            <p:cNvCxnSpPr>
              <a:cxnSpLocks/>
            </p:cNvCxnSpPr>
            <p:nvPr/>
          </p:nvCxnSpPr>
          <p:spPr>
            <a:xfrm>
              <a:off x="1719263" y="2113989"/>
              <a:ext cx="0" cy="947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23" name="Snip and Round Single Corner Rectangle 6">
            <a:extLst>
              <a:ext uri="{FF2B5EF4-FFF2-40B4-BE49-F238E27FC236}">
                <a16:creationId xmlns:a16="http://schemas.microsoft.com/office/drawing/2014/main" id="{66B672D1-B295-4FAC-A7CF-747798836235}"/>
              </a:ext>
            </a:extLst>
          </p:cNvPr>
          <p:cNvSpPr/>
          <p:nvPr/>
        </p:nvSpPr>
        <p:spPr>
          <a:xfrm>
            <a:off x="0" y="95254"/>
            <a:ext cx="8712200" cy="860425"/>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marL="609600" indent="-609600">
              <a:defRPr sz="2400">
                <a:solidFill>
                  <a:schemeClr val="hlink"/>
                </a:solidFill>
                <a:latin typeface="Times New Roman" pitchFamily="18" charset="0"/>
                <a:ea typeface="MS PGothic" pitchFamily="34" charset="-128"/>
              </a:defRPr>
            </a:lvl1pPr>
            <a:lvl2pPr marL="742950" indent="-285750">
              <a:defRPr sz="2400">
                <a:solidFill>
                  <a:schemeClr val="hlink"/>
                </a:solidFill>
                <a:latin typeface="Times New Roman" pitchFamily="18" charset="0"/>
                <a:ea typeface="MS PGothic" pitchFamily="34" charset="-128"/>
              </a:defRPr>
            </a:lvl2pPr>
            <a:lvl3pPr marL="1143000" indent="-228600">
              <a:defRPr sz="2400">
                <a:solidFill>
                  <a:schemeClr val="hlink"/>
                </a:solidFill>
                <a:latin typeface="Times New Roman" pitchFamily="18" charset="0"/>
                <a:ea typeface="MS PGothic" pitchFamily="34" charset="-128"/>
              </a:defRPr>
            </a:lvl3pPr>
            <a:lvl4pPr marL="1600200" indent="-228600">
              <a:defRPr sz="2400">
                <a:solidFill>
                  <a:schemeClr val="hlink"/>
                </a:solidFill>
                <a:latin typeface="Times New Roman" pitchFamily="18" charset="0"/>
                <a:ea typeface="MS PGothic" pitchFamily="34" charset="-128"/>
              </a:defRPr>
            </a:lvl4pPr>
            <a:lvl5pPr marL="2057400" indent="-228600">
              <a:defRPr sz="2400">
                <a:solidFill>
                  <a:schemeClr val="hlink"/>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hlink"/>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hlink"/>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hlink"/>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hlink"/>
                </a:solidFill>
                <a:latin typeface="Times New Roman" pitchFamily="18" charset="0"/>
                <a:ea typeface="MS PGothic" pitchFamily="34" charset="-128"/>
              </a:defRPr>
            </a:lvl9pPr>
          </a:lstStyle>
          <a:p>
            <a:pPr eaLnBrk="0" fontAlgn="base" hangingPunct="0">
              <a:spcBef>
                <a:spcPct val="20000"/>
              </a:spcBef>
              <a:spcAft>
                <a:spcPct val="0"/>
              </a:spcAft>
              <a:defRPr/>
            </a:pPr>
            <a:r>
              <a:rPr lang="en-US" altLang="en-US" sz="3200" b="1">
                <a:solidFill>
                  <a:srgbClr val="FFFFFF"/>
                </a:solidFill>
                <a:cs typeface="Times New Roman" panose="02020603050405020304" pitchFamily="18" charset="0"/>
              </a:rPr>
              <a:t>Grayling </a:t>
            </a:r>
            <a:r>
              <a:rPr lang="en-US" altLang="en-US" sz="3200" b="1" dirty="0">
                <a:solidFill>
                  <a:srgbClr val="FFFFFF"/>
                </a:solidFill>
                <a:cs typeface="Times New Roman" panose="02020603050405020304" pitchFamily="18" charset="0"/>
              </a:rPr>
              <a:t>and Propositional forms</a:t>
            </a:r>
            <a:endParaRPr lang="en-US" altLang="en-US" sz="3200" b="1" i="1" dirty="0">
              <a:solidFill>
                <a:srgbClr val="FF0000"/>
              </a:solidFill>
              <a:cs typeface="Times New Roman" panose="02020603050405020304" pitchFamily="18" charset="0"/>
            </a:endParaRPr>
          </a:p>
        </p:txBody>
      </p:sp>
      <p:sp>
        <p:nvSpPr>
          <p:cNvPr id="24" name="Snip and Round Single Corner Rectangle 7">
            <a:extLst>
              <a:ext uri="{FF2B5EF4-FFF2-40B4-BE49-F238E27FC236}">
                <a16:creationId xmlns:a16="http://schemas.microsoft.com/office/drawing/2014/main" id="{3D473062-820F-4FE0-8E9D-983CCB625FA4}"/>
              </a:ext>
            </a:extLst>
          </p:cNvPr>
          <p:cNvSpPr/>
          <p:nvPr/>
        </p:nvSpPr>
        <p:spPr>
          <a:xfrm>
            <a:off x="3" y="6477001"/>
            <a:ext cx="8863013" cy="323851"/>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a:spcBef>
                <a:spcPct val="20000"/>
              </a:spcBef>
              <a:buFont typeface="Arial" panose="020B0604020202020204" pitchFamily="34" charset="0"/>
              <a:buChar char="•"/>
              <a:tabLst>
                <a:tab pos="4389438" algn="l"/>
              </a:tabLst>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tabLst>
                <a:tab pos="4389438" algn="l"/>
              </a:tabLst>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tabLst>
                <a:tab pos="4389438" algn="l"/>
              </a:tabLst>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9pPr>
          </a:lstStyle>
          <a:p>
            <a:pPr algn="r" fontAlgn="base">
              <a:spcBef>
                <a:spcPct val="0"/>
              </a:spcBef>
              <a:spcAft>
                <a:spcPct val="0"/>
              </a:spcAft>
              <a:buNone/>
              <a:defRPr/>
            </a:pPr>
            <a:fld id="{7639D2BA-029A-46DC-8BC4-CCF926FFE750}" type="slidenum">
              <a:rPr lang="en-US" altLang="en-US" sz="1300">
                <a:solidFill>
                  <a:srgbClr val="FFFFFF"/>
                </a:solidFill>
                <a:latin typeface="Gill Sans MT" panose="020B0502020104020203" pitchFamily="34" charset="0"/>
              </a:rPr>
              <a:pPr algn="r" fontAlgn="base">
                <a:spcBef>
                  <a:spcPct val="0"/>
                </a:spcBef>
                <a:spcAft>
                  <a:spcPct val="0"/>
                </a:spcAft>
                <a:buNone/>
                <a:defRPr/>
              </a:pPr>
              <a:t>33</a:t>
            </a:fld>
            <a:endParaRPr lang="en-US" altLang="en-US" sz="1300">
              <a:solidFill>
                <a:srgbClr val="FFFFFF"/>
              </a:solidFill>
              <a:latin typeface="Gill Sans MT" panose="020B0502020104020203"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204740"/>
    </mc:Choice>
    <mc:Fallback xmlns="">
      <p:transition spd="slow" advTm="204740"/>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 name="TextBox 26"/>
          <p:cNvSpPr txBox="1"/>
          <p:nvPr/>
        </p:nvSpPr>
        <p:spPr>
          <a:xfrm>
            <a:off x="1087362" y="1720840"/>
            <a:ext cx="6537476" cy="3693319"/>
          </a:xfrm>
          <a:prstGeom prst="rect">
            <a:avLst/>
          </a:prstGeom>
          <a:noFill/>
        </p:spPr>
        <p:txBody>
          <a:bodyPr wrap="square">
            <a:spAutoFit/>
          </a:bodyPr>
          <a:lstStyle/>
          <a:p>
            <a:r>
              <a:rPr lang="en-US" dirty="0">
                <a:solidFill>
                  <a:srgbClr val="EEECE1">
                    <a:lumMod val="10000"/>
                  </a:srgbClr>
                </a:solidFill>
                <a:latin typeface="Lucida Sans" panose="020B0602030504020204" pitchFamily="34" charset="0"/>
                <a:cs typeface="Helvetica" panose="020B0604020202020204" pitchFamily="34" charset="0"/>
              </a:rPr>
              <a:t>Dolphins have been known to mourn for their dead (D). </a:t>
            </a:r>
            <a:r>
              <a:rPr lang="en-US" i="1" dirty="0">
                <a:solidFill>
                  <a:srgbClr val="EEECE1">
                    <a:lumMod val="10000"/>
                  </a:srgbClr>
                </a:solidFill>
                <a:latin typeface="Lucida Sans" panose="020B0602030504020204" pitchFamily="34" charset="0"/>
                <a:cs typeface="Helvetica" panose="020B0604020202020204" pitchFamily="34" charset="0"/>
              </a:rPr>
              <a:t>If</a:t>
            </a:r>
            <a:r>
              <a:rPr lang="en-US" dirty="0">
                <a:solidFill>
                  <a:srgbClr val="EEECE1">
                    <a:lumMod val="10000"/>
                  </a:srgbClr>
                </a:solidFill>
                <a:latin typeface="Lucida Sans" panose="020B0602030504020204" pitchFamily="34" charset="0"/>
                <a:cs typeface="Helvetica" panose="020B0604020202020204" pitchFamily="34" charset="0"/>
              </a:rPr>
              <a:t> so, then they have a concept of their own species (C) and understand what death means (U). But they cannot understand what death means </a:t>
            </a:r>
            <a:r>
              <a:rPr lang="en-US" i="1" dirty="0">
                <a:solidFill>
                  <a:srgbClr val="EEECE1">
                    <a:lumMod val="10000"/>
                  </a:srgbClr>
                </a:solidFill>
                <a:latin typeface="Lucida Sans" panose="020B0602030504020204" pitchFamily="34" charset="0"/>
                <a:cs typeface="Helvetica" panose="020B0604020202020204" pitchFamily="34" charset="0"/>
              </a:rPr>
              <a:t>unless</a:t>
            </a:r>
            <a:r>
              <a:rPr lang="en-US" dirty="0">
                <a:solidFill>
                  <a:srgbClr val="EEECE1">
                    <a:lumMod val="10000"/>
                  </a:srgbClr>
                </a:solidFill>
                <a:latin typeface="Lucida Sans" panose="020B0602030504020204" pitchFamily="34" charset="0"/>
                <a:cs typeface="Helvetica" panose="020B0604020202020204" pitchFamily="34" charset="0"/>
              </a:rPr>
              <a:t> they have a capacity for abstraction (A), and they can have a capacity for abstraction </a:t>
            </a:r>
            <a:r>
              <a:rPr lang="en-US" i="1" dirty="0">
                <a:solidFill>
                  <a:srgbClr val="EEECE1">
                    <a:lumMod val="10000"/>
                  </a:srgbClr>
                </a:solidFill>
                <a:latin typeface="Lucida Sans" panose="020B0602030504020204" pitchFamily="34" charset="0"/>
                <a:cs typeface="Helvetica" panose="020B0604020202020204" pitchFamily="34" charset="0"/>
              </a:rPr>
              <a:t>only if </a:t>
            </a:r>
            <a:r>
              <a:rPr lang="en-US" dirty="0">
                <a:solidFill>
                  <a:srgbClr val="EEECE1">
                    <a:lumMod val="10000"/>
                  </a:srgbClr>
                </a:solidFill>
                <a:latin typeface="Lucida Sans" panose="020B0602030504020204" pitchFamily="34" charset="0"/>
                <a:cs typeface="Helvetica" panose="020B0604020202020204" pitchFamily="34" charset="0"/>
              </a:rPr>
              <a:t>they can think (T). So </a:t>
            </a:r>
            <a:r>
              <a:rPr lang="en-US" b="1" dirty="0">
                <a:solidFill>
                  <a:srgbClr val="FF0000"/>
                </a:solidFill>
                <a:latin typeface="Lucida Sans" panose="020B0602030504020204" pitchFamily="34" charset="0"/>
                <a:cs typeface="Helvetica" panose="020B0604020202020204" pitchFamily="34" charset="0"/>
              </a:rPr>
              <a:t>dolphins have moral rights </a:t>
            </a:r>
            <a:r>
              <a:rPr lang="en-US" dirty="0">
                <a:solidFill>
                  <a:srgbClr val="EEECE1">
                    <a:lumMod val="10000"/>
                  </a:srgbClr>
                </a:solidFill>
                <a:latin typeface="Lucida Sans" panose="020B0602030504020204" pitchFamily="34" charset="0"/>
                <a:cs typeface="Helvetica" panose="020B0604020202020204" pitchFamily="34" charset="0"/>
              </a:rPr>
              <a:t>(M) because being able to think is sufficient for having moral rights. </a:t>
            </a:r>
          </a:p>
          <a:p>
            <a:endParaRPr lang="en-US" dirty="0">
              <a:solidFill>
                <a:srgbClr val="EEECE1">
                  <a:lumMod val="10000"/>
                </a:srgbClr>
              </a:solidFill>
              <a:latin typeface="Lucida Sans" panose="020B0602030504020204" pitchFamily="34" charset="0"/>
              <a:cs typeface="Helvetica" panose="020B0604020202020204" pitchFamily="34" charset="0"/>
            </a:endParaRPr>
          </a:p>
          <a:p>
            <a:pPr marL="257175" indent="-257175">
              <a:buFont typeface="Wingdings" panose="05000000000000000000" pitchFamily="2" charset="2"/>
              <a:buChar char="§"/>
            </a:pPr>
            <a:r>
              <a:rPr lang="en-US" b="1" dirty="0">
                <a:solidFill>
                  <a:srgbClr val="EEECE1">
                    <a:lumMod val="10000"/>
                  </a:srgbClr>
                </a:solidFill>
                <a:latin typeface="Lucida Sans" panose="020B0602030504020204" pitchFamily="34" charset="0"/>
                <a:cs typeface="Helvetica" panose="020B0604020202020204" pitchFamily="34" charset="0"/>
              </a:rPr>
              <a:t>If the unsupported premises are all true, has the conclusion been established/guaranteed? Can you validly get to the conclusion from the premises? </a:t>
            </a:r>
          </a:p>
          <a:p>
            <a:pPr fontAlgn="base">
              <a:spcBef>
                <a:spcPct val="0"/>
              </a:spcBef>
              <a:spcAft>
                <a:spcPct val="0"/>
              </a:spcAft>
              <a:defRPr/>
            </a:pPr>
            <a:endParaRPr lang="en-US" b="1" dirty="0">
              <a:latin typeface="Times New Roman" panose="02020603050405020304" pitchFamily="18" charset="0"/>
              <a:ea typeface="ＭＳ Ｐゴシック" charset="0"/>
              <a:cs typeface="Times New Roman" panose="02020603050405020304" pitchFamily="18" charset="0"/>
            </a:endParaRPr>
          </a:p>
        </p:txBody>
      </p:sp>
      <p:sp>
        <p:nvSpPr>
          <p:cNvPr id="5" name="Snip and Round Single Corner Rectangle 6">
            <a:extLst>
              <a:ext uri="{FF2B5EF4-FFF2-40B4-BE49-F238E27FC236}">
                <a16:creationId xmlns:a16="http://schemas.microsoft.com/office/drawing/2014/main" id="{797DC78D-BB8E-4D3A-9D47-44AFC39A4ED4}"/>
              </a:ext>
            </a:extLst>
          </p:cNvPr>
          <p:cNvSpPr/>
          <p:nvPr/>
        </p:nvSpPr>
        <p:spPr>
          <a:xfrm>
            <a:off x="0" y="95254"/>
            <a:ext cx="8712200" cy="860425"/>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marL="609600" indent="-609600">
              <a:defRPr sz="2400">
                <a:solidFill>
                  <a:schemeClr val="hlink"/>
                </a:solidFill>
                <a:latin typeface="Times New Roman" pitchFamily="18" charset="0"/>
                <a:ea typeface="MS PGothic" pitchFamily="34" charset="-128"/>
              </a:defRPr>
            </a:lvl1pPr>
            <a:lvl2pPr marL="742950" indent="-285750">
              <a:defRPr sz="2400">
                <a:solidFill>
                  <a:schemeClr val="hlink"/>
                </a:solidFill>
                <a:latin typeface="Times New Roman" pitchFamily="18" charset="0"/>
                <a:ea typeface="MS PGothic" pitchFamily="34" charset="-128"/>
              </a:defRPr>
            </a:lvl2pPr>
            <a:lvl3pPr marL="1143000" indent="-228600">
              <a:defRPr sz="2400">
                <a:solidFill>
                  <a:schemeClr val="hlink"/>
                </a:solidFill>
                <a:latin typeface="Times New Roman" pitchFamily="18" charset="0"/>
                <a:ea typeface="MS PGothic" pitchFamily="34" charset="-128"/>
              </a:defRPr>
            </a:lvl3pPr>
            <a:lvl4pPr marL="1600200" indent="-228600">
              <a:defRPr sz="2400">
                <a:solidFill>
                  <a:schemeClr val="hlink"/>
                </a:solidFill>
                <a:latin typeface="Times New Roman" pitchFamily="18" charset="0"/>
                <a:ea typeface="MS PGothic" pitchFamily="34" charset="-128"/>
              </a:defRPr>
            </a:lvl4pPr>
            <a:lvl5pPr marL="2057400" indent="-228600">
              <a:defRPr sz="2400">
                <a:solidFill>
                  <a:schemeClr val="hlink"/>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hlink"/>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hlink"/>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hlink"/>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hlink"/>
                </a:solidFill>
                <a:latin typeface="Times New Roman" pitchFamily="18" charset="0"/>
                <a:ea typeface="MS PGothic" pitchFamily="34" charset="-128"/>
              </a:defRPr>
            </a:lvl9pPr>
          </a:lstStyle>
          <a:p>
            <a:pPr eaLnBrk="0" fontAlgn="base" hangingPunct="0">
              <a:spcBef>
                <a:spcPct val="20000"/>
              </a:spcBef>
              <a:spcAft>
                <a:spcPct val="0"/>
              </a:spcAft>
              <a:defRPr/>
            </a:pPr>
            <a:r>
              <a:rPr lang="en-US" altLang="en-US" sz="3200" b="1" dirty="0">
                <a:solidFill>
                  <a:srgbClr val="FFFFFF"/>
                </a:solidFill>
                <a:cs typeface="Times New Roman" panose="02020603050405020304" pitchFamily="18" charset="0"/>
              </a:rPr>
              <a:t>Using Propositional Forms: Exercise</a:t>
            </a:r>
            <a:endParaRPr lang="en-US" altLang="en-US" sz="3200" b="1" i="1" dirty="0">
              <a:solidFill>
                <a:srgbClr val="FF0000"/>
              </a:solidFill>
              <a:cs typeface="Times New Roman" panose="02020603050405020304" pitchFamily="18" charset="0"/>
            </a:endParaRPr>
          </a:p>
        </p:txBody>
      </p:sp>
      <p:sp>
        <p:nvSpPr>
          <p:cNvPr id="6" name="Snip and Round Single Corner Rectangle 7">
            <a:extLst>
              <a:ext uri="{FF2B5EF4-FFF2-40B4-BE49-F238E27FC236}">
                <a16:creationId xmlns:a16="http://schemas.microsoft.com/office/drawing/2014/main" id="{0E8C9165-EB4C-41F8-B633-75A9960C8455}"/>
              </a:ext>
            </a:extLst>
          </p:cNvPr>
          <p:cNvSpPr/>
          <p:nvPr/>
        </p:nvSpPr>
        <p:spPr>
          <a:xfrm>
            <a:off x="3" y="6477001"/>
            <a:ext cx="8863013" cy="323851"/>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a:spcBef>
                <a:spcPct val="20000"/>
              </a:spcBef>
              <a:buFont typeface="Arial" panose="020B0604020202020204" pitchFamily="34" charset="0"/>
              <a:buChar char="•"/>
              <a:tabLst>
                <a:tab pos="4389438" algn="l"/>
              </a:tabLst>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tabLst>
                <a:tab pos="4389438" algn="l"/>
              </a:tabLst>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tabLst>
                <a:tab pos="4389438" algn="l"/>
              </a:tabLst>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9pPr>
          </a:lstStyle>
          <a:p>
            <a:pPr algn="r" fontAlgn="base">
              <a:spcBef>
                <a:spcPct val="0"/>
              </a:spcBef>
              <a:spcAft>
                <a:spcPct val="0"/>
              </a:spcAft>
              <a:buNone/>
              <a:defRPr/>
            </a:pPr>
            <a:fld id="{7639D2BA-029A-46DC-8BC4-CCF926FFE750}" type="slidenum">
              <a:rPr lang="en-US" altLang="en-US" sz="1300">
                <a:solidFill>
                  <a:srgbClr val="FFFFFF"/>
                </a:solidFill>
                <a:latin typeface="Gill Sans MT" panose="020B0502020104020203" pitchFamily="34" charset="0"/>
              </a:rPr>
              <a:pPr algn="r" fontAlgn="base">
                <a:spcBef>
                  <a:spcPct val="0"/>
                </a:spcBef>
                <a:spcAft>
                  <a:spcPct val="0"/>
                </a:spcAft>
                <a:buNone/>
                <a:defRPr/>
              </a:pPr>
              <a:t>34</a:t>
            </a:fld>
            <a:endParaRPr lang="en-US" altLang="en-US" sz="1300">
              <a:solidFill>
                <a:srgbClr val="FFFFFF"/>
              </a:solidFill>
              <a:latin typeface="Gill Sans MT" panose="020B0502020104020203" pitchFamily="34" charset="0"/>
            </a:endParaRPr>
          </a:p>
        </p:txBody>
      </p:sp>
    </p:spTree>
    <p:extLst>
      <p:ext uri="{BB962C8B-B14F-4D97-AF65-F5344CB8AC3E}">
        <p14:creationId xmlns:p14="http://schemas.microsoft.com/office/powerpoint/2010/main" val="18970925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CEC2B5B-3C09-15EE-7AAE-EB3862411F88}"/>
            </a:ext>
          </a:extLst>
        </p:cNvPr>
        <p:cNvGrpSpPr/>
        <p:nvPr/>
      </p:nvGrpSpPr>
      <p:grpSpPr>
        <a:xfrm>
          <a:off x="0" y="0"/>
          <a:ext cx="0" cy="0"/>
          <a:chOff x="0" y="0"/>
          <a:chExt cx="0" cy="0"/>
        </a:xfrm>
      </p:grpSpPr>
      <p:sp>
        <p:nvSpPr>
          <p:cNvPr id="27" name="TextBox 26">
            <a:extLst>
              <a:ext uri="{FF2B5EF4-FFF2-40B4-BE49-F238E27FC236}">
                <a16:creationId xmlns:a16="http://schemas.microsoft.com/office/drawing/2014/main" id="{502FF9F1-5657-1947-E126-1D0929677F94}"/>
              </a:ext>
            </a:extLst>
          </p:cNvPr>
          <p:cNvSpPr txBox="1"/>
          <p:nvPr/>
        </p:nvSpPr>
        <p:spPr>
          <a:xfrm>
            <a:off x="561077" y="2321004"/>
            <a:ext cx="8021846" cy="2215991"/>
          </a:xfrm>
          <a:prstGeom prst="rect">
            <a:avLst/>
          </a:prstGeom>
          <a:noFill/>
        </p:spPr>
        <p:txBody>
          <a:bodyPr wrap="square">
            <a:spAutoFit/>
          </a:bodyPr>
          <a:lstStyle/>
          <a:p>
            <a:r>
              <a:rPr lang="en-US" sz="2400" dirty="0">
                <a:solidFill>
                  <a:srgbClr val="EEECE1">
                    <a:lumMod val="10000"/>
                  </a:srgbClr>
                </a:solidFill>
                <a:latin typeface="Lucida Sans" panose="020B0602030504020204" pitchFamily="34" charset="0"/>
                <a:cs typeface="Helvetica" panose="020B0604020202020204" pitchFamily="34" charset="0"/>
              </a:rPr>
              <a:t>D. </a:t>
            </a:r>
            <a:r>
              <a:rPr lang="en-US" sz="2400" i="1" dirty="0">
                <a:solidFill>
                  <a:srgbClr val="EEECE1">
                    <a:lumMod val="10000"/>
                  </a:srgbClr>
                </a:solidFill>
                <a:latin typeface="Lucida Sans" panose="020B0602030504020204" pitchFamily="34" charset="0"/>
                <a:cs typeface="Helvetica" panose="020B0604020202020204" pitchFamily="34" charset="0"/>
              </a:rPr>
              <a:t>If</a:t>
            </a:r>
            <a:r>
              <a:rPr lang="en-US" sz="2400" dirty="0">
                <a:solidFill>
                  <a:srgbClr val="EEECE1">
                    <a:lumMod val="10000"/>
                  </a:srgbClr>
                </a:solidFill>
                <a:latin typeface="Lucida Sans" panose="020B0602030504020204" pitchFamily="34" charset="0"/>
                <a:cs typeface="Helvetica" panose="020B0604020202020204" pitchFamily="34" charset="0"/>
              </a:rPr>
              <a:t>  D, then C and U. If not A then not U. If not T then not A. So, M because if T then M. </a:t>
            </a:r>
          </a:p>
          <a:p>
            <a:endParaRPr lang="en-US" sz="2400" dirty="0">
              <a:solidFill>
                <a:srgbClr val="EEECE1">
                  <a:lumMod val="10000"/>
                </a:srgbClr>
              </a:solidFill>
              <a:latin typeface="Lucida Sans" panose="020B0602030504020204" pitchFamily="34" charset="0"/>
              <a:cs typeface="Helvetica" panose="020B0604020202020204" pitchFamily="34" charset="0"/>
            </a:endParaRPr>
          </a:p>
          <a:p>
            <a:pPr marL="257175" indent="-257175">
              <a:buFont typeface="Wingdings" panose="05000000000000000000" pitchFamily="2" charset="2"/>
              <a:buChar char="§"/>
            </a:pPr>
            <a:r>
              <a:rPr lang="en-US" sz="2400" b="1" dirty="0">
                <a:solidFill>
                  <a:srgbClr val="EEECE1">
                    <a:lumMod val="10000"/>
                  </a:srgbClr>
                </a:solidFill>
                <a:latin typeface="Lucida Sans" panose="020B0602030504020204" pitchFamily="34" charset="0"/>
                <a:cs typeface="Helvetica" panose="020B0604020202020204" pitchFamily="34" charset="0"/>
              </a:rPr>
              <a:t>If the unsupported premises are all true, has the conclusion been established/guaranteed? </a:t>
            </a:r>
          </a:p>
          <a:p>
            <a:pPr fontAlgn="base">
              <a:spcBef>
                <a:spcPct val="0"/>
              </a:spcBef>
              <a:spcAft>
                <a:spcPct val="0"/>
              </a:spcAft>
              <a:defRPr/>
            </a:pPr>
            <a:endParaRPr lang="en-US" b="1" dirty="0">
              <a:latin typeface="Times New Roman" panose="02020603050405020304" pitchFamily="18" charset="0"/>
              <a:ea typeface="ＭＳ Ｐゴシック" charset="0"/>
              <a:cs typeface="Times New Roman" panose="02020603050405020304" pitchFamily="18" charset="0"/>
            </a:endParaRPr>
          </a:p>
        </p:txBody>
      </p:sp>
      <p:sp>
        <p:nvSpPr>
          <p:cNvPr id="5" name="Snip and Round Single Corner Rectangle 6">
            <a:extLst>
              <a:ext uri="{FF2B5EF4-FFF2-40B4-BE49-F238E27FC236}">
                <a16:creationId xmlns:a16="http://schemas.microsoft.com/office/drawing/2014/main" id="{C5AEF3D2-91C1-4E3F-EAE9-456824676ACC}"/>
              </a:ext>
            </a:extLst>
          </p:cNvPr>
          <p:cNvSpPr/>
          <p:nvPr/>
        </p:nvSpPr>
        <p:spPr>
          <a:xfrm>
            <a:off x="0" y="95254"/>
            <a:ext cx="8712200" cy="860425"/>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marL="609600" indent="-609600">
              <a:defRPr sz="2400">
                <a:solidFill>
                  <a:schemeClr val="hlink"/>
                </a:solidFill>
                <a:latin typeface="Times New Roman" pitchFamily="18" charset="0"/>
                <a:ea typeface="MS PGothic" pitchFamily="34" charset="-128"/>
              </a:defRPr>
            </a:lvl1pPr>
            <a:lvl2pPr marL="742950" indent="-285750">
              <a:defRPr sz="2400">
                <a:solidFill>
                  <a:schemeClr val="hlink"/>
                </a:solidFill>
                <a:latin typeface="Times New Roman" pitchFamily="18" charset="0"/>
                <a:ea typeface="MS PGothic" pitchFamily="34" charset="-128"/>
              </a:defRPr>
            </a:lvl2pPr>
            <a:lvl3pPr marL="1143000" indent="-228600">
              <a:defRPr sz="2400">
                <a:solidFill>
                  <a:schemeClr val="hlink"/>
                </a:solidFill>
                <a:latin typeface="Times New Roman" pitchFamily="18" charset="0"/>
                <a:ea typeface="MS PGothic" pitchFamily="34" charset="-128"/>
              </a:defRPr>
            </a:lvl3pPr>
            <a:lvl4pPr marL="1600200" indent="-228600">
              <a:defRPr sz="2400">
                <a:solidFill>
                  <a:schemeClr val="hlink"/>
                </a:solidFill>
                <a:latin typeface="Times New Roman" pitchFamily="18" charset="0"/>
                <a:ea typeface="MS PGothic" pitchFamily="34" charset="-128"/>
              </a:defRPr>
            </a:lvl4pPr>
            <a:lvl5pPr marL="2057400" indent="-228600">
              <a:defRPr sz="2400">
                <a:solidFill>
                  <a:schemeClr val="hlink"/>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hlink"/>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hlink"/>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hlink"/>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hlink"/>
                </a:solidFill>
                <a:latin typeface="Times New Roman" pitchFamily="18" charset="0"/>
                <a:ea typeface="MS PGothic" pitchFamily="34" charset="-128"/>
              </a:defRPr>
            </a:lvl9pPr>
          </a:lstStyle>
          <a:p>
            <a:pPr eaLnBrk="0" fontAlgn="base" hangingPunct="0">
              <a:spcBef>
                <a:spcPct val="20000"/>
              </a:spcBef>
              <a:spcAft>
                <a:spcPct val="0"/>
              </a:spcAft>
              <a:defRPr/>
            </a:pPr>
            <a:r>
              <a:rPr lang="en-US" altLang="en-US" sz="3200" b="1" dirty="0">
                <a:solidFill>
                  <a:srgbClr val="FFFFFF"/>
                </a:solidFill>
                <a:cs typeface="Times New Roman" panose="02020603050405020304" pitchFamily="18" charset="0"/>
              </a:rPr>
              <a:t>Using Propositional Forms: Exercise</a:t>
            </a:r>
            <a:endParaRPr lang="en-US" altLang="en-US" sz="3200" b="1" i="1" dirty="0">
              <a:solidFill>
                <a:srgbClr val="FF0000"/>
              </a:solidFill>
              <a:cs typeface="Times New Roman" panose="02020603050405020304" pitchFamily="18" charset="0"/>
            </a:endParaRPr>
          </a:p>
        </p:txBody>
      </p:sp>
      <p:sp>
        <p:nvSpPr>
          <p:cNvPr id="6" name="Snip and Round Single Corner Rectangle 7">
            <a:extLst>
              <a:ext uri="{FF2B5EF4-FFF2-40B4-BE49-F238E27FC236}">
                <a16:creationId xmlns:a16="http://schemas.microsoft.com/office/drawing/2014/main" id="{5DC53859-1A99-D347-DC65-19E2877C35CE}"/>
              </a:ext>
            </a:extLst>
          </p:cNvPr>
          <p:cNvSpPr/>
          <p:nvPr/>
        </p:nvSpPr>
        <p:spPr>
          <a:xfrm>
            <a:off x="3" y="6477001"/>
            <a:ext cx="8863013" cy="323851"/>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a:spcBef>
                <a:spcPct val="20000"/>
              </a:spcBef>
              <a:buFont typeface="Arial" panose="020B0604020202020204" pitchFamily="34" charset="0"/>
              <a:buChar char="•"/>
              <a:tabLst>
                <a:tab pos="4389438" algn="l"/>
              </a:tabLst>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tabLst>
                <a:tab pos="4389438" algn="l"/>
              </a:tabLst>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tabLst>
                <a:tab pos="4389438" algn="l"/>
              </a:tabLst>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9pPr>
          </a:lstStyle>
          <a:p>
            <a:pPr algn="r" fontAlgn="base">
              <a:spcBef>
                <a:spcPct val="0"/>
              </a:spcBef>
              <a:spcAft>
                <a:spcPct val="0"/>
              </a:spcAft>
              <a:buNone/>
              <a:defRPr/>
            </a:pPr>
            <a:fld id="{7639D2BA-029A-46DC-8BC4-CCF926FFE750}" type="slidenum">
              <a:rPr lang="en-US" altLang="en-US" sz="1300">
                <a:solidFill>
                  <a:srgbClr val="FFFFFF"/>
                </a:solidFill>
                <a:latin typeface="Gill Sans MT" panose="020B0502020104020203" pitchFamily="34" charset="0"/>
              </a:rPr>
              <a:pPr algn="r" fontAlgn="base">
                <a:spcBef>
                  <a:spcPct val="0"/>
                </a:spcBef>
                <a:spcAft>
                  <a:spcPct val="0"/>
                </a:spcAft>
                <a:buNone/>
                <a:defRPr/>
              </a:pPr>
              <a:t>35</a:t>
            </a:fld>
            <a:endParaRPr lang="en-US" altLang="en-US" sz="1300">
              <a:solidFill>
                <a:srgbClr val="FFFFFF"/>
              </a:solidFill>
              <a:latin typeface="Gill Sans MT" panose="020B0502020104020203" pitchFamily="34" charset="0"/>
            </a:endParaRPr>
          </a:p>
        </p:txBody>
      </p:sp>
    </p:spTree>
    <p:extLst>
      <p:ext uri="{BB962C8B-B14F-4D97-AF65-F5344CB8AC3E}">
        <p14:creationId xmlns:p14="http://schemas.microsoft.com/office/powerpoint/2010/main" val="39854097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F3E78E5-C248-7A57-4267-279C9E952906}"/>
            </a:ext>
          </a:extLst>
        </p:cNvPr>
        <p:cNvGrpSpPr/>
        <p:nvPr/>
      </p:nvGrpSpPr>
      <p:grpSpPr>
        <a:xfrm>
          <a:off x="0" y="0"/>
          <a:ext cx="0" cy="0"/>
          <a:chOff x="0" y="0"/>
          <a:chExt cx="0" cy="0"/>
        </a:xfrm>
      </p:grpSpPr>
      <p:sp>
        <p:nvSpPr>
          <p:cNvPr id="23" name="Snip and Round Single Corner Rectangle 6">
            <a:extLst>
              <a:ext uri="{FF2B5EF4-FFF2-40B4-BE49-F238E27FC236}">
                <a16:creationId xmlns:a16="http://schemas.microsoft.com/office/drawing/2014/main" id="{C8BA2E99-C94E-E2C0-0B99-C3781D1BA077}"/>
              </a:ext>
            </a:extLst>
          </p:cNvPr>
          <p:cNvSpPr/>
          <p:nvPr/>
        </p:nvSpPr>
        <p:spPr>
          <a:xfrm>
            <a:off x="0" y="95254"/>
            <a:ext cx="8712200" cy="860425"/>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marL="609600" indent="-609600">
              <a:defRPr sz="2400">
                <a:solidFill>
                  <a:schemeClr val="hlink"/>
                </a:solidFill>
                <a:latin typeface="Times New Roman" pitchFamily="18" charset="0"/>
                <a:ea typeface="MS PGothic" pitchFamily="34" charset="-128"/>
              </a:defRPr>
            </a:lvl1pPr>
            <a:lvl2pPr marL="742950" indent="-285750">
              <a:defRPr sz="2400">
                <a:solidFill>
                  <a:schemeClr val="hlink"/>
                </a:solidFill>
                <a:latin typeface="Times New Roman" pitchFamily="18" charset="0"/>
                <a:ea typeface="MS PGothic" pitchFamily="34" charset="-128"/>
              </a:defRPr>
            </a:lvl2pPr>
            <a:lvl3pPr marL="1143000" indent="-228600">
              <a:defRPr sz="2400">
                <a:solidFill>
                  <a:schemeClr val="hlink"/>
                </a:solidFill>
                <a:latin typeface="Times New Roman" pitchFamily="18" charset="0"/>
                <a:ea typeface="MS PGothic" pitchFamily="34" charset="-128"/>
              </a:defRPr>
            </a:lvl3pPr>
            <a:lvl4pPr marL="1600200" indent="-228600">
              <a:defRPr sz="2400">
                <a:solidFill>
                  <a:schemeClr val="hlink"/>
                </a:solidFill>
                <a:latin typeface="Times New Roman" pitchFamily="18" charset="0"/>
                <a:ea typeface="MS PGothic" pitchFamily="34" charset="-128"/>
              </a:defRPr>
            </a:lvl4pPr>
            <a:lvl5pPr marL="2057400" indent="-228600">
              <a:defRPr sz="2400">
                <a:solidFill>
                  <a:schemeClr val="hlink"/>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hlink"/>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hlink"/>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hlink"/>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hlink"/>
                </a:solidFill>
                <a:latin typeface="Times New Roman" pitchFamily="18" charset="0"/>
                <a:ea typeface="MS PGothic" pitchFamily="34" charset="-128"/>
              </a:defRPr>
            </a:lvl9pPr>
          </a:lstStyle>
          <a:p>
            <a:pPr eaLnBrk="0" fontAlgn="base" hangingPunct="0">
              <a:spcBef>
                <a:spcPct val="20000"/>
              </a:spcBef>
              <a:spcAft>
                <a:spcPct val="0"/>
              </a:spcAft>
              <a:defRPr/>
            </a:pPr>
            <a:r>
              <a:rPr lang="en-US" altLang="en-US" sz="3200" b="1" dirty="0">
                <a:solidFill>
                  <a:srgbClr val="FFFFFF"/>
                </a:solidFill>
                <a:cs typeface="Times New Roman" panose="02020603050405020304" pitchFamily="18" charset="0"/>
              </a:rPr>
              <a:t>Dolphins have moral rights!</a:t>
            </a:r>
            <a:endParaRPr lang="en-US" altLang="en-US" sz="3200" b="1" i="1" dirty="0">
              <a:solidFill>
                <a:srgbClr val="FF0000"/>
              </a:solidFill>
              <a:cs typeface="Times New Roman" panose="02020603050405020304" pitchFamily="18" charset="0"/>
            </a:endParaRPr>
          </a:p>
        </p:txBody>
      </p:sp>
      <p:sp>
        <p:nvSpPr>
          <p:cNvPr id="24" name="Snip and Round Single Corner Rectangle 7">
            <a:extLst>
              <a:ext uri="{FF2B5EF4-FFF2-40B4-BE49-F238E27FC236}">
                <a16:creationId xmlns:a16="http://schemas.microsoft.com/office/drawing/2014/main" id="{EEAD22FE-B7B7-8C07-863C-E0F3D85E38C9}"/>
              </a:ext>
            </a:extLst>
          </p:cNvPr>
          <p:cNvSpPr/>
          <p:nvPr/>
        </p:nvSpPr>
        <p:spPr>
          <a:xfrm>
            <a:off x="3" y="6477001"/>
            <a:ext cx="8863013" cy="323851"/>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a:spcBef>
                <a:spcPct val="20000"/>
              </a:spcBef>
              <a:buFont typeface="Arial" panose="020B0604020202020204" pitchFamily="34" charset="0"/>
              <a:buChar char="•"/>
              <a:tabLst>
                <a:tab pos="4389438" algn="l"/>
              </a:tabLst>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tabLst>
                <a:tab pos="4389438" algn="l"/>
              </a:tabLst>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tabLst>
                <a:tab pos="4389438" algn="l"/>
              </a:tabLst>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9pPr>
          </a:lstStyle>
          <a:p>
            <a:pPr algn="r" fontAlgn="base">
              <a:spcBef>
                <a:spcPct val="0"/>
              </a:spcBef>
              <a:spcAft>
                <a:spcPct val="0"/>
              </a:spcAft>
              <a:buNone/>
              <a:defRPr/>
            </a:pPr>
            <a:fld id="{7639D2BA-029A-46DC-8BC4-CCF926FFE750}" type="slidenum">
              <a:rPr lang="en-US" altLang="en-US" sz="1300">
                <a:solidFill>
                  <a:srgbClr val="FFFFFF"/>
                </a:solidFill>
                <a:latin typeface="Gill Sans MT" panose="020B0502020104020203" pitchFamily="34" charset="0"/>
              </a:rPr>
              <a:pPr algn="r" fontAlgn="base">
                <a:spcBef>
                  <a:spcPct val="0"/>
                </a:spcBef>
                <a:spcAft>
                  <a:spcPct val="0"/>
                </a:spcAft>
                <a:buNone/>
                <a:defRPr/>
              </a:pPr>
              <a:t>36</a:t>
            </a:fld>
            <a:endParaRPr lang="en-US" altLang="en-US" sz="1300">
              <a:solidFill>
                <a:srgbClr val="FFFFFF"/>
              </a:solidFill>
              <a:latin typeface="Gill Sans MT" panose="020B0502020104020203" pitchFamily="34" charset="0"/>
            </a:endParaRPr>
          </a:p>
        </p:txBody>
      </p:sp>
      <p:grpSp>
        <p:nvGrpSpPr>
          <p:cNvPr id="6" name="Group 5">
            <a:extLst>
              <a:ext uri="{FF2B5EF4-FFF2-40B4-BE49-F238E27FC236}">
                <a16:creationId xmlns:a16="http://schemas.microsoft.com/office/drawing/2014/main" id="{FE1CAD45-172A-9CA6-0A8F-B12E84D3A0C1}"/>
              </a:ext>
            </a:extLst>
          </p:cNvPr>
          <p:cNvGrpSpPr/>
          <p:nvPr/>
        </p:nvGrpSpPr>
        <p:grpSpPr>
          <a:xfrm>
            <a:off x="1029295" y="1272437"/>
            <a:ext cx="7085410" cy="5035963"/>
            <a:chOff x="1029295" y="1272437"/>
            <a:chExt cx="7085410" cy="5035963"/>
          </a:xfrm>
        </p:grpSpPr>
        <p:grpSp>
          <p:nvGrpSpPr>
            <p:cNvPr id="2" name="Group 1">
              <a:extLst>
                <a:ext uri="{FF2B5EF4-FFF2-40B4-BE49-F238E27FC236}">
                  <a16:creationId xmlns:a16="http://schemas.microsoft.com/office/drawing/2014/main" id="{36059F08-F2D5-0196-BAF8-2DE05B2815A5}"/>
                </a:ext>
              </a:extLst>
            </p:cNvPr>
            <p:cNvGrpSpPr/>
            <p:nvPr/>
          </p:nvGrpSpPr>
          <p:grpSpPr>
            <a:xfrm>
              <a:off x="1029295" y="1272437"/>
              <a:ext cx="7085410" cy="4521823"/>
              <a:chOff x="250031" y="1410891"/>
              <a:chExt cx="7085410" cy="4521823"/>
            </a:xfrm>
          </p:grpSpPr>
          <p:sp>
            <p:nvSpPr>
              <p:cNvPr id="9220" name="TextBox 21">
                <a:extLst>
                  <a:ext uri="{FF2B5EF4-FFF2-40B4-BE49-F238E27FC236}">
                    <a16:creationId xmlns:a16="http://schemas.microsoft.com/office/drawing/2014/main" id="{E1CD5248-3F9A-FBA5-D90A-23BB07E8FCF2}"/>
                  </a:ext>
                </a:extLst>
              </p:cNvPr>
              <p:cNvSpPr txBox="1">
                <a:spLocks noChangeArrowheads="1"/>
              </p:cNvSpPr>
              <p:nvPr/>
            </p:nvSpPr>
            <p:spPr bwMode="auto">
              <a:xfrm>
                <a:off x="512094" y="2485385"/>
                <a:ext cx="266342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SG" altLang="en-US" sz="2400" dirty="0">
                    <a:latin typeface="Times New Roman" panose="02020603050405020304" pitchFamily="18" charset="0"/>
                    <a:ea typeface="Tahoma" panose="020B0604030504040204" pitchFamily="34" charset="0"/>
                    <a:cs typeface="Times New Roman" panose="02020603050405020304" pitchFamily="18" charset="0"/>
                  </a:rPr>
                  <a:t>C and U</a:t>
                </a:r>
              </a:p>
            </p:txBody>
          </p:sp>
          <p:cxnSp>
            <p:nvCxnSpPr>
              <p:cNvPr id="25" name="Straight Connector 24">
                <a:extLst>
                  <a:ext uri="{FF2B5EF4-FFF2-40B4-BE49-F238E27FC236}">
                    <a16:creationId xmlns:a16="http://schemas.microsoft.com/office/drawing/2014/main" id="{283A30E2-4D3A-606F-345A-BFB5C0966030}"/>
                  </a:ext>
                </a:extLst>
              </p:cNvPr>
              <p:cNvCxnSpPr/>
              <p:nvPr/>
            </p:nvCxnSpPr>
            <p:spPr>
              <a:xfrm>
                <a:off x="250031" y="2948285"/>
                <a:ext cx="495181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F907DFDD-48BE-4728-68BE-FBD39766965D}"/>
                  </a:ext>
                </a:extLst>
              </p:cNvPr>
              <p:cNvCxnSpPr/>
              <p:nvPr/>
            </p:nvCxnSpPr>
            <p:spPr>
              <a:xfrm>
                <a:off x="795339" y="3008753"/>
                <a:ext cx="0" cy="4619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225" name="TextBox 26">
                <a:extLst>
                  <a:ext uri="{FF2B5EF4-FFF2-40B4-BE49-F238E27FC236}">
                    <a16:creationId xmlns:a16="http://schemas.microsoft.com/office/drawing/2014/main" id="{8F52001D-132A-6BC2-7D78-DF8DBEEB7E4F}"/>
                  </a:ext>
                </a:extLst>
              </p:cNvPr>
              <p:cNvSpPr txBox="1">
                <a:spLocks noChangeArrowheads="1"/>
              </p:cNvSpPr>
              <p:nvPr/>
            </p:nvSpPr>
            <p:spPr bwMode="auto">
              <a:xfrm>
                <a:off x="469105" y="3470716"/>
                <a:ext cx="50354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SG" altLang="en-US" sz="2400" dirty="0">
                    <a:latin typeface="Times New Roman" panose="02020603050405020304" pitchFamily="18" charset="0"/>
                    <a:ea typeface="Tahoma" panose="020B0604030504040204" pitchFamily="34" charset="0"/>
                    <a:cs typeface="Times New Roman" panose="02020603050405020304" pitchFamily="18" charset="0"/>
                  </a:rPr>
                  <a:t>U [</a:t>
                </a:r>
                <a:r>
                  <a:rPr lang="en-SG" altLang="en-US" sz="2400" dirty="0">
                    <a:highlight>
                      <a:srgbClr val="FFFF00"/>
                    </a:highlight>
                    <a:latin typeface="Times New Roman" panose="02020603050405020304" pitchFamily="18" charset="0"/>
                    <a:ea typeface="Tahoma" panose="020B0604030504040204" pitchFamily="34" charset="0"/>
                    <a:cs typeface="Times New Roman" panose="02020603050405020304" pitchFamily="18" charset="0"/>
                  </a:rPr>
                  <a:t>= not (not U)</a:t>
                </a:r>
                <a:r>
                  <a:rPr lang="en-SG" altLang="en-US" sz="2400" dirty="0">
                    <a:latin typeface="Times New Roman" panose="02020603050405020304" pitchFamily="18" charset="0"/>
                    <a:ea typeface="Tahoma" panose="020B0604030504040204" pitchFamily="34" charset="0"/>
                    <a:cs typeface="Times New Roman" panose="02020603050405020304" pitchFamily="18" charset="0"/>
                  </a:rPr>
                  <a:t>] + </a:t>
                </a:r>
                <a:r>
                  <a:rPr lang="en-SG" altLang="en-US" sz="2400" dirty="0">
                    <a:highlight>
                      <a:srgbClr val="00FFFF"/>
                    </a:highlight>
                    <a:latin typeface="Times New Roman" panose="02020603050405020304" pitchFamily="18" charset="0"/>
                    <a:ea typeface="Tahoma" panose="020B0604030504040204" pitchFamily="34" charset="0"/>
                    <a:cs typeface="Times New Roman" panose="02020603050405020304" pitchFamily="18" charset="0"/>
                  </a:rPr>
                  <a:t>If not A then not U</a:t>
                </a:r>
              </a:p>
            </p:txBody>
          </p:sp>
          <p:cxnSp>
            <p:nvCxnSpPr>
              <p:cNvPr id="30" name="Straight Connector 29">
                <a:extLst>
                  <a:ext uri="{FF2B5EF4-FFF2-40B4-BE49-F238E27FC236}">
                    <a16:creationId xmlns:a16="http://schemas.microsoft.com/office/drawing/2014/main" id="{F2441A2E-2822-B243-296B-3304743591CE}"/>
                  </a:ext>
                </a:extLst>
              </p:cNvPr>
              <p:cNvCxnSpPr>
                <a:cxnSpLocks/>
              </p:cNvCxnSpPr>
              <p:nvPr/>
            </p:nvCxnSpPr>
            <p:spPr>
              <a:xfrm>
                <a:off x="535781" y="3932381"/>
                <a:ext cx="612576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C07C758A-2027-31C4-7E39-0DF55C2963B2}"/>
                  </a:ext>
                </a:extLst>
              </p:cNvPr>
              <p:cNvCxnSpPr/>
              <p:nvPr/>
            </p:nvCxnSpPr>
            <p:spPr>
              <a:xfrm>
                <a:off x="2103748" y="3932381"/>
                <a:ext cx="0" cy="4619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230" name="TextBox 31">
                <a:extLst>
                  <a:ext uri="{FF2B5EF4-FFF2-40B4-BE49-F238E27FC236}">
                    <a16:creationId xmlns:a16="http://schemas.microsoft.com/office/drawing/2014/main" id="{378B677E-3E55-8B30-24BE-8D20D352BA7C}"/>
                  </a:ext>
                </a:extLst>
              </p:cNvPr>
              <p:cNvSpPr txBox="1">
                <a:spLocks noChangeArrowheads="1"/>
              </p:cNvSpPr>
              <p:nvPr/>
            </p:nvSpPr>
            <p:spPr bwMode="auto">
              <a:xfrm>
                <a:off x="359145" y="4393066"/>
                <a:ext cx="69762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SG" altLang="en-US" sz="2400" dirty="0">
                    <a:latin typeface="Times New Roman" panose="02020603050405020304" pitchFamily="18" charset="0"/>
                    <a:ea typeface="Tahoma" panose="020B0604030504040204" pitchFamily="34" charset="0"/>
                    <a:cs typeface="Times New Roman" panose="02020603050405020304" pitchFamily="18" charset="0"/>
                  </a:rPr>
                  <a:t>Not (not A) [</a:t>
                </a:r>
                <a:r>
                  <a:rPr lang="en-SG" altLang="en-US" sz="2400" dirty="0">
                    <a:highlight>
                      <a:srgbClr val="FFFF00"/>
                    </a:highlight>
                    <a:latin typeface="Times New Roman" panose="02020603050405020304" pitchFamily="18" charset="0"/>
                    <a:ea typeface="Tahoma" panose="020B0604030504040204" pitchFamily="34" charset="0"/>
                    <a:cs typeface="Times New Roman" panose="02020603050405020304" pitchFamily="18" charset="0"/>
                  </a:rPr>
                  <a:t>=A</a:t>
                </a:r>
                <a:r>
                  <a:rPr lang="en-SG" altLang="en-US" sz="2400" dirty="0">
                    <a:latin typeface="Times New Roman" panose="02020603050405020304" pitchFamily="18" charset="0"/>
                    <a:ea typeface="Tahoma" panose="020B0604030504040204" pitchFamily="34" charset="0"/>
                    <a:cs typeface="Times New Roman" panose="02020603050405020304" pitchFamily="18" charset="0"/>
                  </a:rPr>
                  <a:t>] + </a:t>
                </a:r>
                <a:r>
                  <a:rPr lang="en-SG" altLang="en-US" sz="2400" dirty="0">
                    <a:highlight>
                      <a:srgbClr val="00FFFF"/>
                    </a:highlight>
                    <a:latin typeface="Times New Roman" panose="02020603050405020304" pitchFamily="18" charset="0"/>
                    <a:ea typeface="Tahoma" panose="020B0604030504040204" pitchFamily="34" charset="0"/>
                    <a:cs typeface="Times New Roman" panose="02020603050405020304" pitchFamily="18" charset="0"/>
                  </a:rPr>
                  <a:t>If not T then not A</a:t>
                </a:r>
              </a:p>
            </p:txBody>
          </p:sp>
          <p:cxnSp>
            <p:nvCxnSpPr>
              <p:cNvPr id="36" name="Straight Connector 35">
                <a:extLst>
                  <a:ext uri="{FF2B5EF4-FFF2-40B4-BE49-F238E27FC236}">
                    <a16:creationId xmlns:a16="http://schemas.microsoft.com/office/drawing/2014/main" id="{106272E1-2174-D5AF-900A-1FF0B5458A39}"/>
                  </a:ext>
                </a:extLst>
              </p:cNvPr>
              <p:cNvCxnSpPr/>
              <p:nvPr/>
            </p:nvCxnSpPr>
            <p:spPr>
              <a:xfrm>
                <a:off x="648295" y="4854731"/>
                <a:ext cx="4951810" cy="0"/>
              </a:xfrm>
              <a:prstGeom prst="line">
                <a:avLst/>
              </a:prstGeom>
            </p:spPr>
            <p:style>
              <a:lnRef idx="1">
                <a:schemeClr val="accent1"/>
              </a:lnRef>
              <a:fillRef idx="0">
                <a:schemeClr val="accent1"/>
              </a:fillRef>
              <a:effectRef idx="0">
                <a:schemeClr val="accent1"/>
              </a:effectRef>
              <a:fontRef idx="minor">
                <a:schemeClr val="tx1"/>
              </a:fontRef>
            </p:style>
          </p:cxnSp>
          <p:sp>
            <p:nvSpPr>
              <p:cNvPr id="9236" name="TextBox 37">
                <a:extLst>
                  <a:ext uri="{FF2B5EF4-FFF2-40B4-BE49-F238E27FC236}">
                    <a16:creationId xmlns:a16="http://schemas.microsoft.com/office/drawing/2014/main" id="{E3F2354E-58C3-CCF2-B074-C82D6B1F47A1}"/>
                  </a:ext>
                </a:extLst>
              </p:cNvPr>
              <p:cNvSpPr txBox="1">
                <a:spLocks noChangeArrowheads="1"/>
              </p:cNvSpPr>
              <p:nvPr/>
            </p:nvSpPr>
            <p:spPr bwMode="auto">
              <a:xfrm>
                <a:off x="469105" y="1410891"/>
                <a:ext cx="328017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SG" altLang="en-US" sz="2400" dirty="0">
                    <a:highlight>
                      <a:srgbClr val="00FFFF"/>
                    </a:highlight>
                    <a:latin typeface="Times New Roman" panose="02020603050405020304" pitchFamily="18" charset="0"/>
                    <a:ea typeface="Tahoma" panose="020B0604030504040204" pitchFamily="34" charset="0"/>
                    <a:cs typeface="Times New Roman" panose="02020603050405020304" pitchFamily="18" charset="0"/>
                  </a:rPr>
                  <a:t>D</a:t>
                </a:r>
                <a:r>
                  <a:rPr lang="en-SG" altLang="en-US" sz="2400" dirty="0">
                    <a:latin typeface="Times New Roman" panose="02020603050405020304" pitchFamily="18" charset="0"/>
                    <a:ea typeface="Tahoma" panose="020B0604030504040204" pitchFamily="34" charset="0"/>
                    <a:cs typeface="Times New Roman" panose="02020603050405020304" pitchFamily="18" charset="0"/>
                  </a:rPr>
                  <a:t> + </a:t>
                </a:r>
                <a:r>
                  <a:rPr lang="en-SG" altLang="en-US" sz="2400" dirty="0">
                    <a:highlight>
                      <a:srgbClr val="00FFFF"/>
                    </a:highlight>
                    <a:latin typeface="Times New Roman" panose="02020603050405020304" pitchFamily="18" charset="0"/>
                    <a:ea typeface="Tahoma" panose="020B0604030504040204" pitchFamily="34" charset="0"/>
                    <a:cs typeface="Times New Roman" panose="02020603050405020304" pitchFamily="18" charset="0"/>
                  </a:rPr>
                  <a:t>If D then (C and U)</a:t>
                </a:r>
              </a:p>
            </p:txBody>
          </p:sp>
          <p:cxnSp>
            <p:nvCxnSpPr>
              <p:cNvPr id="39" name="Straight Connector 38">
                <a:extLst>
                  <a:ext uri="{FF2B5EF4-FFF2-40B4-BE49-F238E27FC236}">
                    <a16:creationId xmlns:a16="http://schemas.microsoft.com/office/drawing/2014/main" id="{28CA1217-BF87-7577-FC09-BFC2FCA98D20}"/>
                  </a:ext>
                </a:extLst>
              </p:cNvPr>
              <p:cNvCxnSpPr>
                <a:cxnSpLocks/>
              </p:cNvCxnSpPr>
              <p:nvPr/>
            </p:nvCxnSpPr>
            <p:spPr>
              <a:xfrm flipV="1">
                <a:off x="510778" y="1878806"/>
                <a:ext cx="2613422" cy="1191"/>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5A001ACD-DBD3-0BA8-1CE8-B9AFAC7F3842}"/>
                  </a:ext>
                </a:extLst>
              </p:cNvPr>
              <p:cNvCxnSpPr>
                <a:cxnSpLocks/>
              </p:cNvCxnSpPr>
              <p:nvPr/>
            </p:nvCxnSpPr>
            <p:spPr>
              <a:xfrm>
                <a:off x="1719263" y="1900237"/>
                <a:ext cx="0" cy="617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AC232EAC-4DEF-A12D-9A63-D10DBCCBA0B2}"/>
                  </a:ext>
                </a:extLst>
              </p:cNvPr>
              <p:cNvCxnSpPr/>
              <p:nvPr/>
            </p:nvCxnSpPr>
            <p:spPr>
              <a:xfrm>
                <a:off x="2626262" y="4854731"/>
                <a:ext cx="0" cy="4619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1">
                <a:extLst>
                  <a:ext uri="{FF2B5EF4-FFF2-40B4-BE49-F238E27FC236}">
                    <a16:creationId xmlns:a16="http://schemas.microsoft.com/office/drawing/2014/main" id="{BCE989E6-77E1-C92E-DD0C-B371231EC4A0}"/>
                  </a:ext>
                </a:extLst>
              </p:cNvPr>
              <p:cNvSpPr txBox="1">
                <a:spLocks noChangeArrowheads="1"/>
              </p:cNvSpPr>
              <p:nvPr/>
            </p:nvSpPr>
            <p:spPr bwMode="auto">
              <a:xfrm>
                <a:off x="359145" y="5212301"/>
                <a:ext cx="69762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SG" altLang="en-US" sz="2400" dirty="0">
                    <a:latin typeface="Times New Roman" panose="02020603050405020304" pitchFamily="18" charset="0"/>
                    <a:ea typeface="Tahoma" panose="020B0604030504040204" pitchFamily="34" charset="0"/>
                    <a:cs typeface="Times New Roman" panose="02020603050405020304" pitchFamily="18" charset="0"/>
                  </a:rPr>
                  <a:t>Not (not T) [</a:t>
                </a:r>
                <a:r>
                  <a:rPr lang="en-SG" altLang="en-US" sz="2400" dirty="0">
                    <a:highlight>
                      <a:srgbClr val="FFFF00"/>
                    </a:highlight>
                    <a:latin typeface="Times New Roman" panose="02020603050405020304" pitchFamily="18" charset="0"/>
                    <a:ea typeface="Tahoma" panose="020B0604030504040204" pitchFamily="34" charset="0"/>
                    <a:cs typeface="Times New Roman" panose="02020603050405020304" pitchFamily="18" charset="0"/>
                  </a:rPr>
                  <a:t>=T</a:t>
                </a:r>
                <a:r>
                  <a:rPr lang="en-SG" altLang="en-US" sz="2400" dirty="0">
                    <a:latin typeface="Times New Roman" panose="02020603050405020304" pitchFamily="18" charset="0"/>
                    <a:ea typeface="Tahoma" panose="020B0604030504040204" pitchFamily="34" charset="0"/>
                    <a:cs typeface="Times New Roman" panose="02020603050405020304" pitchFamily="18" charset="0"/>
                  </a:rPr>
                  <a:t>] + </a:t>
                </a:r>
                <a:r>
                  <a:rPr lang="en-SG" altLang="en-US" sz="2400" dirty="0">
                    <a:highlight>
                      <a:srgbClr val="00FFFF"/>
                    </a:highlight>
                    <a:latin typeface="Times New Roman" panose="02020603050405020304" pitchFamily="18" charset="0"/>
                    <a:ea typeface="Tahoma" panose="020B0604030504040204" pitchFamily="34" charset="0"/>
                    <a:cs typeface="Times New Roman" panose="02020603050405020304" pitchFamily="18" charset="0"/>
                  </a:rPr>
                  <a:t>If  T then M</a:t>
                </a:r>
              </a:p>
            </p:txBody>
          </p:sp>
          <p:cxnSp>
            <p:nvCxnSpPr>
              <p:cNvPr id="5" name="Straight Arrow Connector 4">
                <a:extLst>
                  <a:ext uri="{FF2B5EF4-FFF2-40B4-BE49-F238E27FC236}">
                    <a16:creationId xmlns:a16="http://schemas.microsoft.com/office/drawing/2014/main" id="{F2F196F7-1CD8-09A4-EF21-863FFC961E5F}"/>
                  </a:ext>
                </a:extLst>
              </p:cNvPr>
              <p:cNvCxnSpPr>
                <a:cxnSpLocks/>
              </p:cNvCxnSpPr>
              <p:nvPr/>
            </p:nvCxnSpPr>
            <p:spPr>
              <a:xfrm>
                <a:off x="3598664" y="5673966"/>
                <a:ext cx="0" cy="2587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94D5D20-7F2B-0663-5C0F-3A6CE7C936F2}"/>
                  </a:ext>
                </a:extLst>
              </p:cNvPr>
              <p:cNvCxnSpPr/>
              <p:nvPr/>
            </p:nvCxnSpPr>
            <p:spPr>
              <a:xfrm>
                <a:off x="1122759" y="5684554"/>
                <a:ext cx="495181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9" name="TextBox 21">
              <a:extLst>
                <a:ext uri="{FF2B5EF4-FFF2-40B4-BE49-F238E27FC236}">
                  <a16:creationId xmlns:a16="http://schemas.microsoft.com/office/drawing/2014/main" id="{9317ED82-FAC3-7FE9-B69B-9992F14FAB8A}"/>
                </a:ext>
              </a:extLst>
            </p:cNvPr>
            <p:cNvSpPr txBox="1">
              <a:spLocks noChangeArrowheads="1"/>
            </p:cNvSpPr>
            <p:nvPr/>
          </p:nvSpPr>
          <p:spPr bwMode="auto">
            <a:xfrm>
              <a:off x="3046214" y="5846735"/>
              <a:ext cx="266342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SG" altLang="en-US" sz="2400" dirty="0">
                  <a:highlight>
                    <a:srgbClr val="00FFFF"/>
                  </a:highlight>
                  <a:latin typeface="Times New Roman" panose="02020603050405020304" pitchFamily="18" charset="0"/>
                  <a:ea typeface="Tahoma" panose="020B0604030504040204" pitchFamily="34" charset="0"/>
                  <a:cs typeface="Times New Roman" panose="02020603050405020304" pitchFamily="18" charset="0"/>
                </a:rPr>
                <a:t>M</a:t>
              </a:r>
            </a:p>
          </p:txBody>
        </p:sp>
      </p:grpSp>
    </p:spTree>
    <p:extLst>
      <p:ext uri="{BB962C8B-B14F-4D97-AF65-F5344CB8AC3E}">
        <p14:creationId xmlns:p14="http://schemas.microsoft.com/office/powerpoint/2010/main" val="1896775539"/>
      </p:ext>
    </p:extLst>
  </p:cSld>
  <p:clrMapOvr>
    <a:masterClrMapping/>
  </p:clrMapOvr>
  <mc:AlternateContent xmlns:mc="http://schemas.openxmlformats.org/markup-compatibility/2006" xmlns:p14="http://schemas.microsoft.com/office/powerpoint/2010/main">
    <mc:Choice Requires="p14">
      <p:transition spd="slow" p14:dur="2000" advTm="204740"/>
    </mc:Choice>
    <mc:Fallback xmlns="">
      <p:transition spd="slow" advTm="204740"/>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310869-3787-FE59-380A-4B6C7B5B2A7B}"/>
              </a:ext>
            </a:extLst>
          </p:cNvPr>
          <p:cNvSpPr txBox="1"/>
          <p:nvPr/>
        </p:nvSpPr>
        <p:spPr>
          <a:xfrm>
            <a:off x="716096" y="1674564"/>
            <a:ext cx="3734718" cy="369332"/>
          </a:xfrm>
          <a:prstGeom prst="rect">
            <a:avLst/>
          </a:prstGeom>
          <a:noFill/>
        </p:spPr>
        <p:txBody>
          <a:bodyPr wrap="square" rtlCol="0">
            <a:spAutoFit/>
          </a:bodyPr>
          <a:lstStyle/>
          <a:p>
            <a:r>
              <a:rPr lang="en-US" dirty="0"/>
              <a:t>If p then q             +                 p</a:t>
            </a:r>
          </a:p>
        </p:txBody>
      </p:sp>
      <p:cxnSp>
        <p:nvCxnSpPr>
          <p:cNvPr id="4" name="Straight Connector 3">
            <a:extLst>
              <a:ext uri="{FF2B5EF4-FFF2-40B4-BE49-F238E27FC236}">
                <a16:creationId xmlns:a16="http://schemas.microsoft.com/office/drawing/2014/main" id="{735C00F4-CEDA-26DE-A223-621170A57351}"/>
              </a:ext>
            </a:extLst>
          </p:cNvPr>
          <p:cNvCxnSpPr/>
          <p:nvPr/>
        </p:nvCxnSpPr>
        <p:spPr>
          <a:xfrm>
            <a:off x="716096" y="2170323"/>
            <a:ext cx="3029639" cy="99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E0319CC0-56F1-9AAA-9556-48E54DF60851}"/>
              </a:ext>
            </a:extLst>
          </p:cNvPr>
          <p:cNvCxnSpPr/>
          <p:nvPr/>
        </p:nvCxnSpPr>
        <p:spPr>
          <a:xfrm>
            <a:off x="2247441" y="2269475"/>
            <a:ext cx="0" cy="6610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CA371A17-6E5D-772C-5EBF-156E76500FF1}"/>
              </a:ext>
            </a:extLst>
          </p:cNvPr>
          <p:cNvSpPr txBox="1"/>
          <p:nvPr/>
        </p:nvSpPr>
        <p:spPr>
          <a:xfrm>
            <a:off x="2049137" y="3062689"/>
            <a:ext cx="528805" cy="369332"/>
          </a:xfrm>
          <a:prstGeom prst="rect">
            <a:avLst/>
          </a:prstGeom>
          <a:noFill/>
        </p:spPr>
        <p:txBody>
          <a:bodyPr wrap="square" rtlCol="0">
            <a:spAutoFit/>
          </a:bodyPr>
          <a:lstStyle/>
          <a:p>
            <a:r>
              <a:rPr lang="en-US" dirty="0"/>
              <a:t>q</a:t>
            </a:r>
          </a:p>
        </p:txBody>
      </p:sp>
      <p:sp>
        <p:nvSpPr>
          <p:cNvPr id="8" name="TextBox 7">
            <a:extLst>
              <a:ext uri="{FF2B5EF4-FFF2-40B4-BE49-F238E27FC236}">
                <a16:creationId xmlns:a16="http://schemas.microsoft.com/office/drawing/2014/main" id="{40E03337-D55C-CAF7-C657-BB03BFD5D0B9}"/>
              </a:ext>
            </a:extLst>
          </p:cNvPr>
          <p:cNvSpPr txBox="1"/>
          <p:nvPr/>
        </p:nvSpPr>
        <p:spPr>
          <a:xfrm>
            <a:off x="1606625" y="4236252"/>
            <a:ext cx="4684005" cy="369332"/>
          </a:xfrm>
          <a:prstGeom prst="rect">
            <a:avLst/>
          </a:prstGeom>
          <a:noFill/>
        </p:spPr>
        <p:txBody>
          <a:bodyPr wrap="square" rtlCol="0">
            <a:spAutoFit/>
          </a:bodyPr>
          <a:lstStyle/>
          <a:p>
            <a:r>
              <a:rPr lang="en-US" dirty="0"/>
              <a:t>If </a:t>
            </a:r>
            <a:r>
              <a:rPr lang="en-US" b="1" dirty="0"/>
              <a:t>not q</a:t>
            </a:r>
            <a:r>
              <a:rPr lang="en-US" dirty="0"/>
              <a:t> then </a:t>
            </a:r>
            <a:r>
              <a:rPr lang="en-US" b="1" dirty="0"/>
              <a:t>not </a:t>
            </a:r>
            <a:r>
              <a:rPr lang="en-US" dirty="0"/>
              <a:t>p             +       </a:t>
            </a:r>
            <a:r>
              <a:rPr lang="en-US" b="1" dirty="0"/>
              <a:t>not </a:t>
            </a:r>
            <a:r>
              <a:rPr lang="en-US" b="1" dirty="0" err="1"/>
              <a:t>not</a:t>
            </a:r>
            <a:r>
              <a:rPr lang="en-US" b="1" dirty="0"/>
              <a:t> </a:t>
            </a:r>
            <a:r>
              <a:rPr lang="en-US" dirty="0"/>
              <a:t>  p</a:t>
            </a:r>
          </a:p>
        </p:txBody>
      </p:sp>
      <p:cxnSp>
        <p:nvCxnSpPr>
          <p:cNvPr id="9" name="Straight Arrow Connector 8">
            <a:extLst>
              <a:ext uri="{FF2B5EF4-FFF2-40B4-BE49-F238E27FC236}">
                <a16:creationId xmlns:a16="http://schemas.microsoft.com/office/drawing/2014/main" id="{F3F6B60A-BE6C-AFB5-B35E-14454E6C1197}"/>
              </a:ext>
            </a:extLst>
          </p:cNvPr>
          <p:cNvCxnSpPr/>
          <p:nvPr/>
        </p:nvCxnSpPr>
        <p:spPr>
          <a:xfrm>
            <a:off x="3622712" y="4704736"/>
            <a:ext cx="0" cy="6610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E4CB2E74-89D3-20A9-8A9E-7B9C3F6E8AB1}"/>
              </a:ext>
            </a:extLst>
          </p:cNvPr>
          <p:cNvCxnSpPr/>
          <p:nvPr/>
        </p:nvCxnSpPr>
        <p:spPr>
          <a:xfrm>
            <a:off x="2107893" y="4605584"/>
            <a:ext cx="3029639" cy="99152"/>
          </a:xfrm>
          <a:prstGeom prst="line">
            <a:avLst/>
          </a:prstGeom>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5D54B101-287F-B7E4-7E3D-1B00309FC9B1}"/>
              </a:ext>
            </a:extLst>
          </p:cNvPr>
          <p:cNvSpPr txBox="1"/>
          <p:nvPr/>
        </p:nvSpPr>
        <p:spPr>
          <a:xfrm>
            <a:off x="3419822" y="5434603"/>
            <a:ext cx="1152177" cy="369332"/>
          </a:xfrm>
          <a:prstGeom prst="rect">
            <a:avLst/>
          </a:prstGeom>
          <a:noFill/>
        </p:spPr>
        <p:txBody>
          <a:bodyPr wrap="square" rtlCol="0">
            <a:spAutoFit/>
          </a:bodyPr>
          <a:lstStyle/>
          <a:p>
            <a:r>
              <a:rPr lang="en-US" b="1" dirty="0"/>
              <a:t>not </a:t>
            </a:r>
            <a:r>
              <a:rPr lang="en-US" b="1" dirty="0" err="1"/>
              <a:t>not</a:t>
            </a:r>
            <a:r>
              <a:rPr lang="en-US" b="1" dirty="0"/>
              <a:t> </a:t>
            </a:r>
            <a:r>
              <a:rPr lang="en-US" dirty="0"/>
              <a:t>q</a:t>
            </a:r>
          </a:p>
        </p:txBody>
      </p:sp>
    </p:spTree>
    <p:extLst>
      <p:ext uri="{BB962C8B-B14F-4D97-AF65-F5344CB8AC3E}">
        <p14:creationId xmlns:p14="http://schemas.microsoft.com/office/powerpoint/2010/main" val="27782261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9" name="Rectangle 2"/>
          <p:cNvSpPr>
            <a:spLocks noGrp="1" noChangeArrowheads="1"/>
          </p:cNvSpPr>
          <p:nvPr>
            <p:ph type="subTitle" idx="1"/>
          </p:nvPr>
        </p:nvSpPr>
        <p:spPr>
          <a:xfrm>
            <a:off x="4572000" y="2478685"/>
            <a:ext cx="4405600" cy="2628900"/>
          </a:xfrm>
        </p:spPr>
        <p:txBody>
          <a:bodyPr/>
          <a:lstStyle/>
          <a:p>
            <a:pPr algn="l" eaLnBrk="1" hangingPunct="1">
              <a:defRPr/>
            </a:pPr>
            <a:r>
              <a:rPr lang="en-US" altLang="en-US" sz="2400" b="1" dirty="0">
                <a:solidFill>
                  <a:schemeClr val="tx1"/>
                </a:solidFill>
                <a:latin typeface="Times New Roman" panose="02020603050405020304" pitchFamily="18" charset="0"/>
                <a:cs typeface="Times New Roman" panose="02020603050405020304" pitchFamily="18" charset="0"/>
              </a:rPr>
              <a:t>Read this week:</a:t>
            </a:r>
          </a:p>
          <a:p>
            <a:pPr algn="l" eaLnBrk="1" hangingPunct="1">
              <a:buFont typeface="Wingdings" pitchFamily="2" charset="2"/>
              <a:buChar char="Ø"/>
              <a:defRPr/>
            </a:pPr>
            <a:r>
              <a:rPr lang="en-US" sz="2400" dirty="0">
                <a:solidFill>
                  <a:schemeClr val="tx1"/>
                </a:solidFill>
                <a:latin typeface="Times New Roman" panose="02020603050405020304" pitchFamily="18" charset="0"/>
                <a:cs typeface="Times New Roman" panose="02020603050405020304" pitchFamily="18" charset="0"/>
              </a:rPr>
              <a:t> Chapter 5.1, 5.4-5.8</a:t>
            </a:r>
          </a:p>
          <a:p>
            <a:pPr algn="l" eaLnBrk="1" hangingPunct="1">
              <a:defRPr/>
            </a:pPr>
            <a:endParaRPr lang="en-US" altLang="en-US" sz="2400" dirty="0">
              <a:solidFill>
                <a:schemeClr val="tx1"/>
              </a:solidFill>
              <a:latin typeface="Times New Roman" panose="02020603050405020304" pitchFamily="18" charset="0"/>
              <a:cs typeface="Times New Roman" panose="02020603050405020304" pitchFamily="18" charset="0"/>
            </a:endParaRPr>
          </a:p>
          <a:p>
            <a:pPr algn="l" eaLnBrk="1" hangingPunct="1">
              <a:buFont typeface="Wingdings" pitchFamily="2" charset="2"/>
              <a:buChar char="Ø"/>
              <a:defRPr/>
            </a:pPr>
            <a:r>
              <a:rPr lang="en-US" altLang="en-US" sz="2400" dirty="0">
                <a:solidFill>
                  <a:schemeClr val="tx1"/>
                </a:solidFill>
                <a:latin typeface="Times New Roman" panose="02020603050405020304" pitchFamily="18" charset="0"/>
                <a:cs typeface="Times New Roman" panose="02020603050405020304" pitchFamily="18" charset="0"/>
              </a:rPr>
              <a:t> Exercise 5.1, 5.2</a:t>
            </a:r>
          </a:p>
        </p:txBody>
      </p:sp>
      <p:pic>
        <p:nvPicPr>
          <p:cNvPr id="122886" name="Picture 2"/>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 y="2478685"/>
            <a:ext cx="3953575" cy="2378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nip and Round Single Corner Rectangle 6">
            <a:extLst>
              <a:ext uri="{FF2B5EF4-FFF2-40B4-BE49-F238E27FC236}">
                <a16:creationId xmlns:a16="http://schemas.microsoft.com/office/drawing/2014/main" id="{A4124620-7715-4545-B7C6-A7F76CF7696C}"/>
              </a:ext>
            </a:extLst>
          </p:cNvPr>
          <p:cNvSpPr/>
          <p:nvPr/>
        </p:nvSpPr>
        <p:spPr>
          <a:xfrm>
            <a:off x="0" y="95254"/>
            <a:ext cx="8712200" cy="860425"/>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marL="609600" indent="-609600">
              <a:defRPr sz="2400">
                <a:solidFill>
                  <a:schemeClr val="hlink"/>
                </a:solidFill>
                <a:latin typeface="Times New Roman" pitchFamily="18" charset="0"/>
                <a:ea typeface="MS PGothic" pitchFamily="34" charset="-128"/>
              </a:defRPr>
            </a:lvl1pPr>
            <a:lvl2pPr marL="742950" indent="-285750">
              <a:defRPr sz="2400">
                <a:solidFill>
                  <a:schemeClr val="hlink"/>
                </a:solidFill>
                <a:latin typeface="Times New Roman" pitchFamily="18" charset="0"/>
                <a:ea typeface="MS PGothic" pitchFamily="34" charset="-128"/>
              </a:defRPr>
            </a:lvl2pPr>
            <a:lvl3pPr marL="1143000" indent="-228600">
              <a:defRPr sz="2400">
                <a:solidFill>
                  <a:schemeClr val="hlink"/>
                </a:solidFill>
                <a:latin typeface="Times New Roman" pitchFamily="18" charset="0"/>
                <a:ea typeface="MS PGothic" pitchFamily="34" charset="-128"/>
              </a:defRPr>
            </a:lvl3pPr>
            <a:lvl4pPr marL="1600200" indent="-228600">
              <a:defRPr sz="2400">
                <a:solidFill>
                  <a:schemeClr val="hlink"/>
                </a:solidFill>
                <a:latin typeface="Times New Roman" pitchFamily="18" charset="0"/>
                <a:ea typeface="MS PGothic" pitchFamily="34" charset="-128"/>
              </a:defRPr>
            </a:lvl4pPr>
            <a:lvl5pPr marL="2057400" indent="-228600">
              <a:defRPr sz="2400">
                <a:solidFill>
                  <a:schemeClr val="hlink"/>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hlink"/>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hlink"/>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hlink"/>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hlink"/>
                </a:solidFill>
                <a:latin typeface="Times New Roman" pitchFamily="18" charset="0"/>
                <a:ea typeface="MS PGothic" pitchFamily="34" charset="-128"/>
              </a:defRPr>
            </a:lvl9pPr>
          </a:lstStyle>
          <a:p>
            <a:pPr eaLnBrk="0" fontAlgn="base" hangingPunct="0">
              <a:spcBef>
                <a:spcPct val="20000"/>
              </a:spcBef>
              <a:spcAft>
                <a:spcPct val="0"/>
              </a:spcAft>
              <a:defRPr/>
            </a:pPr>
            <a:r>
              <a:rPr lang="en-US" altLang="en-US" sz="3200" b="1" dirty="0">
                <a:solidFill>
                  <a:srgbClr val="FFFFFF"/>
                </a:solidFill>
                <a:cs typeface="Times New Roman" panose="02020603050405020304" pitchFamily="18" charset="0"/>
              </a:rPr>
              <a:t>Course Text</a:t>
            </a:r>
            <a:endParaRPr lang="en-US" altLang="en-US" sz="3200" b="1" i="1" dirty="0">
              <a:solidFill>
                <a:srgbClr val="FF0000"/>
              </a:solidFill>
              <a:cs typeface="Times New Roman" panose="02020603050405020304" pitchFamily="18" charset="0"/>
            </a:endParaRPr>
          </a:p>
        </p:txBody>
      </p:sp>
      <p:sp>
        <p:nvSpPr>
          <p:cNvPr id="9" name="Snip and Round Single Corner Rectangle 7">
            <a:extLst>
              <a:ext uri="{FF2B5EF4-FFF2-40B4-BE49-F238E27FC236}">
                <a16:creationId xmlns:a16="http://schemas.microsoft.com/office/drawing/2014/main" id="{E0BCA2DF-FE08-4885-AD18-7FFEC4D727F9}"/>
              </a:ext>
            </a:extLst>
          </p:cNvPr>
          <p:cNvSpPr/>
          <p:nvPr/>
        </p:nvSpPr>
        <p:spPr>
          <a:xfrm>
            <a:off x="3" y="6477001"/>
            <a:ext cx="8863013" cy="323851"/>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a:spcBef>
                <a:spcPct val="20000"/>
              </a:spcBef>
              <a:buFont typeface="Arial" panose="020B0604020202020204" pitchFamily="34" charset="0"/>
              <a:buChar char="•"/>
              <a:tabLst>
                <a:tab pos="4389438" algn="l"/>
              </a:tabLst>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tabLst>
                <a:tab pos="4389438" algn="l"/>
              </a:tabLst>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tabLst>
                <a:tab pos="4389438" algn="l"/>
              </a:tabLst>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tabLst>
                <a:tab pos="4389438" algn="l"/>
              </a:tabLst>
              <a:defRPr sz="2000">
                <a:solidFill>
                  <a:schemeClr val="tx1"/>
                </a:solidFill>
                <a:latin typeface="Calibri" panose="020F0502020204030204" pitchFamily="34" charset="0"/>
                <a:ea typeface="MS PGothic" panose="020B0600070205080204" pitchFamily="34" charset="-128"/>
              </a:defRPr>
            </a:lvl9pPr>
          </a:lstStyle>
          <a:p>
            <a:pPr algn="r" fontAlgn="base">
              <a:spcBef>
                <a:spcPct val="0"/>
              </a:spcBef>
              <a:spcAft>
                <a:spcPct val="0"/>
              </a:spcAft>
              <a:buNone/>
              <a:defRPr/>
            </a:pPr>
            <a:fld id="{7639D2BA-029A-46DC-8BC4-CCF926FFE750}" type="slidenum">
              <a:rPr lang="en-US" altLang="en-US" sz="1300">
                <a:solidFill>
                  <a:srgbClr val="FFFFFF"/>
                </a:solidFill>
                <a:latin typeface="Gill Sans MT" panose="020B0502020104020203" pitchFamily="34" charset="0"/>
              </a:rPr>
              <a:pPr algn="r" fontAlgn="base">
                <a:spcBef>
                  <a:spcPct val="0"/>
                </a:spcBef>
                <a:spcAft>
                  <a:spcPct val="0"/>
                </a:spcAft>
                <a:buNone/>
                <a:defRPr/>
              </a:pPr>
              <a:t>38</a:t>
            </a:fld>
            <a:endParaRPr lang="en-US" altLang="en-US" sz="1300">
              <a:solidFill>
                <a:srgbClr val="FFFFFF"/>
              </a:solidFill>
              <a:latin typeface="Gill Sans MT" panose="020B0502020104020203" pitchFamily="34" charset="0"/>
            </a:endParaRPr>
          </a:p>
        </p:txBody>
      </p:sp>
    </p:spTree>
    <p:extLst>
      <p:ext uri="{BB962C8B-B14F-4D97-AF65-F5344CB8AC3E}">
        <p14:creationId xmlns:p14="http://schemas.microsoft.com/office/powerpoint/2010/main" val="11837927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4"/>
          <p:cNvSpPr>
            <a:spLocks noGrp="1" noChangeArrowheads="1"/>
          </p:cNvSpPr>
          <p:nvPr>
            <p:ph type="subTitle" idx="1"/>
          </p:nvPr>
        </p:nvSpPr>
        <p:spPr>
          <a:xfrm>
            <a:off x="426007" y="1476020"/>
            <a:ext cx="7971233" cy="4696180"/>
          </a:xfrm>
        </p:spPr>
        <p:txBody>
          <a:bodyPr>
            <a:normAutofit fontScale="40000" lnSpcReduction="20000"/>
          </a:bodyPr>
          <a:lstStyle/>
          <a:p>
            <a:pPr eaLnBrk="1" hangingPunct="1">
              <a:buFontTx/>
              <a:buNone/>
            </a:pPr>
            <a:r>
              <a:rPr lang="en-US" altLang="en-US" sz="4050" b="1" dirty="0">
                <a:solidFill>
                  <a:srgbClr val="0099CC"/>
                </a:solidFill>
                <a:latin typeface="Gill Sans" charset="0"/>
              </a:rPr>
              <a:t> </a:t>
            </a:r>
          </a:p>
          <a:p>
            <a:pPr algn="l" eaLnBrk="0" fontAlgn="base" hangingPunct="0">
              <a:lnSpc>
                <a:spcPct val="100000"/>
              </a:lnSpc>
              <a:spcBef>
                <a:spcPct val="0"/>
              </a:spcBef>
              <a:spcAft>
                <a:spcPct val="0"/>
              </a:spcAft>
            </a:pPr>
            <a:r>
              <a:rPr lang="en-US" altLang="en-US" sz="5000" dirty="0">
                <a:solidFill>
                  <a:srgbClr val="000000"/>
                </a:solidFill>
                <a:latin typeface="Arial" panose="020B0604020202020204" pitchFamily="34" charset="0"/>
                <a:cs typeface="Arial" panose="020B0604020202020204" pitchFamily="34" charset="0"/>
              </a:rPr>
              <a:t>Q1. </a:t>
            </a:r>
            <a:r>
              <a:rPr lang="en-US" altLang="en-US" sz="5000" u="sng" dirty="0">
                <a:solidFill>
                  <a:srgbClr val="000000"/>
                </a:solidFill>
                <a:latin typeface="Arial" panose="020B0604020202020204" pitchFamily="34" charset="0"/>
                <a:cs typeface="Arial" panose="020B0604020202020204" pitchFamily="34" charset="0"/>
              </a:rPr>
              <a:t>1 +   2</a:t>
            </a:r>
            <a:endParaRPr lang="en-US" altLang="en-US" sz="5000" dirty="0"/>
          </a:p>
          <a:p>
            <a:pPr algn="l" eaLnBrk="0" fontAlgn="base" hangingPunct="0">
              <a:lnSpc>
                <a:spcPct val="100000"/>
              </a:lnSpc>
              <a:spcBef>
                <a:spcPct val="0"/>
              </a:spcBef>
              <a:spcAft>
                <a:spcPct val="0"/>
              </a:spcAft>
            </a:pPr>
            <a:r>
              <a:rPr lang="en-US" altLang="en-US" sz="5000" dirty="0">
                <a:solidFill>
                  <a:srgbClr val="000000"/>
                </a:solidFill>
                <a:latin typeface="Arial" panose="020B0604020202020204" pitchFamily="34" charset="0"/>
                <a:cs typeface="Arial" panose="020B0604020202020204" pitchFamily="34" charset="0"/>
              </a:rPr>
              <a:t>     </a:t>
            </a:r>
            <a:r>
              <a:rPr lang="en-US" altLang="en-US" sz="5000" dirty="0"/>
              <a:t>       </a:t>
            </a:r>
            <a:endParaRPr lang="en-US" altLang="en-US" sz="5000" dirty="0">
              <a:latin typeface="Arial" panose="020B0604020202020204" pitchFamily="34" charset="0"/>
            </a:endParaRPr>
          </a:p>
          <a:p>
            <a:pPr algn="l" eaLnBrk="0" fontAlgn="base" hangingPunct="0">
              <a:lnSpc>
                <a:spcPct val="100000"/>
              </a:lnSpc>
              <a:spcBef>
                <a:spcPct val="0"/>
              </a:spcBef>
              <a:spcAft>
                <a:spcPct val="0"/>
              </a:spcAft>
            </a:pPr>
            <a:r>
              <a:rPr lang="en-US" altLang="en-US" sz="5000" dirty="0">
                <a:solidFill>
                  <a:srgbClr val="000000"/>
                </a:solidFill>
                <a:latin typeface="Arial" panose="020B0604020202020204" pitchFamily="34" charset="0"/>
                <a:cs typeface="Arial" panose="020B0604020202020204" pitchFamily="34" charset="0"/>
              </a:rPr>
              <a:t>     </a:t>
            </a:r>
            <a:endParaRPr lang="en-US" altLang="en-US" sz="5000" dirty="0"/>
          </a:p>
          <a:p>
            <a:pPr algn="l" eaLnBrk="0" fontAlgn="base" hangingPunct="0">
              <a:lnSpc>
                <a:spcPct val="100000"/>
              </a:lnSpc>
              <a:spcBef>
                <a:spcPct val="0"/>
              </a:spcBef>
              <a:spcAft>
                <a:spcPct val="0"/>
              </a:spcAft>
            </a:pPr>
            <a:r>
              <a:rPr lang="en-US" altLang="en-US" sz="5000" dirty="0">
                <a:solidFill>
                  <a:srgbClr val="000000"/>
                </a:solidFill>
                <a:latin typeface="Arial" panose="020B0604020202020204" pitchFamily="34" charset="0"/>
                <a:cs typeface="Arial" panose="020B0604020202020204" pitchFamily="34" charset="0"/>
              </a:rPr>
              <a:t>3  4 </a:t>
            </a:r>
            <a:r>
              <a:rPr lang="en-US" altLang="en-US" sz="5000" dirty="0"/>
              <a:t>       </a:t>
            </a:r>
            <a:endParaRPr lang="en-US" altLang="en-US" sz="5000" dirty="0">
              <a:latin typeface="Arial" panose="020B0604020202020204" pitchFamily="34" charset="0"/>
            </a:endParaRPr>
          </a:p>
          <a:p>
            <a:pPr algn="l" eaLnBrk="0" fontAlgn="base" hangingPunct="0">
              <a:lnSpc>
                <a:spcPct val="100000"/>
              </a:lnSpc>
              <a:spcBef>
                <a:spcPct val="0"/>
              </a:spcBef>
              <a:spcAft>
                <a:spcPct val="0"/>
              </a:spcAft>
            </a:pPr>
            <a:r>
              <a:rPr lang="en-US" altLang="en-US" sz="5000" dirty="0">
                <a:solidFill>
                  <a:srgbClr val="000000"/>
                </a:solidFill>
                <a:latin typeface="Arial" panose="020B0604020202020204" pitchFamily="34" charset="0"/>
                <a:cs typeface="Arial" panose="020B0604020202020204" pitchFamily="34" charset="0"/>
              </a:rPr>
              <a:t>                    </a:t>
            </a:r>
            <a:r>
              <a:rPr lang="en-US" altLang="en-US" sz="5000" dirty="0"/>
              <a:t>   </a:t>
            </a:r>
            <a:endParaRPr lang="en-US" altLang="en-US" sz="5000" dirty="0">
              <a:latin typeface="Arial" panose="020B0604020202020204" pitchFamily="34" charset="0"/>
            </a:endParaRPr>
          </a:p>
          <a:p>
            <a:pPr algn="l" eaLnBrk="0" fontAlgn="base" hangingPunct="0">
              <a:lnSpc>
                <a:spcPct val="100000"/>
              </a:lnSpc>
              <a:spcBef>
                <a:spcPct val="0"/>
              </a:spcBef>
              <a:spcAft>
                <a:spcPct val="0"/>
              </a:spcAft>
            </a:pPr>
            <a:r>
              <a:rPr lang="en-US" altLang="en-US" sz="5000" dirty="0">
                <a:solidFill>
                  <a:srgbClr val="000000"/>
                </a:solidFill>
                <a:latin typeface="Arial" panose="020B0604020202020204" pitchFamily="34" charset="0"/>
                <a:cs typeface="Arial" panose="020B0604020202020204" pitchFamily="34" charset="0"/>
              </a:rPr>
              <a:t>                     </a:t>
            </a:r>
            <a:endParaRPr lang="en-US" altLang="en-US" sz="5000" dirty="0"/>
          </a:p>
          <a:p>
            <a:pPr algn="l" eaLnBrk="0" fontAlgn="base" hangingPunct="0">
              <a:lnSpc>
                <a:spcPct val="100000"/>
              </a:lnSpc>
              <a:spcBef>
                <a:spcPct val="0"/>
              </a:spcBef>
              <a:spcAft>
                <a:spcPct val="0"/>
              </a:spcAft>
            </a:pPr>
            <a:r>
              <a:rPr lang="en-US" altLang="en-US" sz="5000" dirty="0">
                <a:solidFill>
                  <a:srgbClr val="000000"/>
                </a:solidFill>
                <a:latin typeface="Arial" panose="020B0604020202020204" pitchFamily="34" charset="0"/>
                <a:cs typeface="Arial" panose="020B0604020202020204" pitchFamily="34" charset="0"/>
              </a:rPr>
              <a:t>      5 &lt; - - - 6</a:t>
            </a:r>
            <a:endParaRPr lang="en-US" altLang="en-US" sz="5000" dirty="0"/>
          </a:p>
          <a:p>
            <a:pPr algn="l" eaLnBrk="0" fontAlgn="base" hangingPunct="0">
              <a:lnSpc>
                <a:spcPct val="100000"/>
              </a:lnSpc>
              <a:spcBef>
                <a:spcPct val="0"/>
              </a:spcBef>
              <a:spcAft>
                <a:spcPct val="0"/>
              </a:spcAft>
            </a:pPr>
            <a:br>
              <a:rPr lang="en-US" altLang="en-US" sz="5400" dirty="0">
                <a:latin typeface="Arial" panose="020B0604020202020204" pitchFamily="34" charset="0"/>
              </a:rPr>
            </a:br>
            <a:endParaRPr lang="en-US" altLang="en-US" sz="5000" dirty="0">
              <a:latin typeface="Arial" panose="020B0604020202020204" pitchFamily="34" charset="0"/>
            </a:endParaRPr>
          </a:p>
          <a:p>
            <a:pPr algn="l" eaLnBrk="0" fontAlgn="base" hangingPunct="0">
              <a:lnSpc>
                <a:spcPct val="100000"/>
              </a:lnSpc>
              <a:spcBef>
                <a:spcPct val="0"/>
              </a:spcBef>
              <a:spcAft>
                <a:spcPct val="0"/>
              </a:spcAft>
            </a:pPr>
            <a:r>
              <a:rPr lang="en-US" altLang="en-US" sz="5000" dirty="0">
                <a:solidFill>
                  <a:srgbClr val="000000"/>
                </a:solidFill>
                <a:latin typeface="Arial" panose="020B0604020202020204" pitchFamily="34" charset="0"/>
                <a:cs typeface="Arial" panose="020B0604020202020204" pitchFamily="34" charset="0"/>
              </a:rPr>
              <a:t>You know that (1) and (2) are true, that (3) is false, and that all the inferences (including the attacking inference) are valid. It therefore follows that </a:t>
            </a:r>
            <a:r>
              <a:rPr lang="en-US" altLang="en-US" sz="5000" u="sng" dirty="0">
                <a:solidFill>
                  <a:srgbClr val="000000"/>
                </a:solidFill>
                <a:latin typeface="Arial" panose="020B0604020202020204" pitchFamily="34" charset="0"/>
                <a:cs typeface="Arial" panose="020B0604020202020204" pitchFamily="34" charset="0"/>
              </a:rPr>
              <a:t>(5) is true and that (6) is false.</a:t>
            </a:r>
            <a:endParaRPr lang="en-US" altLang="en-US" sz="5000" u="sng" dirty="0"/>
          </a:p>
          <a:p>
            <a:pPr algn="l" eaLnBrk="0" fontAlgn="base" hangingPunct="0">
              <a:lnSpc>
                <a:spcPct val="100000"/>
              </a:lnSpc>
              <a:spcBef>
                <a:spcPct val="0"/>
              </a:spcBef>
              <a:spcAft>
                <a:spcPct val="0"/>
              </a:spcAft>
            </a:pPr>
            <a:br>
              <a:rPr lang="en-US" altLang="en-US" sz="5000" dirty="0">
                <a:latin typeface="Arial" panose="020B0604020202020204" pitchFamily="34" charset="0"/>
              </a:rPr>
            </a:br>
            <a:endParaRPr lang="en-US" altLang="en-US" sz="5000" dirty="0">
              <a:latin typeface="Arial" panose="020B0604020202020204" pitchFamily="34" charset="0"/>
            </a:endParaRPr>
          </a:p>
          <a:p>
            <a:pPr algn="l" eaLnBrk="0" fontAlgn="base" hangingPunct="0">
              <a:lnSpc>
                <a:spcPct val="100000"/>
              </a:lnSpc>
              <a:spcBef>
                <a:spcPct val="0"/>
              </a:spcBef>
              <a:spcAft>
                <a:spcPct val="0"/>
              </a:spcAft>
            </a:pPr>
            <a:r>
              <a:rPr lang="en-US" altLang="en-US" sz="5000" dirty="0">
                <a:solidFill>
                  <a:srgbClr val="000000"/>
                </a:solidFill>
                <a:latin typeface="Arial" panose="020B0604020202020204" pitchFamily="34" charset="0"/>
                <a:cs typeface="Arial" panose="020B0604020202020204" pitchFamily="34" charset="0"/>
              </a:rPr>
              <a:t>a. True </a:t>
            </a:r>
            <a:endParaRPr lang="en-US" altLang="en-US" sz="5000" dirty="0"/>
          </a:p>
          <a:p>
            <a:pPr algn="l" eaLnBrk="0" fontAlgn="base" hangingPunct="0">
              <a:lnSpc>
                <a:spcPct val="100000"/>
              </a:lnSpc>
              <a:spcBef>
                <a:spcPct val="0"/>
              </a:spcBef>
              <a:spcAft>
                <a:spcPct val="0"/>
              </a:spcAft>
            </a:pPr>
            <a:r>
              <a:rPr lang="en-US" altLang="en-US" sz="5000" dirty="0">
                <a:solidFill>
                  <a:srgbClr val="000000"/>
                </a:solidFill>
                <a:latin typeface="Arial" panose="020B0604020202020204" pitchFamily="34" charset="0"/>
                <a:cs typeface="Arial" panose="020B0604020202020204" pitchFamily="34" charset="0"/>
              </a:rPr>
              <a:t>b. False</a:t>
            </a:r>
            <a:endParaRPr lang="en-US" altLang="en-US" sz="5000" dirty="0"/>
          </a:p>
          <a:p>
            <a:pPr eaLnBrk="1" hangingPunct="1">
              <a:buFontTx/>
              <a:buNone/>
            </a:pPr>
            <a:endParaRPr lang="en-US" altLang="en-US" sz="4050" b="1" dirty="0">
              <a:solidFill>
                <a:srgbClr val="0099CC"/>
              </a:solidFill>
              <a:latin typeface="Gill Sans" charset="0"/>
            </a:endParaRPr>
          </a:p>
        </p:txBody>
      </p:sp>
      <p:sp>
        <p:nvSpPr>
          <p:cNvPr id="3" name="AutoShape 2">
            <a:extLst>
              <a:ext uri="{FF2B5EF4-FFF2-40B4-BE49-F238E27FC236}">
                <a16:creationId xmlns:a16="http://schemas.microsoft.com/office/drawing/2014/main" id="{EB52E3B4-BF37-4452-A924-58241A463D4C}"/>
              </a:ext>
            </a:extLst>
          </p:cNvPr>
          <p:cNvSpPr>
            <a:spLocks noChangeAspect="1" noChangeArrowheads="1"/>
          </p:cNvSpPr>
          <p:nvPr/>
        </p:nvSpPr>
        <p:spPr bwMode="auto">
          <a:xfrm>
            <a:off x="203598" y="-1108473"/>
            <a:ext cx="207169" cy="20716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SG" sz="1800"/>
          </a:p>
        </p:txBody>
      </p:sp>
      <p:sp>
        <p:nvSpPr>
          <p:cNvPr id="4" name="AutoShape 3">
            <a:extLst>
              <a:ext uri="{FF2B5EF4-FFF2-40B4-BE49-F238E27FC236}">
                <a16:creationId xmlns:a16="http://schemas.microsoft.com/office/drawing/2014/main" id="{54D1AEB1-5A0B-42DB-A4A8-671822252D76}"/>
              </a:ext>
            </a:extLst>
          </p:cNvPr>
          <p:cNvSpPr>
            <a:spLocks noChangeAspect="1" noChangeArrowheads="1"/>
          </p:cNvSpPr>
          <p:nvPr/>
        </p:nvSpPr>
        <p:spPr bwMode="auto">
          <a:xfrm>
            <a:off x="233363" y="-777479"/>
            <a:ext cx="292894" cy="32146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SG" sz="1800"/>
          </a:p>
        </p:txBody>
      </p:sp>
      <p:sp>
        <p:nvSpPr>
          <p:cNvPr id="5" name="AutoShape 4">
            <a:extLst>
              <a:ext uri="{FF2B5EF4-FFF2-40B4-BE49-F238E27FC236}">
                <a16:creationId xmlns:a16="http://schemas.microsoft.com/office/drawing/2014/main" id="{C265FF37-162B-494B-A715-5A499FFDDEF7}"/>
              </a:ext>
            </a:extLst>
          </p:cNvPr>
          <p:cNvSpPr>
            <a:spLocks noChangeAspect="1" noChangeArrowheads="1"/>
          </p:cNvSpPr>
          <p:nvPr/>
        </p:nvSpPr>
        <p:spPr bwMode="auto">
          <a:xfrm>
            <a:off x="685800" y="-469107"/>
            <a:ext cx="42863" cy="26431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SG" sz="1800"/>
          </a:p>
        </p:txBody>
      </p:sp>
      <p:cxnSp>
        <p:nvCxnSpPr>
          <p:cNvPr id="9" name="Straight Arrow Connector 8">
            <a:extLst>
              <a:ext uri="{FF2B5EF4-FFF2-40B4-BE49-F238E27FC236}">
                <a16:creationId xmlns:a16="http://schemas.microsoft.com/office/drawing/2014/main" id="{F5C40329-0ECD-40B0-A96C-12A818870884}"/>
              </a:ext>
            </a:extLst>
          </p:cNvPr>
          <p:cNvCxnSpPr>
            <a:cxnSpLocks/>
          </p:cNvCxnSpPr>
          <p:nvPr/>
        </p:nvCxnSpPr>
        <p:spPr>
          <a:xfrm flipH="1">
            <a:off x="903455" y="1950476"/>
            <a:ext cx="213756" cy="3995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7EEAAE11-4776-42D4-A5CD-CC6F2A971E43}"/>
              </a:ext>
            </a:extLst>
          </p:cNvPr>
          <p:cNvCxnSpPr>
            <a:cxnSpLocks/>
          </p:cNvCxnSpPr>
          <p:nvPr/>
        </p:nvCxnSpPr>
        <p:spPr>
          <a:xfrm>
            <a:off x="817358" y="2676355"/>
            <a:ext cx="86097" cy="3725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959438DD-4299-419F-9447-24335EC4D208}"/>
              </a:ext>
            </a:extLst>
          </p:cNvPr>
          <p:cNvCxnSpPr>
            <a:cxnSpLocks/>
          </p:cNvCxnSpPr>
          <p:nvPr/>
        </p:nvCxnSpPr>
        <p:spPr>
          <a:xfrm>
            <a:off x="608264" y="2726572"/>
            <a:ext cx="185551" cy="3414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 name="Snip and Round Single Corner Rectangle 5">
            <a:extLst>
              <a:ext uri="{FF2B5EF4-FFF2-40B4-BE49-F238E27FC236}">
                <a16:creationId xmlns:a16="http://schemas.microsoft.com/office/drawing/2014/main" id="{ED744C29-483D-311B-84E0-6C9D77CDC154}"/>
              </a:ext>
            </a:extLst>
          </p:cNvPr>
          <p:cNvSpPr/>
          <p:nvPr/>
        </p:nvSpPr>
        <p:spPr>
          <a:xfrm>
            <a:off x="0" y="6477000"/>
            <a:ext cx="8863013" cy="323850"/>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eaLnBrk="0" hangingPunct="0">
              <a:spcBef>
                <a:spcPct val="20000"/>
              </a:spcBef>
              <a:buChar char="•"/>
              <a:tabLst>
                <a:tab pos="4389438" algn="l"/>
              </a:tabLst>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tabLst>
                <a:tab pos="4389438" algn="l"/>
              </a:tabLst>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tabLst>
                <a:tab pos="4389438" algn="l"/>
              </a:tabLst>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tabLst>
                <a:tab pos="4389438" algn="l"/>
              </a:tabLst>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tabLst>
                <a:tab pos="4389438" algn="l"/>
              </a:tabLst>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defRPr/>
            </a:pPr>
            <a:fld id="{1B1F8F8E-C6A8-412C-B091-B275DC93F50A}" type="slidenum">
              <a:rPr lang="en-US" altLang="en-US" sz="1300" smtClean="0">
                <a:solidFill>
                  <a:srgbClr val="FFFFFF"/>
                </a:solidFill>
                <a:latin typeface="Gill Sans MT" panose="020B0502020104020203" pitchFamily="34" charset="0"/>
                <a:ea typeface="MS PGothic" panose="020B0600070205080204" pitchFamily="34" charset="-128"/>
              </a:rPr>
              <a:pPr algn="r" eaLnBrk="1" hangingPunct="1">
                <a:spcBef>
                  <a:spcPct val="0"/>
                </a:spcBef>
                <a:buFontTx/>
                <a:buNone/>
                <a:defRPr/>
              </a:pPr>
              <a:t>39</a:t>
            </a:fld>
            <a:endParaRPr lang="en-US" altLang="en-US" sz="1300">
              <a:solidFill>
                <a:srgbClr val="FFFFFF"/>
              </a:solidFill>
              <a:latin typeface="Gill Sans MT" panose="020B0502020104020203" pitchFamily="34" charset="0"/>
              <a:ea typeface="MS PGothic" panose="020B0600070205080204" pitchFamily="34" charset="-128"/>
            </a:endParaRPr>
          </a:p>
        </p:txBody>
      </p:sp>
      <p:sp>
        <p:nvSpPr>
          <p:cNvPr id="2" name="Snip and Round Single Corner Rectangle 4">
            <a:extLst>
              <a:ext uri="{FF2B5EF4-FFF2-40B4-BE49-F238E27FC236}">
                <a16:creationId xmlns:a16="http://schemas.microsoft.com/office/drawing/2014/main" id="{58C080BE-3389-A6DE-C068-D0AD0EAA0137}"/>
              </a:ext>
            </a:extLst>
          </p:cNvPr>
          <p:cNvSpPr/>
          <p:nvPr/>
        </p:nvSpPr>
        <p:spPr>
          <a:xfrm>
            <a:off x="0" y="95250"/>
            <a:ext cx="8712200" cy="860425"/>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fontAlgn="base">
              <a:spcBef>
                <a:spcPct val="0"/>
              </a:spcBef>
              <a:spcAft>
                <a:spcPct val="0"/>
              </a:spcAft>
              <a:defRPr/>
            </a:pPr>
            <a:r>
              <a:rPr lang="en-US" sz="3600" b="1" spc="-113" dirty="0">
                <a:solidFill>
                  <a:prstClr val="white"/>
                </a:solidFill>
                <a:latin typeface="Gill Sans MT"/>
                <a:cs typeface="Gill Sans MT"/>
              </a:rPr>
              <a:t>Midterm preparation</a:t>
            </a:r>
          </a:p>
        </p:txBody>
      </p:sp>
      <p:sp>
        <p:nvSpPr>
          <p:cNvPr id="10" name="TextBox 9">
            <a:extLst>
              <a:ext uri="{FF2B5EF4-FFF2-40B4-BE49-F238E27FC236}">
                <a16:creationId xmlns:a16="http://schemas.microsoft.com/office/drawing/2014/main" id="{441CB72B-0EDC-5247-7B79-CFEA86C1534B}"/>
              </a:ext>
            </a:extLst>
          </p:cNvPr>
          <p:cNvSpPr txBox="1"/>
          <p:nvPr/>
        </p:nvSpPr>
        <p:spPr>
          <a:xfrm>
            <a:off x="3009900" y="1014355"/>
            <a:ext cx="3124200" cy="461665"/>
          </a:xfrm>
          <a:prstGeom prst="rect">
            <a:avLst/>
          </a:prstGeom>
          <a:noFill/>
        </p:spPr>
        <p:txBody>
          <a:bodyPr wrap="square">
            <a:spAutoFit/>
          </a:bodyPr>
          <a:lstStyle/>
          <a:p>
            <a:pPr eaLnBrk="1" hangingPunct="1">
              <a:buFontTx/>
              <a:buNone/>
            </a:pPr>
            <a:r>
              <a:rPr lang="en-US" altLang="en-US" sz="2400" b="1" dirty="0">
                <a:solidFill>
                  <a:srgbClr val="0099CC"/>
                </a:solidFill>
                <a:latin typeface="Gill Sans" charset="0"/>
              </a:rPr>
              <a:t>Section 1: True or False</a:t>
            </a:r>
          </a:p>
        </p:txBody>
      </p:sp>
    </p:spTree>
    <p:extLst>
      <p:ext uri="{BB962C8B-B14F-4D97-AF65-F5344CB8AC3E}">
        <p14:creationId xmlns:p14="http://schemas.microsoft.com/office/powerpoint/2010/main" val="40753428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4"/>
          <p:cNvSpPr>
            <a:spLocks noGrp="1" noChangeArrowheads="1"/>
          </p:cNvSpPr>
          <p:nvPr>
            <p:ph type="subTitle" idx="1"/>
          </p:nvPr>
        </p:nvSpPr>
        <p:spPr>
          <a:xfrm>
            <a:off x="284560" y="1259523"/>
            <a:ext cx="8574880" cy="4507961"/>
          </a:xfrm>
        </p:spPr>
        <p:txBody>
          <a:bodyPr>
            <a:normAutofit lnSpcReduction="10000"/>
          </a:bodyPr>
          <a:lstStyle/>
          <a:p>
            <a:pPr algn="just">
              <a:spcBef>
                <a:spcPts val="0"/>
              </a:spcBef>
            </a:pPr>
            <a:r>
              <a:rPr lang="en-US" sz="2000" dirty="0">
                <a:solidFill>
                  <a:srgbClr val="000000"/>
                </a:solidFill>
                <a:latin typeface="Arial" panose="020B0604020202020204" pitchFamily="34" charset="0"/>
              </a:rPr>
              <a:t>Q2. Consider the following statements:</a:t>
            </a:r>
            <a:endParaRPr lang="en-US" sz="2000" dirty="0"/>
          </a:p>
          <a:p>
            <a:pPr algn="just">
              <a:spcBef>
                <a:spcPts val="0"/>
              </a:spcBef>
            </a:pPr>
            <a:br>
              <a:rPr lang="en-US" sz="2000" dirty="0"/>
            </a:br>
            <a:r>
              <a:rPr lang="en-US" sz="2000" dirty="0">
                <a:solidFill>
                  <a:srgbClr val="000000"/>
                </a:solidFill>
                <a:latin typeface="Arial" panose="020B0604020202020204" pitchFamily="34" charset="0"/>
              </a:rPr>
              <a:t>X: Provided all the premises of a strong inductive argument are true, we can say that the conclusion of this argument will likely be true.</a:t>
            </a:r>
            <a:endParaRPr lang="en-US" sz="2000" dirty="0"/>
          </a:p>
          <a:p>
            <a:pPr algn="just">
              <a:spcBef>
                <a:spcPts val="0"/>
              </a:spcBef>
            </a:pPr>
            <a:r>
              <a:rPr lang="en-US" sz="2000" dirty="0">
                <a:solidFill>
                  <a:srgbClr val="000000"/>
                </a:solidFill>
                <a:latin typeface="Arial" panose="020B0604020202020204" pitchFamily="34" charset="0"/>
              </a:rPr>
              <a:t>Y: Provided all the premises of a valid deductive argument are true, we can say that the conclusion of this argument will be true.</a:t>
            </a:r>
            <a:endParaRPr lang="en-US" sz="2000" dirty="0"/>
          </a:p>
          <a:p>
            <a:pPr algn="just">
              <a:spcBef>
                <a:spcPts val="0"/>
              </a:spcBef>
            </a:pPr>
            <a:br>
              <a:rPr lang="en-US" sz="2000" dirty="0"/>
            </a:br>
            <a:r>
              <a:rPr lang="en-US" sz="2000" u="sng" dirty="0">
                <a:solidFill>
                  <a:srgbClr val="000000"/>
                </a:solidFill>
                <a:latin typeface="Arial" panose="020B0604020202020204" pitchFamily="34" charset="0"/>
              </a:rPr>
              <a:t>Both statements X and Y are true</a:t>
            </a:r>
            <a:r>
              <a:rPr lang="en-US" sz="2000" dirty="0">
                <a:solidFill>
                  <a:srgbClr val="000000"/>
                </a:solidFill>
                <a:latin typeface="Arial" panose="020B0604020202020204" pitchFamily="34" charset="0"/>
              </a:rPr>
              <a:t>.</a:t>
            </a:r>
            <a:endParaRPr lang="en-US" sz="2000" dirty="0"/>
          </a:p>
          <a:p>
            <a:pPr algn="just">
              <a:spcBef>
                <a:spcPts val="0"/>
              </a:spcBef>
            </a:pPr>
            <a:br>
              <a:rPr lang="en-US" sz="2000" dirty="0"/>
            </a:br>
            <a:r>
              <a:rPr lang="en-US" sz="2000" dirty="0">
                <a:solidFill>
                  <a:srgbClr val="000000"/>
                </a:solidFill>
                <a:latin typeface="Arial" panose="020B0604020202020204" pitchFamily="34" charset="0"/>
              </a:rPr>
              <a:t>a. True</a:t>
            </a:r>
            <a:endParaRPr lang="en-US" sz="2000" dirty="0"/>
          </a:p>
          <a:p>
            <a:pPr algn="just">
              <a:spcBef>
                <a:spcPts val="0"/>
              </a:spcBef>
            </a:pPr>
            <a:r>
              <a:rPr lang="en-US" sz="2000" dirty="0">
                <a:solidFill>
                  <a:srgbClr val="000000"/>
                </a:solidFill>
                <a:latin typeface="Arial" panose="020B0604020202020204" pitchFamily="34" charset="0"/>
              </a:rPr>
              <a:t>b. False</a:t>
            </a:r>
            <a:endParaRPr lang="en-US" sz="2000" dirty="0"/>
          </a:p>
          <a:p>
            <a:br>
              <a:rPr lang="en-US" sz="2700" dirty="0"/>
            </a:br>
            <a:endParaRPr lang="en-US" altLang="en-US" sz="4050" b="1" dirty="0">
              <a:solidFill>
                <a:srgbClr val="0099CC"/>
              </a:solidFill>
              <a:latin typeface="Gill Sans" charset="0"/>
            </a:endParaRPr>
          </a:p>
        </p:txBody>
      </p:sp>
      <p:sp>
        <p:nvSpPr>
          <p:cNvPr id="3" name="AutoShape 2">
            <a:extLst>
              <a:ext uri="{FF2B5EF4-FFF2-40B4-BE49-F238E27FC236}">
                <a16:creationId xmlns:a16="http://schemas.microsoft.com/office/drawing/2014/main" id="{EB52E3B4-BF37-4452-A924-58241A463D4C}"/>
              </a:ext>
            </a:extLst>
          </p:cNvPr>
          <p:cNvSpPr>
            <a:spLocks noChangeAspect="1" noChangeArrowheads="1"/>
          </p:cNvSpPr>
          <p:nvPr/>
        </p:nvSpPr>
        <p:spPr bwMode="auto">
          <a:xfrm>
            <a:off x="203598" y="-1108473"/>
            <a:ext cx="207169" cy="20716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SG" sz="1800"/>
          </a:p>
        </p:txBody>
      </p:sp>
      <p:sp>
        <p:nvSpPr>
          <p:cNvPr id="4" name="AutoShape 3">
            <a:extLst>
              <a:ext uri="{FF2B5EF4-FFF2-40B4-BE49-F238E27FC236}">
                <a16:creationId xmlns:a16="http://schemas.microsoft.com/office/drawing/2014/main" id="{54D1AEB1-5A0B-42DB-A4A8-671822252D76}"/>
              </a:ext>
            </a:extLst>
          </p:cNvPr>
          <p:cNvSpPr>
            <a:spLocks noChangeAspect="1" noChangeArrowheads="1"/>
          </p:cNvSpPr>
          <p:nvPr/>
        </p:nvSpPr>
        <p:spPr bwMode="auto">
          <a:xfrm>
            <a:off x="233363" y="-777479"/>
            <a:ext cx="292894" cy="32146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SG" sz="1800"/>
          </a:p>
        </p:txBody>
      </p:sp>
      <p:sp>
        <p:nvSpPr>
          <p:cNvPr id="5" name="AutoShape 4">
            <a:extLst>
              <a:ext uri="{FF2B5EF4-FFF2-40B4-BE49-F238E27FC236}">
                <a16:creationId xmlns:a16="http://schemas.microsoft.com/office/drawing/2014/main" id="{C265FF37-162B-494B-A715-5A499FFDDEF7}"/>
              </a:ext>
            </a:extLst>
          </p:cNvPr>
          <p:cNvSpPr>
            <a:spLocks noChangeAspect="1" noChangeArrowheads="1"/>
          </p:cNvSpPr>
          <p:nvPr/>
        </p:nvSpPr>
        <p:spPr bwMode="auto">
          <a:xfrm>
            <a:off x="685800" y="-469107"/>
            <a:ext cx="42863" cy="26431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SG" sz="1800"/>
          </a:p>
        </p:txBody>
      </p:sp>
      <p:sp>
        <p:nvSpPr>
          <p:cNvPr id="9" name="TextBox 8">
            <a:extLst>
              <a:ext uri="{FF2B5EF4-FFF2-40B4-BE49-F238E27FC236}">
                <a16:creationId xmlns:a16="http://schemas.microsoft.com/office/drawing/2014/main" id="{37360BF0-31C4-491E-A878-A1870D6F16B7}"/>
              </a:ext>
            </a:extLst>
          </p:cNvPr>
          <p:cNvSpPr txBox="1"/>
          <p:nvPr/>
        </p:nvSpPr>
        <p:spPr>
          <a:xfrm>
            <a:off x="2286742" y="2740525"/>
            <a:ext cx="4573484" cy="369332"/>
          </a:xfrm>
          <a:prstGeom prst="rect">
            <a:avLst/>
          </a:prstGeom>
          <a:noFill/>
        </p:spPr>
        <p:txBody>
          <a:bodyPr wrap="square">
            <a:spAutoFit/>
          </a:bodyPr>
          <a:lstStyle/>
          <a:p>
            <a:r>
              <a:rPr lang="en-SG" sz="1800" dirty="0"/>
              <a:t> </a:t>
            </a:r>
          </a:p>
        </p:txBody>
      </p:sp>
      <p:sp>
        <p:nvSpPr>
          <p:cNvPr id="2" name="Snip and Round Single Corner Rectangle 5">
            <a:extLst>
              <a:ext uri="{FF2B5EF4-FFF2-40B4-BE49-F238E27FC236}">
                <a16:creationId xmlns:a16="http://schemas.microsoft.com/office/drawing/2014/main" id="{20EAD24A-8561-47ED-F43C-15D49681B3D9}"/>
              </a:ext>
            </a:extLst>
          </p:cNvPr>
          <p:cNvSpPr/>
          <p:nvPr/>
        </p:nvSpPr>
        <p:spPr>
          <a:xfrm>
            <a:off x="0" y="6477000"/>
            <a:ext cx="8863013" cy="323850"/>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eaLnBrk="0" hangingPunct="0">
              <a:spcBef>
                <a:spcPct val="20000"/>
              </a:spcBef>
              <a:buChar char="•"/>
              <a:tabLst>
                <a:tab pos="4389438" algn="l"/>
              </a:tabLst>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tabLst>
                <a:tab pos="4389438" algn="l"/>
              </a:tabLst>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tabLst>
                <a:tab pos="4389438" algn="l"/>
              </a:tabLst>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tabLst>
                <a:tab pos="4389438" algn="l"/>
              </a:tabLst>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tabLst>
                <a:tab pos="4389438" algn="l"/>
              </a:tabLst>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defRPr/>
            </a:pPr>
            <a:fld id="{1B1F8F8E-C6A8-412C-B091-B275DC93F50A}" type="slidenum">
              <a:rPr lang="en-US" altLang="en-US" sz="1300" smtClean="0">
                <a:solidFill>
                  <a:srgbClr val="FFFFFF"/>
                </a:solidFill>
                <a:latin typeface="Gill Sans MT" panose="020B0502020104020203" pitchFamily="34" charset="0"/>
                <a:ea typeface="MS PGothic" panose="020B0600070205080204" pitchFamily="34" charset="-128"/>
              </a:rPr>
              <a:pPr algn="r" eaLnBrk="1" hangingPunct="1">
                <a:spcBef>
                  <a:spcPct val="0"/>
                </a:spcBef>
                <a:buFontTx/>
                <a:buNone/>
                <a:defRPr/>
              </a:pPr>
              <a:t>40</a:t>
            </a:fld>
            <a:endParaRPr lang="en-US" altLang="en-US" sz="1300">
              <a:solidFill>
                <a:srgbClr val="FFFFFF"/>
              </a:solidFill>
              <a:latin typeface="Gill Sans MT" panose="020B0502020104020203" pitchFamily="34" charset="0"/>
              <a:ea typeface="MS PGothic" panose="020B0600070205080204" pitchFamily="34" charset="-128"/>
            </a:endParaRPr>
          </a:p>
        </p:txBody>
      </p:sp>
      <p:sp>
        <p:nvSpPr>
          <p:cNvPr id="6" name="Snip and Round Single Corner Rectangle 4">
            <a:extLst>
              <a:ext uri="{FF2B5EF4-FFF2-40B4-BE49-F238E27FC236}">
                <a16:creationId xmlns:a16="http://schemas.microsoft.com/office/drawing/2014/main" id="{02A0C6ED-1703-C17C-E15F-8A8E46596EB1}"/>
              </a:ext>
            </a:extLst>
          </p:cNvPr>
          <p:cNvSpPr/>
          <p:nvPr/>
        </p:nvSpPr>
        <p:spPr>
          <a:xfrm>
            <a:off x="0" y="95250"/>
            <a:ext cx="8712200" cy="860425"/>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fontAlgn="base">
              <a:spcBef>
                <a:spcPct val="0"/>
              </a:spcBef>
              <a:spcAft>
                <a:spcPct val="0"/>
              </a:spcAft>
              <a:defRPr/>
            </a:pPr>
            <a:r>
              <a:rPr lang="en-US" sz="3600" b="1" spc="-113" dirty="0">
                <a:solidFill>
                  <a:prstClr val="white"/>
                </a:solidFill>
                <a:latin typeface="Gill Sans MT"/>
                <a:cs typeface="Gill Sans MT"/>
              </a:rPr>
              <a:t>Midterm preparation</a:t>
            </a:r>
          </a:p>
        </p:txBody>
      </p:sp>
    </p:spTree>
    <p:extLst>
      <p:ext uri="{BB962C8B-B14F-4D97-AF65-F5344CB8AC3E}">
        <p14:creationId xmlns:p14="http://schemas.microsoft.com/office/powerpoint/2010/main" val="10617356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4"/>
          <p:cNvSpPr>
            <a:spLocks noGrp="1" noChangeArrowheads="1"/>
          </p:cNvSpPr>
          <p:nvPr>
            <p:ph type="subTitle" idx="1"/>
          </p:nvPr>
        </p:nvSpPr>
        <p:spPr>
          <a:xfrm>
            <a:off x="233363" y="1267143"/>
            <a:ext cx="8318301" cy="3733580"/>
          </a:xfrm>
        </p:spPr>
        <p:txBody>
          <a:bodyPr>
            <a:normAutofit fontScale="92500" lnSpcReduction="20000"/>
          </a:bodyPr>
          <a:lstStyle/>
          <a:p>
            <a:pPr algn="just">
              <a:spcBef>
                <a:spcPts val="0"/>
              </a:spcBef>
            </a:pPr>
            <a:r>
              <a:rPr lang="en-US" sz="2000" dirty="0">
                <a:solidFill>
                  <a:srgbClr val="000000"/>
                </a:solidFill>
                <a:latin typeface="Arial" panose="020B0604020202020204" pitchFamily="34" charset="0"/>
                <a:cs typeface="Arial" panose="020B0604020202020204" pitchFamily="34" charset="0"/>
              </a:rPr>
              <a:t>Q3. Consider the following passage:</a:t>
            </a:r>
            <a:endParaRPr lang="en-US" sz="2000" dirty="0">
              <a:latin typeface="Arial" panose="020B0604020202020204" pitchFamily="34" charset="0"/>
              <a:cs typeface="Arial" panose="020B0604020202020204" pitchFamily="34" charset="0"/>
            </a:endParaRPr>
          </a:p>
          <a:p>
            <a:pPr algn="just">
              <a:spcBef>
                <a:spcPts val="0"/>
              </a:spcBef>
            </a:pPr>
            <a:br>
              <a:rPr lang="en-US" sz="2000" dirty="0">
                <a:latin typeface="Arial" panose="020B0604020202020204" pitchFamily="34" charset="0"/>
                <a:cs typeface="Arial" panose="020B0604020202020204" pitchFamily="34" charset="0"/>
              </a:rPr>
            </a:br>
            <a:r>
              <a:rPr lang="en-US" sz="2000" dirty="0">
                <a:solidFill>
                  <a:srgbClr val="000000"/>
                </a:solidFill>
                <a:latin typeface="Arial" panose="020B0604020202020204" pitchFamily="34" charset="0"/>
                <a:cs typeface="Arial" panose="020B0604020202020204" pitchFamily="34" charset="0"/>
              </a:rPr>
              <a:t>If we want to increase market share, then either we must reduce prices or increase our advertising budget. We should reduce prices </a:t>
            </a:r>
            <a:r>
              <a:rPr lang="en-US" sz="2000" u="sng" dirty="0">
                <a:solidFill>
                  <a:srgbClr val="000000"/>
                </a:solidFill>
                <a:latin typeface="Arial" panose="020B0604020202020204" pitchFamily="34" charset="0"/>
                <a:cs typeface="Arial" panose="020B0604020202020204" pitchFamily="34" charset="0"/>
              </a:rPr>
              <a:t>only if</a:t>
            </a:r>
            <a:r>
              <a:rPr lang="en-US" sz="2000" dirty="0">
                <a:solidFill>
                  <a:srgbClr val="000000"/>
                </a:solidFill>
                <a:latin typeface="Arial" panose="020B0604020202020204" pitchFamily="34" charset="0"/>
                <a:cs typeface="Arial" panose="020B0604020202020204" pitchFamily="34" charset="0"/>
              </a:rPr>
              <a:t> our competitors will not match our price cuts. But we know from experience that they will. And surely, we want to increase market share. So, we must increase our advertising budget.</a:t>
            </a:r>
          </a:p>
          <a:p>
            <a:pPr algn="just">
              <a:spcBef>
                <a:spcPts val="0"/>
              </a:spcBef>
            </a:pPr>
            <a:endParaRPr lang="en-US" sz="2000" dirty="0">
              <a:solidFill>
                <a:srgbClr val="000000"/>
              </a:solidFill>
              <a:latin typeface="Arial" panose="020B0604020202020204" pitchFamily="34" charset="0"/>
              <a:cs typeface="Arial" panose="020B0604020202020204" pitchFamily="34" charset="0"/>
            </a:endParaRPr>
          </a:p>
          <a:p>
            <a:pPr algn="just">
              <a:spcBef>
                <a:spcPts val="0"/>
              </a:spcBef>
            </a:pPr>
            <a:r>
              <a:rPr lang="en-US" sz="2000" u="sng" dirty="0">
                <a:solidFill>
                  <a:srgbClr val="000000"/>
                </a:solidFill>
                <a:latin typeface="Arial" panose="020B0604020202020204" pitchFamily="34" charset="0"/>
                <a:cs typeface="Arial" panose="020B0604020202020204" pitchFamily="34" charset="0"/>
              </a:rPr>
              <a:t>All inferences in this passage are valid.</a:t>
            </a:r>
          </a:p>
          <a:p>
            <a:pPr algn="just">
              <a:spcBef>
                <a:spcPts val="0"/>
              </a:spcBef>
            </a:pPr>
            <a:endParaRPr lang="en-US" sz="2000" dirty="0">
              <a:solidFill>
                <a:srgbClr val="000000"/>
              </a:solidFill>
              <a:latin typeface="Arial" panose="020B0604020202020204" pitchFamily="34" charset="0"/>
              <a:cs typeface="Arial" panose="020B0604020202020204" pitchFamily="34" charset="0"/>
            </a:endParaRPr>
          </a:p>
          <a:p>
            <a:pPr marL="457200" indent="-457200" algn="just">
              <a:spcBef>
                <a:spcPts val="0"/>
              </a:spcBef>
              <a:buAutoNum type="alphaLcPeriod"/>
            </a:pPr>
            <a:r>
              <a:rPr lang="en-US" sz="2000" dirty="0">
                <a:solidFill>
                  <a:srgbClr val="000000"/>
                </a:solidFill>
                <a:latin typeface="Arial" panose="020B0604020202020204" pitchFamily="34" charset="0"/>
                <a:cs typeface="Arial" panose="020B0604020202020204" pitchFamily="34" charset="0"/>
              </a:rPr>
              <a:t>True</a:t>
            </a:r>
          </a:p>
          <a:p>
            <a:pPr marL="457200" indent="-457200" algn="just">
              <a:spcBef>
                <a:spcPts val="0"/>
              </a:spcBef>
              <a:buAutoNum type="alphaLcPeriod"/>
            </a:pPr>
            <a:r>
              <a:rPr lang="en-US" sz="2000" dirty="0">
                <a:solidFill>
                  <a:srgbClr val="000000"/>
                </a:solidFill>
                <a:latin typeface="Arial" panose="020B0604020202020204" pitchFamily="34" charset="0"/>
                <a:cs typeface="Arial" panose="020B0604020202020204" pitchFamily="34" charset="0"/>
              </a:rPr>
              <a:t>False</a:t>
            </a:r>
          </a:p>
          <a:p>
            <a:pPr algn="just">
              <a:spcBef>
                <a:spcPts val="0"/>
              </a:spcBef>
            </a:pPr>
            <a:br>
              <a:rPr lang="en-US" sz="2000" dirty="0">
                <a:latin typeface="Arial" panose="020B0604020202020204" pitchFamily="34" charset="0"/>
                <a:cs typeface="Arial" panose="020B0604020202020204" pitchFamily="34" charset="0"/>
              </a:rPr>
            </a:br>
            <a:endParaRPr lang="en-US" altLang="en-US" sz="2000" b="1" dirty="0">
              <a:solidFill>
                <a:srgbClr val="0099CC"/>
              </a:solidFill>
              <a:latin typeface="Arial" panose="020B0604020202020204" pitchFamily="34" charset="0"/>
              <a:cs typeface="Arial" panose="020B0604020202020204" pitchFamily="34" charset="0"/>
            </a:endParaRPr>
          </a:p>
        </p:txBody>
      </p:sp>
      <p:sp>
        <p:nvSpPr>
          <p:cNvPr id="3" name="AutoShape 2">
            <a:extLst>
              <a:ext uri="{FF2B5EF4-FFF2-40B4-BE49-F238E27FC236}">
                <a16:creationId xmlns:a16="http://schemas.microsoft.com/office/drawing/2014/main" id="{EB52E3B4-BF37-4452-A924-58241A463D4C}"/>
              </a:ext>
            </a:extLst>
          </p:cNvPr>
          <p:cNvSpPr>
            <a:spLocks noChangeAspect="1" noChangeArrowheads="1"/>
          </p:cNvSpPr>
          <p:nvPr/>
        </p:nvSpPr>
        <p:spPr bwMode="auto">
          <a:xfrm>
            <a:off x="203598" y="-1108473"/>
            <a:ext cx="207169" cy="20716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SG" sz="1800"/>
          </a:p>
        </p:txBody>
      </p:sp>
      <p:sp>
        <p:nvSpPr>
          <p:cNvPr id="4" name="AutoShape 3">
            <a:extLst>
              <a:ext uri="{FF2B5EF4-FFF2-40B4-BE49-F238E27FC236}">
                <a16:creationId xmlns:a16="http://schemas.microsoft.com/office/drawing/2014/main" id="{54D1AEB1-5A0B-42DB-A4A8-671822252D76}"/>
              </a:ext>
            </a:extLst>
          </p:cNvPr>
          <p:cNvSpPr>
            <a:spLocks noChangeAspect="1" noChangeArrowheads="1"/>
          </p:cNvSpPr>
          <p:nvPr/>
        </p:nvSpPr>
        <p:spPr bwMode="auto">
          <a:xfrm>
            <a:off x="233363" y="-777479"/>
            <a:ext cx="292894" cy="32146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SG" sz="1800"/>
          </a:p>
        </p:txBody>
      </p:sp>
      <p:sp>
        <p:nvSpPr>
          <p:cNvPr id="5" name="AutoShape 4">
            <a:extLst>
              <a:ext uri="{FF2B5EF4-FFF2-40B4-BE49-F238E27FC236}">
                <a16:creationId xmlns:a16="http://schemas.microsoft.com/office/drawing/2014/main" id="{C265FF37-162B-494B-A715-5A499FFDDEF7}"/>
              </a:ext>
            </a:extLst>
          </p:cNvPr>
          <p:cNvSpPr>
            <a:spLocks noChangeAspect="1" noChangeArrowheads="1"/>
          </p:cNvSpPr>
          <p:nvPr/>
        </p:nvSpPr>
        <p:spPr bwMode="auto">
          <a:xfrm>
            <a:off x="685800" y="-469107"/>
            <a:ext cx="42863" cy="26431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SG" sz="1800"/>
          </a:p>
        </p:txBody>
      </p:sp>
      <p:sp>
        <p:nvSpPr>
          <p:cNvPr id="9" name="TextBox 8">
            <a:extLst>
              <a:ext uri="{FF2B5EF4-FFF2-40B4-BE49-F238E27FC236}">
                <a16:creationId xmlns:a16="http://schemas.microsoft.com/office/drawing/2014/main" id="{37360BF0-31C4-491E-A878-A1870D6F16B7}"/>
              </a:ext>
            </a:extLst>
          </p:cNvPr>
          <p:cNvSpPr txBox="1"/>
          <p:nvPr/>
        </p:nvSpPr>
        <p:spPr>
          <a:xfrm>
            <a:off x="2286742" y="2740525"/>
            <a:ext cx="4573484" cy="369332"/>
          </a:xfrm>
          <a:prstGeom prst="rect">
            <a:avLst/>
          </a:prstGeom>
          <a:noFill/>
        </p:spPr>
        <p:txBody>
          <a:bodyPr wrap="square">
            <a:spAutoFit/>
          </a:bodyPr>
          <a:lstStyle/>
          <a:p>
            <a:r>
              <a:rPr lang="en-SG" sz="1800" dirty="0"/>
              <a:t> </a:t>
            </a:r>
          </a:p>
        </p:txBody>
      </p:sp>
      <p:sp>
        <p:nvSpPr>
          <p:cNvPr id="2" name="Snip and Round Single Corner Rectangle 5">
            <a:extLst>
              <a:ext uri="{FF2B5EF4-FFF2-40B4-BE49-F238E27FC236}">
                <a16:creationId xmlns:a16="http://schemas.microsoft.com/office/drawing/2014/main" id="{44B485A2-01FD-1215-71DF-32BF8B422CDD}"/>
              </a:ext>
            </a:extLst>
          </p:cNvPr>
          <p:cNvSpPr/>
          <p:nvPr/>
        </p:nvSpPr>
        <p:spPr>
          <a:xfrm>
            <a:off x="0" y="6477000"/>
            <a:ext cx="8863013" cy="323850"/>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eaLnBrk="0" hangingPunct="0">
              <a:spcBef>
                <a:spcPct val="20000"/>
              </a:spcBef>
              <a:buChar char="•"/>
              <a:tabLst>
                <a:tab pos="4389438" algn="l"/>
              </a:tabLst>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tabLst>
                <a:tab pos="4389438" algn="l"/>
              </a:tabLst>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tabLst>
                <a:tab pos="4389438" algn="l"/>
              </a:tabLst>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tabLst>
                <a:tab pos="4389438" algn="l"/>
              </a:tabLst>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tabLst>
                <a:tab pos="4389438" algn="l"/>
              </a:tabLst>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defRPr/>
            </a:pPr>
            <a:fld id="{1B1F8F8E-C6A8-412C-B091-B275DC93F50A}" type="slidenum">
              <a:rPr lang="en-US" altLang="en-US" sz="1300" smtClean="0">
                <a:solidFill>
                  <a:srgbClr val="FFFFFF"/>
                </a:solidFill>
                <a:latin typeface="Gill Sans MT" panose="020B0502020104020203" pitchFamily="34" charset="0"/>
                <a:ea typeface="MS PGothic" panose="020B0600070205080204" pitchFamily="34" charset="-128"/>
              </a:rPr>
              <a:pPr algn="r" eaLnBrk="1" hangingPunct="1">
                <a:spcBef>
                  <a:spcPct val="0"/>
                </a:spcBef>
                <a:buFontTx/>
                <a:buNone/>
                <a:defRPr/>
              </a:pPr>
              <a:t>41</a:t>
            </a:fld>
            <a:endParaRPr lang="en-US" altLang="en-US" sz="1300">
              <a:solidFill>
                <a:srgbClr val="FFFFFF"/>
              </a:solidFill>
              <a:latin typeface="Gill Sans MT" panose="020B0502020104020203" pitchFamily="34" charset="0"/>
              <a:ea typeface="MS PGothic" panose="020B0600070205080204" pitchFamily="34" charset="-128"/>
            </a:endParaRPr>
          </a:p>
        </p:txBody>
      </p:sp>
      <p:sp>
        <p:nvSpPr>
          <p:cNvPr id="6" name="Snip and Round Single Corner Rectangle 4">
            <a:extLst>
              <a:ext uri="{FF2B5EF4-FFF2-40B4-BE49-F238E27FC236}">
                <a16:creationId xmlns:a16="http://schemas.microsoft.com/office/drawing/2014/main" id="{4B1B2F1E-CB53-A049-362D-737A7A7EBC02}"/>
              </a:ext>
            </a:extLst>
          </p:cNvPr>
          <p:cNvSpPr/>
          <p:nvPr/>
        </p:nvSpPr>
        <p:spPr>
          <a:xfrm>
            <a:off x="0" y="95250"/>
            <a:ext cx="8712200" cy="860425"/>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fontAlgn="base">
              <a:spcBef>
                <a:spcPct val="0"/>
              </a:spcBef>
              <a:spcAft>
                <a:spcPct val="0"/>
              </a:spcAft>
              <a:defRPr/>
            </a:pPr>
            <a:r>
              <a:rPr lang="en-US" sz="3600" b="1" spc="-113" dirty="0">
                <a:solidFill>
                  <a:prstClr val="white"/>
                </a:solidFill>
                <a:latin typeface="Gill Sans MT"/>
                <a:cs typeface="Gill Sans MT"/>
              </a:rPr>
              <a:t>Midterm preparation</a:t>
            </a:r>
          </a:p>
        </p:txBody>
      </p:sp>
    </p:spTree>
    <p:extLst>
      <p:ext uri="{BB962C8B-B14F-4D97-AF65-F5344CB8AC3E}">
        <p14:creationId xmlns:p14="http://schemas.microsoft.com/office/powerpoint/2010/main" val="5455386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916CC-1600-54E0-E983-A814F4743F26}"/>
            </a:ext>
          </a:extLst>
        </p:cNvPr>
        <p:cNvGrpSpPr/>
        <p:nvPr/>
      </p:nvGrpSpPr>
      <p:grpSpPr>
        <a:xfrm>
          <a:off x="0" y="0"/>
          <a:ext cx="0" cy="0"/>
          <a:chOff x="0" y="0"/>
          <a:chExt cx="0" cy="0"/>
        </a:xfrm>
      </p:grpSpPr>
      <p:sp>
        <p:nvSpPr>
          <p:cNvPr id="73732" name="Rectangle 4">
            <a:extLst>
              <a:ext uri="{FF2B5EF4-FFF2-40B4-BE49-F238E27FC236}">
                <a16:creationId xmlns:a16="http://schemas.microsoft.com/office/drawing/2014/main" id="{AFA0F5FE-33AA-D3E8-0259-E7AE9C975B13}"/>
              </a:ext>
            </a:extLst>
          </p:cNvPr>
          <p:cNvSpPr>
            <a:spLocks noGrp="1" noChangeArrowheads="1"/>
          </p:cNvSpPr>
          <p:nvPr>
            <p:ph type="subTitle" idx="1"/>
          </p:nvPr>
        </p:nvSpPr>
        <p:spPr>
          <a:xfrm>
            <a:off x="280512" y="1447965"/>
            <a:ext cx="8242101" cy="4909292"/>
          </a:xfrm>
        </p:spPr>
        <p:txBody>
          <a:bodyPr>
            <a:normAutofit fontScale="92500" lnSpcReduction="10000"/>
          </a:bodyPr>
          <a:lstStyle/>
          <a:p>
            <a:pPr algn="just">
              <a:spcBef>
                <a:spcPts val="0"/>
              </a:spcBef>
            </a:pPr>
            <a:r>
              <a:rPr lang="en-US" sz="2000" dirty="0">
                <a:solidFill>
                  <a:srgbClr val="000000"/>
                </a:solidFill>
                <a:latin typeface="Arial" panose="020B0604020202020204" pitchFamily="34" charset="0"/>
                <a:cs typeface="Arial" panose="020B0604020202020204" pitchFamily="34" charset="0"/>
              </a:rPr>
              <a:t>Q3. Consider the following passage:</a:t>
            </a:r>
            <a:endParaRPr lang="en-US" sz="2000" dirty="0">
              <a:latin typeface="Arial" panose="020B0604020202020204" pitchFamily="34" charset="0"/>
              <a:cs typeface="Arial" panose="020B0604020202020204" pitchFamily="34" charset="0"/>
            </a:endParaRPr>
          </a:p>
          <a:p>
            <a:pPr algn="just">
              <a:spcBef>
                <a:spcPts val="0"/>
              </a:spcBef>
            </a:pPr>
            <a:br>
              <a:rPr lang="en-US" sz="2000" dirty="0">
                <a:latin typeface="Arial" panose="020B0604020202020204" pitchFamily="34" charset="0"/>
                <a:cs typeface="Arial" panose="020B0604020202020204" pitchFamily="34" charset="0"/>
              </a:rPr>
            </a:br>
            <a:r>
              <a:rPr lang="en-US" sz="2000" dirty="0">
                <a:solidFill>
                  <a:srgbClr val="000000"/>
                </a:solidFill>
                <a:latin typeface="Arial" panose="020B0604020202020204" pitchFamily="34" charset="0"/>
                <a:cs typeface="Arial" panose="020B0604020202020204" pitchFamily="34" charset="0"/>
              </a:rPr>
              <a:t>If </a:t>
            </a:r>
            <a:r>
              <a:rPr lang="en-US" sz="2000" b="1" dirty="0">
                <a:solidFill>
                  <a:srgbClr val="000000"/>
                </a:solidFill>
                <a:latin typeface="Arial" panose="020B0604020202020204" pitchFamily="34" charset="0"/>
                <a:cs typeface="Arial" panose="020B0604020202020204" pitchFamily="34" charset="0"/>
              </a:rPr>
              <a:t>M</a:t>
            </a:r>
            <a:r>
              <a:rPr lang="en-US" sz="2000" dirty="0">
                <a:solidFill>
                  <a:srgbClr val="000000"/>
                </a:solidFill>
                <a:latin typeface="Arial" panose="020B0604020202020204" pitchFamily="34" charset="0"/>
                <a:cs typeface="Arial" panose="020B0604020202020204" pitchFamily="34" charset="0"/>
              </a:rPr>
              <a:t>, then either </a:t>
            </a:r>
            <a:r>
              <a:rPr lang="en-US" sz="2000" b="1" dirty="0">
                <a:solidFill>
                  <a:srgbClr val="000000"/>
                </a:solidFill>
                <a:latin typeface="Arial" panose="020B0604020202020204" pitchFamily="34" charset="0"/>
                <a:cs typeface="Arial" panose="020B0604020202020204" pitchFamily="34" charset="0"/>
              </a:rPr>
              <a:t>R</a:t>
            </a:r>
            <a:r>
              <a:rPr lang="en-US" sz="2000" dirty="0">
                <a:solidFill>
                  <a:srgbClr val="000000"/>
                </a:solidFill>
                <a:latin typeface="Arial" panose="020B0604020202020204" pitchFamily="34" charset="0"/>
                <a:cs typeface="Arial" panose="020B0604020202020204" pitchFamily="34" charset="0"/>
              </a:rPr>
              <a:t> or </a:t>
            </a:r>
            <a:r>
              <a:rPr lang="en-US" sz="2000" b="1" dirty="0">
                <a:solidFill>
                  <a:srgbClr val="000000"/>
                </a:solidFill>
                <a:latin typeface="Arial" panose="020B0604020202020204" pitchFamily="34" charset="0"/>
                <a:cs typeface="Arial" panose="020B0604020202020204" pitchFamily="34" charset="0"/>
              </a:rPr>
              <a:t>A</a:t>
            </a:r>
            <a:r>
              <a:rPr lang="en-US" sz="2000" dirty="0">
                <a:solidFill>
                  <a:srgbClr val="000000"/>
                </a:solidFill>
                <a:latin typeface="Arial" panose="020B0604020202020204" pitchFamily="34" charset="0"/>
                <a:cs typeface="Arial" panose="020B0604020202020204" pitchFamily="34" charset="0"/>
              </a:rPr>
              <a:t>. </a:t>
            </a:r>
            <a:r>
              <a:rPr lang="en-US" sz="2000" b="1" dirty="0">
                <a:solidFill>
                  <a:srgbClr val="000000"/>
                </a:solidFill>
                <a:latin typeface="Arial" panose="020B0604020202020204" pitchFamily="34" charset="0"/>
                <a:cs typeface="Arial" panose="020B0604020202020204" pitchFamily="34" charset="0"/>
              </a:rPr>
              <a:t>R</a:t>
            </a:r>
            <a:r>
              <a:rPr lang="en-US" sz="2000" dirty="0">
                <a:solidFill>
                  <a:srgbClr val="000000"/>
                </a:solidFill>
                <a:latin typeface="Arial" panose="020B0604020202020204" pitchFamily="34" charset="0"/>
                <a:cs typeface="Arial" panose="020B0604020202020204" pitchFamily="34" charset="0"/>
              </a:rPr>
              <a:t> </a:t>
            </a:r>
            <a:r>
              <a:rPr lang="en-US" sz="2000" u="sng" dirty="0">
                <a:solidFill>
                  <a:srgbClr val="000000"/>
                </a:solidFill>
                <a:latin typeface="Arial" panose="020B0604020202020204" pitchFamily="34" charset="0"/>
                <a:cs typeface="Arial" panose="020B0604020202020204" pitchFamily="34" charset="0"/>
              </a:rPr>
              <a:t>only if</a:t>
            </a:r>
            <a:r>
              <a:rPr lang="en-US" sz="2000" dirty="0">
                <a:solidFill>
                  <a:srgbClr val="000000"/>
                </a:solidFill>
                <a:latin typeface="Arial" panose="020B0604020202020204" pitchFamily="34" charset="0"/>
                <a:cs typeface="Arial" panose="020B0604020202020204" pitchFamily="34" charset="0"/>
              </a:rPr>
              <a:t> </a:t>
            </a:r>
            <a:r>
              <a:rPr lang="en-US" sz="2000" b="1" dirty="0">
                <a:solidFill>
                  <a:srgbClr val="000000"/>
                </a:solidFill>
                <a:latin typeface="Arial" panose="020B0604020202020204" pitchFamily="34" charset="0"/>
                <a:cs typeface="Arial" panose="020B0604020202020204" pitchFamily="34" charset="0"/>
              </a:rPr>
              <a:t>not</a:t>
            </a:r>
            <a:r>
              <a:rPr lang="en-US" sz="2000" dirty="0">
                <a:solidFill>
                  <a:srgbClr val="000000"/>
                </a:solidFill>
                <a:latin typeface="Arial" panose="020B0604020202020204" pitchFamily="34" charset="0"/>
                <a:cs typeface="Arial" panose="020B0604020202020204" pitchFamily="34" charset="0"/>
              </a:rPr>
              <a:t> </a:t>
            </a:r>
            <a:r>
              <a:rPr lang="en-US" sz="2000" b="1" dirty="0">
                <a:solidFill>
                  <a:srgbClr val="000000"/>
                </a:solidFill>
                <a:latin typeface="Arial" panose="020B0604020202020204" pitchFamily="34" charset="0"/>
                <a:cs typeface="Arial" panose="020B0604020202020204" pitchFamily="34" charset="0"/>
              </a:rPr>
              <a:t>C </a:t>
            </a:r>
            <a:r>
              <a:rPr lang="en-US" sz="2000" dirty="0">
                <a:solidFill>
                  <a:srgbClr val="000000"/>
                </a:solidFill>
                <a:latin typeface="Arial" panose="020B0604020202020204" pitchFamily="34" charset="0"/>
                <a:cs typeface="Arial" panose="020B0604020202020204" pitchFamily="34" charset="0"/>
              </a:rPr>
              <a:t>[ = ‘If </a:t>
            </a:r>
            <a:r>
              <a:rPr lang="en-US" sz="2000" b="1" dirty="0">
                <a:solidFill>
                  <a:srgbClr val="000000"/>
                </a:solidFill>
                <a:latin typeface="Arial" panose="020B0604020202020204" pitchFamily="34" charset="0"/>
                <a:cs typeface="Arial" panose="020B0604020202020204" pitchFamily="34" charset="0"/>
              </a:rPr>
              <a:t>R</a:t>
            </a:r>
            <a:r>
              <a:rPr lang="en-US" sz="2000" dirty="0">
                <a:solidFill>
                  <a:srgbClr val="000000"/>
                </a:solidFill>
                <a:latin typeface="Arial" panose="020B0604020202020204" pitchFamily="34" charset="0"/>
                <a:cs typeface="Arial" panose="020B0604020202020204" pitchFamily="34" charset="0"/>
              </a:rPr>
              <a:t> then </a:t>
            </a:r>
            <a:r>
              <a:rPr lang="en-US" sz="2000" b="1" dirty="0">
                <a:solidFill>
                  <a:srgbClr val="000000"/>
                </a:solidFill>
                <a:latin typeface="Arial" panose="020B0604020202020204" pitchFamily="34" charset="0"/>
                <a:cs typeface="Arial" panose="020B0604020202020204" pitchFamily="34" charset="0"/>
              </a:rPr>
              <a:t>not C</a:t>
            </a:r>
            <a:r>
              <a:rPr lang="en-US" sz="2000" dirty="0">
                <a:solidFill>
                  <a:srgbClr val="000000"/>
                </a:solidFill>
                <a:latin typeface="Arial" panose="020B0604020202020204" pitchFamily="34" charset="0"/>
                <a:cs typeface="Arial" panose="020B0604020202020204" pitchFamily="34" charset="0"/>
              </a:rPr>
              <a:t>’] . But in the past they have </a:t>
            </a:r>
            <a:r>
              <a:rPr lang="en-US" sz="2000" b="1" dirty="0">
                <a:solidFill>
                  <a:srgbClr val="000000"/>
                </a:solidFill>
                <a:latin typeface="Arial" panose="020B0604020202020204" pitchFamily="34" charset="0"/>
                <a:cs typeface="Arial" panose="020B0604020202020204" pitchFamily="34" charset="0"/>
              </a:rPr>
              <a:t>C. </a:t>
            </a:r>
            <a:r>
              <a:rPr lang="en-US" sz="2000" dirty="0">
                <a:solidFill>
                  <a:srgbClr val="000000"/>
                </a:solidFill>
                <a:latin typeface="Arial" panose="020B0604020202020204" pitchFamily="34" charset="0"/>
                <a:cs typeface="Arial" panose="020B0604020202020204" pitchFamily="34" charset="0"/>
              </a:rPr>
              <a:t>So, they will </a:t>
            </a:r>
            <a:r>
              <a:rPr lang="en-US" sz="2000" b="1" dirty="0">
                <a:solidFill>
                  <a:srgbClr val="000000"/>
                </a:solidFill>
                <a:latin typeface="Arial" panose="020B0604020202020204" pitchFamily="34" charset="0"/>
                <a:cs typeface="Arial" panose="020B0604020202020204" pitchFamily="34" charset="0"/>
              </a:rPr>
              <a:t>C</a:t>
            </a:r>
            <a:r>
              <a:rPr lang="en-US" sz="2000" dirty="0">
                <a:solidFill>
                  <a:srgbClr val="000000"/>
                </a:solidFill>
                <a:latin typeface="Arial" panose="020B0604020202020204" pitchFamily="34" charset="0"/>
                <a:cs typeface="Arial" panose="020B0604020202020204" pitchFamily="34" charset="0"/>
              </a:rPr>
              <a:t> . And surely, </a:t>
            </a:r>
            <a:r>
              <a:rPr lang="en-US" sz="2000" b="1" dirty="0">
                <a:solidFill>
                  <a:srgbClr val="000000"/>
                </a:solidFill>
                <a:latin typeface="Arial" panose="020B0604020202020204" pitchFamily="34" charset="0"/>
                <a:cs typeface="Arial" panose="020B0604020202020204" pitchFamily="34" charset="0"/>
              </a:rPr>
              <a:t>M</a:t>
            </a:r>
            <a:r>
              <a:rPr lang="en-US" sz="2000" dirty="0">
                <a:solidFill>
                  <a:srgbClr val="000000"/>
                </a:solidFill>
                <a:latin typeface="Arial" panose="020B0604020202020204" pitchFamily="34" charset="0"/>
                <a:cs typeface="Arial" panose="020B0604020202020204" pitchFamily="34" charset="0"/>
              </a:rPr>
              <a:t>. So, </a:t>
            </a:r>
            <a:r>
              <a:rPr lang="en-US" sz="2000" b="1" dirty="0">
                <a:solidFill>
                  <a:srgbClr val="000000"/>
                </a:solidFill>
                <a:latin typeface="Arial" panose="020B0604020202020204" pitchFamily="34" charset="0"/>
                <a:cs typeface="Arial" panose="020B0604020202020204" pitchFamily="34" charset="0"/>
              </a:rPr>
              <a:t>A</a:t>
            </a:r>
            <a:r>
              <a:rPr lang="en-US" sz="2000" dirty="0">
                <a:solidFill>
                  <a:srgbClr val="000000"/>
                </a:solidFill>
                <a:latin typeface="Arial" panose="020B0604020202020204" pitchFamily="34" charset="0"/>
                <a:cs typeface="Arial" panose="020B0604020202020204" pitchFamily="34" charset="0"/>
              </a:rPr>
              <a:t>.</a:t>
            </a:r>
            <a:endParaRPr lang="en-US" sz="2000" b="1" dirty="0">
              <a:solidFill>
                <a:srgbClr val="000000"/>
              </a:solidFill>
              <a:latin typeface="Arial" panose="020B0604020202020204" pitchFamily="34" charset="0"/>
              <a:cs typeface="Arial" panose="020B0604020202020204" pitchFamily="34" charset="0"/>
            </a:endParaRPr>
          </a:p>
          <a:p>
            <a:pPr algn="just">
              <a:spcBef>
                <a:spcPts val="0"/>
              </a:spcBef>
            </a:pPr>
            <a:endParaRPr lang="en-US" sz="2000" dirty="0">
              <a:solidFill>
                <a:srgbClr val="000000"/>
              </a:solidFill>
              <a:latin typeface="Arial" panose="020B0604020202020204" pitchFamily="34" charset="0"/>
              <a:cs typeface="Arial" panose="020B0604020202020204" pitchFamily="34" charset="0"/>
            </a:endParaRPr>
          </a:p>
          <a:p>
            <a:pPr algn="just">
              <a:spcBef>
                <a:spcPts val="0"/>
              </a:spcBef>
            </a:pPr>
            <a:r>
              <a:rPr lang="en-US" sz="2000" u="sng" dirty="0">
                <a:solidFill>
                  <a:srgbClr val="000000"/>
                </a:solidFill>
                <a:latin typeface="Arial" panose="020B0604020202020204" pitchFamily="34" charset="0"/>
                <a:cs typeface="Arial" panose="020B0604020202020204" pitchFamily="34" charset="0"/>
              </a:rPr>
              <a:t>All inferences in this passage are valid</a:t>
            </a:r>
            <a:r>
              <a:rPr lang="en-US" sz="2000" dirty="0">
                <a:solidFill>
                  <a:srgbClr val="000000"/>
                </a:solidFill>
                <a:latin typeface="Arial" panose="020B0604020202020204" pitchFamily="34" charset="0"/>
                <a:cs typeface="Arial" panose="020B0604020202020204" pitchFamily="34" charset="0"/>
              </a:rPr>
              <a:t>.</a:t>
            </a:r>
          </a:p>
          <a:p>
            <a:pPr algn="just">
              <a:spcBef>
                <a:spcPts val="0"/>
              </a:spcBef>
            </a:pPr>
            <a:endParaRPr lang="en-US" sz="2000" dirty="0">
              <a:solidFill>
                <a:srgbClr val="000000"/>
              </a:solidFill>
              <a:latin typeface="Arial" panose="020B0604020202020204" pitchFamily="34" charset="0"/>
              <a:cs typeface="Arial" panose="020B0604020202020204" pitchFamily="34" charset="0"/>
            </a:endParaRPr>
          </a:p>
          <a:p>
            <a:pPr marL="457200" indent="-457200" algn="just">
              <a:spcBef>
                <a:spcPts val="0"/>
              </a:spcBef>
              <a:buAutoNum type="alphaLcPeriod"/>
            </a:pPr>
            <a:r>
              <a:rPr lang="en-US" sz="2000" dirty="0">
                <a:solidFill>
                  <a:srgbClr val="000000"/>
                </a:solidFill>
                <a:latin typeface="Arial" panose="020B0604020202020204" pitchFamily="34" charset="0"/>
                <a:cs typeface="Arial" panose="020B0604020202020204" pitchFamily="34" charset="0"/>
              </a:rPr>
              <a:t>True</a:t>
            </a:r>
          </a:p>
          <a:p>
            <a:pPr marL="457200" indent="-457200" algn="just">
              <a:spcBef>
                <a:spcPts val="0"/>
              </a:spcBef>
              <a:buAutoNum type="alphaLcPeriod"/>
            </a:pPr>
            <a:r>
              <a:rPr lang="en-US" sz="2000" dirty="0">
                <a:solidFill>
                  <a:srgbClr val="000000"/>
                </a:solidFill>
                <a:latin typeface="Arial" panose="020B0604020202020204" pitchFamily="34" charset="0"/>
                <a:cs typeface="Arial" panose="020B0604020202020204" pitchFamily="34" charset="0"/>
              </a:rPr>
              <a:t>False</a:t>
            </a:r>
          </a:p>
          <a:p>
            <a:pPr marL="457200" indent="-457200" algn="just">
              <a:spcBef>
                <a:spcPts val="0"/>
              </a:spcBef>
              <a:buAutoNum type="alphaLcPeriod"/>
            </a:pPr>
            <a:endParaRPr lang="en-US" sz="2000" dirty="0">
              <a:solidFill>
                <a:srgbClr val="000000"/>
              </a:solidFill>
              <a:latin typeface="Arial" panose="020B0604020202020204" pitchFamily="34" charset="0"/>
              <a:cs typeface="Arial" panose="020B0604020202020204" pitchFamily="34" charset="0"/>
            </a:endParaRPr>
          </a:p>
          <a:p>
            <a:pPr algn="just">
              <a:spcBef>
                <a:spcPts val="0"/>
              </a:spcBef>
            </a:pPr>
            <a:r>
              <a:rPr lang="en-US" sz="2000" dirty="0">
                <a:solidFill>
                  <a:srgbClr val="000000"/>
                </a:solidFill>
                <a:latin typeface="Arial" panose="020B0604020202020204" pitchFamily="34" charset="0"/>
                <a:cs typeface="Arial" panose="020B0604020202020204" pitchFamily="34" charset="0"/>
              </a:rPr>
              <a:t>M: We want to increase our market share.</a:t>
            </a:r>
          </a:p>
          <a:p>
            <a:pPr algn="just">
              <a:spcBef>
                <a:spcPts val="0"/>
              </a:spcBef>
            </a:pPr>
            <a:r>
              <a:rPr lang="en-US" sz="2000" dirty="0">
                <a:solidFill>
                  <a:srgbClr val="000000"/>
                </a:solidFill>
                <a:latin typeface="Arial" panose="020B0604020202020204" pitchFamily="34" charset="0"/>
                <a:cs typeface="Arial" panose="020B0604020202020204" pitchFamily="34" charset="0"/>
              </a:rPr>
              <a:t>R: We must reduce prices</a:t>
            </a:r>
          </a:p>
          <a:p>
            <a:pPr algn="just">
              <a:spcBef>
                <a:spcPts val="0"/>
              </a:spcBef>
            </a:pPr>
            <a:r>
              <a:rPr lang="en-US" sz="2000" dirty="0">
                <a:solidFill>
                  <a:srgbClr val="000000"/>
                </a:solidFill>
                <a:latin typeface="Arial" panose="020B0604020202020204" pitchFamily="34" charset="0"/>
                <a:cs typeface="Arial" panose="020B0604020202020204" pitchFamily="34" charset="0"/>
              </a:rPr>
              <a:t>A: We will increase ad budget</a:t>
            </a:r>
          </a:p>
          <a:p>
            <a:pPr algn="just">
              <a:spcBef>
                <a:spcPts val="0"/>
              </a:spcBef>
            </a:pPr>
            <a:r>
              <a:rPr lang="en-US" sz="2000" dirty="0">
                <a:solidFill>
                  <a:srgbClr val="000000"/>
                </a:solidFill>
                <a:latin typeface="Arial" panose="020B0604020202020204" pitchFamily="34" charset="0"/>
                <a:cs typeface="Arial" panose="020B0604020202020204" pitchFamily="34" charset="0"/>
              </a:rPr>
              <a:t>C: Competitors will not match our price cuts</a:t>
            </a:r>
          </a:p>
          <a:p>
            <a:pPr algn="just">
              <a:spcBef>
                <a:spcPts val="0"/>
              </a:spcBef>
            </a:pPr>
            <a:endParaRPr lang="en-US" sz="2000" dirty="0">
              <a:solidFill>
                <a:srgbClr val="000000"/>
              </a:solidFill>
              <a:latin typeface="Arial" panose="020B0604020202020204" pitchFamily="34" charset="0"/>
              <a:cs typeface="Arial" panose="020B0604020202020204" pitchFamily="34" charset="0"/>
            </a:endParaRPr>
          </a:p>
          <a:p>
            <a:pPr algn="just">
              <a:spcBef>
                <a:spcPts val="0"/>
              </a:spcBef>
            </a:pPr>
            <a:br>
              <a:rPr lang="en-US" sz="2000" dirty="0">
                <a:latin typeface="Arial" panose="020B0604020202020204" pitchFamily="34" charset="0"/>
                <a:cs typeface="Arial" panose="020B0604020202020204" pitchFamily="34" charset="0"/>
              </a:rPr>
            </a:br>
            <a:endParaRPr lang="en-US" altLang="en-US" sz="2000" b="1" dirty="0">
              <a:solidFill>
                <a:srgbClr val="0099CC"/>
              </a:solidFill>
              <a:latin typeface="Arial" panose="020B0604020202020204" pitchFamily="34" charset="0"/>
              <a:cs typeface="Arial" panose="020B0604020202020204" pitchFamily="34" charset="0"/>
            </a:endParaRPr>
          </a:p>
        </p:txBody>
      </p:sp>
      <p:sp>
        <p:nvSpPr>
          <p:cNvPr id="3" name="AutoShape 2">
            <a:extLst>
              <a:ext uri="{FF2B5EF4-FFF2-40B4-BE49-F238E27FC236}">
                <a16:creationId xmlns:a16="http://schemas.microsoft.com/office/drawing/2014/main" id="{A537218B-2FC9-47AF-45F1-F51D46088653}"/>
              </a:ext>
            </a:extLst>
          </p:cNvPr>
          <p:cNvSpPr>
            <a:spLocks noChangeAspect="1" noChangeArrowheads="1"/>
          </p:cNvSpPr>
          <p:nvPr/>
        </p:nvSpPr>
        <p:spPr bwMode="auto">
          <a:xfrm>
            <a:off x="203598" y="-1108473"/>
            <a:ext cx="207169" cy="20716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SG" sz="1800"/>
          </a:p>
        </p:txBody>
      </p:sp>
      <p:sp>
        <p:nvSpPr>
          <p:cNvPr id="4" name="AutoShape 3">
            <a:extLst>
              <a:ext uri="{FF2B5EF4-FFF2-40B4-BE49-F238E27FC236}">
                <a16:creationId xmlns:a16="http://schemas.microsoft.com/office/drawing/2014/main" id="{456CB986-B9A9-679D-7837-ECBBC7ACB1D5}"/>
              </a:ext>
            </a:extLst>
          </p:cNvPr>
          <p:cNvSpPr>
            <a:spLocks noChangeAspect="1" noChangeArrowheads="1"/>
          </p:cNvSpPr>
          <p:nvPr/>
        </p:nvSpPr>
        <p:spPr bwMode="auto">
          <a:xfrm>
            <a:off x="233363" y="-777479"/>
            <a:ext cx="292894" cy="32146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SG" sz="1800"/>
          </a:p>
        </p:txBody>
      </p:sp>
      <p:sp>
        <p:nvSpPr>
          <p:cNvPr id="5" name="AutoShape 4">
            <a:extLst>
              <a:ext uri="{FF2B5EF4-FFF2-40B4-BE49-F238E27FC236}">
                <a16:creationId xmlns:a16="http://schemas.microsoft.com/office/drawing/2014/main" id="{0EED3475-CC5F-405D-B999-2BA3275D8DF1}"/>
              </a:ext>
            </a:extLst>
          </p:cNvPr>
          <p:cNvSpPr>
            <a:spLocks noChangeAspect="1" noChangeArrowheads="1"/>
          </p:cNvSpPr>
          <p:nvPr/>
        </p:nvSpPr>
        <p:spPr bwMode="auto">
          <a:xfrm>
            <a:off x="685800" y="-469107"/>
            <a:ext cx="42863" cy="26431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SG" sz="1800"/>
          </a:p>
        </p:txBody>
      </p:sp>
      <p:sp>
        <p:nvSpPr>
          <p:cNvPr id="9" name="TextBox 8">
            <a:extLst>
              <a:ext uri="{FF2B5EF4-FFF2-40B4-BE49-F238E27FC236}">
                <a16:creationId xmlns:a16="http://schemas.microsoft.com/office/drawing/2014/main" id="{6B1C3734-8889-1BF3-7BBB-FAD638AE868A}"/>
              </a:ext>
            </a:extLst>
          </p:cNvPr>
          <p:cNvSpPr txBox="1"/>
          <p:nvPr/>
        </p:nvSpPr>
        <p:spPr>
          <a:xfrm>
            <a:off x="2286742" y="2740525"/>
            <a:ext cx="4573484" cy="369332"/>
          </a:xfrm>
          <a:prstGeom prst="rect">
            <a:avLst/>
          </a:prstGeom>
          <a:noFill/>
        </p:spPr>
        <p:txBody>
          <a:bodyPr wrap="square">
            <a:spAutoFit/>
          </a:bodyPr>
          <a:lstStyle/>
          <a:p>
            <a:r>
              <a:rPr lang="en-SG" sz="1800" dirty="0"/>
              <a:t> </a:t>
            </a:r>
          </a:p>
        </p:txBody>
      </p:sp>
      <p:sp>
        <p:nvSpPr>
          <p:cNvPr id="2" name="Snip and Round Single Corner Rectangle 5">
            <a:extLst>
              <a:ext uri="{FF2B5EF4-FFF2-40B4-BE49-F238E27FC236}">
                <a16:creationId xmlns:a16="http://schemas.microsoft.com/office/drawing/2014/main" id="{30C31B8B-7CF7-DC81-31F4-08F066FA2AC7}"/>
              </a:ext>
            </a:extLst>
          </p:cNvPr>
          <p:cNvSpPr/>
          <p:nvPr/>
        </p:nvSpPr>
        <p:spPr>
          <a:xfrm>
            <a:off x="0" y="6477000"/>
            <a:ext cx="8863013" cy="323850"/>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eaLnBrk="0" hangingPunct="0">
              <a:spcBef>
                <a:spcPct val="20000"/>
              </a:spcBef>
              <a:buChar char="•"/>
              <a:tabLst>
                <a:tab pos="4389438" algn="l"/>
              </a:tabLst>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tabLst>
                <a:tab pos="4389438" algn="l"/>
              </a:tabLst>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tabLst>
                <a:tab pos="4389438" algn="l"/>
              </a:tabLst>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tabLst>
                <a:tab pos="4389438" algn="l"/>
              </a:tabLst>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tabLst>
                <a:tab pos="4389438" algn="l"/>
              </a:tabLst>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defRPr/>
            </a:pPr>
            <a:fld id="{1B1F8F8E-C6A8-412C-B091-B275DC93F50A}" type="slidenum">
              <a:rPr lang="en-US" altLang="en-US" sz="1300" smtClean="0">
                <a:solidFill>
                  <a:srgbClr val="FFFFFF"/>
                </a:solidFill>
                <a:latin typeface="Gill Sans MT" panose="020B0502020104020203" pitchFamily="34" charset="0"/>
                <a:ea typeface="MS PGothic" panose="020B0600070205080204" pitchFamily="34" charset="-128"/>
              </a:rPr>
              <a:pPr algn="r" eaLnBrk="1" hangingPunct="1">
                <a:spcBef>
                  <a:spcPct val="0"/>
                </a:spcBef>
                <a:buFontTx/>
                <a:buNone/>
                <a:defRPr/>
              </a:pPr>
              <a:t>42</a:t>
            </a:fld>
            <a:endParaRPr lang="en-US" altLang="en-US" sz="1300">
              <a:solidFill>
                <a:srgbClr val="FFFFFF"/>
              </a:solidFill>
              <a:latin typeface="Gill Sans MT" panose="020B0502020104020203" pitchFamily="34" charset="0"/>
              <a:ea typeface="MS PGothic" panose="020B0600070205080204" pitchFamily="34" charset="-128"/>
            </a:endParaRPr>
          </a:p>
        </p:txBody>
      </p:sp>
      <p:sp>
        <p:nvSpPr>
          <p:cNvPr id="6" name="Snip and Round Single Corner Rectangle 4">
            <a:extLst>
              <a:ext uri="{FF2B5EF4-FFF2-40B4-BE49-F238E27FC236}">
                <a16:creationId xmlns:a16="http://schemas.microsoft.com/office/drawing/2014/main" id="{6EB8B929-A321-ECBC-D159-82D8AD857230}"/>
              </a:ext>
            </a:extLst>
          </p:cNvPr>
          <p:cNvSpPr/>
          <p:nvPr/>
        </p:nvSpPr>
        <p:spPr>
          <a:xfrm>
            <a:off x="0" y="95250"/>
            <a:ext cx="8712200" cy="860425"/>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fontAlgn="base">
              <a:spcBef>
                <a:spcPct val="0"/>
              </a:spcBef>
              <a:spcAft>
                <a:spcPct val="0"/>
              </a:spcAft>
              <a:defRPr/>
            </a:pPr>
            <a:r>
              <a:rPr lang="en-US" sz="3600" b="1" spc="-113" dirty="0">
                <a:solidFill>
                  <a:prstClr val="white"/>
                </a:solidFill>
                <a:latin typeface="Gill Sans MT"/>
                <a:cs typeface="Gill Sans MT"/>
              </a:rPr>
              <a:t>Midterm preparation</a:t>
            </a:r>
          </a:p>
        </p:txBody>
      </p:sp>
    </p:spTree>
    <p:extLst>
      <p:ext uri="{BB962C8B-B14F-4D97-AF65-F5344CB8AC3E}">
        <p14:creationId xmlns:p14="http://schemas.microsoft.com/office/powerpoint/2010/main" val="9962609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E78E5-C248-7A57-4267-279C9E952906}"/>
            </a:ext>
          </a:extLst>
        </p:cNvPr>
        <p:cNvGrpSpPr/>
        <p:nvPr/>
      </p:nvGrpSpPr>
      <p:grpSpPr>
        <a:xfrm>
          <a:off x="0" y="0"/>
          <a:ext cx="0" cy="0"/>
          <a:chOff x="0" y="0"/>
          <a:chExt cx="0" cy="0"/>
        </a:xfrm>
      </p:grpSpPr>
      <p:sp>
        <p:nvSpPr>
          <p:cNvPr id="9220" name="TextBox 21">
            <a:extLst>
              <a:ext uri="{FF2B5EF4-FFF2-40B4-BE49-F238E27FC236}">
                <a16:creationId xmlns:a16="http://schemas.microsoft.com/office/drawing/2014/main" id="{E1CD5248-3F9A-FBA5-D90A-23BB07E8FCF2}"/>
              </a:ext>
            </a:extLst>
          </p:cNvPr>
          <p:cNvSpPr txBox="1">
            <a:spLocks noChangeArrowheads="1"/>
          </p:cNvSpPr>
          <p:nvPr/>
        </p:nvSpPr>
        <p:spPr bwMode="auto">
          <a:xfrm>
            <a:off x="460772" y="2495320"/>
            <a:ext cx="266342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SG" altLang="en-US" sz="2400" dirty="0">
                <a:latin typeface="Times New Roman" panose="02020603050405020304" pitchFamily="18" charset="0"/>
                <a:ea typeface="Tahoma" panose="020B0604030504040204" pitchFamily="34" charset="0"/>
                <a:cs typeface="Times New Roman" panose="02020603050405020304" pitchFamily="18" charset="0"/>
              </a:rPr>
              <a:t>In the past, C</a:t>
            </a:r>
          </a:p>
        </p:txBody>
      </p:sp>
      <p:cxnSp>
        <p:nvCxnSpPr>
          <p:cNvPr id="25" name="Straight Connector 24">
            <a:extLst>
              <a:ext uri="{FF2B5EF4-FFF2-40B4-BE49-F238E27FC236}">
                <a16:creationId xmlns:a16="http://schemas.microsoft.com/office/drawing/2014/main" id="{283A30E2-4D3A-606F-345A-BFB5C0966030}"/>
              </a:ext>
            </a:extLst>
          </p:cNvPr>
          <p:cNvCxnSpPr/>
          <p:nvPr/>
        </p:nvCxnSpPr>
        <p:spPr>
          <a:xfrm>
            <a:off x="250031" y="2948285"/>
            <a:ext cx="495181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F907DFDD-48BE-4728-68BE-FBD39766965D}"/>
              </a:ext>
            </a:extLst>
          </p:cNvPr>
          <p:cNvCxnSpPr/>
          <p:nvPr/>
        </p:nvCxnSpPr>
        <p:spPr>
          <a:xfrm>
            <a:off x="990600" y="2947050"/>
            <a:ext cx="0" cy="4619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225" name="TextBox 26">
            <a:extLst>
              <a:ext uri="{FF2B5EF4-FFF2-40B4-BE49-F238E27FC236}">
                <a16:creationId xmlns:a16="http://schemas.microsoft.com/office/drawing/2014/main" id="{8F52001D-132A-6BC2-7D78-DF8DBEEB7E4F}"/>
              </a:ext>
            </a:extLst>
          </p:cNvPr>
          <p:cNvSpPr txBox="1">
            <a:spLocks noChangeArrowheads="1"/>
          </p:cNvSpPr>
          <p:nvPr/>
        </p:nvSpPr>
        <p:spPr bwMode="auto">
          <a:xfrm>
            <a:off x="469105" y="3470716"/>
            <a:ext cx="50354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SG" altLang="en-US" sz="2400" dirty="0">
                <a:latin typeface="Times New Roman" panose="02020603050405020304" pitchFamily="18" charset="0"/>
                <a:ea typeface="Tahoma" panose="020B0604030504040204" pitchFamily="34" charset="0"/>
                <a:cs typeface="Times New Roman" panose="02020603050405020304" pitchFamily="18" charset="0"/>
              </a:rPr>
              <a:t>C [</a:t>
            </a:r>
            <a:r>
              <a:rPr lang="en-SG" altLang="en-US" sz="2400" dirty="0">
                <a:highlight>
                  <a:srgbClr val="FFFF00"/>
                </a:highlight>
                <a:latin typeface="Times New Roman" panose="02020603050405020304" pitchFamily="18" charset="0"/>
                <a:ea typeface="Tahoma" panose="020B0604030504040204" pitchFamily="34" charset="0"/>
                <a:cs typeface="Times New Roman" panose="02020603050405020304" pitchFamily="18" charset="0"/>
              </a:rPr>
              <a:t>= not (not C)</a:t>
            </a:r>
            <a:r>
              <a:rPr lang="en-SG" altLang="en-US" sz="2400" dirty="0">
                <a:latin typeface="Times New Roman" panose="02020603050405020304" pitchFamily="18" charset="0"/>
                <a:ea typeface="Tahoma" panose="020B0604030504040204" pitchFamily="34" charset="0"/>
                <a:cs typeface="Times New Roman" panose="02020603050405020304" pitchFamily="18" charset="0"/>
              </a:rPr>
              <a:t>] + If R then not C</a:t>
            </a:r>
          </a:p>
        </p:txBody>
      </p:sp>
      <p:cxnSp>
        <p:nvCxnSpPr>
          <p:cNvPr id="30" name="Straight Connector 29">
            <a:extLst>
              <a:ext uri="{FF2B5EF4-FFF2-40B4-BE49-F238E27FC236}">
                <a16:creationId xmlns:a16="http://schemas.microsoft.com/office/drawing/2014/main" id="{F2441A2E-2822-B243-296B-3304743591CE}"/>
              </a:ext>
            </a:extLst>
          </p:cNvPr>
          <p:cNvCxnSpPr>
            <a:cxnSpLocks/>
          </p:cNvCxnSpPr>
          <p:nvPr/>
        </p:nvCxnSpPr>
        <p:spPr>
          <a:xfrm>
            <a:off x="535781" y="3932381"/>
            <a:ext cx="612576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C07C758A-2027-31C4-7E39-0DF55C2963B2}"/>
              </a:ext>
            </a:extLst>
          </p:cNvPr>
          <p:cNvCxnSpPr/>
          <p:nvPr/>
        </p:nvCxnSpPr>
        <p:spPr>
          <a:xfrm>
            <a:off x="3206630" y="3932381"/>
            <a:ext cx="0" cy="4619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230" name="TextBox 31">
            <a:extLst>
              <a:ext uri="{FF2B5EF4-FFF2-40B4-BE49-F238E27FC236}">
                <a16:creationId xmlns:a16="http://schemas.microsoft.com/office/drawing/2014/main" id="{378B677E-3E55-8B30-24BE-8D20D352BA7C}"/>
              </a:ext>
            </a:extLst>
          </p:cNvPr>
          <p:cNvSpPr txBox="1">
            <a:spLocks noChangeArrowheads="1"/>
          </p:cNvSpPr>
          <p:nvPr/>
        </p:nvSpPr>
        <p:spPr bwMode="auto">
          <a:xfrm>
            <a:off x="359145" y="4393066"/>
            <a:ext cx="69762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SG" altLang="en-US" sz="2400" dirty="0">
                <a:latin typeface="Times New Roman" panose="02020603050405020304" pitchFamily="18" charset="0"/>
                <a:ea typeface="Tahoma" panose="020B0604030504040204" pitchFamily="34" charset="0"/>
                <a:cs typeface="Times New Roman" panose="02020603050405020304" pitchFamily="18" charset="0"/>
              </a:rPr>
              <a:t>Not R + R or A</a:t>
            </a:r>
          </a:p>
        </p:txBody>
      </p:sp>
      <p:cxnSp>
        <p:nvCxnSpPr>
          <p:cNvPr id="36" name="Straight Connector 35">
            <a:extLst>
              <a:ext uri="{FF2B5EF4-FFF2-40B4-BE49-F238E27FC236}">
                <a16:creationId xmlns:a16="http://schemas.microsoft.com/office/drawing/2014/main" id="{106272E1-2174-D5AF-900A-1FF0B5458A39}"/>
              </a:ext>
            </a:extLst>
          </p:cNvPr>
          <p:cNvCxnSpPr/>
          <p:nvPr/>
        </p:nvCxnSpPr>
        <p:spPr>
          <a:xfrm>
            <a:off x="648295" y="4854731"/>
            <a:ext cx="495181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AC232EAC-4DEF-A12D-9A63-D10DBCCBA0B2}"/>
              </a:ext>
            </a:extLst>
          </p:cNvPr>
          <p:cNvCxnSpPr/>
          <p:nvPr/>
        </p:nvCxnSpPr>
        <p:spPr>
          <a:xfrm>
            <a:off x="3749278" y="4853155"/>
            <a:ext cx="0" cy="4619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1">
            <a:extLst>
              <a:ext uri="{FF2B5EF4-FFF2-40B4-BE49-F238E27FC236}">
                <a16:creationId xmlns:a16="http://schemas.microsoft.com/office/drawing/2014/main" id="{BCE989E6-77E1-C92E-DD0C-B371231EC4A0}"/>
              </a:ext>
            </a:extLst>
          </p:cNvPr>
          <p:cNvSpPr txBox="1">
            <a:spLocks noChangeArrowheads="1"/>
          </p:cNvSpPr>
          <p:nvPr/>
        </p:nvSpPr>
        <p:spPr bwMode="auto">
          <a:xfrm>
            <a:off x="2078348" y="2104144"/>
            <a:ext cx="69762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SG" altLang="en-US" sz="2400" dirty="0">
                <a:latin typeface="Times New Roman" panose="02020603050405020304" pitchFamily="18" charset="0"/>
                <a:ea typeface="Tahoma" panose="020B0604030504040204" pitchFamily="34" charset="0"/>
                <a:cs typeface="Times New Roman" panose="02020603050405020304" pitchFamily="18" charset="0"/>
              </a:rPr>
              <a:t>M + If M then (R or A)</a:t>
            </a:r>
          </a:p>
        </p:txBody>
      </p:sp>
      <p:cxnSp>
        <p:nvCxnSpPr>
          <p:cNvPr id="5" name="Straight Arrow Connector 4">
            <a:extLst>
              <a:ext uri="{FF2B5EF4-FFF2-40B4-BE49-F238E27FC236}">
                <a16:creationId xmlns:a16="http://schemas.microsoft.com/office/drawing/2014/main" id="{F2F196F7-1CD8-09A4-EF21-863FFC961E5F}"/>
              </a:ext>
            </a:extLst>
          </p:cNvPr>
          <p:cNvCxnSpPr>
            <a:cxnSpLocks/>
          </p:cNvCxnSpPr>
          <p:nvPr/>
        </p:nvCxnSpPr>
        <p:spPr>
          <a:xfrm flipH="1">
            <a:off x="4431509" y="2584231"/>
            <a:ext cx="1969291" cy="19115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94D5D20-7F2B-0663-5C0F-3A6CE7C936F2}"/>
              </a:ext>
            </a:extLst>
          </p:cNvPr>
          <p:cNvCxnSpPr/>
          <p:nvPr/>
        </p:nvCxnSpPr>
        <p:spPr>
          <a:xfrm>
            <a:off x="3505200" y="2584231"/>
            <a:ext cx="4951810"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21">
            <a:extLst>
              <a:ext uri="{FF2B5EF4-FFF2-40B4-BE49-F238E27FC236}">
                <a16:creationId xmlns:a16="http://schemas.microsoft.com/office/drawing/2014/main" id="{9317ED82-FAC3-7FE9-B69B-9992F14FAB8A}"/>
              </a:ext>
            </a:extLst>
          </p:cNvPr>
          <p:cNvSpPr txBox="1">
            <a:spLocks noChangeArrowheads="1"/>
          </p:cNvSpPr>
          <p:nvPr/>
        </p:nvSpPr>
        <p:spPr bwMode="auto">
          <a:xfrm>
            <a:off x="2417564" y="5323817"/>
            <a:ext cx="266342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SG" altLang="en-US" sz="2400" dirty="0">
                <a:latin typeface="Times New Roman" panose="02020603050405020304" pitchFamily="18" charset="0"/>
                <a:ea typeface="Tahoma" panose="020B0604030504040204" pitchFamily="34" charset="0"/>
                <a:cs typeface="Times New Roman" panose="02020603050405020304" pitchFamily="18" charset="0"/>
              </a:rPr>
              <a:t>A</a:t>
            </a:r>
          </a:p>
        </p:txBody>
      </p:sp>
      <p:sp>
        <p:nvSpPr>
          <p:cNvPr id="2" name="Snip and Round Single Corner Rectangle 5">
            <a:extLst>
              <a:ext uri="{FF2B5EF4-FFF2-40B4-BE49-F238E27FC236}">
                <a16:creationId xmlns:a16="http://schemas.microsoft.com/office/drawing/2014/main" id="{5BD14E23-30C7-30EA-5B76-A53B7E58FA1B}"/>
              </a:ext>
            </a:extLst>
          </p:cNvPr>
          <p:cNvSpPr/>
          <p:nvPr/>
        </p:nvSpPr>
        <p:spPr>
          <a:xfrm>
            <a:off x="0" y="6477000"/>
            <a:ext cx="8863013" cy="323850"/>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eaLnBrk="0" hangingPunct="0">
              <a:spcBef>
                <a:spcPct val="20000"/>
              </a:spcBef>
              <a:buChar char="•"/>
              <a:tabLst>
                <a:tab pos="4389438" algn="l"/>
              </a:tabLst>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tabLst>
                <a:tab pos="4389438" algn="l"/>
              </a:tabLst>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tabLst>
                <a:tab pos="4389438" algn="l"/>
              </a:tabLst>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tabLst>
                <a:tab pos="4389438" algn="l"/>
              </a:tabLst>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tabLst>
                <a:tab pos="4389438" algn="l"/>
              </a:tabLst>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defRPr/>
            </a:pPr>
            <a:fld id="{1B1F8F8E-C6A8-412C-B091-B275DC93F50A}" type="slidenum">
              <a:rPr lang="en-US" altLang="en-US" sz="1300" smtClean="0">
                <a:solidFill>
                  <a:srgbClr val="FFFFFF"/>
                </a:solidFill>
                <a:latin typeface="Gill Sans MT" panose="020B0502020104020203" pitchFamily="34" charset="0"/>
                <a:ea typeface="MS PGothic" panose="020B0600070205080204" pitchFamily="34" charset="-128"/>
              </a:rPr>
              <a:pPr algn="r" eaLnBrk="1" hangingPunct="1">
                <a:spcBef>
                  <a:spcPct val="0"/>
                </a:spcBef>
                <a:buFontTx/>
                <a:buNone/>
                <a:defRPr/>
              </a:pPr>
              <a:t>43</a:t>
            </a:fld>
            <a:endParaRPr lang="en-US" altLang="en-US" sz="1300">
              <a:solidFill>
                <a:srgbClr val="FFFFFF"/>
              </a:solidFill>
              <a:latin typeface="Gill Sans MT" panose="020B0502020104020203" pitchFamily="34" charset="0"/>
              <a:ea typeface="MS PGothic" panose="020B0600070205080204" pitchFamily="34" charset="-128"/>
            </a:endParaRPr>
          </a:p>
        </p:txBody>
      </p:sp>
      <p:sp>
        <p:nvSpPr>
          <p:cNvPr id="6" name="Snip and Round Single Corner Rectangle 4">
            <a:extLst>
              <a:ext uri="{FF2B5EF4-FFF2-40B4-BE49-F238E27FC236}">
                <a16:creationId xmlns:a16="http://schemas.microsoft.com/office/drawing/2014/main" id="{ACD095F6-0D6E-C9CD-6512-F4450411139E}"/>
              </a:ext>
            </a:extLst>
          </p:cNvPr>
          <p:cNvSpPr/>
          <p:nvPr/>
        </p:nvSpPr>
        <p:spPr>
          <a:xfrm>
            <a:off x="0" y="95250"/>
            <a:ext cx="8712200" cy="860425"/>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fontAlgn="base">
              <a:spcBef>
                <a:spcPct val="0"/>
              </a:spcBef>
              <a:spcAft>
                <a:spcPct val="0"/>
              </a:spcAft>
              <a:defRPr/>
            </a:pPr>
            <a:r>
              <a:rPr lang="en-US" sz="3600" b="1" spc="-113" dirty="0">
                <a:solidFill>
                  <a:prstClr val="white"/>
                </a:solidFill>
                <a:latin typeface="Gill Sans MT"/>
                <a:cs typeface="Gill Sans MT"/>
              </a:rPr>
              <a:t>Midterm preparation</a:t>
            </a:r>
          </a:p>
        </p:txBody>
      </p:sp>
    </p:spTree>
    <p:extLst>
      <p:ext uri="{BB962C8B-B14F-4D97-AF65-F5344CB8AC3E}">
        <p14:creationId xmlns:p14="http://schemas.microsoft.com/office/powerpoint/2010/main" val="341530082"/>
      </p:ext>
    </p:extLst>
  </p:cSld>
  <p:clrMapOvr>
    <a:masterClrMapping/>
  </p:clrMapOvr>
  <mc:AlternateContent xmlns:mc="http://schemas.openxmlformats.org/markup-compatibility/2006" xmlns:p14="http://schemas.microsoft.com/office/powerpoint/2010/main">
    <mc:Choice Requires="p14">
      <p:transition spd="slow" p14:dur="2000" advTm="204740"/>
    </mc:Choice>
    <mc:Fallback xmlns="">
      <p:transition spd="slow" advTm="20474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4"/>
          <p:cNvSpPr>
            <a:spLocks noGrp="1" noChangeArrowheads="1"/>
          </p:cNvSpPr>
          <p:nvPr>
            <p:ph type="subTitle" idx="1"/>
          </p:nvPr>
        </p:nvSpPr>
        <p:spPr>
          <a:xfrm>
            <a:off x="685800" y="1688382"/>
            <a:ext cx="7162800" cy="3860514"/>
          </a:xfrm>
        </p:spPr>
        <p:txBody>
          <a:bodyPr>
            <a:normAutofit fontScale="85000" lnSpcReduction="20000"/>
          </a:bodyPr>
          <a:lstStyle/>
          <a:p>
            <a:pPr algn="just"/>
            <a:r>
              <a:rPr lang="en-US" dirty="0">
                <a:solidFill>
                  <a:srgbClr val="000000"/>
                </a:solidFill>
                <a:latin typeface="Arial" panose="020B0604020202020204" pitchFamily="34" charset="0"/>
                <a:ea typeface="SimSun" panose="02010600030101010101" pitchFamily="2" charset="-122"/>
              </a:rPr>
              <a:t>Q1. A </a:t>
            </a:r>
            <a:r>
              <a:rPr lang="en-US" u="sng" dirty="0" err="1">
                <a:solidFill>
                  <a:srgbClr val="000000"/>
                </a:solidFill>
                <a:latin typeface="Arial" panose="020B0604020202020204" pitchFamily="34" charset="0"/>
                <a:ea typeface="SimSun" panose="02010600030101010101" pitchFamily="2" charset="-122"/>
              </a:rPr>
              <a:t>rumour</a:t>
            </a:r>
            <a:r>
              <a:rPr lang="en-US" dirty="0">
                <a:solidFill>
                  <a:srgbClr val="000000"/>
                </a:solidFill>
                <a:latin typeface="Arial" panose="020B0604020202020204" pitchFamily="34" charset="0"/>
                <a:ea typeface="SimSun" panose="02010600030101010101" pitchFamily="2" charset="-122"/>
              </a:rPr>
              <a:t> is a false statement or account of events, circulating among people in a community.</a:t>
            </a:r>
            <a:endParaRPr lang="en-SG" dirty="0">
              <a:solidFill>
                <a:srgbClr val="000000"/>
              </a:solidFill>
              <a:latin typeface="Arial" panose="020B0604020202020204" pitchFamily="34" charset="0"/>
              <a:ea typeface="SimSun" panose="02010600030101010101" pitchFamily="2" charset="-122"/>
            </a:endParaRPr>
          </a:p>
          <a:p>
            <a:pPr algn="just"/>
            <a:r>
              <a:rPr lang="en-US" dirty="0">
                <a:solidFill>
                  <a:srgbClr val="000000"/>
                </a:solidFill>
                <a:latin typeface="Arial" panose="020B0604020202020204" pitchFamily="34" charset="0"/>
                <a:ea typeface="SimSun" panose="02010600030101010101" pitchFamily="2" charset="-122"/>
              </a:rPr>
              <a:t> </a:t>
            </a:r>
            <a:endParaRPr lang="en-SG" dirty="0">
              <a:solidFill>
                <a:srgbClr val="000000"/>
              </a:solidFill>
              <a:latin typeface="Arial" panose="020B0604020202020204" pitchFamily="34" charset="0"/>
              <a:ea typeface="SimSun" panose="02010600030101010101" pitchFamily="2" charset="-122"/>
            </a:endParaRPr>
          </a:p>
          <a:p>
            <a:pPr algn="just"/>
            <a:r>
              <a:rPr lang="en-US" dirty="0">
                <a:solidFill>
                  <a:srgbClr val="000000"/>
                </a:solidFill>
                <a:latin typeface="Arial" panose="020B0604020202020204" pitchFamily="34" charset="0"/>
                <a:ea typeface="SimSun" panose="02010600030101010101" pitchFamily="2" charset="-122"/>
              </a:rPr>
              <a:t>Which of the following statements is </a:t>
            </a:r>
            <a:r>
              <a:rPr lang="en-US" u="sng" dirty="0">
                <a:solidFill>
                  <a:srgbClr val="000000"/>
                </a:solidFill>
                <a:latin typeface="Arial" panose="020B0604020202020204" pitchFamily="34" charset="0"/>
                <a:ea typeface="SimSun" panose="02010600030101010101" pitchFamily="2" charset="-122"/>
              </a:rPr>
              <a:t>true</a:t>
            </a:r>
            <a:r>
              <a:rPr lang="en-US" dirty="0">
                <a:solidFill>
                  <a:srgbClr val="000000"/>
                </a:solidFill>
                <a:latin typeface="Arial" panose="020B0604020202020204" pitchFamily="34" charset="0"/>
                <a:ea typeface="SimSun" panose="02010600030101010101" pitchFamily="2" charset="-122"/>
              </a:rPr>
              <a:t>?</a:t>
            </a:r>
            <a:endParaRPr lang="en-SG" dirty="0">
              <a:solidFill>
                <a:srgbClr val="000000"/>
              </a:solidFill>
              <a:latin typeface="Arial" panose="020B0604020202020204" pitchFamily="34" charset="0"/>
              <a:ea typeface="SimSun" panose="02010600030101010101" pitchFamily="2" charset="-122"/>
            </a:endParaRPr>
          </a:p>
          <a:p>
            <a:pPr algn="just"/>
            <a:r>
              <a:rPr lang="en-US" dirty="0">
                <a:solidFill>
                  <a:srgbClr val="000000"/>
                </a:solidFill>
                <a:latin typeface="Arial" panose="020B0604020202020204" pitchFamily="34" charset="0"/>
                <a:ea typeface="SimSun" panose="02010600030101010101" pitchFamily="2" charset="-122"/>
              </a:rPr>
              <a:t> </a:t>
            </a:r>
            <a:endParaRPr lang="en-SG" dirty="0">
              <a:solidFill>
                <a:srgbClr val="000000"/>
              </a:solidFill>
              <a:latin typeface="Arial" panose="020B0604020202020204" pitchFamily="34" charset="0"/>
              <a:ea typeface="SimSun" panose="02010600030101010101" pitchFamily="2" charset="-122"/>
            </a:endParaRPr>
          </a:p>
          <a:p>
            <a:pPr marL="685800" lvl="1" indent="-342900" algn="just">
              <a:buAutoNum type="alphaLcPeriod"/>
            </a:pPr>
            <a:r>
              <a:rPr lang="en-US" sz="2000" dirty="0">
                <a:solidFill>
                  <a:srgbClr val="000000"/>
                </a:solidFill>
                <a:latin typeface="Arial" panose="020B0604020202020204" pitchFamily="34" charset="0"/>
                <a:ea typeface="SimSun" panose="02010600030101010101" pitchFamily="2" charset="-122"/>
              </a:rPr>
              <a:t>This definition is unfairly emotive.</a:t>
            </a:r>
          </a:p>
          <a:p>
            <a:pPr marL="685800" lvl="1" indent="-342900" algn="just">
              <a:buAutoNum type="alphaLcPeriod"/>
            </a:pPr>
            <a:r>
              <a:rPr lang="en-US" sz="2000" dirty="0">
                <a:solidFill>
                  <a:srgbClr val="000000"/>
                </a:solidFill>
                <a:latin typeface="Arial" panose="020B0604020202020204" pitchFamily="34" charset="0"/>
                <a:ea typeface="SimSun" panose="02010600030101010101" pitchFamily="2" charset="-122"/>
              </a:rPr>
              <a:t>This definition is too narrow.		</a:t>
            </a:r>
            <a:endParaRPr lang="en-SG" sz="2000" dirty="0">
              <a:solidFill>
                <a:srgbClr val="000000"/>
              </a:solidFill>
              <a:latin typeface="Arial" panose="020B0604020202020204" pitchFamily="34" charset="0"/>
              <a:ea typeface="SimSun" panose="02010600030101010101" pitchFamily="2" charset="-122"/>
            </a:endParaRPr>
          </a:p>
          <a:p>
            <a:pPr marL="685800" lvl="1" indent="-342900" algn="just">
              <a:buAutoNum type="alphaLcPeriod" startAt="3"/>
            </a:pPr>
            <a:r>
              <a:rPr lang="en-US" sz="2000" dirty="0">
                <a:solidFill>
                  <a:srgbClr val="000000"/>
                </a:solidFill>
                <a:latin typeface="Arial" panose="020B0604020202020204" pitchFamily="34" charset="0"/>
                <a:ea typeface="SimSun" panose="02010600030101010101" pitchFamily="2" charset="-122"/>
              </a:rPr>
              <a:t>This definition is circular.</a:t>
            </a:r>
          </a:p>
          <a:p>
            <a:pPr marL="685800" lvl="1" indent="-342900" algn="just">
              <a:buAutoNum type="alphaLcPeriod" startAt="3"/>
            </a:pPr>
            <a:r>
              <a:rPr lang="en-US" sz="2000" dirty="0">
                <a:solidFill>
                  <a:srgbClr val="000000"/>
                </a:solidFill>
                <a:latin typeface="Arial" panose="020B0604020202020204" pitchFamily="34" charset="0"/>
                <a:ea typeface="SimSun" panose="02010600030101010101" pitchFamily="2" charset="-122"/>
              </a:rPr>
              <a:t>This is an ostensive definition.</a:t>
            </a:r>
          </a:p>
          <a:p>
            <a:pPr marL="685800" lvl="1" indent="-342900" algn="just">
              <a:buAutoNum type="alphaLcPeriod" startAt="3"/>
            </a:pPr>
            <a:r>
              <a:rPr lang="en-US" sz="2000" dirty="0">
                <a:solidFill>
                  <a:srgbClr val="000000"/>
                </a:solidFill>
                <a:latin typeface="Arial" panose="020B0604020202020204" pitchFamily="34" charset="0"/>
                <a:ea typeface="SimSun" panose="02010600030101010101" pitchFamily="2" charset="-122"/>
              </a:rPr>
              <a:t>None of the above.	</a:t>
            </a:r>
            <a:endParaRPr lang="en-US" altLang="en-US" sz="2000" b="1" dirty="0">
              <a:solidFill>
                <a:srgbClr val="0099CC"/>
              </a:solidFill>
              <a:latin typeface="Gill Sans" charset="0"/>
            </a:endParaRPr>
          </a:p>
        </p:txBody>
      </p:sp>
      <p:sp>
        <p:nvSpPr>
          <p:cNvPr id="2" name="Snip and Round Single Corner Rectangle 5">
            <a:extLst>
              <a:ext uri="{FF2B5EF4-FFF2-40B4-BE49-F238E27FC236}">
                <a16:creationId xmlns:a16="http://schemas.microsoft.com/office/drawing/2014/main" id="{C4CA925E-DD7E-9D53-44E4-345E033C66A1}"/>
              </a:ext>
            </a:extLst>
          </p:cNvPr>
          <p:cNvSpPr/>
          <p:nvPr/>
        </p:nvSpPr>
        <p:spPr>
          <a:xfrm>
            <a:off x="0" y="6477000"/>
            <a:ext cx="8863013" cy="323850"/>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eaLnBrk="0" hangingPunct="0">
              <a:spcBef>
                <a:spcPct val="20000"/>
              </a:spcBef>
              <a:buChar char="•"/>
              <a:tabLst>
                <a:tab pos="4389438" algn="l"/>
              </a:tabLst>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tabLst>
                <a:tab pos="4389438" algn="l"/>
              </a:tabLst>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tabLst>
                <a:tab pos="4389438" algn="l"/>
              </a:tabLst>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tabLst>
                <a:tab pos="4389438" algn="l"/>
              </a:tabLst>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tabLst>
                <a:tab pos="4389438" algn="l"/>
              </a:tabLst>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defRPr/>
            </a:pPr>
            <a:fld id="{1B1F8F8E-C6A8-412C-B091-B275DC93F50A}" type="slidenum">
              <a:rPr lang="en-US" altLang="en-US" sz="1300" smtClean="0">
                <a:solidFill>
                  <a:srgbClr val="FFFFFF"/>
                </a:solidFill>
                <a:latin typeface="Gill Sans MT" panose="020B0502020104020203" pitchFamily="34" charset="0"/>
                <a:ea typeface="MS PGothic" panose="020B0600070205080204" pitchFamily="34" charset="-128"/>
              </a:rPr>
              <a:pPr algn="r" eaLnBrk="1" hangingPunct="1">
                <a:spcBef>
                  <a:spcPct val="0"/>
                </a:spcBef>
                <a:buFontTx/>
                <a:buNone/>
                <a:defRPr/>
              </a:pPr>
              <a:t>44</a:t>
            </a:fld>
            <a:endParaRPr lang="en-US" altLang="en-US" sz="1300">
              <a:solidFill>
                <a:srgbClr val="FFFFFF"/>
              </a:solidFill>
              <a:latin typeface="Gill Sans MT" panose="020B0502020104020203" pitchFamily="34" charset="0"/>
              <a:ea typeface="MS PGothic" panose="020B0600070205080204" pitchFamily="34" charset="-128"/>
            </a:endParaRPr>
          </a:p>
        </p:txBody>
      </p:sp>
      <p:sp>
        <p:nvSpPr>
          <p:cNvPr id="3" name="Snip and Round Single Corner Rectangle 4">
            <a:extLst>
              <a:ext uri="{FF2B5EF4-FFF2-40B4-BE49-F238E27FC236}">
                <a16:creationId xmlns:a16="http://schemas.microsoft.com/office/drawing/2014/main" id="{828EA7D6-E1C1-04BA-D0C4-4BDECAC7322E}"/>
              </a:ext>
            </a:extLst>
          </p:cNvPr>
          <p:cNvSpPr/>
          <p:nvPr/>
        </p:nvSpPr>
        <p:spPr>
          <a:xfrm>
            <a:off x="0" y="95250"/>
            <a:ext cx="8712200" cy="860425"/>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fontAlgn="base">
              <a:spcBef>
                <a:spcPct val="0"/>
              </a:spcBef>
              <a:spcAft>
                <a:spcPct val="0"/>
              </a:spcAft>
              <a:defRPr/>
            </a:pPr>
            <a:r>
              <a:rPr lang="en-US" sz="3600" b="1" spc="-113" dirty="0">
                <a:solidFill>
                  <a:prstClr val="white"/>
                </a:solidFill>
                <a:latin typeface="Gill Sans MT"/>
                <a:cs typeface="Gill Sans MT"/>
              </a:rPr>
              <a:t>Midterm preparation</a:t>
            </a:r>
          </a:p>
        </p:txBody>
      </p:sp>
      <p:sp>
        <p:nvSpPr>
          <p:cNvPr id="5" name="TextBox 4">
            <a:extLst>
              <a:ext uri="{FF2B5EF4-FFF2-40B4-BE49-F238E27FC236}">
                <a16:creationId xmlns:a16="http://schemas.microsoft.com/office/drawing/2014/main" id="{C18A8512-C666-4526-3C59-7A8BF1016CAE}"/>
              </a:ext>
            </a:extLst>
          </p:cNvPr>
          <p:cNvSpPr txBox="1"/>
          <p:nvPr/>
        </p:nvSpPr>
        <p:spPr>
          <a:xfrm>
            <a:off x="3124835" y="1091196"/>
            <a:ext cx="2894330" cy="461665"/>
          </a:xfrm>
          <a:prstGeom prst="rect">
            <a:avLst/>
          </a:prstGeom>
          <a:noFill/>
        </p:spPr>
        <p:txBody>
          <a:bodyPr wrap="square">
            <a:spAutoFit/>
          </a:bodyPr>
          <a:lstStyle/>
          <a:p>
            <a:pPr eaLnBrk="1" hangingPunct="1">
              <a:buFontTx/>
              <a:buNone/>
            </a:pPr>
            <a:r>
              <a:rPr lang="en-US" altLang="en-US" sz="2400" b="1" dirty="0">
                <a:solidFill>
                  <a:srgbClr val="0099CC"/>
                </a:solidFill>
                <a:latin typeface="Gill Sans" charset="0"/>
              </a:rPr>
              <a:t>Section 2: Definitions</a:t>
            </a:r>
          </a:p>
        </p:txBody>
      </p:sp>
    </p:spTree>
    <p:extLst>
      <p:ext uri="{BB962C8B-B14F-4D97-AF65-F5344CB8AC3E}">
        <p14:creationId xmlns:p14="http://schemas.microsoft.com/office/powerpoint/2010/main" val="25595034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4"/>
          <p:cNvSpPr>
            <a:spLocks noGrp="1" noChangeArrowheads="1"/>
          </p:cNvSpPr>
          <p:nvPr>
            <p:ph type="subTitle" idx="1"/>
          </p:nvPr>
        </p:nvSpPr>
        <p:spPr>
          <a:xfrm>
            <a:off x="590153" y="1447800"/>
            <a:ext cx="7531894" cy="3860514"/>
          </a:xfrm>
        </p:spPr>
        <p:txBody>
          <a:bodyPr>
            <a:normAutofit fontScale="92500" lnSpcReduction="10000"/>
          </a:bodyPr>
          <a:lstStyle/>
          <a:p>
            <a:pPr eaLnBrk="1" hangingPunct="1">
              <a:buFontTx/>
              <a:buNone/>
            </a:pPr>
            <a:r>
              <a:rPr lang="en-US" altLang="en-US" sz="4050" b="1" dirty="0">
                <a:solidFill>
                  <a:srgbClr val="0099CC"/>
                </a:solidFill>
                <a:latin typeface="Gill Sans" charset="0"/>
              </a:rPr>
              <a:t> </a:t>
            </a:r>
          </a:p>
          <a:p>
            <a:pPr algn="just"/>
            <a:r>
              <a:rPr lang="en-US" sz="2000" dirty="0">
                <a:solidFill>
                  <a:srgbClr val="000000"/>
                </a:solidFill>
                <a:latin typeface="Arial" panose="020B0604020202020204" pitchFamily="34" charset="0"/>
                <a:ea typeface="SimSun" panose="02010600030101010101" pitchFamily="2" charset="-122"/>
              </a:rPr>
              <a:t>Q2. Which of the following is the </a:t>
            </a:r>
            <a:r>
              <a:rPr lang="en-US" sz="2000" b="1" dirty="0">
                <a:solidFill>
                  <a:srgbClr val="000000"/>
                </a:solidFill>
                <a:latin typeface="Arial" panose="020B0604020202020204" pitchFamily="34" charset="0"/>
                <a:ea typeface="SimSun" panose="02010600030101010101" pitchFamily="2" charset="-122"/>
              </a:rPr>
              <a:t>best</a:t>
            </a:r>
            <a:r>
              <a:rPr lang="en-US" sz="2000" dirty="0">
                <a:solidFill>
                  <a:srgbClr val="000000"/>
                </a:solidFill>
                <a:latin typeface="Arial" panose="020B0604020202020204" pitchFamily="34" charset="0"/>
                <a:ea typeface="SimSun" panose="02010600030101010101" pitchFamily="2" charset="-122"/>
              </a:rPr>
              <a:t> definition of ‘</a:t>
            </a:r>
            <a:r>
              <a:rPr lang="en-US" sz="2000" u="sng" dirty="0">
                <a:solidFill>
                  <a:srgbClr val="000000"/>
                </a:solidFill>
                <a:latin typeface="Arial" panose="020B0604020202020204" pitchFamily="34" charset="0"/>
                <a:ea typeface="SimSun" panose="02010600030101010101" pitchFamily="2" charset="-122"/>
              </a:rPr>
              <a:t>dictatorship</a:t>
            </a:r>
            <a:r>
              <a:rPr lang="en-US" sz="2000" dirty="0">
                <a:solidFill>
                  <a:srgbClr val="000000"/>
                </a:solidFill>
                <a:latin typeface="Arial" panose="020B0604020202020204" pitchFamily="34" charset="0"/>
                <a:ea typeface="SimSun" panose="02010600030101010101" pitchFamily="2" charset="-122"/>
              </a:rPr>
              <a:t>’?</a:t>
            </a:r>
            <a:endParaRPr lang="en-SG" sz="2000" dirty="0">
              <a:solidFill>
                <a:srgbClr val="000000"/>
              </a:solidFill>
              <a:latin typeface="Arial" panose="020B0604020202020204" pitchFamily="34" charset="0"/>
              <a:ea typeface="SimSun" panose="02010600030101010101" pitchFamily="2" charset="-122"/>
            </a:endParaRPr>
          </a:p>
          <a:p>
            <a:pPr algn="just"/>
            <a:r>
              <a:rPr lang="en-US" dirty="0">
                <a:solidFill>
                  <a:srgbClr val="000000"/>
                </a:solidFill>
                <a:latin typeface="Arial" panose="020B0604020202020204" pitchFamily="34" charset="0"/>
                <a:ea typeface="SimSun" panose="02010600030101010101" pitchFamily="2" charset="-122"/>
              </a:rPr>
              <a:t> </a:t>
            </a:r>
            <a:endParaRPr lang="en-SG" dirty="0">
              <a:solidFill>
                <a:srgbClr val="000000"/>
              </a:solidFill>
              <a:latin typeface="Arial" panose="020B0604020202020204" pitchFamily="34" charset="0"/>
              <a:ea typeface="SimSun" panose="02010600030101010101" pitchFamily="2" charset="-122"/>
            </a:endParaRPr>
          </a:p>
          <a:p>
            <a:pPr marL="685800" lvl="1" indent="-342900" algn="just">
              <a:buFont typeface="+mj-lt"/>
              <a:buAutoNum type="alphaLcPeriod"/>
            </a:pPr>
            <a:r>
              <a:rPr lang="en-US" sz="2000" dirty="0">
                <a:solidFill>
                  <a:srgbClr val="000000"/>
                </a:solidFill>
                <a:latin typeface="Arial" panose="020B0604020202020204" pitchFamily="34" charset="0"/>
                <a:ea typeface="SimSun" panose="02010600030101010101" pitchFamily="2" charset="-122"/>
              </a:rPr>
              <a:t>A form of government that is typified by the rule of one person.</a:t>
            </a:r>
            <a:endParaRPr lang="en-SG" sz="2000" dirty="0">
              <a:solidFill>
                <a:srgbClr val="000000"/>
              </a:solidFill>
              <a:latin typeface="Arial" panose="020B0604020202020204" pitchFamily="34" charset="0"/>
              <a:ea typeface="SimSun" panose="02010600030101010101" pitchFamily="2" charset="-122"/>
            </a:endParaRPr>
          </a:p>
          <a:p>
            <a:pPr marL="685800" lvl="1" indent="-342900" algn="just">
              <a:buFont typeface="+mj-lt"/>
              <a:buAutoNum type="alphaLcPeriod"/>
            </a:pPr>
            <a:r>
              <a:rPr lang="en-US" sz="2000" dirty="0">
                <a:solidFill>
                  <a:srgbClr val="000000"/>
                </a:solidFill>
                <a:latin typeface="Arial" panose="020B0604020202020204" pitchFamily="34" charset="0"/>
                <a:ea typeface="SimSun" panose="02010600030101010101" pitchFamily="2" charset="-122"/>
              </a:rPr>
              <a:t>A political system in which citizens have no rights.</a:t>
            </a:r>
            <a:endParaRPr lang="en-SG" sz="2000" dirty="0">
              <a:solidFill>
                <a:srgbClr val="000000"/>
              </a:solidFill>
              <a:latin typeface="Arial" panose="020B0604020202020204" pitchFamily="34" charset="0"/>
              <a:ea typeface="SimSun" panose="02010600030101010101" pitchFamily="2" charset="-122"/>
            </a:endParaRPr>
          </a:p>
          <a:p>
            <a:pPr marL="685800" lvl="1" indent="-342900" algn="just">
              <a:buFont typeface="+mj-lt"/>
              <a:buAutoNum type="alphaLcPeriod"/>
            </a:pPr>
            <a:r>
              <a:rPr lang="en-US" sz="2000" dirty="0">
                <a:solidFill>
                  <a:srgbClr val="000000"/>
                </a:solidFill>
                <a:latin typeface="Arial" panose="020B0604020202020204" pitchFamily="34" charset="0"/>
                <a:ea typeface="SimSun" panose="02010600030101010101" pitchFamily="2" charset="-122"/>
              </a:rPr>
              <a:t>A political system in which citizens have no real power to challenge their government.</a:t>
            </a:r>
            <a:endParaRPr lang="en-SG" sz="2000" dirty="0">
              <a:solidFill>
                <a:srgbClr val="000000"/>
              </a:solidFill>
              <a:latin typeface="Arial" panose="020B0604020202020204" pitchFamily="34" charset="0"/>
              <a:ea typeface="SimSun" panose="02010600030101010101" pitchFamily="2" charset="-122"/>
            </a:endParaRPr>
          </a:p>
          <a:p>
            <a:pPr marL="685800" lvl="1" indent="-342900" algn="just">
              <a:buFont typeface="+mj-lt"/>
              <a:buAutoNum type="alphaLcPeriod"/>
            </a:pPr>
            <a:r>
              <a:rPr lang="en-US" sz="2000" dirty="0">
                <a:solidFill>
                  <a:srgbClr val="000000"/>
                </a:solidFill>
                <a:latin typeface="Arial" panose="020B0604020202020204" pitchFamily="34" charset="0"/>
                <a:ea typeface="SimSun" panose="02010600030101010101" pitchFamily="2" charset="-122"/>
              </a:rPr>
              <a:t>A state governed under a dictatorial system.</a:t>
            </a:r>
            <a:endParaRPr lang="en-SG" sz="2000" dirty="0">
              <a:solidFill>
                <a:srgbClr val="000000"/>
              </a:solidFill>
              <a:latin typeface="Arial" panose="020B0604020202020204" pitchFamily="34" charset="0"/>
              <a:ea typeface="SimSun" panose="02010600030101010101" pitchFamily="2" charset="-122"/>
            </a:endParaRPr>
          </a:p>
          <a:p>
            <a:pPr marL="685800" lvl="1" indent="-342900" algn="just">
              <a:buFont typeface="+mj-lt"/>
              <a:buAutoNum type="alphaLcPeriod"/>
            </a:pPr>
            <a:r>
              <a:rPr lang="en-US" sz="2000" dirty="0">
                <a:solidFill>
                  <a:srgbClr val="000000"/>
                </a:solidFill>
                <a:latin typeface="Arial" panose="020B0604020202020204" pitchFamily="34" charset="0"/>
                <a:ea typeface="SimSun" panose="02010600030101010101" pitchFamily="2" charset="-122"/>
              </a:rPr>
              <a:t>A state like that of the Russia of Putin or the Turkey of Erdogan.</a:t>
            </a:r>
            <a:endParaRPr lang="en-SG" sz="2000" dirty="0">
              <a:solidFill>
                <a:srgbClr val="000000"/>
              </a:solidFill>
              <a:latin typeface="Arial" panose="020B0604020202020204" pitchFamily="34" charset="0"/>
              <a:ea typeface="SimSun" panose="02010600030101010101" pitchFamily="2" charset="-122"/>
            </a:endParaRPr>
          </a:p>
        </p:txBody>
      </p:sp>
      <p:sp>
        <p:nvSpPr>
          <p:cNvPr id="2" name="Snip and Round Single Corner Rectangle 5">
            <a:extLst>
              <a:ext uri="{FF2B5EF4-FFF2-40B4-BE49-F238E27FC236}">
                <a16:creationId xmlns:a16="http://schemas.microsoft.com/office/drawing/2014/main" id="{1E5B657E-81C6-178C-F3ED-116C6EDC111F}"/>
              </a:ext>
            </a:extLst>
          </p:cNvPr>
          <p:cNvSpPr/>
          <p:nvPr/>
        </p:nvSpPr>
        <p:spPr>
          <a:xfrm>
            <a:off x="0" y="6477000"/>
            <a:ext cx="8863013" cy="323850"/>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eaLnBrk="0" hangingPunct="0">
              <a:spcBef>
                <a:spcPct val="20000"/>
              </a:spcBef>
              <a:buChar char="•"/>
              <a:tabLst>
                <a:tab pos="4389438" algn="l"/>
              </a:tabLst>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tabLst>
                <a:tab pos="4389438" algn="l"/>
              </a:tabLst>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tabLst>
                <a:tab pos="4389438" algn="l"/>
              </a:tabLst>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tabLst>
                <a:tab pos="4389438" algn="l"/>
              </a:tabLst>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tabLst>
                <a:tab pos="4389438" algn="l"/>
              </a:tabLst>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defRPr/>
            </a:pPr>
            <a:fld id="{1B1F8F8E-C6A8-412C-B091-B275DC93F50A}" type="slidenum">
              <a:rPr lang="en-US" altLang="en-US" sz="1300" smtClean="0">
                <a:solidFill>
                  <a:srgbClr val="FFFFFF"/>
                </a:solidFill>
                <a:latin typeface="Gill Sans MT" panose="020B0502020104020203" pitchFamily="34" charset="0"/>
                <a:ea typeface="MS PGothic" panose="020B0600070205080204" pitchFamily="34" charset="-128"/>
              </a:rPr>
              <a:pPr algn="r" eaLnBrk="1" hangingPunct="1">
                <a:spcBef>
                  <a:spcPct val="0"/>
                </a:spcBef>
                <a:buFontTx/>
                <a:buNone/>
                <a:defRPr/>
              </a:pPr>
              <a:t>45</a:t>
            </a:fld>
            <a:endParaRPr lang="en-US" altLang="en-US" sz="1300">
              <a:solidFill>
                <a:srgbClr val="FFFFFF"/>
              </a:solidFill>
              <a:latin typeface="Gill Sans MT" panose="020B0502020104020203" pitchFamily="34" charset="0"/>
              <a:ea typeface="MS PGothic" panose="020B0600070205080204" pitchFamily="34" charset="-128"/>
            </a:endParaRPr>
          </a:p>
        </p:txBody>
      </p:sp>
      <p:sp>
        <p:nvSpPr>
          <p:cNvPr id="5" name="Snip and Round Single Corner Rectangle 4">
            <a:extLst>
              <a:ext uri="{FF2B5EF4-FFF2-40B4-BE49-F238E27FC236}">
                <a16:creationId xmlns:a16="http://schemas.microsoft.com/office/drawing/2014/main" id="{2FB3EFC7-A27A-8CE4-9C1E-920263121BEE}"/>
              </a:ext>
            </a:extLst>
          </p:cNvPr>
          <p:cNvSpPr/>
          <p:nvPr/>
        </p:nvSpPr>
        <p:spPr>
          <a:xfrm>
            <a:off x="0" y="95250"/>
            <a:ext cx="8712200" cy="860425"/>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fontAlgn="base">
              <a:spcBef>
                <a:spcPct val="0"/>
              </a:spcBef>
              <a:spcAft>
                <a:spcPct val="0"/>
              </a:spcAft>
              <a:defRPr/>
            </a:pPr>
            <a:r>
              <a:rPr lang="en-US" sz="3600" b="1" spc="-113" dirty="0">
                <a:solidFill>
                  <a:prstClr val="white"/>
                </a:solidFill>
                <a:latin typeface="Gill Sans MT"/>
                <a:cs typeface="Gill Sans MT"/>
              </a:rPr>
              <a:t>Midterm preparation</a:t>
            </a:r>
          </a:p>
        </p:txBody>
      </p:sp>
    </p:spTree>
    <p:extLst>
      <p:ext uri="{BB962C8B-B14F-4D97-AF65-F5344CB8AC3E}">
        <p14:creationId xmlns:p14="http://schemas.microsoft.com/office/powerpoint/2010/main" val="21691847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4"/>
          <p:cNvSpPr>
            <a:spLocks noGrp="1" noChangeArrowheads="1"/>
          </p:cNvSpPr>
          <p:nvPr>
            <p:ph type="subTitle" idx="1"/>
          </p:nvPr>
        </p:nvSpPr>
        <p:spPr>
          <a:xfrm>
            <a:off x="431800" y="1528465"/>
            <a:ext cx="7848600" cy="4070105"/>
          </a:xfrm>
        </p:spPr>
        <p:txBody>
          <a:bodyPr>
            <a:noAutofit/>
          </a:bodyPr>
          <a:lstStyle/>
          <a:p>
            <a:pPr algn="l">
              <a:lnSpc>
                <a:spcPct val="110000"/>
              </a:lnSpc>
              <a:spcBef>
                <a:spcPts val="450"/>
              </a:spcBef>
              <a:spcAft>
                <a:spcPts val="450"/>
              </a:spcAft>
            </a:pPr>
            <a:r>
              <a:rPr lang="en-US" sz="1900" b="1" dirty="0"/>
              <a:t>Q1. Using </a:t>
            </a:r>
            <a:r>
              <a:rPr lang="en-US" sz="1900" b="1" u="sng" dirty="0"/>
              <a:t>only</a:t>
            </a:r>
            <a:r>
              <a:rPr lang="en-US" sz="1900" b="1" dirty="0"/>
              <a:t> the given numbers, diagram the following passage using only solid arrows and then answer the questions that follow.</a:t>
            </a:r>
            <a:endParaRPr lang="en-SG" sz="1900" dirty="0"/>
          </a:p>
          <a:p>
            <a:pPr algn="l">
              <a:lnSpc>
                <a:spcPct val="110000"/>
              </a:lnSpc>
              <a:spcBef>
                <a:spcPts val="450"/>
              </a:spcBef>
              <a:spcAft>
                <a:spcPts val="450"/>
              </a:spcAft>
            </a:pPr>
            <a:r>
              <a:rPr lang="en-US" sz="1900" dirty="0">
                <a:solidFill>
                  <a:schemeClr val="tx1">
                    <a:lumMod val="65000"/>
                    <a:lumOff val="35000"/>
                  </a:schemeClr>
                </a:solidFill>
              </a:rPr>
              <a:t>Since (1) lockdowns lead to a cessation of all social interaction and bring an end to all, but essential, in-person economic interaction, (2) lockdowns lead to immense economic and mental distress. (3) Anything that causes large scale economic and mental distress is, to some extent, socially undesirable. So (4) lockdowns are, to some extent, socially undesirable. But, for the same reasons that lockdowns cause hardship , (5) lockdowns are the only way of getting people to stay at home and (6) getting people to stay at home is the only way to stop the transmission of COVID-19, because (7) we don’t have a vaccine for it. It follows that (8) lockdowns are the only way of stopping the spread of COVID-19. And (9) stopping the spread of COVID-19 is socially desirable, so (10) in at least one respect, lockdowns are socially desirable. So, (11) lockdowns can for different reasons be socially desirable and undesirable. Of course, all said and done, (12) I still don’t like lockdowns. </a:t>
            </a:r>
            <a:endParaRPr lang="en-SG" sz="1900" dirty="0">
              <a:solidFill>
                <a:schemeClr val="tx1">
                  <a:lumMod val="65000"/>
                  <a:lumOff val="35000"/>
                </a:schemeClr>
              </a:solidFill>
            </a:endParaRPr>
          </a:p>
        </p:txBody>
      </p:sp>
      <p:sp>
        <p:nvSpPr>
          <p:cNvPr id="2" name="Snip and Round Single Corner Rectangle 5">
            <a:extLst>
              <a:ext uri="{FF2B5EF4-FFF2-40B4-BE49-F238E27FC236}">
                <a16:creationId xmlns:a16="http://schemas.microsoft.com/office/drawing/2014/main" id="{67E692DF-6177-D1C5-10CE-D85B63480E9B}"/>
              </a:ext>
            </a:extLst>
          </p:cNvPr>
          <p:cNvSpPr/>
          <p:nvPr/>
        </p:nvSpPr>
        <p:spPr>
          <a:xfrm>
            <a:off x="0" y="6477000"/>
            <a:ext cx="8863013" cy="323850"/>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eaLnBrk="0" hangingPunct="0">
              <a:spcBef>
                <a:spcPct val="20000"/>
              </a:spcBef>
              <a:buChar char="•"/>
              <a:tabLst>
                <a:tab pos="4389438" algn="l"/>
              </a:tabLst>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tabLst>
                <a:tab pos="4389438" algn="l"/>
              </a:tabLst>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tabLst>
                <a:tab pos="4389438" algn="l"/>
              </a:tabLst>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tabLst>
                <a:tab pos="4389438" algn="l"/>
              </a:tabLst>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tabLst>
                <a:tab pos="4389438" algn="l"/>
              </a:tabLst>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defRPr/>
            </a:pPr>
            <a:fld id="{1B1F8F8E-C6A8-412C-B091-B275DC93F50A}" type="slidenum">
              <a:rPr lang="en-US" altLang="en-US" sz="1300" smtClean="0">
                <a:solidFill>
                  <a:srgbClr val="FFFFFF"/>
                </a:solidFill>
                <a:latin typeface="Gill Sans MT" panose="020B0502020104020203" pitchFamily="34" charset="0"/>
                <a:ea typeface="MS PGothic" panose="020B0600070205080204" pitchFamily="34" charset="-128"/>
              </a:rPr>
              <a:pPr algn="r" eaLnBrk="1" hangingPunct="1">
                <a:spcBef>
                  <a:spcPct val="0"/>
                </a:spcBef>
                <a:buFontTx/>
                <a:buNone/>
                <a:defRPr/>
              </a:pPr>
              <a:t>46</a:t>
            </a:fld>
            <a:endParaRPr lang="en-US" altLang="en-US" sz="1300">
              <a:solidFill>
                <a:srgbClr val="FFFFFF"/>
              </a:solidFill>
              <a:latin typeface="Gill Sans MT" panose="020B0502020104020203" pitchFamily="34" charset="0"/>
              <a:ea typeface="MS PGothic" panose="020B0600070205080204" pitchFamily="34" charset="-128"/>
            </a:endParaRPr>
          </a:p>
        </p:txBody>
      </p:sp>
      <p:sp>
        <p:nvSpPr>
          <p:cNvPr id="4" name="Snip and Round Single Corner Rectangle 4">
            <a:extLst>
              <a:ext uri="{FF2B5EF4-FFF2-40B4-BE49-F238E27FC236}">
                <a16:creationId xmlns:a16="http://schemas.microsoft.com/office/drawing/2014/main" id="{155D28C9-DB44-CEB2-28AB-165E8757E7F0}"/>
              </a:ext>
            </a:extLst>
          </p:cNvPr>
          <p:cNvSpPr/>
          <p:nvPr/>
        </p:nvSpPr>
        <p:spPr>
          <a:xfrm>
            <a:off x="0" y="95250"/>
            <a:ext cx="8712200" cy="860425"/>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fontAlgn="base">
              <a:spcBef>
                <a:spcPct val="0"/>
              </a:spcBef>
              <a:spcAft>
                <a:spcPct val="0"/>
              </a:spcAft>
              <a:defRPr/>
            </a:pPr>
            <a:r>
              <a:rPr lang="en-US" sz="3600" b="1" spc="-113" dirty="0">
                <a:solidFill>
                  <a:prstClr val="white"/>
                </a:solidFill>
                <a:latin typeface="Gill Sans MT"/>
                <a:cs typeface="Gill Sans MT"/>
              </a:rPr>
              <a:t>Midterm preparation</a:t>
            </a:r>
          </a:p>
        </p:txBody>
      </p:sp>
      <p:sp>
        <p:nvSpPr>
          <p:cNvPr id="5" name="TextBox 4">
            <a:extLst>
              <a:ext uri="{FF2B5EF4-FFF2-40B4-BE49-F238E27FC236}">
                <a16:creationId xmlns:a16="http://schemas.microsoft.com/office/drawing/2014/main" id="{860070F2-4ED3-829E-3A07-0095663A7E3F}"/>
              </a:ext>
            </a:extLst>
          </p:cNvPr>
          <p:cNvSpPr txBox="1"/>
          <p:nvPr/>
        </p:nvSpPr>
        <p:spPr>
          <a:xfrm>
            <a:off x="2895917" y="1066800"/>
            <a:ext cx="3352165" cy="461665"/>
          </a:xfrm>
          <a:prstGeom prst="rect">
            <a:avLst/>
          </a:prstGeom>
          <a:noFill/>
        </p:spPr>
        <p:txBody>
          <a:bodyPr wrap="square">
            <a:spAutoFit/>
          </a:bodyPr>
          <a:lstStyle/>
          <a:p>
            <a:pPr eaLnBrk="1" hangingPunct="1">
              <a:buFontTx/>
              <a:buNone/>
            </a:pPr>
            <a:r>
              <a:rPr lang="en-US" altLang="en-US" sz="2400" b="1" dirty="0">
                <a:solidFill>
                  <a:srgbClr val="0099CC"/>
                </a:solidFill>
                <a:latin typeface="Gill Sans" charset="0"/>
              </a:rPr>
              <a:t>Section 3: Diagramming</a:t>
            </a:r>
          </a:p>
        </p:txBody>
      </p:sp>
    </p:spTree>
    <p:extLst>
      <p:ext uri="{BB962C8B-B14F-4D97-AF65-F5344CB8AC3E}">
        <p14:creationId xmlns:p14="http://schemas.microsoft.com/office/powerpoint/2010/main" val="23568990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E69804B-AE40-F8AF-D89D-E6C88FF7C485}"/>
              </a:ext>
            </a:extLst>
          </p:cNvPr>
          <p:cNvGrpSpPr/>
          <p:nvPr/>
        </p:nvGrpSpPr>
        <p:grpSpPr>
          <a:xfrm>
            <a:off x="910662" y="990600"/>
            <a:ext cx="7395138" cy="5358331"/>
            <a:chOff x="910662" y="990600"/>
            <a:chExt cx="7395138" cy="5358331"/>
          </a:xfrm>
        </p:grpSpPr>
        <p:sp>
          <p:nvSpPr>
            <p:cNvPr id="73" name="TextBox 4"/>
            <p:cNvSpPr txBox="1">
              <a:spLocks noChangeArrowheads="1"/>
            </p:cNvSpPr>
            <p:nvPr/>
          </p:nvSpPr>
          <p:spPr bwMode="auto">
            <a:xfrm>
              <a:off x="1379371" y="5043110"/>
              <a:ext cx="294633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hlink"/>
                  </a:solidFill>
                  <a:latin typeface="Times New Roman" charset="0"/>
                  <a:ea typeface="ＭＳ Ｐゴシック" charset="0"/>
                  <a:cs typeface="ＭＳ Ｐゴシック" charset="0"/>
                </a:defRPr>
              </a:lvl1pPr>
              <a:lvl2pPr marL="742950" indent="-285750" eaLnBrk="0" hangingPunct="0">
                <a:defRPr sz="2400">
                  <a:solidFill>
                    <a:schemeClr val="hlink"/>
                  </a:solidFill>
                  <a:latin typeface="Times New Roman" charset="0"/>
                  <a:ea typeface="ＭＳ Ｐゴシック" charset="0"/>
                </a:defRPr>
              </a:lvl2pPr>
              <a:lvl3pPr marL="1143000" indent="-228600" eaLnBrk="0" hangingPunct="0">
                <a:defRPr sz="2400">
                  <a:solidFill>
                    <a:schemeClr val="hlink"/>
                  </a:solidFill>
                  <a:latin typeface="Times New Roman" charset="0"/>
                  <a:ea typeface="ＭＳ Ｐゴシック" charset="0"/>
                </a:defRPr>
              </a:lvl3pPr>
              <a:lvl4pPr marL="1600200" indent="-228600" eaLnBrk="0" hangingPunct="0">
                <a:defRPr sz="2400">
                  <a:solidFill>
                    <a:schemeClr val="hlink"/>
                  </a:solidFill>
                  <a:latin typeface="Times New Roman" charset="0"/>
                  <a:ea typeface="ＭＳ Ｐゴシック" charset="0"/>
                </a:defRPr>
              </a:lvl4pPr>
              <a:lvl5pPr marL="2057400" indent="-228600" eaLnBrk="0" hangingPunct="0">
                <a:defRPr sz="2400">
                  <a:solidFill>
                    <a:schemeClr val="hlink"/>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hlink"/>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hlink"/>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hlink"/>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hlink"/>
                  </a:solidFill>
                  <a:latin typeface="Times New Roman" charset="0"/>
                  <a:ea typeface="ＭＳ Ｐゴシック" charset="0"/>
                </a:defRPr>
              </a:lvl9pPr>
            </a:lstStyle>
            <a:p>
              <a:pPr algn="ctr" eaLnBrk="1" hangingPunct="1"/>
              <a:r>
                <a:rPr lang="en-US" sz="1600" dirty="0">
                  <a:solidFill>
                    <a:srgbClr val="0099CC"/>
                  </a:solidFill>
                  <a:latin typeface="Gill Sans Light"/>
                  <a:cs typeface="Gill Sans Light"/>
                </a:rPr>
                <a:t>10. In at least one respect, lockdowns are socially desirable</a:t>
              </a:r>
            </a:p>
          </p:txBody>
        </p:sp>
        <p:sp>
          <p:nvSpPr>
            <p:cNvPr id="75" name="TextBox 74"/>
            <p:cNvSpPr txBox="1"/>
            <p:nvPr/>
          </p:nvSpPr>
          <p:spPr bwMode="auto">
            <a:xfrm>
              <a:off x="1280378" y="5979599"/>
              <a:ext cx="7025418" cy="369332"/>
            </a:xfrm>
            <a:prstGeom prst="rect">
              <a:avLst/>
            </a:prstGeom>
            <a:noFill/>
          </p:spPr>
          <p:txBody>
            <a:bodyPr wrap="square">
              <a:spAutoFit/>
            </a:bodyPr>
            <a:lstStyle/>
            <a:p>
              <a:pPr lvl="0" algn="ctr" fontAlgn="base">
                <a:spcBef>
                  <a:spcPct val="0"/>
                </a:spcBef>
                <a:spcAft>
                  <a:spcPct val="0"/>
                </a:spcAft>
                <a:defRPr/>
              </a:pPr>
              <a:r>
                <a:rPr lang="en-US" sz="1800" dirty="0">
                  <a:solidFill>
                    <a:srgbClr val="EB6615"/>
                  </a:solidFill>
                  <a:latin typeface="Gill Sans Light"/>
                  <a:ea typeface="ＭＳ Ｐゴシック" charset="0"/>
                  <a:cs typeface="Gill Sans Light"/>
                </a:rPr>
                <a:t>(11)Lockdowns can for different reasons be socially desirable and undesirable</a:t>
              </a:r>
            </a:p>
          </p:txBody>
        </p:sp>
        <p:sp>
          <p:nvSpPr>
            <p:cNvPr id="76" name="TextBox 75"/>
            <p:cNvSpPr txBox="1"/>
            <p:nvPr/>
          </p:nvSpPr>
          <p:spPr bwMode="auto">
            <a:xfrm>
              <a:off x="4489115" y="4955388"/>
              <a:ext cx="310277" cy="346249"/>
            </a:xfrm>
            <a:prstGeom prst="rect">
              <a:avLst/>
            </a:prstGeom>
            <a:noFill/>
          </p:spPr>
          <p:txBody>
            <a:bodyPr wrap="square">
              <a:spAutoFit/>
            </a:bodyPr>
            <a:lstStyle/>
            <a:p>
              <a:pPr algn="ctr">
                <a:defRPr/>
              </a:pPr>
              <a:r>
                <a:rPr lang="en-US" sz="1650" dirty="0">
                  <a:ln>
                    <a:solidFill>
                      <a:prstClr val="black">
                        <a:lumMod val="65000"/>
                        <a:lumOff val="35000"/>
                      </a:prstClr>
                    </a:solidFill>
                  </a:ln>
                  <a:solidFill>
                    <a:srgbClr val="5F5F5F"/>
                  </a:solidFill>
                  <a:latin typeface="Gill Sans"/>
                  <a:cs typeface="Gill Sans"/>
                </a:rPr>
                <a:t>+</a:t>
              </a:r>
            </a:p>
          </p:txBody>
        </p:sp>
        <p:sp>
          <p:nvSpPr>
            <p:cNvPr id="77" name="TextBox 4"/>
            <p:cNvSpPr txBox="1">
              <a:spLocks noChangeArrowheads="1"/>
            </p:cNvSpPr>
            <p:nvPr/>
          </p:nvSpPr>
          <p:spPr bwMode="auto">
            <a:xfrm>
              <a:off x="4880953" y="5043110"/>
              <a:ext cx="27432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hlink"/>
                  </a:solidFill>
                  <a:latin typeface="Times New Roman" charset="0"/>
                  <a:ea typeface="ＭＳ Ｐゴシック" charset="0"/>
                  <a:cs typeface="ＭＳ Ｐゴシック" charset="0"/>
                </a:defRPr>
              </a:lvl1pPr>
              <a:lvl2pPr marL="742950" indent="-285750" eaLnBrk="0" hangingPunct="0">
                <a:defRPr sz="2400">
                  <a:solidFill>
                    <a:schemeClr val="hlink"/>
                  </a:solidFill>
                  <a:latin typeface="Times New Roman" charset="0"/>
                  <a:ea typeface="ＭＳ Ｐゴシック" charset="0"/>
                </a:defRPr>
              </a:lvl2pPr>
              <a:lvl3pPr marL="1143000" indent="-228600" eaLnBrk="0" hangingPunct="0">
                <a:defRPr sz="2400">
                  <a:solidFill>
                    <a:schemeClr val="hlink"/>
                  </a:solidFill>
                  <a:latin typeface="Times New Roman" charset="0"/>
                  <a:ea typeface="ＭＳ Ｐゴシック" charset="0"/>
                </a:defRPr>
              </a:lvl3pPr>
              <a:lvl4pPr marL="1600200" indent="-228600" eaLnBrk="0" hangingPunct="0">
                <a:defRPr sz="2400">
                  <a:solidFill>
                    <a:schemeClr val="hlink"/>
                  </a:solidFill>
                  <a:latin typeface="Times New Roman" charset="0"/>
                  <a:ea typeface="ＭＳ Ｐゴシック" charset="0"/>
                </a:defRPr>
              </a:lvl4pPr>
              <a:lvl5pPr marL="2057400" indent="-228600" eaLnBrk="0" hangingPunct="0">
                <a:defRPr sz="2400">
                  <a:solidFill>
                    <a:schemeClr val="hlink"/>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hlink"/>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hlink"/>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hlink"/>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hlink"/>
                  </a:solidFill>
                  <a:latin typeface="Times New Roman" charset="0"/>
                  <a:ea typeface="ＭＳ Ｐゴシック" charset="0"/>
                </a:defRPr>
              </a:lvl9pPr>
            </a:lstStyle>
            <a:p>
              <a:pPr algn="ctr" eaLnBrk="1" hangingPunct="1"/>
              <a:r>
                <a:rPr lang="en-US" sz="1600" dirty="0">
                  <a:solidFill>
                    <a:srgbClr val="0099CC"/>
                  </a:solidFill>
                  <a:latin typeface="Gill Sans Light"/>
                  <a:cs typeface="+mn-cs"/>
                </a:rPr>
                <a:t>4. Lockdowns are, to some extent, socially undesirable</a:t>
              </a:r>
            </a:p>
          </p:txBody>
        </p:sp>
        <p:grpSp>
          <p:nvGrpSpPr>
            <p:cNvPr id="7" name="Group 6"/>
            <p:cNvGrpSpPr/>
            <p:nvPr/>
          </p:nvGrpSpPr>
          <p:grpSpPr>
            <a:xfrm>
              <a:off x="1280378" y="5720909"/>
              <a:ext cx="6276975" cy="231866"/>
              <a:chOff x="1691607" y="5806531"/>
              <a:chExt cx="8369300" cy="309154"/>
            </a:xfrm>
          </p:grpSpPr>
          <p:cxnSp>
            <p:nvCxnSpPr>
              <p:cNvPr id="53" name="Straight Arrow Connector 52"/>
              <p:cNvCxnSpPr/>
              <p:nvPr/>
            </p:nvCxnSpPr>
            <p:spPr bwMode="auto">
              <a:xfrm flipH="1">
                <a:off x="6153339" y="5806531"/>
                <a:ext cx="0" cy="309154"/>
              </a:xfrm>
              <a:prstGeom prst="straightConnector1">
                <a:avLst/>
              </a:prstGeom>
              <a:ln w="28575" cmpd="sng">
                <a:solidFill>
                  <a:schemeClr val="tx1">
                    <a:lumMod val="65000"/>
                    <a:lumOff val="3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78" name="Straight Connector 77"/>
              <p:cNvCxnSpPr/>
              <p:nvPr/>
            </p:nvCxnSpPr>
            <p:spPr bwMode="auto">
              <a:xfrm flipV="1">
                <a:off x="1691607" y="5836888"/>
                <a:ext cx="8369300" cy="8709"/>
              </a:xfrm>
              <a:prstGeom prst="line">
                <a:avLst/>
              </a:prstGeom>
              <a:ln w="19050" cmpd="sng">
                <a:solidFill>
                  <a:schemeClr val="tx1">
                    <a:lumMod val="65000"/>
                    <a:lumOff val="35000"/>
                  </a:schemeClr>
                </a:solidFill>
              </a:ln>
              <a:effectLst/>
            </p:spPr>
            <p:style>
              <a:lnRef idx="2">
                <a:schemeClr val="accent1"/>
              </a:lnRef>
              <a:fillRef idx="0">
                <a:schemeClr val="accent1"/>
              </a:fillRef>
              <a:effectRef idx="1">
                <a:schemeClr val="accent1"/>
              </a:effectRef>
              <a:fontRef idx="minor">
                <a:schemeClr val="tx1"/>
              </a:fontRef>
            </p:style>
          </p:cxnSp>
        </p:grpSp>
        <p:sp>
          <p:nvSpPr>
            <p:cNvPr id="81" name="TextBox 4"/>
            <p:cNvSpPr txBox="1">
              <a:spLocks noChangeArrowheads="1"/>
            </p:cNvSpPr>
            <p:nvPr/>
          </p:nvSpPr>
          <p:spPr bwMode="auto">
            <a:xfrm>
              <a:off x="3631975" y="990600"/>
              <a:ext cx="467382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hlink"/>
                  </a:solidFill>
                  <a:latin typeface="Times New Roman" charset="0"/>
                  <a:ea typeface="ＭＳ Ｐゴシック" charset="0"/>
                  <a:cs typeface="ＭＳ Ｐゴシック" charset="0"/>
                </a:defRPr>
              </a:lvl1pPr>
              <a:lvl2pPr marL="742950" indent="-285750" eaLnBrk="0" hangingPunct="0">
                <a:defRPr sz="2400">
                  <a:solidFill>
                    <a:schemeClr val="hlink"/>
                  </a:solidFill>
                  <a:latin typeface="Times New Roman" charset="0"/>
                  <a:ea typeface="ＭＳ Ｐゴシック" charset="0"/>
                </a:defRPr>
              </a:lvl2pPr>
              <a:lvl3pPr marL="1143000" indent="-228600" eaLnBrk="0" hangingPunct="0">
                <a:defRPr sz="2400">
                  <a:solidFill>
                    <a:schemeClr val="hlink"/>
                  </a:solidFill>
                  <a:latin typeface="Times New Roman" charset="0"/>
                  <a:ea typeface="ＭＳ Ｐゴシック" charset="0"/>
                </a:defRPr>
              </a:lvl3pPr>
              <a:lvl4pPr marL="1600200" indent="-228600" eaLnBrk="0" hangingPunct="0">
                <a:defRPr sz="2400">
                  <a:solidFill>
                    <a:schemeClr val="hlink"/>
                  </a:solidFill>
                  <a:latin typeface="Times New Roman" charset="0"/>
                  <a:ea typeface="ＭＳ Ｐゴシック" charset="0"/>
                </a:defRPr>
              </a:lvl4pPr>
              <a:lvl5pPr marL="2057400" indent="-228600" eaLnBrk="0" hangingPunct="0">
                <a:defRPr sz="2400">
                  <a:solidFill>
                    <a:schemeClr val="hlink"/>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hlink"/>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hlink"/>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hlink"/>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hlink"/>
                  </a:solidFill>
                  <a:latin typeface="Times New Roman" charset="0"/>
                  <a:ea typeface="ＭＳ Ｐゴシック" charset="0"/>
                </a:defRPr>
              </a:lvl9pPr>
            </a:lstStyle>
            <a:p>
              <a:pPr algn="ctr" eaLnBrk="1" hangingPunct="1"/>
              <a:r>
                <a:rPr lang="en-US" sz="1600" dirty="0">
                  <a:solidFill>
                    <a:srgbClr val="0099CC"/>
                  </a:solidFill>
                  <a:latin typeface="Gill Sans Light"/>
                  <a:cs typeface="Gill Sans Light"/>
                </a:rPr>
                <a:t>1. Lockdowns lead to a cessation of all social interaction and bring an end to all, but essential, in-person economic interaction</a:t>
              </a:r>
            </a:p>
          </p:txBody>
        </p:sp>
        <p:sp>
          <p:nvSpPr>
            <p:cNvPr id="83" name="TextBox 4"/>
            <p:cNvSpPr txBox="1">
              <a:spLocks noChangeArrowheads="1"/>
            </p:cNvSpPr>
            <p:nvPr/>
          </p:nvSpPr>
          <p:spPr bwMode="auto">
            <a:xfrm>
              <a:off x="4668467" y="3052920"/>
              <a:ext cx="1500199"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hlink"/>
                  </a:solidFill>
                  <a:latin typeface="Times New Roman" charset="0"/>
                  <a:ea typeface="ＭＳ Ｐゴシック" charset="0"/>
                  <a:cs typeface="ＭＳ Ｐゴシック" charset="0"/>
                </a:defRPr>
              </a:lvl1pPr>
              <a:lvl2pPr marL="742950" indent="-285750" eaLnBrk="0" hangingPunct="0">
                <a:defRPr sz="2400">
                  <a:solidFill>
                    <a:schemeClr val="hlink"/>
                  </a:solidFill>
                  <a:latin typeface="Times New Roman" charset="0"/>
                  <a:ea typeface="ＭＳ Ｐゴシック" charset="0"/>
                </a:defRPr>
              </a:lvl2pPr>
              <a:lvl3pPr marL="1143000" indent="-228600" eaLnBrk="0" hangingPunct="0">
                <a:defRPr sz="2400">
                  <a:solidFill>
                    <a:schemeClr val="hlink"/>
                  </a:solidFill>
                  <a:latin typeface="Times New Roman" charset="0"/>
                  <a:ea typeface="ＭＳ Ｐゴシック" charset="0"/>
                </a:defRPr>
              </a:lvl3pPr>
              <a:lvl4pPr marL="1600200" indent="-228600" eaLnBrk="0" hangingPunct="0">
                <a:defRPr sz="2400">
                  <a:solidFill>
                    <a:schemeClr val="hlink"/>
                  </a:solidFill>
                  <a:latin typeface="Times New Roman" charset="0"/>
                  <a:ea typeface="ＭＳ Ｐゴシック" charset="0"/>
                </a:defRPr>
              </a:lvl4pPr>
              <a:lvl5pPr marL="2057400" indent="-228600" eaLnBrk="0" hangingPunct="0">
                <a:defRPr sz="2400">
                  <a:solidFill>
                    <a:schemeClr val="hlink"/>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hlink"/>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hlink"/>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hlink"/>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hlink"/>
                  </a:solidFill>
                  <a:latin typeface="Times New Roman" charset="0"/>
                  <a:ea typeface="ＭＳ Ｐゴシック" charset="0"/>
                </a:defRPr>
              </a:lvl9pPr>
            </a:lstStyle>
            <a:p>
              <a:pPr algn="ctr" eaLnBrk="1" hangingPunct="1"/>
              <a:r>
                <a:rPr lang="en-US" sz="1600" dirty="0">
                  <a:solidFill>
                    <a:srgbClr val="0099CC"/>
                  </a:solidFill>
                  <a:latin typeface="Gill Sans Light"/>
                  <a:cs typeface="+mn-cs"/>
                </a:rPr>
                <a:t>2. Lockdowns lead to immense economic and mental distress</a:t>
              </a:r>
            </a:p>
          </p:txBody>
        </p:sp>
        <p:grpSp>
          <p:nvGrpSpPr>
            <p:cNvPr id="21" name="Group 20"/>
            <p:cNvGrpSpPr/>
            <p:nvPr/>
          </p:nvGrpSpPr>
          <p:grpSpPr>
            <a:xfrm>
              <a:off x="1151163" y="3952299"/>
              <a:ext cx="3652038" cy="1065673"/>
              <a:chOff x="1501191" y="3944212"/>
              <a:chExt cx="4869384" cy="1420897"/>
            </a:xfrm>
          </p:grpSpPr>
          <p:sp>
            <p:nvSpPr>
              <p:cNvPr id="24" name="TextBox 4"/>
              <p:cNvSpPr txBox="1">
                <a:spLocks noChangeArrowheads="1"/>
              </p:cNvSpPr>
              <p:nvPr/>
            </p:nvSpPr>
            <p:spPr bwMode="auto">
              <a:xfrm>
                <a:off x="1501191" y="4011241"/>
                <a:ext cx="2663971"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hlink"/>
                    </a:solidFill>
                    <a:latin typeface="Times New Roman" charset="0"/>
                    <a:ea typeface="ＭＳ Ｐゴシック" charset="0"/>
                    <a:cs typeface="ＭＳ Ｐゴシック" charset="0"/>
                  </a:defRPr>
                </a:lvl1pPr>
                <a:lvl2pPr marL="742950" indent="-285750" eaLnBrk="0" hangingPunct="0">
                  <a:defRPr sz="2400">
                    <a:solidFill>
                      <a:schemeClr val="hlink"/>
                    </a:solidFill>
                    <a:latin typeface="Times New Roman" charset="0"/>
                    <a:ea typeface="ＭＳ Ｐゴシック" charset="0"/>
                  </a:defRPr>
                </a:lvl2pPr>
                <a:lvl3pPr marL="1143000" indent="-228600" eaLnBrk="0" hangingPunct="0">
                  <a:defRPr sz="2400">
                    <a:solidFill>
                      <a:schemeClr val="hlink"/>
                    </a:solidFill>
                    <a:latin typeface="Times New Roman" charset="0"/>
                    <a:ea typeface="ＭＳ Ｐゴシック" charset="0"/>
                  </a:defRPr>
                </a:lvl3pPr>
                <a:lvl4pPr marL="1600200" indent="-228600" eaLnBrk="0" hangingPunct="0">
                  <a:defRPr sz="2400">
                    <a:solidFill>
                      <a:schemeClr val="hlink"/>
                    </a:solidFill>
                    <a:latin typeface="Times New Roman" charset="0"/>
                    <a:ea typeface="ＭＳ Ｐゴシック" charset="0"/>
                  </a:defRPr>
                </a:lvl4pPr>
                <a:lvl5pPr marL="2057400" indent="-228600" eaLnBrk="0" hangingPunct="0">
                  <a:defRPr sz="2400">
                    <a:solidFill>
                      <a:schemeClr val="hlink"/>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hlink"/>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hlink"/>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hlink"/>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hlink"/>
                    </a:solidFill>
                    <a:latin typeface="Times New Roman" charset="0"/>
                    <a:ea typeface="ＭＳ Ｐゴシック" charset="0"/>
                  </a:defRPr>
                </a:lvl9pPr>
              </a:lstStyle>
              <a:p>
                <a:pPr algn="ctr" eaLnBrk="1" hangingPunct="1">
                  <a:defRPr/>
                </a:pPr>
                <a:r>
                  <a:rPr lang="en-US" sz="1400" dirty="0">
                    <a:solidFill>
                      <a:srgbClr val="0099CC"/>
                    </a:solidFill>
                    <a:latin typeface="Gill Sans Light"/>
                    <a:cs typeface="Gill Sans Light"/>
                  </a:rPr>
                  <a:t>8. Lockdowns are the only way of stopping the spread of COVID-19</a:t>
                </a:r>
              </a:p>
            </p:txBody>
          </p:sp>
          <p:sp>
            <p:nvSpPr>
              <p:cNvPr id="25" name="TextBox 4"/>
              <p:cNvSpPr txBox="1">
                <a:spLocks noChangeArrowheads="1"/>
              </p:cNvSpPr>
              <p:nvPr/>
            </p:nvSpPr>
            <p:spPr bwMode="auto">
              <a:xfrm>
                <a:off x="4131931" y="3944212"/>
                <a:ext cx="2238644"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hlink"/>
                    </a:solidFill>
                    <a:latin typeface="Times New Roman" charset="0"/>
                    <a:ea typeface="ＭＳ Ｐゴシック" charset="0"/>
                    <a:cs typeface="ＭＳ Ｐゴシック" charset="0"/>
                  </a:defRPr>
                </a:lvl1pPr>
                <a:lvl2pPr marL="742950" indent="-285750" eaLnBrk="0" hangingPunct="0">
                  <a:defRPr sz="2400">
                    <a:solidFill>
                      <a:schemeClr val="hlink"/>
                    </a:solidFill>
                    <a:latin typeface="Times New Roman" charset="0"/>
                    <a:ea typeface="ＭＳ Ｐゴシック" charset="0"/>
                  </a:defRPr>
                </a:lvl2pPr>
                <a:lvl3pPr marL="1143000" indent="-228600" eaLnBrk="0" hangingPunct="0">
                  <a:defRPr sz="2400">
                    <a:solidFill>
                      <a:schemeClr val="hlink"/>
                    </a:solidFill>
                    <a:latin typeface="Times New Roman" charset="0"/>
                    <a:ea typeface="ＭＳ Ｐゴシック" charset="0"/>
                  </a:defRPr>
                </a:lvl3pPr>
                <a:lvl4pPr marL="1600200" indent="-228600" eaLnBrk="0" hangingPunct="0">
                  <a:defRPr sz="2400">
                    <a:solidFill>
                      <a:schemeClr val="hlink"/>
                    </a:solidFill>
                    <a:latin typeface="Times New Roman" charset="0"/>
                    <a:ea typeface="ＭＳ Ｐゴシック" charset="0"/>
                  </a:defRPr>
                </a:lvl4pPr>
                <a:lvl5pPr marL="2057400" indent="-228600" eaLnBrk="0" hangingPunct="0">
                  <a:defRPr sz="2400">
                    <a:solidFill>
                      <a:schemeClr val="hlink"/>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hlink"/>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hlink"/>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hlink"/>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hlink"/>
                    </a:solidFill>
                    <a:latin typeface="Times New Roman" charset="0"/>
                    <a:ea typeface="ＭＳ Ｐゴシック" charset="0"/>
                  </a:defRPr>
                </a:lvl9pPr>
              </a:lstStyle>
              <a:p>
                <a:pPr algn="ctr" eaLnBrk="1" hangingPunct="1">
                  <a:defRPr/>
                </a:pPr>
                <a:r>
                  <a:rPr lang="en-US" sz="1400" dirty="0">
                    <a:solidFill>
                      <a:srgbClr val="0099CC"/>
                    </a:solidFill>
                    <a:latin typeface="Gill Sans Light"/>
                    <a:cs typeface="Gill Sans Light"/>
                  </a:rPr>
                  <a:t>9. Stopping the spread of COVID-19 is socially desirable</a:t>
                </a:r>
              </a:p>
            </p:txBody>
          </p:sp>
          <p:grpSp>
            <p:nvGrpSpPr>
              <p:cNvPr id="26" name="Group 25"/>
              <p:cNvGrpSpPr/>
              <p:nvPr/>
            </p:nvGrpSpPr>
            <p:grpSpPr>
              <a:xfrm>
                <a:off x="1584607" y="4929097"/>
                <a:ext cx="4633314" cy="436012"/>
                <a:chOff x="1866900" y="5806531"/>
                <a:chExt cx="8369300" cy="436012"/>
              </a:xfrm>
            </p:grpSpPr>
            <p:cxnSp>
              <p:nvCxnSpPr>
                <p:cNvPr id="27" name="Straight Arrow Connector 26"/>
                <p:cNvCxnSpPr/>
                <p:nvPr/>
              </p:nvCxnSpPr>
              <p:spPr bwMode="auto">
                <a:xfrm flipH="1">
                  <a:off x="6133225" y="5815240"/>
                  <a:ext cx="0" cy="427303"/>
                </a:xfrm>
                <a:prstGeom prst="straightConnector1">
                  <a:avLst/>
                </a:prstGeom>
                <a:ln w="28575" cmpd="sng">
                  <a:solidFill>
                    <a:schemeClr val="tx1">
                      <a:lumMod val="65000"/>
                      <a:lumOff val="3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p:nvCxnSpPr>
              <p:spPr bwMode="auto">
                <a:xfrm flipV="1">
                  <a:off x="1866900" y="5806531"/>
                  <a:ext cx="8369300" cy="8709"/>
                </a:xfrm>
                <a:prstGeom prst="line">
                  <a:avLst/>
                </a:prstGeom>
                <a:ln w="19050" cmpd="sng">
                  <a:solidFill>
                    <a:schemeClr val="tx1">
                      <a:lumMod val="65000"/>
                      <a:lumOff val="35000"/>
                    </a:schemeClr>
                  </a:solidFill>
                </a:ln>
                <a:effectLst/>
              </p:spPr>
              <p:style>
                <a:lnRef idx="2">
                  <a:schemeClr val="accent1"/>
                </a:lnRef>
                <a:fillRef idx="0">
                  <a:schemeClr val="accent1"/>
                </a:fillRef>
                <a:effectRef idx="1">
                  <a:schemeClr val="accent1"/>
                </a:effectRef>
                <a:fontRef idx="minor">
                  <a:schemeClr val="tx1"/>
                </a:fontRef>
              </p:style>
            </p:cxnSp>
          </p:grpSp>
          <p:sp>
            <p:nvSpPr>
              <p:cNvPr id="29" name="TextBox 28"/>
              <p:cNvSpPr txBox="1"/>
              <p:nvPr/>
            </p:nvSpPr>
            <p:spPr bwMode="auto">
              <a:xfrm>
                <a:off x="3763162" y="4538548"/>
                <a:ext cx="609600" cy="461665"/>
              </a:xfrm>
              <a:prstGeom prst="rect">
                <a:avLst/>
              </a:prstGeom>
              <a:noFill/>
            </p:spPr>
            <p:txBody>
              <a:bodyPr>
                <a:spAutoFit/>
              </a:bodyPr>
              <a:lstStyle/>
              <a:p>
                <a:pPr algn="ctr">
                  <a:defRPr/>
                </a:pPr>
                <a:r>
                  <a:rPr lang="en-US" sz="1650" dirty="0">
                    <a:ln>
                      <a:solidFill>
                        <a:prstClr val="black">
                          <a:lumMod val="65000"/>
                          <a:lumOff val="35000"/>
                        </a:prstClr>
                      </a:solidFill>
                    </a:ln>
                    <a:solidFill>
                      <a:srgbClr val="5F5F5F"/>
                    </a:solidFill>
                    <a:latin typeface="Gill Sans"/>
                    <a:cs typeface="Gill Sans"/>
                  </a:rPr>
                  <a:t>+</a:t>
                </a:r>
              </a:p>
            </p:txBody>
          </p:sp>
        </p:grpSp>
        <p:grpSp>
          <p:nvGrpSpPr>
            <p:cNvPr id="35" name="Group 34"/>
            <p:cNvGrpSpPr/>
            <p:nvPr/>
          </p:nvGrpSpPr>
          <p:grpSpPr>
            <a:xfrm>
              <a:off x="4767817" y="4178271"/>
              <a:ext cx="3216759" cy="715341"/>
              <a:chOff x="2192451" y="5711197"/>
              <a:chExt cx="8369300" cy="1837232"/>
            </a:xfrm>
          </p:grpSpPr>
          <p:cxnSp>
            <p:nvCxnSpPr>
              <p:cNvPr id="36" name="Straight Arrow Connector 35"/>
              <p:cNvCxnSpPr/>
              <p:nvPr/>
            </p:nvCxnSpPr>
            <p:spPr bwMode="auto">
              <a:xfrm flipH="1">
                <a:off x="6453818" y="5711197"/>
                <a:ext cx="0" cy="1837232"/>
              </a:xfrm>
              <a:prstGeom prst="straightConnector1">
                <a:avLst/>
              </a:prstGeom>
              <a:ln w="28575" cmpd="sng">
                <a:solidFill>
                  <a:schemeClr val="tx1">
                    <a:lumMod val="65000"/>
                    <a:lumOff val="3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p:nvCxnSpPr>
            <p:spPr bwMode="auto">
              <a:xfrm flipV="1">
                <a:off x="2192451" y="5711197"/>
                <a:ext cx="8369300" cy="8709"/>
              </a:xfrm>
              <a:prstGeom prst="line">
                <a:avLst/>
              </a:prstGeom>
              <a:ln w="19050" cmpd="sng">
                <a:solidFill>
                  <a:schemeClr val="tx1">
                    <a:lumMod val="65000"/>
                    <a:lumOff val="35000"/>
                  </a:schemeClr>
                </a:solidFill>
              </a:ln>
              <a:effectLst/>
            </p:spPr>
            <p:style>
              <a:lnRef idx="2">
                <a:schemeClr val="accent1"/>
              </a:lnRef>
              <a:fillRef idx="0">
                <a:schemeClr val="accent1"/>
              </a:fillRef>
              <a:effectRef idx="1">
                <a:schemeClr val="accent1"/>
              </a:effectRef>
              <a:fontRef idx="minor">
                <a:schemeClr val="tx1"/>
              </a:fontRef>
            </p:style>
          </p:cxnSp>
        </p:grpSp>
        <p:grpSp>
          <p:nvGrpSpPr>
            <p:cNvPr id="19" name="Group 18"/>
            <p:cNvGrpSpPr/>
            <p:nvPr/>
          </p:nvGrpSpPr>
          <p:grpSpPr>
            <a:xfrm>
              <a:off x="1119714" y="2174290"/>
              <a:ext cx="3645777" cy="1912575"/>
              <a:chOff x="1476488" y="1904944"/>
              <a:chExt cx="4861035" cy="2550099"/>
            </a:xfrm>
          </p:grpSpPr>
          <p:sp>
            <p:nvSpPr>
              <p:cNvPr id="3" name="Rectangle 2"/>
              <p:cNvSpPr/>
              <p:nvPr/>
            </p:nvSpPr>
            <p:spPr>
              <a:xfrm>
                <a:off x="4560974" y="1937839"/>
                <a:ext cx="1776549" cy="1764585"/>
              </a:xfrm>
              <a:prstGeom prst="rect">
                <a:avLst/>
              </a:prstGeom>
            </p:spPr>
            <p:txBody>
              <a:bodyPr wrap="square">
                <a:spAutoFit/>
              </a:bodyPr>
              <a:lstStyle/>
              <a:p>
                <a:pPr algn="ctr"/>
                <a:r>
                  <a:rPr lang="en-US" altLang="en-US" sz="1600" dirty="0">
                    <a:solidFill>
                      <a:srgbClr val="0099CC"/>
                    </a:solidFill>
                    <a:latin typeface="Gill Sans Light"/>
                    <a:ea typeface="ＭＳ Ｐゴシック" charset="0"/>
                  </a:rPr>
                  <a:t>5. Lockdowns are the only way of getting people to stay at home</a:t>
                </a:r>
                <a:endParaRPr lang="en-GB" altLang="en-US" sz="1600" dirty="0">
                  <a:solidFill>
                    <a:srgbClr val="0099CC"/>
                  </a:solidFill>
                  <a:latin typeface="Gill Sans Light"/>
                  <a:ea typeface="ＭＳ Ｐゴシック" charset="0"/>
                </a:endParaRPr>
              </a:p>
            </p:txBody>
          </p:sp>
          <p:grpSp>
            <p:nvGrpSpPr>
              <p:cNvPr id="30" name="Group 29"/>
              <p:cNvGrpSpPr/>
              <p:nvPr/>
            </p:nvGrpSpPr>
            <p:grpSpPr>
              <a:xfrm>
                <a:off x="1476488" y="3988691"/>
                <a:ext cx="4413991" cy="466352"/>
                <a:chOff x="1368495" y="6025410"/>
                <a:chExt cx="8369300" cy="466352"/>
              </a:xfrm>
            </p:grpSpPr>
            <p:cxnSp>
              <p:nvCxnSpPr>
                <p:cNvPr id="31" name="Straight Arrow Connector 30"/>
                <p:cNvCxnSpPr>
                  <a:endCxn id="24" idx="0"/>
                </p:cNvCxnSpPr>
                <p:nvPr/>
              </p:nvCxnSpPr>
              <p:spPr bwMode="auto">
                <a:xfrm>
                  <a:off x="4045473" y="6092439"/>
                  <a:ext cx="9619" cy="399323"/>
                </a:xfrm>
                <a:prstGeom prst="straightConnector1">
                  <a:avLst/>
                </a:prstGeom>
                <a:ln w="28575" cmpd="sng">
                  <a:solidFill>
                    <a:schemeClr val="tx1">
                      <a:lumMod val="65000"/>
                      <a:lumOff val="3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bwMode="auto">
                <a:xfrm flipV="1">
                  <a:off x="1368495" y="6025410"/>
                  <a:ext cx="8369300" cy="8709"/>
                </a:xfrm>
                <a:prstGeom prst="line">
                  <a:avLst/>
                </a:prstGeom>
                <a:ln w="19050" cmpd="sng">
                  <a:solidFill>
                    <a:schemeClr val="tx1">
                      <a:lumMod val="65000"/>
                      <a:lumOff val="35000"/>
                    </a:schemeClr>
                  </a:solidFill>
                </a:ln>
                <a:effectLst/>
              </p:spPr>
              <p:style>
                <a:lnRef idx="2">
                  <a:schemeClr val="accent1"/>
                </a:lnRef>
                <a:fillRef idx="0">
                  <a:schemeClr val="accent1"/>
                </a:fillRef>
                <a:effectRef idx="1">
                  <a:schemeClr val="accent1"/>
                </a:effectRef>
                <a:fontRef idx="minor">
                  <a:schemeClr val="tx1"/>
                </a:fontRef>
              </p:style>
            </p:cxnSp>
          </p:grpSp>
          <p:sp>
            <p:nvSpPr>
              <p:cNvPr id="34" name="Rectangle 33"/>
              <p:cNvSpPr/>
              <p:nvPr/>
            </p:nvSpPr>
            <p:spPr>
              <a:xfrm>
                <a:off x="1578669" y="1904944"/>
                <a:ext cx="2638485" cy="1764585"/>
              </a:xfrm>
              <a:prstGeom prst="rect">
                <a:avLst/>
              </a:prstGeom>
            </p:spPr>
            <p:txBody>
              <a:bodyPr wrap="square">
                <a:spAutoFit/>
              </a:bodyPr>
              <a:lstStyle/>
              <a:p>
                <a:pPr algn="ctr"/>
                <a:r>
                  <a:rPr lang="en-US" altLang="en-US" sz="1600" dirty="0">
                    <a:solidFill>
                      <a:srgbClr val="0099CC"/>
                    </a:solidFill>
                    <a:latin typeface="Gill Sans Light"/>
                    <a:ea typeface="ＭＳ Ｐゴシック" charset="0"/>
                  </a:rPr>
                  <a:t>6. Getting people to stay at home is the only way to stop the transmission of COVID-19</a:t>
                </a:r>
                <a:endParaRPr lang="en-GB" altLang="en-US" sz="1600" dirty="0">
                  <a:solidFill>
                    <a:srgbClr val="0099CC"/>
                  </a:solidFill>
                  <a:latin typeface="Gill Sans Light"/>
                  <a:ea typeface="ＭＳ Ｐゴシック" charset="0"/>
                </a:endParaRPr>
              </a:p>
            </p:txBody>
          </p:sp>
          <p:sp>
            <p:nvSpPr>
              <p:cNvPr id="39" name="TextBox 38"/>
              <p:cNvSpPr txBox="1"/>
              <p:nvPr/>
            </p:nvSpPr>
            <p:spPr bwMode="auto">
              <a:xfrm>
                <a:off x="3979010" y="3362446"/>
                <a:ext cx="332745" cy="461665"/>
              </a:xfrm>
              <a:prstGeom prst="rect">
                <a:avLst/>
              </a:prstGeom>
              <a:noFill/>
            </p:spPr>
            <p:txBody>
              <a:bodyPr wrap="square">
                <a:spAutoFit/>
              </a:bodyPr>
              <a:lstStyle/>
              <a:p>
                <a:pPr algn="ctr">
                  <a:defRPr/>
                </a:pPr>
                <a:r>
                  <a:rPr lang="en-US" sz="1650" dirty="0">
                    <a:ln>
                      <a:solidFill>
                        <a:prstClr val="black">
                          <a:lumMod val="65000"/>
                          <a:lumOff val="35000"/>
                        </a:prstClr>
                      </a:solidFill>
                    </a:ln>
                    <a:solidFill>
                      <a:srgbClr val="5F5F5F"/>
                    </a:solidFill>
                    <a:latin typeface="Gill Sans"/>
                    <a:cs typeface="Gill Sans"/>
                  </a:rPr>
                  <a:t>+</a:t>
                </a:r>
              </a:p>
            </p:txBody>
          </p:sp>
        </p:grpSp>
        <p:sp>
          <p:nvSpPr>
            <p:cNvPr id="41" name="TextBox 4"/>
            <p:cNvSpPr txBox="1">
              <a:spLocks noChangeArrowheads="1"/>
            </p:cNvSpPr>
            <p:nvPr/>
          </p:nvSpPr>
          <p:spPr bwMode="auto">
            <a:xfrm>
              <a:off x="6305089" y="2655711"/>
              <a:ext cx="1848295"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hlink"/>
                  </a:solidFill>
                  <a:latin typeface="Times New Roman" charset="0"/>
                  <a:ea typeface="ＭＳ Ｐゴシック" charset="0"/>
                  <a:cs typeface="ＭＳ Ｐゴシック" charset="0"/>
                </a:defRPr>
              </a:lvl1pPr>
              <a:lvl2pPr marL="742950" indent="-285750" eaLnBrk="0" hangingPunct="0">
                <a:defRPr sz="2400">
                  <a:solidFill>
                    <a:schemeClr val="hlink"/>
                  </a:solidFill>
                  <a:latin typeface="Times New Roman" charset="0"/>
                  <a:ea typeface="ＭＳ Ｐゴシック" charset="0"/>
                </a:defRPr>
              </a:lvl2pPr>
              <a:lvl3pPr marL="1143000" indent="-228600" eaLnBrk="0" hangingPunct="0">
                <a:defRPr sz="2400">
                  <a:solidFill>
                    <a:schemeClr val="hlink"/>
                  </a:solidFill>
                  <a:latin typeface="Times New Roman" charset="0"/>
                  <a:ea typeface="ＭＳ Ｐゴシック" charset="0"/>
                </a:defRPr>
              </a:lvl3pPr>
              <a:lvl4pPr marL="1600200" indent="-228600" eaLnBrk="0" hangingPunct="0">
                <a:defRPr sz="2400">
                  <a:solidFill>
                    <a:schemeClr val="hlink"/>
                  </a:solidFill>
                  <a:latin typeface="Times New Roman" charset="0"/>
                  <a:ea typeface="ＭＳ Ｐゴシック" charset="0"/>
                </a:defRPr>
              </a:lvl4pPr>
              <a:lvl5pPr marL="2057400" indent="-228600" eaLnBrk="0" hangingPunct="0">
                <a:defRPr sz="2400">
                  <a:solidFill>
                    <a:schemeClr val="hlink"/>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hlink"/>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hlink"/>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hlink"/>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hlink"/>
                  </a:solidFill>
                  <a:latin typeface="Times New Roman" charset="0"/>
                  <a:ea typeface="ＭＳ Ｐゴシック" charset="0"/>
                </a:defRPr>
              </a:lvl9pPr>
            </a:lstStyle>
            <a:p>
              <a:pPr algn="ctr" eaLnBrk="1" hangingPunct="1"/>
              <a:r>
                <a:rPr lang="en-US" sz="1600" dirty="0">
                  <a:solidFill>
                    <a:srgbClr val="0099CC"/>
                  </a:solidFill>
                  <a:latin typeface="Gill Sans Light"/>
                  <a:cs typeface="+mn-cs"/>
                </a:rPr>
                <a:t>3. Anything that causes large scale economic and mental distress is, to some extent, socially undesirable</a:t>
              </a:r>
            </a:p>
          </p:txBody>
        </p:sp>
        <p:sp>
          <p:nvSpPr>
            <p:cNvPr id="42" name="TextBox 4"/>
            <p:cNvSpPr txBox="1">
              <a:spLocks noChangeArrowheads="1"/>
            </p:cNvSpPr>
            <p:nvPr/>
          </p:nvSpPr>
          <p:spPr bwMode="auto">
            <a:xfrm>
              <a:off x="910662" y="1082383"/>
              <a:ext cx="223847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hlink"/>
                  </a:solidFill>
                  <a:latin typeface="Times New Roman" charset="0"/>
                  <a:ea typeface="ＭＳ Ｐゴシック" charset="0"/>
                  <a:cs typeface="ＭＳ Ｐゴシック" charset="0"/>
                </a:defRPr>
              </a:lvl1pPr>
              <a:lvl2pPr marL="742950" indent="-285750" eaLnBrk="0" hangingPunct="0">
                <a:defRPr sz="2400">
                  <a:solidFill>
                    <a:schemeClr val="hlink"/>
                  </a:solidFill>
                  <a:latin typeface="Times New Roman" charset="0"/>
                  <a:ea typeface="ＭＳ Ｐゴシック" charset="0"/>
                </a:defRPr>
              </a:lvl2pPr>
              <a:lvl3pPr marL="1143000" indent="-228600" eaLnBrk="0" hangingPunct="0">
                <a:defRPr sz="2400">
                  <a:solidFill>
                    <a:schemeClr val="hlink"/>
                  </a:solidFill>
                  <a:latin typeface="Times New Roman" charset="0"/>
                  <a:ea typeface="ＭＳ Ｐゴシック" charset="0"/>
                </a:defRPr>
              </a:lvl3pPr>
              <a:lvl4pPr marL="1600200" indent="-228600" eaLnBrk="0" hangingPunct="0">
                <a:defRPr sz="2400">
                  <a:solidFill>
                    <a:schemeClr val="hlink"/>
                  </a:solidFill>
                  <a:latin typeface="Times New Roman" charset="0"/>
                  <a:ea typeface="ＭＳ Ｐゴシック" charset="0"/>
                </a:defRPr>
              </a:lvl4pPr>
              <a:lvl5pPr marL="2057400" indent="-228600" eaLnBrk="0" hangingPunct="0">
                <a:defRPr sz="2400">
                  <a:solidFill>
                    <a:schemeClr val="hlink"/>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hlink"/>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hlink"/>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hlink"/>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hlink"/>
                  </a:solidFill>
                  <a:latin typeface="Times New Roman" charset="0"/>
                  <a:ea typeface="ＭＳ Ｐゴシック" charset="0"/>
                </a:defRPr>
              </a:lvl9pPr>
            </a:lstStyle>
            <a:p>
              <a:pPr algn="ctr" eaLnBrk="1" hangingPunct="1"/>
              <a:r>
                <a:rPr lang="en-US" sz="1600" dirty="0">
                  <a:solidFill>
                    <a:srgbClr val="0099CC"/>
                  </a:solidFill>
                  <a:latin typeface="Gill Sans Light"/>
                  <a:cs typeface="Gill Sans Light"/>
                </a:rPr>
                <a:t>7. We don’t have a vaccine for COVID-19</a:t>
              </a:r>
            </a:p>
          </p:txBody>
        </p:sp>
        <p:sp>
          <p:nvSpPr>
            <p:cNvPr id="43" name="TextBox 42"/>
            <p:cNvSpPr txBox="1"/>
            <p:nvPr/>
          </p:nvSpPr>
          <p:spPr bwMode="auto">
            <a:xfrm>
              <a:off x="5968888" y="3455846"/>
              <a:ext cx="310277" cy="346249"/>
            </a:xfrm>
            <a:prstGeom prst="rect">
              <a:avLst/>
            </a:prstGeom>
            <a:noFill/>
          </p:spPr>
          <p:txBody>
            <a:bodyPr wrap="square">
              <a:spAutoFit/>
            </a:bodyPr>
            <a:lstStyle/>
            <a:p>
              <a:pPr algn="ctr">
                <a:defRPr/>
              </a:pPr>
              <a:r>
                <a:rPr lang="en-US" sz="1650" dirty="0">
                  <a:ln>
                    <a:solidFill>
                      <a:prstClr val="black">
                        <a:lumMod val="65000"/>
                        <a:lumOff val="35000"/>
                      </a:prstClr>
                    </a:solidFill>
                  </a:ln>
                  <a:solidFill>
                    <a:srgbClr val="5F5F5F"/>
                  </a:solidFill>
                  <a:latin typeface="Gill Sans"/>
                  <a:cs typeface="Gill Sans"/>
                </a:rPr>
                <a:t>+</a:t>
              </a:r>
            </a:p>
          </p:txBody>
        </p:sp>
        <p:cxnSp>
          <p:nvCxnSpPr>
            <p:cNvPr id="44" name="Straight Arrow Connector 43"/>
            <p:cNvCxnSpPr>
              <a:cxnSpLocks/>
            </p:cNvCxnSpPr>
            <p:nvPr/>
          </p:nvCxnSpPr>
          <p:spPr bwMode="auto">
            <a:xfrm>
              <a:off x="2013451" y="1648443"/>
              <a:ext cx="0" cy="617025"/>
            </a:xfrm>
            <a:prstGeom prst="straightConnector1">
              <a:avLst/>
            </a:prstGeom>
            <a:ln w="28575" cmpd="sng">
              <a:solidFill>
                <a:schemeClr val="tx1">
                  <a:lumMod val="65000"/>
                  <a:lumOff val="3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46" name="Straight Arrow Connector 45"/>
            <p:cNvCxnSpPr>
              <a:cxnSpLocks/>
            </p:cNvCxnSpPr>
            <p:nvPr/>
          </p:nvCxnSpPr>
          <p:spPr bwMode="auto">
            <a:xfrm flipH="1">
              <a:off x="4251930" y="1517913"/>
              <a:ext cx="1069479" cy="695141"/>
            </a:xfrm>
            <a:prstGeom prst="straightConnector1">
              <a:avLst/>
            </a:prstGeom>
            <a:ln w="28575" cmpd="sng">
              <a:solidFill>
                <a:schemeClr val="tx1">
                  <a:lumMod val="65000"/>
                  <a:lumOff val="3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48" name="Straight Arrow Connector 47"/>
            <p:cNvCxnSpPr>
              <a:cxnSpLocks/>
            </p:cNvCxnSpPr>
            <p:nvPr/>
          </p:nvCxnSpPr>
          <p:spPr bwMode="auto">
            <a:xfrm>
              <a:off x="5594852" y="1746218"/>
              <a:ext cx="0" cy="1290284"/>
            </a:xfrm>
            <a:prstGeom prst="straightConnector1">
              <a:avLst/>
            </a:prstGeom>
            <a:ln w="28575" cmpd="sng">
              <a:solidFill>
                <a:schemeClr val="tx1">
                  <a:lumMod val="65000"/>
                  <a:lumOff val="35000"/>
                </a:schemeClr>
              </a:solidFill>
              <a:tailEnd type="arrow"/>
            </a:ln>
            <a:effectLst/>
          </p:spPr>
          <p:style>
            <a:lnRef idx="2">
              <a:schemeClr val="accent1"/>
            </a:lnRef>
            <a:fillRef idx="0">
              <a:schemeClr val="accent1"/>
            </a:fillRef>
            <a:effectRef idx="1">
              <a:schemeClr val="accent1"/>
            </a:effectRef>
            <a:fontRef idx="minor">
              <a:schemeClr val="tx1"/>
            </a:fontRef>
          </p:style>
        </p:cxnSp>
      </p:grpSp>
      <p:sp>
        <p:nvSpPr>
          <p:cNvPr id="2" name="Snip and Round Single Corner Rectangle 5">
            <a:extLst>
              <a:ext uri="{FF2B5EF4-FFF2-40B4-BE49-F238E27FC236}">
                <a16:creationId xmlns:a16="http://schemas.microsoft.com/office/drawing/2014/main" id="{D7D2D9F6-3F45-207C-ED23-DE2223A9D66D}"/>
              </a:ext>
            </a:extLst>
          </p:cNvPr>
          <p:cNvSpPr/>
          <p:nvPr/>
        </p:nvSpPr>
        <p:spPr>
          <a:xfrm>
            <a:off x="0" y="6477000"/>
            <a:ext cx="8863013" cy="323850"/>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eaLnBrk="0" hangingPunct="0">
              <a:spcBef>
                <a:spcPct val="20000"/>
              </a:spcBef>
              <a:buChar char="•"/>
              <a:tabLst>
                <a:tab pos="4389438" algn="l"/>
              </a:tabLst>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tabLst>
                <a:tab pos="4389438" algn="l"/>
              </a:tabLst>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tabLst>
                <a:tab pos="4389438" algn="l"/>
              </a:tabLst>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tabLst>
                <a:tab pos="4389438" algn="l"/>
              </a:tabLst>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tabLst>
                <a:tab pos="4389438" algn="l"/>
              </a:tabLst>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defRPr/>
            </a:pPr>
            <a:fld id="{1B1F8F8E-C6A8-412C-B091-B275DC93F50A}" type="slidenum">
              <a:rPr lang="en-US" altLang="en-US" sz="1300" smtClean="0">
                <a:solidFill>
                  <a:srgbClr val="FFFFFF"/>
                </a:solidFill>
                <a:latin typeface="Gill Sans MT" panose="020B0502020104020203" pitchFamily="34" charset="0"/>
                <a:ea typeface="MS PGothic" panose="020B0600070205080204" pitchFamily="34" charset="-128"/>
              </a:rPr>
              <a:pPr algn="r" eaLnBrk="1" hangingPunct="1">
                <a:spcBef>
                  <a:spcPct val="0"/>
                </a:spcBef>
                <a:buFontTx/>
                <a:buNone/>
                <a:defRPr/>
              </a:pPr>
              <a:t>47</a:t>
            </a:fld>
            <a:endParaRPr lang="en-US" altLang="en-US" sz="1300">
              <a:solidFill>
                <a:srgbClr val="FFFFFF"/>
              </a:solidFill>
              <a:latin typeface="Gill Sans MT" panose="020B0502020104020203" pitchFamily="34" charset="0"/>
              <a:ea typeface="MS PGothic" panose="020B0600070205080204" pitchFamily="34" charset="-128"/>
            </a:endParaRPr>
          </a:p>
        </p:txBody>
      </p:sp>
      <p:sp>
        <p:nvSpPr>
          <p:cNvPr id="5" name="Snip and Round Single Corner Rectangle 4">
            <a:extLst>
              <a:ext uri="{FF2B5EF4-FFF2-40B4-BE49-F238E27FC236}">
                <a16:creationId xmlns:a16="http://schemas.microsoft.com/office/drawing/2014/main" id="{90B20241-4097-CA8E-579D-35EED6FFAB16}"/>
              </a:ext>
            </a:extLst>
          </p:cNvPr>
          <p:cNvSpPr/>
          <p:nvPr/>
        </p:nvSpPr>
        <p:spPr>
          <a:xfrm>
            <a:off x="0" y="95250"/>
            <a:ext cx="8712200" cy="860425"/>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fontAlgn="base">
              <a:spcBef>
                <a:spcPct val="0"/>
              </a:spcBef>
              <a:spcAft>
                <a:spcPct val="0"/>
              </a:spcAft>
              <a:defRPr/>
            </a:pPr>
            <a:r>
              <a:rPr lang="en-US" sz="3600" b="1" spc="-113" dirty="0">
                <a:solidFill>
                  <a:prstClr val="white"/>
                </a:solidFill>
                <a:latin typeface="Gill Sans MT"/>
                <a:cs typeface="Gill Sans MT"/>
              </a:rPr>
              <a:t>Midterm preparation</a:t>
            </a:r>
          </a:p>
        </p:txBody>
      </p:sp>
    </p:spTree>
    <p:extLst>
      <p:ext uri="{BB962C8B-B14F-4D97-AF65-F5344CB8AC3E}">
        <p14:creationId xmlns:p14="http://schemas.microsoft.com/office/powerpoint/2010/main" val="26449147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4"/>
          <p:cNvSpPr>
            <a:spLocks noGrp="1" noChangeArrowheads="1"/>
          </p:cNvSpPr>
          <p:nvPr>
            <p:ph type="subTitle" idx="1"/>
          </p:nvPr>
        </p:nvSpPr>
        <p:spPr>
          <a:xfrm>
            <a:off x="1143000" y="1644895"/>
            <a:ext cx="6534149" cy="4070105"/>
          </a:xfrm>
        </p:spPr>
        <p:txBody>
          <a:bodyPr>
            <a:normAutofit/>
          </a:bodyPr>
          <a:lstStyle/>
          <a:p>
            <a:pPr algn="l">
              <a:spcBef>
                <a:spcPts val="1350"/>
              </a:spcBef>
              <a:spcAft>
                <a:spcPts val="1350"/>
              </a:spcAft>
            </a:pPr>
            <a:r>
              <a:rPr lang="en-US" sz="2400" dirty="0"/>
              <a:t>Q2. How many instances of linked reasoning does this passage contain?</a:t>
            </a:r>
            <a:endParaRPr lang="en-SG" sz="2400" dirty="0"/>
          </a:p>
          <a:p>
            <a:pPr marL="1350000" lvl="2" indent="-540000" algn="l">
              <a:spcBef>
                <a:spcPts val="450"/>
              </a:spcBef>
              <a:spcAft>
                <a:spcPts val="450"/>
              </a:spcAft>
              <a:buFont typeface="+mj-lt"/>
              <a:buAutoNum type="alphaLcPeriod"/>
            </a:pPr>
            <a:r>
              <a:rPr lang="en-US" sz="2400" dirty="0"/>
              <a:t>0</a:t>
            </a:r>
            <a:endParaRPr lang="en-SG" sz="2400" dirty="0"/>
          </a:p>
          <a:p>
            <a:pPr marL="1350000" lvl="2" indent="-540000" algn="l">
              <a:spcBef>
                <a:spcPts val="450"/>
              </a:spcBef>
              <a:spcAft>
                <a:spcPts val="450"/>
              </a:spcAft>
              <a:buFont typeface="+mj-lt"/>
              <a:buAutoNum type="alphaLcPeriod"/>
            </a:pPr>
            <a:r>
              <a:rPr lang="en-US" sz="2400" dirty="0"/>
              <a:t>1</a:t>
            </a:r>
            <a:endParaRPr lang="en-SG" sz="2400" dirty="0"/>
          </a:p>
          <a:p>
            <a:pPr marL="1350000" lvl="2" indent="-540000" algn="l">
              <a:spcBef>
                <a:spcPts val="450"/>
              </a:spcBef>
              <a:spcAft>
                <a:spcPts val="450"/>
              </a:spcAft>
              <a:buFont typeface="+mj-lt"/>
              <a:buAutoNum type="alphaLcPeriod"/>
            </a:pPr>
            <a:r>
              <a:rPr lang="en-US" sz="2400" dirty="0"/>
              <a:t>2</a:t>
            </a:r>
            <a:endParaRPr lang="en-SG" sz="2400" dirty="0"/>
          </a:p>
          <a:p>
            <a:pPr marL="1350000" lvl="2" indent="-540000" algn="l">
              <a:spcBef>
                <a:spcPts val="450"/>
              </a:spcBef>
              <a:spcAft>
                <a:spcPts val="450"/>
              </a:spcAft>
              <a:buFont typeface="+mj-lt"/>
              <a:buAutoNum type="alphaLcPeriod"/>
            </a:pPr>
            <a:r>
              <a:rPr lang="en-US" sz="2400" dirty="0"/>
              <a:t>3</a:t>
            </a:r>
            <a:endParaRPr lang="en-SG" sz="2400" dirty="0"/>
          </a:p>
          <a:p>
            <a:pPr marL="1350000" lvl="2" indent="-540000" algn="l">
              <a:spcBef>
                <a:spcPts val="450"/>
              </a:spcBef>
              <a:spcAft>
                <a:spcPts val="450"/>
              </a:spcAft>
              <a:buFont typeface="+mj-lt"/>
              <a:buAutoNum type="alphaLcPeriod"/>
            </a:pPr>
            <a:r>
              <a:rPr lang="en-US" sz="2400" dirty="0"/>
              <a:t>4</a:t>
            </a:r>
            <a:endParaRPr lang="en-SG" sz="2400" dirty="0"/>
          </a:p>
          <a:p>
            <a:pPr algn="l"/>
            <a:endParaRPr lang="en-SG" sz="2000" b="1" dirty="0">
              <a:solidFill>
                <a:schemeClr val="tx1">
                  <a:lumMod val="65000"/>
                  <a:lumOff val="35000"/>
                </a:schemeClr>
              </a:solidFill>
            </a:endParaRPr>
          </a:p>
        </p:txBody>
      </p:sp>
      <p:sp>
        <p:nvSpPr>
          <p:cNvPr id="2" name="Snip and Round Single Corner Rectangle 5">
            <a:extLst>
              <a:ext uri="{FF2B5EF4-FFF2-40B4-BE49-F238E27FC236}">
                <a16:creationId xmlns:a16="http://schemas.microsoft.com/office/drawing/2014/main" id="{CE95AFED-197F-954D-0B91-F67674426063}"/>
              </a:ext>
            </a:extLst>
          </p:cNvPr>
          <p:cNvSpPr/>
          <p:nvPr/>
        </p:nvSpPr>
        <p:spPr>
          <a:xfrm>
            <a:off x="0" y="6477000"/>
            <a:ext cx="8863013" cy="323850"/>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eaLnBrk="0" hangingPunct="0">
              <a:spcBef>
                <a:spcPct val="20000"/>
              </a:spcBef>
              <a:buChar char="•"/>
              <a:tabLst>
                <a:tab pos="4389438" algn="l"/>
              </a:tabLst>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tabLst>
                <a:tab pos="4389438" algn="l"/>
              </a:tabLst>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tabLst>
                <a:tab pos="4389438" algn="l"/>
              </a:tabLst>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tabLst>
                <a:tab pos="4389438" algn="l"/>
              </a:tabLst>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tabLst>
                <a:tab pos="4389438" algn="l"/>
              </a:tabLst>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defRPr/>
            </a:pPr>
            <a:fld id="{1B1F8F8E-C6A8-412C-B091-B275DC93F50A}" type="slidenum">
              <a:rPr lang="en-US" altLang="en-US" sz="1300" smtClean="0">
                <a:solidFill>
                  <a:srgbClr val="FFFFFF"/>
                </a:solidFill>
                <a:latin typeface="Gill Sans MT" panose="020B0502020104020203" pitchFamily="34" charset="0"/>
                <a:ea typeface="MS PGothic" panose="020B0600070205080204" pitchFamily="34" charset="-128"/>
              </a:rPr>
              <a:pPr algn="r" eaLnBrk="1" hangingPunct="1">
                <a:spcBef>
                  <a:spcPct val="0"/>
                </a:spcBef>
                <a:buFontTx/>
                <a:buNone/>
                <a:defRPr/>
              </a:pPr>
              <a:t>48</a:t>
            </a:fld>
            <a:endParaRPr lang="en-US" altLang="en-US" sz="1300">
              <a:solidFill>
                <a:srgbClr val="FFFFFF"/>
              </a:solidFill>
              <a:latin typeface="Gill Sans MT" panose="020B0502020104020203" pitchFamily="34" charset="0"/>
              <a:ea typeface="MS PGothic" panose="020B0600070205080204" pitchFamily="34" charset="-128"/>
            </a:endParaRPr>
          </a:p>
        </p:txBody>
      </p:sp>
      <p:sp>
        <p:nvSpPr>
          <p:cNvPr id="4" name="Snip and Round Single Corner Rectangle 4">
            <a:extLst>
              <a:ext uri="{FF2B5EF4-FFF2-40B4-BE49-F238E27FC236}">
                <a16:creationId xmlns:a16="http://schemas.microsoft.com/office/drawing/2014/main" id="{910A689F-C541-FF45-A031-93A03A3456DF}"/>
              </a:ext>
            </a:extLst>
          </p:cNvPr>
          <p:cNvSpPr/>
          <p:nvPr/>
        </p:nvSpPr>
        <p:spPr>
          <a:xfrm>
            <a:off x="0" y="95250"/>
            <a:ext cx="8712200" cy="860425"/>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fontAlgn="base">
              <a:spcBef>
                <a:spcPct val="0"/>
              </a:spcBef>
              <a:spcAft>
                <a:spcPct val="0"/>
              </a:spcAft>
              <a:defRPr/>
            </a:pPr>
            <a:r>
              <a:rPr lang="en-US" sz="3600" b="1" spc="-113" dirty="0">
                <a:solidFill>
                  <a:prstClr val="white"/>
                </a:solidFill>
                <a:latin typeface="Gill Sans MT"/>
                <a:cs typeface="Gill Sans MT"/>
              </a:rPr>
              <a:t>Midterm preparation</a:t>
            </a:r>
          </a:p>
        </p:txBody>
      </p:sp>
    </p:spTree>
    <p:extLst>
      <p:ext uri="{BB962C8B-B14F-4D97-AF65-F5344CB8AC3E}">
        <p14:creationId xmlns:p14="http://schemas.microsoft.com/office/powerpoint/2010/main" val="8911310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4"/>
          <p:cNvSpPr>
            <a:spLocks noGrp="1" noChangeArrowheads="1"/>
          </p:cNvSpPr>
          <p:nvPr>
            <p:ph type="subTitle" idx="1"/>
          </p:nvPr>
        </p:nvSpPr>
        <p:spPr>
          <a:xfrm>
            <a:off x="1143000" y="1644895"/>
            <a:ext cx="6534149" cy="4070105"/>
          </a:xfrm>
        </p:spPr>
        <p:txBody>
          <a:bodyPr>
            <a:normAutofit/>
          </a:bodyPr>
          <a:lstStyle/>
          <a:p>
            <a:pPr algn="l">
              <a:spcBef>
                <a:spcPts val="1350"/>
              </a:spcBef>
              <a:spcAft>
                <a:spcPts val="1350"/>
              </a:spcAft>
            </a:pPr>
            <a:r>
              <a:rPr lang="en-US" sz="2400" dirty="0"/>
              <a:t>Q3. How many intermediate conclusions are there in the correct diagram? </a:t>
            </a:r>
            <a:endParaRPr lang="en-SG" sz="2400" dirty="0"/>
          </a:p>
          <a:p>
            <a:pPr marL="1350000" lvl="2" indent="-540000" algn="l">
              <a:spcBef>
                <a:spcPts val="450"/>
              </a:spcBef>
              <a:spcAft>
                <a:spcPts val="450"/>
              </a:spcAft>
              <a:buFont typeface="+mj-lt"/>
              <a:buAutoNum type="alphaLcPeriod"/>
            </a:pPr>
            <a:r>
              <a:rPr lang="en-US" sz="2400" dirty="0"/>
              <a:t>None of the following</a:t>
            </a:r>
            <a:endParaRPr lang="en-SG" sz="2400" dirty="0"/>
          </a:p>
          <a:p>
            <a:pPr marL="1350000" lvl="2" indent="-540000" algn="l">
              <a:spcBef>
                <a:spcPts val="450"/>
              </a:spcBef>
              <a:spcAft>
                <a:spcPts val="450"/>
              </a:spcAft>
              <a:buFont typeface="+mj-lt"/>
              <a:buAutoNum type="alphaLcPeriod"/>
            </a:pPr>
            <a:r>
              <a:rPr lang="en-US" sz="2400" dirty="0"/>
              <a:t>1</a:t>
            </a:r>
            <a:endParaRPr lang="en-SG" sz="2400" dirty="0"/>
          </a:p>
          <a:p>
            <a:pPr marL="1350000" lvl="2" indent="-540000" algn="l">
              <a:spcBef>
                <a:spcPts val="450"/>
              </a:spcBef>
              <a:spcAft>
                <a:spcPts val="450"/>
              </a:spcAft>
              <a:buFont typeface="+mj-lt"/>
              <a:buAutoNum type="alphaLcPeriod"/>
            </a:pPr>
            <a:r>
              <a:rPr lang="en-US" sz="2400" dirty="0"/>
              <a:t>2</a:t>
            </a:r>
            <a:endParaRPr lang="en-SG" sz="2400" dirty="0"/>
          </a:p>
          <a:p>
            <a:pPr marL="1350000" lvl="2" indent="-540000" algn="l">
              <a:spcBef>
                <a:spcPts val="450"/>
              </a:spcBef>
              <a:spcAft>
                <a:spcPts val="450"/>
              </a:spcAft>
              <a:buFont typeface="+mj-lt"/>
              <a:buAutoNum type="alphaLcPeriod"/>
            </a:pPr>
            <a:r>
              <a:rPr lang="en-US" sz="2400" dirty="0"/>
              <a:t>3</a:t>
            </a:r>
            <a:endParaRPr lang="en-SG" sz="2400" dirty="0"/>
          </a:p>
          <a:p>
            <a:pPr marL="1350000" lvl="2" indent="-540000" algn="l">
              <a:spcBef>
                <a:spcPts val="450"/>
              </a:spcBef>
              <a:spcAft>
                <a:spcPts val="450"/>
              </a:spcAft>
              <a:buFont typeface="+mj-lt"/>
              <a:buAutoNum type="alphaLcPeriod"/>
            </a:pPr>
            <a:r>
              <a:rPr lang="en-US" sz="2400" dirty="0"/>
              <a:t>4</a:t>
            </a:r>
            <a:endParaRPr lang="en-SG" sz="2400" dirty="0"/>
          </a:p>
          <a:p>
            <a:pPr algn="l"/>
            <a:endParaRPr lang="en-SG" sz="2400" b="1" dirty="0"/>
          </a:p>
        </p:txBody>
      </p:sp>
      <p:sp>
        <p:nvSpPr>
          <p:cNvPr id="2" name="Snip and Round Single Corner Rectangle 5">
            <a:extLst>
              <a:ext uri="{FF2B5EF4-FFF2-40B4-BE49-F238E27FC236}">
                <a16:creationId xmlns:a16="http://schemas.microsoft.com/office/drawing/2014/main" id="{66772552-2ECB-05B3-BE2E-1AC3FA20E2A7}"/>
              </a:ext>
            </a:extLst>
          </p:cNvPr>
          <p:cNvSpPr/>
          <p:nvPr/>
        </p:nvSpPr>
        <p:spPr>
          <a:xfrm>
            <a:off x="0" y="6477000"/>
            <a:ext cx="8863013" cy="323850"/>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eaLnBrk="0" hangingPunct="0">
              <a:spcBef>
                <a:spcPct val="20000"/>
              </a:spcBef>
              <a:buChar char="•"/>
              <a:tabLst>
                <a:tab pos="4389438" algn="l"/>
              </a:tabLst>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tabLst>
                <a:tab pos="4389438" algn="l"/>
              </a:tabLst>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tabLst>
                <a:tab pos="4389438" algn="l"/>
              </a:tabLst>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tabLst>
                <a:tab pos="4389438" algn="l"/>
              </a:tabLst>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tabLst>
                <a:tab pos="4389438" algn="l"/>
              </a:tabLst>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defRPr/>
            </a:pPr>
            <a:fld id="{1B1F8F8E-C6A8-412C-B091-B275DC93F50A}" type="slidenum">
              <a:rPr lang="en-US" altLang="en-US" sz="1300" smtClean="0">
                <a:solidFill>
                  <a:srgbClr val="FFFFFF"/>
                </a:solidFill>
                <a:latin typeface="Gill Sans MT" panose="020B0502020104020203" pitchFamily="34" charset="0"/>
                <a:ea typeface="MS PGothic" panose="020B0600070205080204" pitchFamily="34" charset="-128"/>
              </a:rPr>
              <a:pPr algn="r" eaLnBrk="1" hangingPunct="1">
                <a:spcBef>
                  <a:spcPct val="0"/>
                </a:spcBef>
                <a:buFontTx/>
                <a:buNone/>
                <a:defRPr/>
              </a:pPr>
              <a:t>49</a:t>
            </a:fld>
            <a:endParaRPr lang="en-US" altLang="en-US" sz="1300">
              <a:solidFill>
                <a:srgbClr val="FFFFFF"/>
              </a:solidFill>
              <a:latin typeface="Gill Sans MT" panose="020B0502020104020203" pitchFamily="34" charset="0"/>
              <a:ea typeface="MS PGothic" panose="020B0600070205080204" pitchFamily="34" charset="-128"/>
            </a:endParaRPr>
          </a:p>
        </p:txBody>
      </p:sp>
      <p:sp>
        <p:nvSpPr>
          <p:cNvPr id="4" name="Snip and Round Single Corner Rectangle 4">
            <a:extLst>
              <a:ext uri="{FF2B5EF4-FFF2-40B4-BE49-F238E27FC236}">
                <a16:creationId xmlns:a16="http://schemas.microsoft.com/office/drawing/2014/main" id="{1B704C5A-1DC8-7D1A-06BA-0668092591A1}"/>
              </a:ext>
            </a:extLst>
          </p:cNvPr>
          <p:cNvSpPr/>
          <p:nvPr/>
        </p:nvSpPr>
        <p:spPr>
          <a:xfrm>
            <a:off x="0" y="95250"/>
            <a:ext cx="8712200" cy="860425"/>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fontAlgn="base">
              <a:spcBef>
                <a:spcPct val="0"/>
              </a:spcBef>
              <a:spcAft>
                <a:spcPct val="0"/>
              </a:spcAft>
              <a:defRPr/>
            </a:pPr>
            <a:r>
              <a:rPr lang="en-US" sz="3600" b="1" spc="-113" dirty="0">
                <a:solidFill>
                  <a:prstClr val="white"/>
                </a:solidFill>
                <a:latin typeface="Gill Sans MT"/>
                <a:cs typeface="Gill Sans MT"/>
              </a:rPr>
              <a:t>Midterm preparation</a:t>
            </a:r>
          </a:p>
        </p:txBody>
      </p:sp>
    </p:spTree>
    <p:extLst>
      <p:ext uri="{BB962C8B-B14F-4D97-AF65-F5344CB8AC3E}">
        <p14:creationId xmlns:p14="http://schemas.microsoft.com/office/powerpoint/2010/main" val="5718678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4"/>
          <p:cNvSpPr>
            <a:spLocks noGrp="1" noChangeArrowheads="1"/>
          </p:cNvSpPr>
          <p:nvPr>
            <p:ph type="subTitle" idx="1"/>
          </p:nvPr>
        </p:nvSpPr>
        <p:spPr>
          <a:xfrm>
            <a:off x="1143000" y="1644895"/>
            <a:ext cx="6534149" cy="4070105"/>
          </a:xfrm>
        </p:spPr>
        <p:txBody>
          <a:bodyPr>
            <a:normAutofit/>
          </a:bodyPr>
          <a:lstStyle/>
          <a:p>
            <a:pPr algn="l">
              <a:spcBef>
                <a:spcPts val="1350"/>
              </a:spcBef>
              <a:spcAft>
                <a:spcPts val="450"/>
              </a:spcAft>
            </a:pPr>
            <a:r>
              <a:rPr lang="en-US" sz="2400" dirty="0"/>
              <a:t>Q4. </a:t>
            </a:r>
            <a:r>
              <a:rPr lang="en-SG" sz="2400" dirty="0"/>
              <a:t>Fill in the blank. </a:t>
            </a:r>
          </a:p>
          <a:p>
            <a:pPr algn="l">
              <a:spcBef>
                <a:spcPts val="450"/>
              </a:spcBef>
              <a:spcAft>
                <a:spcPts val="1350"/>
              </a:spcAft>
            </a:pPr>
            <a:r>
              <a:rPr lang="en-US" sz="2400" dirty="0"/>
              <a:t>The passage contains only one instance of ______, and only one instance of ______ reasoning.</a:t>
            </a:r>
            <a:endParaRPr lang="en-SG" sz="2400" dirty="0"/>
          </a:p>
          <a:p>
            <a:pPr marL="1350000" lvl="2" indent="-540000" algn="l">
              <a:spcBef>
                <a:spcPts val="450"/>
              </a:spcBef>
              <a:spcAft>
                <a:spcPts val="450"/>
              </a:spcAft>
              <a:buFont typeface="+mj-lt"/>
              <a:buAutoNum type="alphaLcPeriod"/>
            </a:pPr>
            <a:r>
              <a:rPr lang="en-US" sz="2400" dirty="0"/>
              <a:t>serial, convergent</a:t>
            </a:r>
            <a:endParaRPr lang="en-SG" sz="2400" dirty="0"/>
          </a:p>
          <a:p>
            <a:pPr marL="1350000" lvl="2" indent="-540000" algn="l">
              <a:spcBef>
                <a:spcPts val="450"/>
              </a:spcBef>
              <a:spcAft>
                <a:spcPts val="450"/>
              </a:spcAft>
              <a:buFont typeface="+mj-lt"/>
              <a:buAutoNum type="alphaLcPeriod"/>
            </a:pPr>
            <a:r>
              <a:rPr lang="en-US" sz="2400" dirty="0"/>
              <a:t>divergent, convergent</a:t>
            </a:r>
            <a:endParaRPr lang="en-SG" sz="2400" dirty="0"/>
          </a:p>
          <a:p>
            <a:pPr marL="1350000" lvl="2" indent="-540000" algn="l">
              <a:spcBef>
                <a:spcPts val="450"/>
              </a:spcBef>
              <a:spcAft>
                <a:spcPts val="450"/>
              </a:spcAft>
              <a:buFont typeface="+mj-lt"/>
              <a:buAutoNum type="alphaLcPeriod"/>
            </a:pPr>
            <a:r>
              <a:rPr lang="en-US" sz="2400" dirty="0"/>
              <a:t>serial, divergent</a:t>
            </a:r>
            <a:endParaRPr lang="en-SG" sz="2400" dirty="0"/>
          </a:p>
          <a:p>
            <a:pPr marL="1350000" lvl="2" indent="-540000" algn="l">
              <a:spcBef>
                <a:spcPts val="450"/>
              </a:spcBef>
              <a:spcAft>
                <a:spcPts val="450"/>
              </a:spcAft>
              <a:buFont typeface="+mj-lt"/>
              <a:buAutoNum type="alphaLcPeriod"/>
            </a:pPr>
            <a:r>
              <a:rPr lang="en-US" sz="2400" dirty="0"/>
              <a:t>serial, linked</a:t>
            </a:r>
            <a:endParaRPr lang="en-SG" sz="2400" dirty="0"/>
          </a:p>
          <a:p>
            <a:pPr marL="1350000" lvl="2" indent="-540000" algn="l">
              <a:spcBef>
                <a:spcPts val="450"/>
              </a:spcBef>
              <a:spcAft>
                <a:spcPts val="450"/>
              </a:spcAft>
              <a:buFont typeface="+mj-lt"/>
              <a:buAutoNum type="alphaLcPeriod"/>
            </a:pPr>
            <a:r>
              <a:rPr lang="en-US" sz="2400" dirty="0"/>
              <a:t>None of the above</a:t>
            </a:r>
            <a:endParaRPr lang="en-SG" sz="2400" dirty="0"/>
          </a:p>
          <a:p>
            <a:pPr algn="l"/>
            <a:endParaRPr lang="en-SG" sz="2000" b="1" dirty="0"/>
          </a:p>
        </p:txBody>
      </p:sp>
      <p:sp>
        <p:nvSpPr>
          <p:cNvPr id="2" name="Snip and Round Single Corner Rectangle 5">
            <a:extLst>
              <a:ext uri="{FF2B5EF4-FFF2-40B4-BE49-F238E27FC236}">
                <a16:creationId xmlns:a16="http://schemas.microsoft.com/office/drawing/2014/main" id="{CF7B8136-E50C-765E-25FD-8D22B05780CD}"/>
              </a:ext>
            </a:extLst>
          </p:cNvPr>
          <p:cNvSpPr/>
          <p:nvPr/>
        </p:nvSpPr>
        <p:spPr>
          <a:xfrm>
            <a:off x="0" y="6477000"/>
            <a:ext cx="8863013" cy="323850"/>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eaLnBrk="0" hangingPunct="0">
              <a:spcBef>
                <a:spcPct val="20000"/>
              </a:spcBef>
              <a:buChar char="•"/>
              <a:tabLst>
                <a:tab pos="4389438" algn="l"/>
              </a:tabLst>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tabLst>
                <a:tab pos="4389438" algn="l"/>
              </a:tabLst>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tabLst>
                <a:tab pos="4389438" algn="l"/>
              </a:tabLst>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tabLst>
                <a:tab pos="4389438" algn="l"/>
              </a:tabLst>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tabLst>
                <a:tab pos="4389438" algn="l"/>
              </a:tabLst>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defRPr/>
            </a:pPr>
            <a:fld id="{1B1F8F8E-C6A8-412C-B091-B275DC93F50A}" type="slidenum">
              <a:rPr lang="en-US" altLang="en-US" sz="1300" smtClean="0">
                <a:solidFill>
                  <a:srgbClr val="FFFFFF"/>
                </a:solidFill>
                <a:latin typeface="Gill Sans MT" panose="020B0502020104020203" pitchFamily="34" charset="0"/>
                <a:ea typeface="MS PGothic" panose="020B0600070205080204" pitchFamily="34" charset="-128"/>
              </a:rPr>
              <a:pPr algn="r" eaLnBrk="1" hangingPunct="1">
                <a:spcBef>
                  <a:spcPct val="0"/>
                </a:spcBef>
                <a:buFontTx/>
                <a:buNone/>
                <a:defRPr/>
              </a:pPr>
              <a:t>50</a:t>
            </a:fld>
            <a:endParaRPr lang="en-US" altLang="en-US" sz="1300">
              <a:solidFill>
                <a:srgbClr val="FFFFFF"/>
              </a:solidFill>
              <a:latin typeface="Gill Sans MT" panose="020B0502020104020203" pitchFamily="34" charset="0"/>
              <a:ea typeface="MS PGothic" panose="020B0600070205080204" pitchFamily="34" charset="-128"/>
            </a:endParaRPr>
          </a:p>
        </p:txBody>
      </p:sp>
      <p:sp>
        <p:nvSpPr>
          <p:cNvPr id="4" name="Snip and Round Single Corner Rectangle 4">
            <a:extLst>
              <a:ext uri="{FF2B5EF4-FFF2-40B4-BE49-F238E27FC236}">
                <a16:creationId xmlns:a16="http://schemas.microsoft.com/office/drawing/2014/main" id="{DEAB2CAD-D198-40C3-5268-B2F8CEEA1E89}"/>
              </a:ext>
            </a:extLst>
          </p:cNvPr>
          <p:cNvSpPr/>
          <p:nvPr/>
        </p:nvSpPr>
        <p:spPr>
          <a:xfrm>
            <a:off x="0" y="95250"/>
            <a:ext cx="8712200" cy="860425"/>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fontAlgn="base">
              <a:spcBef>
                <a:spcPct val="0"/>
              </a:spcBef>
              <a:spcAft>
                <a:spcPct val="0"/>
              </a:spcAft>
              <a:defRPr/>
            </a:pPr>
            <a:r>
              <a:rPr lang="en-US" sz="3600" b="1" spc="-113" dirty="0">
                <a:solidFill>
                  <a:prstClr val="white"/>
                </a:solidFill>
                <a:latin typeface="Gill Sans MT"/>
                <a:cs typeface="Gill Sans MT"/>
              </a:rPr>
              <a:t>Midterm preparation</a:t>
            </a:r>
          </a:p>
        </p:txBody>
      </p:sp>
    </p:spTree>
    <p:extLst>
      <p:ext uri="{BB962C8B-B14F-4D97-AF65-F5344CB8AC3E}">
        <p14:creationId xmlns:p14="http://schemas.microsoft.com/office/powerpoint/2010/main" val="36032830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4"/>
          <p:cNvSpPr>
            <a:spLocks noGrp="1" noChangeArrowheads="1"/>
          </p:cNvSpPr>
          <p:nvPr>
            <p:ph type="subTitle" idx="1"/>
          </p:nvPr>
        </p:nvSpPr>
        <p:spPr>
          <a:xfrm>
            <a:off x="1143000" y="1644895"/>
            <a:ext cx="6534149" cy="4070105"/>
          </a:xfrm>
        </p:spPr>
        <p:txBody>
          <a:bodyPr>
            <a:normAutofit/>
          </a:bodyPr>
          <a:lstStyle/>
          <a:p>
            <a:pPr algn="l">
              <a:spcBef>
                <a:spcPts val="1350"/>
              </a:spcBef>
              <a:spcAft>
                <a:spcPts val="1350"/>
              </a:spcAft>
            </a:pPr>
            <a:r>
              <a:rPr lang="en-US" sz="2400" dirty="0"/>
              <a:t>Q5. How many instances of valid inferences does  this passage contain?</a:t>
            </a:r>
            <a:endParaRPr lang="en-SG" sz="2400" dirty="0"/>
          </a:p>
          <a:p>
            <a:pPr marL="1350000" lvl="2" indent="-540000" algn="l">
              <a:spcBef>
                <a:spcPts val="450"/>
              </a:spcBef>
              <a:spcAft>
                <a:spcPts val="450"/>
              </a:spcAft>
              <a:buFont typeface="+mj-lt"/>
              <a:buAutoNum type="alphaLcPeriod"/>
            </a:pPr>
            <a:r>
              <a:rPr lang="en-US" sz="2400" dirty="0"/>
              <a:t>0</a:t>
            </a:r>
            <a:endParaRPr lang="en-SG" sz="2400" dirty="0"/>
          </a:p>
          <a:p>
            <a:pPr marL="1350000" lvl="2" indent="-540000" algn="l">
              <a:spcBef>
                <a:spcPts val="450"/>
              </a:spcBef>
              <a:spcAft>
                <a:spcPts val="450"/>
              </a:spcAft>
              <a:buFont typeface="+mj-lt"/>
              <a:buAutoNum type="alphaLcPeriod"/>
            </a:pPr>
            <a:r>
              <a:rPr lang="en-US" sz="2400" dirty="0"/>
              <a:t>1</a:t>
            </a:r>
            <a:endParaRPr lang="en-SG" sz="2400" dirty="0"/>
          </a:p>
          <a:p>
            <a:pPr marL="1350000" lvl="2" indent="-540000" algn="l">
              <a:spcBef>
                <a:spcPts val="450"/>
              </a:spcBef>
              <a:spcAft>
                <a:spcPts val="450"/>
              </a:spcAft>
              <a:buFont typeface="+mj-lt"/>
              <a:buAutoNum type="alphaLcPeriod"/>
            </a:pPr>
            <a:r>
              <a:rPr lang="en-US" sz="2400" dirty="0"/>
              <a:t>2</a:t>
            </a:r>
            <a:endParaRPr lang="en-SG" sz="2400" dirty="0"/>
          </a:p>
          <a:p>
            <a:pPr marL="1350000" lvl="2" indent="-540000" algn="l">
              <a:spcBef>
                <a:spcPts val="450"/>
              </a:spcBef>
              <a:spcAft>
                <a:spcPts val="450"/>
              </a:spcAft>
              <a:buFont typeface="+mj-lt"/>
              <a:buAutoNum type="alphaLcPeriod"/>
            </a:pPr>
            <a:r>
              <a:rPr lang="en-US" sz="2400" dirty="0"/>
              <a:t>3</a:t>
            </a:r>
            <a:endParaRPr lang="en-SG" sz="2400" dirty="0"/>
          </a:p>
          <a:p>
            <a:pPr marL="1350000" lvl="2" indent="-540000" algn="l">
              <a:spcBef>
                <a:spcPts val="450"/>
              </a:spcBef>
              <a:spcAft>
                <a:spcPts val="450"/>
              </a:spcAft>
              <a:buFont typeface="+mj-lt"/>
              <a:buAutoNum type="alphaLcPeriod"/>
            </a:pPr>
            <a:r>
              <a:rPr lang="en-US" sz="2400" dirty="0"/>
              <a:t>4</a:t>
            </a:r>
            <a:endParaRPr lang="en-SG" sz="2400" dirty="0"/>
          </a:p>
          <a:p>
            <a:pPr algn="l"/>
            <a:endParaRPr lang="en-SG" sz="2400" b="1" dirty="0"/>
          </a:p>
        </p:txBody>
      </p:sp>
      <p:sp>
        <p:nvSpPr>
          <p:cNvPr id="2" name="Snip and Round Single Corner Rectangle 5">
            <a:extLst>
              <a:ext uri="{FF2B5EF4-FFF2-40B4-BE49-F238E27FC236}">
                <a16:creationId xmlns:a16="http://schemas.microsoft.com/office/drawing/2014/main" id="{E1EF1275-5783-D6FC-AEC8-43E7622701E8}"/>
              </a:ext>
            </a:extLst>
          </p:cNvPr>
          <p:cNvSpPr/>
          <p:nvPr/>
        </p:nvSpPr>
        <p:spPr>
          <a:xfrm>
            <a:off x="0" y="6477000"/>
            <a:ext cx="8863013" cy="323850"/>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eaLnBrk="0" hangingPunct="0">
              <a:spcBef>
                <a:spcPct val="20000"/>
              </a:spcBef>
              <a:buChar char="•"/>
              <a:tabLst>
                <a:tab pos="4389438" algn="l"/>
              </a:tabLst>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tabLst>
                <a:tab pos="4389438" algn="l"/>
              </a:tabLst>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tabLst>
                <a:tab pos="4389438" algn="l"/>
              </a:tabLst>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tabLst>
                <a:tab pos="4389438" algn="l"/>
              </a:tabLst>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tabLst>
                <a:tab pos="4389438" algn="l"/>
              </a:tabLst>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defRPr/>
            </a:pPr>
            <a:fld id="{1B1F8F8E-C6A8-412C-B091-B275DC93F50A}" type="slidenum">
              <a:rPr lang="en-US" altLang="en-US" sz="1300" smtClean="0">
                <a:solidFill>
                  <a:srgbClr val="FFFFFF"/>
                </a:solidFill>
                <a:latin typeface="Gill Sans MT" panose="020B0502020104020203" pitchFamily="34" charset="0"/>
                <a:ea typeface="MS PGothic" panose="020B0600070205080204" pitchFamily="34" charset="-128"/>
              </a:rPr>
              <a:pPr algn="r" eaLnBrk="1" hangingPunct="1">
                <a:spcBef>
                  <a:spcPct val="0"/>
                </a:spcBef>
                <a:buFontTx/>
                <a:buNone/>
                <a:defRPr/>
              </a:pPr>
              <a:t>51</a:t>
            </a:fld>
            <a:endParaRPr lang="en-US" altLang="en-US" sz="1300">
              <a:solidFill>
                <a:srgbClr val="FFFFFF"/>
              </a:solidFill>
              <a:latin typeface="Gill Sans MT" panose="020B0502020104020203" pitchFamily="34" charset="0"/>
              <a:ea typeface="MS PGothic" panose="020B0600070205080204" pitchFamily="34" charset="-128"/>
            </a:endParaRPr>
          </a:p>
        </p:txBody>
      </p:sp>
      <p:sp>
        <p:nvSpPr>
          <p:cNvPr id="4" name="Snip and Round Single Corner Rectangle 4">
            <a:extLst>
              <a:ext uri="{FF2B5EF4-FFF2-40B4-BE49-F238E27FC236}">
                <a16:creationId xmlns:a16="http://schemas.microsoft.com/office/drawing/2014/main" id="{AFAA5757-D305-CA1C-0909-6A93B7E9E651}"/>
              </a:ext>
            </a:extLst>
          </p:cNvPr>
          <p:cNvSpPr/>
          <p:nvPr/>
        </p:nvSpPr>
        <p:spPr>
          <a:xfrm>
            <a:off x="0" y="95250"/>
            <a:ext cx="8712200" cy="860425"/>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fontAlgn="base">
              <a:spcBef>
                <a:spcPct val="0"/>
              </a:spcBef>
              <a:spcAft>
                <a:spcPct val="0"/>
              </a:spcAft>
              <a:defRPr/>
            </a:pPr>
            <a:r>
              <a:rPr lang="en-US" sz="3600" b="1" spc="-113" dirty="0">
                <a:solidFill>
                  <a:prstClr val="white"/>
                </a:solidFill>
                <a:latin typeface="Gill Sans MT"/>
                <a:cs typeface="Gill Sans MT"/>
              </a:rPr>
              <a:t>Midterm preparation</a:t>
            </a:r>
          </a:p>
        </p:txBody>
      </p:sp>
    </p:spTree>
    <p:extLst>
      <p:ext uri="{BB962C8B-B14F-4D97-AF65-F5344CB8AC3E}">
        <p14:creationId xmlns:p14="http://schemas.microsoft.com/office/powerpoint/2010/main" val="561655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4"/>
          <p:cNvSpPr>
            <a:spLocks noGrp="1" noChangeArrowheads="1"/>
          </p:cNvSpPr>
          <p:nvPr>
            <p:ph type="subTitle" idx="1"/>
          </p:nvPr>
        </p:nvSpPr>
        <p:spPr>
          <a:xfrm>
            <a:off x="1089025" y="1681285"/>
            <a:ext cx="6534149" cy="4070105"/>
          </a:xfrm>
        </p:spPr>
        <p:txBody>
          <a:bodyPr>
            <a:normAutofit lnSpcReduction="10000"/>
          </a:bodyPr>
          <a:lstStyle/>
          <a:p>
            <a:pPr algn="l">
              <a:spcBef>
                <a:spcPts val="1350"/>
              </a:spcBef>
              <a:spcAft>
                <a:spcPts val="450"/>
              </a:spcAft>
            </a:pPr>
            <a:r>
              <a:rPr lang="en-US" sz="2400" dirty="0"/>
              <a:t>Q6. </a:t>
            </a:r>
            <a:r>
              <a:rPr lang="en-SG" sz="2400" dirty="0"/>
              <a:t>Fill in the blank. </a:t>
            </a:r>
          </a:p>
          <a:p>
            <a:pPr algn="l">
              <a:spcBef>
                <a:spcPts val="1350"/>
              </a:spcBef>
              <a:spcAft>
                <a:spcPts val="450"/>
              </a:spcAft>
            </a:pPr>
            <a:r>
              <a:rPr lang="en-US" sz="2400" dirty="0"/>
              <a:t>The statement, “People can be given economic incentives to stay home” attacks a/an _______in the passage.</a:t>
            </a:r>
            <a:endParaRPr lang="en-SG" sz="2400" dirty="0"/>
          </a:p>
          <a:p>
            <a:pPr marL="1350000" lvl="2" indent="-540000" algn="l">
              <a:spcBef>
                <a:spcPts val="450"/>
              </a:spcBef>
              <a:spcAft>
                <a:spcPts val="450"/>
              </a:spcAft>
              <a:buFont typeface="+mj-lt"/>
              <a:buAutoNum type="alphaLcPeriod"/>
            </a:pPr>
            <a:r>
              <a:rPr lang="en-SG" sz="2400" dirty="0"/>
              <a:t>unsupported premise</a:t>
            </a:r>
          </a:p>
          <a:p>
            <a:pPr marL="1350000" lvl="2" indent="-540000" algn="l">
              <a:spcBef>
                <a:spcPts val="450"/>
              </a:spcBef>
              <a:spcAft>
                <a:spcPts val="450"/>
              </a:spcAft>
              <a:buFont typeface="+mj-lt"/>
              <a:buAutoNum type="alphaLcPeriod"/>
            </a:pPr>
            <a:r>
              <a:rPr lang="en-US" sz="2400" dirty="0"/>
              <a:t>intermediate conclusion</a:t>
            </a:r>
            <a:endParaRPr lang="en-SG" sz="2400" dirty="0"/>
          </a:p>
          <a:p>
            <a:pPr marL="1350000" lvl="2" indent="-540000" algn="l">
              <a:spcBef>
                <a:spcPts val="450"/>
              </a:spcBef>
              <a:spcAft>
                <a:spcPts val="450"/>
              </a:spcAft>
              <a:buFont typeface="+mj-lt"/>
              <a:buAutoNum type="alphaLcPeriod"/>
            </a:pPr>
            <a:r>
              <a:rPr lang="en-SG" sz="2400" dirty="0"/>
              <a:t>final conclusion</a:t>
            </a:r>
          </a:p>
          <a:p>
            <a:pPr marL="1350000" lvl="2" indent="-540000" algn="l">
              <a:spcBef>
                <a:spcPts val="450"/>
              </a:spcBef>
              <a:spcAft>
                <a:spcPts val="450"/>
              </a:spcAft>
              <a:buFont typeface="+mj-lt"/>
              <a:buAutoNum type="alphaLcPeriod"/>
            </a:pPr>
            <a:r>
              <a:rPr lang="en-SG" sz="2400" dirty="0"/>
              <a:t>All of the above, a, b, and c</a:t>
            </a:r>
          </a:p>
          <a:p>
            <a:pPr marL="1350000" lvl="2" indent="-540000" algn="l">
              <a:spcBef>
                <a:spcPts val="450"/>
              </a:spcBef>
              <a:spcAft>
                <a:spcPts val="450"/>
              </a:spcAft>
              <a:buFont typeface="+mj-lt"/>
              <a:buAutoNum type="alphaLcPeriod"/>
            </a:pPr>
            <a:r>
              <a:rPr lang="en-US" sz="2400" dirty="0"/>
              <a:t>None of the above, a, b, and c</a:t>
            </a:r>
            <a:endParaRPr lang="en-SG" sz="2400" dirty="0"/>
          </a:p>
          <a:p>
            <a:pPr algn="l"/>
            <a:endParaRPr lang="en-SG" sz="2400" b="1" dirty="0"/>
          </a:p>
        </p:txBody>
      </p:sp>
      <p:sp>
        <p:nvSpPr>
          <p:cNvPr id="2" name="Snip and Round Single Corner Rectangle 5">
            <a:extLst>
              <a:ext uri="{FF2B5EF4-FFF2-40B4-BE49-F238E27FC236}">
                <a16:creationId xmlns:a16="http://schemas.microsoft.com/office/drawing/2014/main" id="{93448930-F01E-DF3E-2590-61E54F876E32}"/>
              </a:ext>
            </a:extLst>
          </p:cNvPr>
          <p:cNvSpPr/>
          <p:nvPr/>
        </p:nvSpPr>
        <p:spPr>
          <a:xfrm>
            <a:off x="0" y="6477000"/>
            <a:ext cx="8863013" cy="323850"/>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lvl1pPr eaLnBrk="0" hangingPunct="0">
              <a:spcBef>
                <a:spcPct val="20000"/>
              </a:spcBef>
              <a:buChar char="•"/>
              <a:tabLst>
                <a:tab pos="4389438" algn="l"/>
              </a:tabLst>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tabLst>
                <a:tab pos="4389438" algn="l"/>
              </a:tabLst>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tabLst>
                <a:tab pos="4389438" algn="l"/>
              </a:tabLst>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tabLst>
                <a:tab pos="4389438" algn="l"/>
              </a:tabLst>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tabLst>
                <a:tab pos="4389438" algn="l"/>
              </a:tabLst>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tabLst>
                <a:tab pos="4389438" algn="l"/>
              </a:tabLst>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defRPr/>
            </a:pPr>
            <a:fld id="{1B1F8F8E-C6A8-412C-B091-B275DC93F50A}" type="slidenum">
              <a:rPr lang="en-US" altLang="en-US" sz="1300" smtClean="0">
                <a:solidFill>
                  <a:srgbClr val="FFFFFF"/>
                </a:solidFill>
                <a:latin typeface="Gill Sans MT" panose="020B0502020104020203" pitchFamily="34" charset="0"/>
                <a:ea typeface="MS PGothic" panose="020B0600070205080204" pitchFamily="34" charset="-128"/>
              </a:rPr>
              <a:pPr algn="r" eaLnBrk="1" hangingPunct="1">
                <a:spcBef>
                  <a:spcPct val="0"/>
                </a:spcBef>
                <a:buFontTx/>
                <a:buNone/>
                <a:defRPr/>
              </a:pPr>
              <a:t>52</a:t>
            </a:fld>
            <a:endParaRPr lang="en-US" altLang="en-US" sz="1300">
              <a:solidFill>
                <a:srgbClr val="FFFFFF"/>
              </a:solidFill>
              <a:latin typeface="Gill Sans MT" panose="020B0502020104020203" pitchFamily="34" charset="0"/>
              <a:ea typeface="MS PGothic" panose="020B0600070205080204" pitchFamily="34" charset="-128"/>
            </a:endParaRPr>
          </a:p>
        </p:txBody>
      </p:sp>
      <p:sp>
        <p:nvSpPr>
          <p:cNvPr id="4" name="Snip and Round Single Corner Rectangle 4">
            <a:extLst>
              <a:ext uri="{FF2B5EF4-FFF2-40B4-BE49-F238E27FC236}">
                <a16:creationId xmlns:a16="http://schemas.microsoft.com/office/drawing/2014/main" id="{C36441A1-04F2-5DF2-0D7A-43266D819F4F}"/>
              </a:ext>
            </a:extLst>
          </p:cNvPr>
          <p:cNvSpPr/>
          <p:nvPr/>
        </p:nvSpPr>
        <p:spPr>
          <a:xfrm>
            <a:off x="0" y="95250"/>
            <a:ext cx="8712200" cy="860425"/>
          </a:xfrm>
          <a:prstGeom prst="snipRoundRect">
            <a:avLst>
              <a:gd name="adj1" fmla="val 0"/>
              <a:gd name="adj2" fmla="val 50000"/>
            </a:avLst>
          </a:prstGeom>
          <a:solidFill>
            <a:srgbClr val="0099CC"/>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fontAlgn="base">
              <a:spcBef>
                <a:spcPct val="0"/>
              </a:spcBef>
              <a:spcAft>
                <a:spcPct val="0"/>
              </a:spcAft>
              <a:defRPr/>
            </a:pPr>
            <a:r>
              <a:rPr lang="en-US" sz="3600" b="1" spc="-113" dirty="0">
                <a:solidFill>
                  <a:prstClr val="white"/>
                </a:solidFill>
                <a:latin typeface="Gill Sans MT"/>
                <a:cs typeface="Gill Sans MT"/>
              </a:rPr>
              <a:t>Midterm preparation</a:t>
            </a:r>
          </a:p>
        </p:txBody>
      </p:sp>
    </p:spTree>
    <p:extLst>
      <p:ext uri="{BB962C8B-B14F-4D97-AF65-F5344CB8AC3E}">
        <p14:creationId xmlns:p14="http://schemas.microsoft.com/office/powerpoint/2010/main" val="409489819"/>
      </p:ext>
    </p:extLst>
  </p:cSld>
  <p:clrMapOvr>
    <a:masterClrMapping/>
  </p:clrMapOvr>
</p:sld>
</file>

<file path=ppt/theme/theme1.xml><?xml version="1.0" encoding="utf-8"?>
<a:theme xmlns:a="http://schemas.openxmlformats.org/drawingml/2006/main" name="1_Office Theme">
  <a:themeElements>
    <a:clrScheme name="Sky">
      <a:dk1>
        <a:sysClr val="windowText" lastClr="000000"/>
      </a:dk1>
      <a:lt1>
        <a:sysClr val="window" lastClr="FFFFFF"/>
      </a:lt1>
      <a:dk2>
        <a:srgbClr val="1782BF"/>
      </a:dk2>
      <a:lt2>
        <a:srgbClr val="62BCE9"/>
      </a:lt2>
      <a:accent1>
        <a:srgbClr val="073779"/>
      </a:accent1>
      <a:accent2>
        <a:srgbClr val="8FD9FB"/>
      </a:accent2>
      <a:accent3>
        <a:srgbClr val="FFCC00"/>
      </a:accent3>
      <a:accent4>
        <a:srgbClr val="EB6615"/>
      </a:accent4>
      <a:accent5>
        <a:srgbClr val="C76402"/>
      </a:accent5>
      <a:accent6>
        <a:srgbClr val="B523B4"/>
      </a:accent6>
      <a:hlink>
        <a:srgbClr val="FFDE26"/>
      </a:hlink>
      <a:folHlink>
        <a:srgbClr val="DEBE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6951d41b-6b8e-4636-984f-012bff14ba18}" enabled="1" method="Standard" siteId="{c98a79ca-5a9a-4791-a243-f06afd67464d}" contentBits="1" removed="0"/>
</clbl:labelList>
</file>

<file path=docProps/app.xml><?xml version="1.0" encoding="utf-8"?>
<Properties xmlns="http://schemas.openxmlformats.org/officeDocument/2006/extended-properties" xmlns:vt="http://schemas.openxmlformats.org/officeDocument/2006/docPropsVTypes">
  <TotalTime>19900</TotalTime>
  <Words>4370</Words>
  <Application>Microsoft Office PowerPoint</Application>
  <PresentationFormat>On-screen Show (4:3)</PresentationFormat>
  <Paragraphs>816</Paragraphs>
  <Slides>52</Slides>
  <Notes>49</Notes>
  <HiddenSlides>4</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52</vt:i4>
      </vt:variant>
    </vt:vector>
  </HeadingPairs>
  <TitlesOfParts>
    <vt:vector size="62" baseType="lpstr">
      <vt:lpstr>Arial</vt:lpstr>
      <vt:lpstr>Calibri</vt:lpstr>
      <vt:lpstr>Gill Sans</vt:lpstr>
      <vt:lpstr>Gill Sans Light</vt:lpstr>
      <vt:lpstr>Gill Sans MT</vt:lpstr>
      <vt:lpstr>Lucida Sans</vt:lpstr>
      <vt:lpstr>Noto Sans Symbols</vt:lpstr>
      <vt:lpstr>Times New Roman</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Propositional Forms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Steven BURIK</dc:creator>
  <cp:lastModifiedBy>Calvin YAP Jun</cp:lastModifiedBy>
  <cp:revision>234</cp:revision>
  <dcterms:created xsi:type="dcterms:W3CDTF">2018-09-13T03:11:51Z</dcterms:created>
  <dcterms:modified xsi:type="dcterms:W3CDTF">2026-09-14T04:37:29Z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951d41b-6b8e-4636-984f-012bff14ba18_Enabled">
    <vt:lpwstr>true</vt:lpwstr>
  </property>
  <property fmtid="{D5CDD505-2E9C-101B-9397-08002B2CF9AE}" pid="3" name="MSIP_Label_6951d41b-6b8e-4636-984f-012bff14ba18_SetDate">
    <vt:lpwstr>2024-02-13T03:20:41Z</vt:lpwstr>
  </property>
  <property fmtid="{D5CDD505-2E9C-101B-9397-08002B2CF9AE}" pid="4" name="MSIP_Label_6951d41b-6b8e-4636-984f-012bff14ba18_Method">
    <vt:lpwstr>Standard</vt:lpwstr>
  </property>
  <property fmtid="{D5CDD505-2E9C-101B-9397-08002B2CF9AE}" pid="5" name="MSIP_Label_6951d41b-6b8e-4636-984f-012bff14ba18_Name">
    <vt:lpwstr>6951d41b-6b8e-4636-984f-012bff14ba18</vt:lpwstr>
  </property>
  <property fmtid="{D5CDD505-2E9C-101B-9397-08002B2CF9AE}" pid="6" name="MSIP_Label_6951d41b-6b8e-4636-984f-012bff14ba18_SiteId">
    <vt:lpwstr>c98a79ca-5a9a-4791-a243-f06afd67464d</vt:lpwstr>
  </property>
  <property fmtid="{D5CDD505-2E9C-101B-9397-08002B2CF9AE}" pid="7" name="MSIP_Label_6951d41b-6b8e-4636-984f-012bff14ba18_ActionId">
    <vt:lpwstr>cfaae8e6-daed-4df9-8bcf-a17e48972457</vt:lpwstr>
  </property>
  <property fmtid="{D5CDD505-2E9C-101B-9397-08002B2CF9AE}" pid="8" name="MSIP_Label_6951d41b-6b8e-4636-984f-012bff14ba18_ContentBits">
    <vt:lpwstr>1</vt:lpwstr>
  </property>
</Properties>
</file>