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5" r:id="rId1"/>
    <p:sldMasterId id="2147483947" r:id="rId2"/>
  </p:sldMasterIdLst>
  <p:notesMasterIdLst>
    <p:notesMasterId r:id="rId34"/>
  </p:notesMasterIdLst>
  <p:handoutMasterIdLst>
    <p:handoutMasterId r:id="rId35"/>
  </p:handoutMasterIdLst>
  <p:sldIdLst>
    <p:sldId id="688" r:id="rId3"/>
    <p:sldId id="1024" r:id="rId4"/>
    <p:sldId id="1092" r:id="rId5"/>
    <p:sldId id="1041" r:id="rId6"/>
    <p:sldId id="967" r:id="rId7"/>
    <p:sldId id="995" r:id="rId8"/>
    <p:sldId id="997" r:id="rId9"/>
    <p:sldId id="971" r:id="rId10"/>
    <p:sldId id="977" r:id="rId11"/>
    <p:sldId id="990" r:id="rId12"/>
    <p:sldId id="1070" r:id="rId13"/>
    <p:sldId id="986" r:id="rId14"/>
    <p:sldId id="1048" r:id="rId15"/>
    <p:sldId id="1086" r:id="rId16"/>
    <p:sldId id="1110" r:id="rId17"/>
    <p:sldId id="1000" r:id="rId18"/>
    <p:sldId id="1002" r:id="rId19"/>
    <p:sldId id="1003" r:id="rId20"/>
    <p:sldId id="1001" r:id="rId21"/>
    <p:sldId id="1108" r:id="rId22"/>
    <p:sldId id="1009" r:id="rId23"/>
    <p:sldId id="1010" r:id="rId24"/>
    <p:sldId id="1109" r:id="rId25"/>
    <p:sldId id="874" r:id="rId26"/>
    <p:sldId id="1098" r:id="rId27"/>
    <p:sldId id="917" r:id="rId28"/>
    <p:sldId id="918" r:id="rId29"/>
    <p:sldId id="919" r:id="rId30"/>
    <p:sldId id="1097" r:id="rId31"/>
    <p:sldId id="1057" r:id="rId32"/>
    <p:sldId id="860" r:id="rId33"/>
  </p:sldIdLst>
  <p:sldSz cx="9144000" cy="6858000" type="screen4x3"/>
  <p:notesSz cx="9928225" cy="679767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hlink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hlink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hlink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hlink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hlink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hlink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hlink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hlink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hlink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1" userDrawn="1">
          <p15:clr>
            <a:srgbClr val="A4A3A4"/>
          </p15:clr>
        </p15:guide>
        <p15:guide id="2" pos="3127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78AFFC-8298-BE98-F2BA-D6CA0C55A328}" name="Sovan PATRA" initials="SP" userId="S::sovanpatra@smu.edu.sg::bf6ba47c-5fc4-4c83-9c7d-8ca5eca0b9d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5F5F5F"/>
    <a:srgbClr val="0099CC"/>
    <a:srgbClr val="898989"/>
    <a:srgbClr val="FF0000"/>
    <a:srgbClr val="BEBD00"/>
    <a:srgbClr val="FF6699"/>
    <a:srgbClr val="CC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01" autoAdjust="0"/>
    <p:restoredTop sz="78935" autoAdjust="0"/>
  </p:normalViewPr>
  <p:slideViewPr>
    <p:cSldViewPr>
      <p:cViewPr varScale="1">
        <p:scale>
          <a:sx n="87" d="100"/>
          <a:sy n="87" d="100"/>
        </p:scale>
        <p:origin x="233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151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-1984" y="-128"/>
      </p:cViewPr>
      <p:guideLst>
        <p:guide orient="horz" pos="2141"/>
        <p:guide pos="312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lvin YAP Jun" userId="4ec2fc60-4fad-427b-afce-17d99a6651a1" providerId="ADAL" clId="{F1B0F8C3-ECC4-49F2-889E-7662193384A6}"/>
    <pc:docChg chg="modSld">
      <pc:chgData name="Calvin YAP Jun" userId="4ec2fc60-4fad-427b-afce-17d99a6651a1" providerId="ADAL" clId="{F1B0F8C3-ECC4-49F2-889E-7662193384A6}" dt="2026-09-27T19:21:05.159" v="0" actId="20577"/>
      <pc:docMkLst>
        <pc:docMk/>
      </pc:docMkLst>
      <pc:sldChg chg="modNotesTx">
        <pc:chgData name="Calvin YAP Jun" userId="4ec2fc60-4fad-427b-afce-17d99a6651a1" providerId="ADAL" clId="{F1B0F8C3-ECC4-49F2-889E-7662193384A6}" dt="2026-09-27T19:21:05.159" v="0" actId="20577"/>
        <pc:sldMkLst>
          <pc:docMk/>
          <pc:sldMk cId="1238235890" sldId="109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3313" cy="34129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2594" y="0"/>
            <a:ext cx="4303313" cy="34129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D005C1A-3D25-47E8-943E-4A3FE48C6ECD}" type="datetimeFigureOut">
              <a:rPr lang="en-SG"/>
              <a:pPr>
                <a:defRPr/>
              </a:pPr>
              <a:t>28/9/2026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56378"/>
            <a:ext cx="4303313" cy="34129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2594" y="6456378"/>
            <a:ext cx="4303313" cy="34129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617B1533-DFE5-494A-97D4-7C4464B37D79}" type="slidenum">
              <a:rPr lang="en-SG"/>
              <a:pPr>
                <a:defRPr/>
              </a:pPr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175053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3313" cy="34021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594" y="0"/>
            <a:ext cx="4303313" cy="34021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D85912AD-48B9-4AE3-AB0C-F52219B9F3D1}" type="datetimeFigureOut">
              <a:rPr lang="en-GB" altLang="en-US"/>
              <a:pPr>
                <a:defRPr/>
              </a:pPr>
              <a:t>28/09/2026</a:t>
            </a:fld>
            <a:endParaRPr lang="en-GB" alt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400425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360" y="3229277"/>
            <a:ext cx="7943507" cy="305862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  <a:endParaRPr lang="en-GB" alt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456378"/>
            <a:ext cx="4303313" cy="34021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594" y="6456378"/>
            <a:ext cx="4303313" cy="34021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6A32328E-831E-4D1F-A91D-66FD3EDD8EFE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7287288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50C74811-6794-40B4-B284-C21DEFBE2DD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5649074B-DDFA-4CB4-9B8F-35C3B9D42EF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82640265-39F4-4A2C-A94A-C47774D5EF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B6B87D4-C9FB-4F24-8E95-471F8B7095E2}" type="slidenum">
              <a:rPr lang="en-GB" altLang="en-US" smtClean="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GB" altLang="en-US">
              <a:solidFill>
                <a:schemeClr val="hlink"/>
              </a:solidFill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374899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A32328E-831E-4D1F-A91D-66FD3EDD8EFE}" type="slidenum">
              <a:rPr lang="en-GB" altLang="en-US" smtClean="0"/>
              <a:pPr>
                <a:defRPr/>
              </a:pPr>
              <a:t>29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904780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>
            <a:extLst>
              <a:ext uri="{FF2B5EF4-FFF2-40B4-BE49-F238E27FC236}">
                <a16:creationId xmlns:a16="http://schemas.microsoft.com/office/drawing/2014/main" id="{4DE0E28A-F2DB-4D8E-ADE4-179F466C3D7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Notes Placeholder 2">
            <a:extLst>
              <a:ext uri="{FF2B5EF4-FFF2-40B4-BE49-F238E27FC236}">
                <a16:creationId xmlns:a16="http://schemas.microsoft.com/office/drawing/2014/main" id="{815C27BC-322F-44C4-BBAF-CF16137D3E2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1748" name="Slide Number Placeholder 3">
            <a:extLst>
              <a:ext uri="{FF2B5EF4-FFF2-40B4-BE49-F238E27FC236}">
                <a16:creationId xmlns:a16="http://schemas.microsoft.com/office/drawing/2014/main" id="{86F57DD3-34F1-45EE-B220-278D723DC2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823B9A1-00F8-4E72-A3A4-9FD8D10693D6}" type="slidenum">
              <a:rPr lang="en-GB" altLang="en-US" smtClean="0">
                <a:solidFill>
                  <a:srgbClr val="0000FF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31</a:t>
            </a:fld>
            <a:endParaRPr lang="en-GB" altLang="en-US">
              <a:solidFill>
                <a:srgbClr val="0000FF"/>
              </a:solidFill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222050-27BA-447E-86A2-27A66A3ED4A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1239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5DABC2-0EF8-4D3F-BF3F-DCA1ABB690B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7404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774DB8-6DB8-43D3-8718-CACC6C920D1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8203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C8A5A27-FF00-4063-908A-2545A172802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5569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9A381B-6C81-47A0-9F18-40FE300DC33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81100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3A1444A-C97C-4C89-AC3E-E2AA6BDFB32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67498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E346C2-809E-4934-ADEE-B8DAC7C9CEF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319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5C8FBA-5B14-4DC5-BA0D-6966760F04A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1263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098A31-07FD-469F-93A9-E658526C38F5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4036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8831E6E-27E7-422F-B36B-CB9C4CFCC31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1512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41A3344-4BCE-4EC0-AD98-5331E9866B8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700350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73EF6-C69F-4D6B-AEAB-CA23BCC5015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53711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3F1AE6-1E41-4A9A-8B10-4FE2F5FB7E4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55739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DAE662-00FC-494E-9C31-39F212DCFDD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965361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E9EE4C-CD3B-4EB3-9AA3-AE78AD21976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39803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E5027E-237E-4CD3-BE12-1666AE27E71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28198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81F4D6-8A7E-4B95-9ACE-9666DE33212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07503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25129D-9B50-4DAF-8C37-0B3BB005991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82781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87E46C-35A2-42C0-AD85-204F5A8A39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169114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19EA35-22EB-4C01-8B69-C25EA64BC06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10229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403D3A-792C-4A02-BD02-7FE162BDE6E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30492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06D751-D6C5-4734-B604-EA3F56E8E50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0905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EF84B32-73A0-4474-B235-1D7F6B9DDC2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695EA3-87F0-6C05-ED54-547EE5BCBAEE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3956050" y="63500"/>
            <a:ext cx="1254125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SMU Classification: Restricted</a:t>
            </a:r>
          </a:p>
        </p:txBody>
      </p:sp>
    </p:spTree>
    <p:extLst>
      <p:ext uri="{BB962C8B-B14F-4D97-AF65-F5344CB8AC3E}">
        <p14:creationId xmlns:p14="http://schemas.microsoft.com/office/powerpoint/2010/main" val="2881214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6" r:id="rId1"/>
    <p:sldLayoutId id="2147483937" r:id="rId2"/>
    <p:sldLayoutId id="2147483938" r:id="rId3"/>
    <p:sldLayoutId id="2147483939" r:id="rId4"/>
    <p:sldLayoutId id="2147483940" r:id="rId5"/>
    <p:sldLayoutId id="2147483941" r:id="rId6"/>
    <p:sldLayoutId id="2147483942" r:id="rId7"/>
    <p:sldLayoutId id="2147483943" r:id="rId8"/>
    <p:sldLayoutId id="2147483944" r:id="rId9"/>
    <p:sldLayoutId id="2147483945" r:id="rId10"/>
    <p:sldLayoutId id="2147483946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  <a:endParaRPr lang="en-US" alt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  <a:endParaRPr lang="en-US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519A2B56-BB05-464C-B494-DADB15E4F7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D9C796-CA28-02F4-0E7A-3F8D634268D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3956050" y="63500"/>
            <a:ext cx="1254125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SMU Classification: Restricted</a:t>
            </a:r>
          </a:p>
        </p:txBody>
      </p:sp>
    </p:spTree>
    <p:extLst>
      <p:ext uri="{BB962C8B-B14F-4D97-AF65-F5344CB8AC3E}">
        <p14:creationId xmlns:p14="http://schemas.microsoft.com/office/powerpoint/2010/main" val="102627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8" r:id="rId1"/>
    <p:sldLayoutId id="2147483949" r:id="rId2"/>
    <p:sldLayoutId id="2147483950" r:id="rId3"/>
    <p:sldLayoutId id="2147483951" r:id="rId4"/>
    <p:sldLayoutId id="2147483952" r:id="rId5"/>
    <p:sldLayoutId id="2147483953" r:id="rId6"/>
    <p:sldLayoutId id="2147483954" r:id="rId7"/>
    <p:sldLayoutId id="2147483955" r:id="rId8"/>
    <p:sldLayoutId id="2147483956" r:id="rId9"/>
    <p:sldLayoutId id="2147483957" r:id="rId10"/>
    <p:sldLayoutId id="2147483958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anose="020B0600070205080204" pitchFamily="34" charset="-128"/>
          <a:cs typeface="MS PGothic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anose="020B0600070205080204" pitchFamily="34" charset="-128"/>
          <a:cs typeface="MS PGothic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anose="020B0600070205080204" pitchFamily="34" charset="-128"/>
          <a:cs typeface="MS PGothic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anose="020B0600070205080204" pitchFamily="34" charset="-128"/>
          <a:cs typeface="MS PGothic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anose="020B0600070205080204" pitchFamily="34" charset="-128"/>
          <a:cs typeface="MS PGothic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pitchFamily="34" charset="-128"/>
          <a:cs typeface="MS PGothic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MS PGothic" panose="020B0600070205080204" pitchFamily="34" charset="-128"/>
          <a:cs typeface="MS PGothic" charset="0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pitchFamily="34" charset="-128"/>
          <a:cs typeface="MS PGothic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MS PGothic" charset="0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MS PGothic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slideLayout" Target="../slideLayouts/slideLayout12.xml"/><Relationship Id="rId1" Type="http://schemas.openxmlformats.org/officeDocument/2006/relationships/video" Target="https://www.youtube.com/embed/DUpgoayBPJc?feature=oembed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slideLayout" Target="../slideLayouts/slideLayout12.xml"/><Relationship Id="rId1" Type="http://schemas.openxmlformats.org/officeDocument/2006/relationships/video" Target="https://www.youtube.com/embed/ahgjEjJkZks?feature=oembed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g"/><Relationship Id="rId3" Type="http://schemas.openxmlformats.org/officeDocument/2006/relationships/image" Target="../media/image18.png"/><Relationship Id="rId7" Type="http://schemas.openxmlformats.org/officeDocument/2006/relationships/image" Target="../media/image22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jpe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slideLayout" Target="../slideLayouts/slideLayout12.xml"/><Relationship Id="rId1" Type="http://schemas.openxmlformats.org/officeDocument/2006/relationships/video" Target="https://www.youtube.com/embed/_OPFr5ofkq8?feature=oembed" TargetMode="Externa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video" Target="https://www.youtube.com/embed/h9xtpqXzyfA?feature=oembed" TargetMode="External"/><Relationship Id="rId4" Type="http://schemas.openxmlformats.org/officeDocument/2006/relationships/image" Target="../media/image26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>
            <a:extLst>
              <a:ext uri="{FF2B5EF4-FFF2-40B4-BE49-F238E27FC236}">
                <a16:creationId xmlns:a16="http://schemas.microsoft.com/office/drawing/2014/main" id="{851ACAE3-8D45-4739-B398-8F17214B11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685800"/>
            <a:ext cx="6400800" cy="502920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eaLnBrk="1" hangingPunct="1"/>
            <a:r>
              <a:rPr lang="en-US" altLang="en-US" sz="6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Critical Thinking</a:t>
            </a:r>
          </a:p>
          <a:p>
            <a:pPr eaLnBrk="1" hangingPunct="1"/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the Real World</a:t>
            </a:r>
          </a:p>
          <a:p>
            <a:pPr eaLnBrk="1" hangingPunct="1"/>
            <a:endParaRPr lang="en-US" alt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Seminar 7</a:t>
            </a:r>
          </a:p>
          <a:p>
            <a:pPr eaLnBrk="1" hangingPunct="1"/>
            <a:b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4000" b="1" dirty="0">
                <a:latin typeface="Times New Roman"/>
                <a:cs typeface="Times New Roman"/>
              </a:rPr>
              <a:t> Sovan Patra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4573"/>
    </mc:Choice>
    <mc:Fallback xmlns="">
      <p:transition spd="slow" advTm="11457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4"/>
          <p:cNvSpPr/>
          <p:nvPr/>
        </p:nvSpPr>
        <p:spPr>
          <a:xfrm>
            <a:off x="0" y="33466"/>
            <a:ext cx="87122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3500" b="1" spc="-15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Evaluating Abduction: The question of </a:t>
            </a:r>
            <a:r>
              <a:rPr lang="en-US" sz="3500" b="1" spc="-150" dirty="0" err="1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bestness</a:t>
            </a:r>
            <a:endParaRPr lang="en-US" sz="3500" b="1" spc="-15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283" name="Rectangle 4"/>
          <p:cNvSpPr>
            <a:spLocks noChangeArrowheads="1"/>
          </p:cNvSpPr>
          <p:nvPr/>
        </p:nvSpPr>
        <p:spPr bwMode="auto">
          <a:xfrm>
            <a:off x="381000" y="76200"/>
            <a:ext cx="8077200" cy="624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buFontTx/>
              <a:buNone/>
            </a:pPr>
            <a:br>
              <a:rPr lang="en-US" altLang="en-US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40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40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40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16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4000" b="1">
                <a:solidFill>
                  <a:srgbClr val="FFDE2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r>
              <a:rPr lang="en-US" altLang="en-US" sz="5400" b="1">
                <a:solidFill>
                  <a:srgbClr val="FFDE2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br>
              <a:rPr lang="en-US" altLang="en-US" sz="14200" b="1">
                <a:solidFill>
                  <a:srgbClr val="FFDE2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endParaRPr lang="en-US" altLang="en-US" sz="14200" b="1">
              <a:solidFill>
                <a:srgbClr val="FFDE26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algn="ctr" eaLnBrk="1" hangingPunct="1">
              <a:buFontTx/>
              <a:buNone/>
            </a:pPr>
            <a:br>
              <a:rPr lang="en-US" altLang="en-US" sz="4000" b="1">
                <a:solidFill>
                  <a:srgbClr val="99CC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endParaRPr lang="en-US" altLang="en-US" sz="4000" b="1">
              <a:solidFill>
                <a:srgbClr val="66CCFF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Snip and Round Single Corner Rectangle 5"/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spcBef>
                <a:spcPct val="20000"/>
              </a:spcBef>
              <a:buChar char="•"/>
              <a:tabLst>
                <a:tab pos="43894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tabLst>
                <a:tab pos="43894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tabLst>
                <a:tab pos="43894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  <a:defRPr/>
            </a:pPr>
            <a:fld id="{1B1F8F8E-C6A8-412C-B091-B275DC93F50A}" type="slidenum">
              <a:rPr lang="en-US" altLang="en-US" sz="1300" smtClean="0">
                <a:solidFill>
                  <a:srgbClr val="FFFFFF"/>
                </a:solidFill>
                <a:latin typeface="Gill Sans MT" panose="020B0502020104020203" pitchFamily="34" charset="0"/>
                <a:ea typeface="MS PGothic" panose="020B0600070205080204" pitchFamily="34" charset="-128"/>
              </a:rPr>
              <a:pPr algn="r" eaLnBrk="1" hangingPunct="1">
                <a:spcBef>
                  <a:spcPct val="0"/>
                </a:spcBef>
                <a:buFontTx/>
                <a:buNone/>
                <a:defRPr/>
              </a:pPr>
              <a:t>2</a:t>
            </a:fld>
            <a:endParaRPr lang="en-US" altLang="en-US" sz="1300">
              <a:solidFill>
                <a:srgbClr val="FFFFFF"/>
              </a:solidFill>
              <a:latin typeface="Gill Sans MT" panose="020B0502020104020203" pitchFamily="34" charset="0"/>
              <a:ea typeface="MS PGothic" panose="020B0600070205080204" pitchFamily="34" charset="-128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840BB27-AF22-446C-B223-BF0653E0CC8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27000" y="1091248"/>
            <a:ext cx="8483600" cy="4852351"/>
          </a:xfrm>
        </p:spPr>
        <p:txBody>
          <a:bodyPr>
            <a:normAutofit/>
          </a:bodyPr>
          <a:lstStyle/>
          <a:p>
            <a:pPr algn="l"/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So, how does one attack the following argument?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Like with other arguments, you could </a:t>
            </a:r>
          </a:p>
          <a:p>
            <a:pPr lvl="1" algn="l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a) Deny 1. Would that work?</a:t>
            </a:r>
          </a:p>
          <a:p>
            <a:pPr lvl="1" algn="l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b) Deny 3. Would that work?</a:t>
            </a:r>
          </a:p>
          <a:p>
            <a:pPr lvl="1" algn="l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c) Deny 2. Would that work?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algn="l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d) </a:t>
            </a:r>
            <a:r>
              <a:rPr lang="en-US" altLang="en-US" sz="200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Assert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that ‘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best explanation isn’t the correct explanation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.’ If you say this, what are you attacking? Would that work?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A51D68-7F6D-418C-9ADD-666AD825BA15}"/>
              </a:ext>
            </a:extLst>
          </p:cNvPr>
          <p:cNvSpPr txBox="1"/>
          <p:nvPr/>
        </p:nvSpPr>
        <p:spPr>
          <a:xfrm>
            <a:off x="113634" y="1597709"/>
            <a:ext cx="19811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1. It is observed that O </a:t>
            </a:r>
            <a:endParaRPr lang="en-SG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9E0141-DB46-43B1-B2E6-673DFA2F3A02}"/>
              </a:ext>
            </a:extLst>
          </p:cNvPr>
          <p:cNvSpPr txBox="1"/>
          <p:nvPr/>
        </p:nvSpPr>
        <p:spPr>
          <a:xfrm>
            <a:off x="2402026" y="1528315"/>
            <a:ext cx="198119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2. E</a:t>
            </a:r>
            <a:r>
              <a:rPr lang="en-SG" sz="2000" dirty="0"/>
              <a:t> is the best explanation of the observation.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3C991D-0EA8-4E30-B2FF-ED945804A79F}"/>
              </a:ext>
            </a:extLst>
          </p:cNvPr>
          <p:cNvSpPr txBox="1"/>
          <p:nvPr/>
        </p:nvSpPr>
        <p:spPr>
          <a:xfrm>
            <a:off x="1181096" y="1764106"/>
            <a:ext cx="19811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000" dirty="0"/>
              <a:t>+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AA6688E-11FB-430C-A90F-05D539FAF37D}"/>
              </a:ext>
            </a:extLst>
          </p:cNvPr>
          <p:cNvCxnSpPr/>
          <p:nvPr/>
        </p:nvCxnSpPr>
        <p:spPr>
          <a:xfrm>
            <a:off x="381000" y="2543978"/>
            <a:ext cx="38481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F8B3549-05C5-4622-90A8-47ACFF05274E}"/>
              </a:ext>
            </a:extLst>
          </p:cNvPr>
          <p:cNvCxnSpPr/>
          <p:nvPr/>
        </p:nvCxnSpPr>
        <p:spPr>
          <a:xfrm>
            <a:off x="2091726" y="2543978"/>
            <a:ext cx="0" cy="609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941B7CF-7350-408B-9070-AC6366EF7BBD}"/>
              </a:ext>
            </a:extLst>
          </p:cNvPr>
          <p:cNvSpPr txBox="1"/>
          <p:nvPr/>
        </p:nvSpPr>
        <p:spPr>
          <a:xfrm>
            <a:off x="1093932" y="3121203"/>
            <a:ext cx="19811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3. E</a:t>
            </a:r>
            <a:r>
              <a:rPr lang="en-SG" sz="2000" dirty="0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371B9C-FC67-494A-9C50-635E8D3D98DF}"/>
              </a:ext>
            </a:extLst>
          </p:cNvPr>
          <p:cNvSpPr txBox="1"/>
          <p:nvPr/>
        </p:nvSpPr>
        <p:spPr>
          <a:xfrm>
            <a:off x="4819312" y="1574482"/>
            <a:ext cx="3943688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dirty="0">
                <a:solidFill>
                  <a:srgbClr val="FF0000"/>
                </a:solidFill>
                <a:latin typeface="Times New Roman"/>
                <a:ea typeface="MS PGothic"/>
                <a:cs typeface="Times New Roman"/>
              </a:rPr>
              <a:t>O: Sovan looks sad and he and Emma aren't hanging out anymore.  </a:t>
            </a:r>
            <a:endParaRPr lang="en-GB" dirty="0">
              <a:solidFill>
                <a:srgbClr val="FF0000"/>
              </a:solidFill>
            </a:endParaRPr>
          </a:p>
          <a:p>
            <a:r>
              <a:rPr lang="en-GB" dirty="0">
                <a:solidFill>
                  <a:srgbClr val="FF0000"/>
                </a:solidFill>
                <a:latin typeface="Times New Roman"/>
                <a:ea typeface="MS PGothic"/>
                <a:cs typeface="Times New Roman"/>
              </a:rPr>
              <a:t>E: They must have broken up. </a:t>
            </a:r>
            <a:endParaRPr lang="en-SG" dirty="0">
              <a:solidFill>
                <a:srgbClr val="FF0000"/>
              </a:solidFill>
              <a:latin typeface="Times New Roman"/>
              <a:ea typeface="MS PGothic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17164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5419"/>
    </mc:Choice>
    <mc:Fallback xmlns="">
      <p:transition spd="slow" advTm="395419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0" name="TextBox 12">
            <a:extLst>
              <a:ext uri="{FF2B5EF4-FFF2-40B4-BE49-F238E27FC236}">
                <a16:creationId xmlns:a16="http://schemas.microsoft.com/office/drawing/2014/main" id="{22C0F99E-1594-450C-ACC1-8EFB7E8334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6030" y="387814"/>
            <a:ext cx="1532701" cy="2800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506" dirty="0">
                <a:solidFill>
                  <a:srgbClr val="121212"/>
                </a:solidFill>
                <a:latin typeface="GuardianTextEgyptian"/>
              </a:rPr>
              <a:t>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Geological phenomena like volcanoes, lightning and micrometeorites would all create too little phosphine to account for how much is observed.</a:t>
            </a:r>
            <a:endParaRPr lang="en-SG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2E3B42-B6EB-4BE6-8524-369B50E3B713}"/>
              </a:ext>
            </a:extLst>
          </p:cNvPr>
          <p:cNvSpPr txBox="1"/>
          <p:nvPr/>
        </p:nvSpPr>
        <p:spPr bwMode="auto">
          <a:xfrm>
            <a:off x="4416564" y="1866261"/>
            <a:ext cx="257175" cy="28713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1266" dirty="0"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  <a:latin typeface="Gill Sans"/>
                <a:ea typeface="ＭＳ Ｐゴシック" charset="0"/>
                <a:cs typeface="Gill Sans"/>
              </a:rPr>
              <a:t>+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FD30EC8-EB5F-4861-8CD3-0D338EC5B68E}"/>
              </a:ext>
            </a:extLst>
          </p:cNvPr>
          <p:cNvCxnSpPr>
            <a:cxnSpLocks/>
          </p:cNvCxnSpPr>
          <p:nvPr/>
        </p:nvCxnSpPr>
        <p:spPr bwMode="auto">
          <a:xfrm>
            <a:off x="2119784" y="3332051"/>
            <a:ext cx="4931880" cy="0"/>
          </a:xfrm>
          <a:prstGeom prst="line">
            <a:avLst/>
          </a:prstGeom>
          <a:ln w="28575" cmpd="sng"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33" name="Rectangle 32">
            <a:extLst>
              <a:ext uri="{FF2B5EF4-FFF2-40B4-BE49-F238E27FC236}">
                <a16:creationId xmlns:a16="http://schemas.microsoft.com/office/drawing/2014/main" id="{56D0516D-BD51-437C-8B09-0182EF3767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8152" y="3332051"/>
            <a:ext cx="496937" cy="377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56" dirty="0">
                <a:solidFill>
                  <a:srgbClr val="7F7F7F"/>
                </a:solidFill>
                <a:latin typeface="Gill Sans Light"/>
                <a:sym typeface="Symbol" panose="05050102010706020507" pitchFamily="18" charset="2"/>
              </a:rPr>
              <a:t></a:t>
            </a:r>
            <a:endParaRPr lang="en-US" altLang="en-US" sz="1856" dirty="0">
              <a:solidFill>
                <a:srgbClr val="7F7F7F"/>
              </a:solidFill>
              <a:latin typeface="Gill Sans Light"/>
            </a:endParaRPr>
          </a:p>
        </p:txBody>
      </p:sp>
      <p:sp>
        <p:nvSpPr>
          <p:cNvPr id="40974" name="TextBox 17">
            <a:extLst>
              <a:ext uri="{FF2B5EF4-FFF2-40B4-BE49-F238E27FC236}">
                <a16:creationId xmlns:a16="http://schemas.microsoft.com/office/drawing/2014/main" id="{722963E7-B40F-459A-979C-AAF3B5309F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294" y="5153544"/>
            <a:ext cx="1468892" cy="107721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r>
              <a:rPr lang="en-US" altLang="en-US" sz="1600" dirty="0">
                <a:solidFill>
                  <a:schemeClr val="accent4">
                    <a:lumMod val="75000"/>
                  </a:schemeClr>
                </a:solidFill>
                <a:cs typeface="Times New Roman" panose="02020603050405020304" pitchFamily="18" charset="0"/>
              </a:rPr>
              <a:t>The atmosphere of Venus contains microbial life.</a:t>
            </a:r>
            <a:endParaRPr lang="en-SG" altLang="en-US" sz="1600" dirty="0">
              <a:solidFill>
                <a:schemeClr val="accent4">
                  <a:lumMod val="75000"/>
                </a:schemeClr>
              </a:solidFill>
              <a:cs typeface="Times New Roman" panose="02020603050405020304" pitchFamily="18" charset="0"/>
            </a:endParaRPr>
          </a:p>
        </p:txBody>
      </p:sp>
      <p:sp>
        <p:nvSpPr>
          <p:cNvPr id="5135" name="TextBox 18">
            <a:extLst>
              <a:ext uri="{FF2B5EF4-FFF2-40B4-BE49-F238E27FC236}">
                <a16:creationId xmlns:a16="http://schemas.microsoft.com/office/drawing/2014/main" id="{3DC67EFF-1CA4-458A-8961-377100C2C9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7389" y="860205"/>
            <a:ext cx="1990233" cy="2062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Earth microbes would need to work at only 10% of their maximum productivity to produce the amount of phosphine that is observed.</a:t>
            </a:r>
            <a:endParaRPr lang="en-SG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2">
            <a:extLst>
              <a:ext uri="{FF2B5EF4-FFF2-40B4-BE49-F238E27FC236}">
                <a16:creationId xmlns:a16="http://schemas.microsoft.com/office/drawing/2014/main" id="{AF1F29EB-41D0-45E7-9598-260C736DBD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850" y="3483991"/>
            <a:ext cx="3815834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telescopes show trace levels of phosphine, about 20 molecules per billion, at least 30 miles high in the Venusian sky. Most appears at the mid-latitudes with none detected at the poles.</a:t>
            </a:r>
            <a:endParaRPr lang="en-SG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04C70D3-5111-4F54-B93E-A83AAE939980}"/>
              </a:ext>
            </a:extLst>
          </p:cNvPr>
          <p:cNvSpPr txBox="1"/>
          <p:nvPr/>
        </p:nvSpPr>
        <p:spPr bwMode="auto">
          <a:xfrm>
            <a:off x="4358765" y="4002145"/>
            <a:ext cx="257175" cy="28713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1266" dirty="0"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  <a:latin typeface="Gill Sans"/>
                <a:ea typeface="ＭＳ Ｐゴシック" charset="0"/>
                <a:cs typeface="Gill Sans"/>
              </a:rPr>
              <a:t>+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90951E3-279E-4D80-9B45-2938C2DBF345}"/>
              </a:ext>
            </a:extLst>
          </p:cNvPr>
          <p:cNvCxnSpPr/>
          <p:nvPr/>
        </p:nvCxnSpPr>
        <p:spPr bwMode="auto">
          <a:xfrm>
            <a:off x="3016883" y="4822168"/>
            <a:ext cx="3278981" cy="0"/>
          </a:xfrm>
          <a:prstGeom prst="line">
            <a:avLst/>
          </a:prstGeom>
          <a:ln w="28575" cmpd="sng"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32">
            <a:extLst>
              <a:ext uri="{FF2B5EF4-FFF2-40B4-BE49-F238E27FC236}">
                <a16:creationId xmlns:a16="http://schemas.microsoft.com/office/drawing/2014/main" id="{961975C4-E1AE-4C92-B021-E27225B72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7906" y="4832920"/>
            <a:ext cx="496937" cy="377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56" dirty="0">
                <a:solidFill>
                  <a:srgbClr val="7F7F7F"/>
                </a:solidFill>
                <a:latin typeface="Gill Sans Light"/>
                <a:sym typeface="Symbol" panose="05050102010706020507" pitchFamily="18" charset="2"/>
              </a:rPr>
              <a:t></a:t>
            </a:r>
            <a:endParaRPr lang="en-US" altLang="en-US" sz="1856" dirty="0">
              <a:solidFill>
                <a:srgbClr val="7F7F7F"/>
              </a:solidFill>
              <a:latin typeface="Gill Sans Light"/>
            </a:endParaRPr>
          </a:p>
        </p:txBody>
      </p:sp>
      <p:sp>
        <p:nvSpPr>
          <p:cNvPr id="25" name="TextBox 12">
            <a:extLst>
              <a:ext uri="{FF2B5EF4-FFF2-40B4-BE49-F238E27FC236}">
                <a16:creationId xmlns:a16="http://schemas.microsoft.com/office/drawing/2014/main" id="{25FF5B28-1C01-4908-A42A-84D7E4B73A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5438" y="3645700"/>
            <a:ext cx="2636962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best explanation of the levels of phosphine detected is that the atmosphere of Venus contains microbial life</a:t>
            </a:r>
            <a:r>
              <a:rPr lang="en-US" altLang="en-US" sz="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SG" altLang="en-US" sz="7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2">
            <a:extLst>
              <a:ext uri="{FF2B5EF4-FFF2-40B4-BE49-F238E27FC236}">
                <a16:creationId xmlns:a16="http://schemas.microsoft.com/office/drawing/2014/main" id="{15457049-D216-4019-BEBB-EC138E9506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499" y="1106426"/>
            <a:ext cx="1789511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Known photochemical processes can’t produce the observed level of phosphine</a:t>
            </a:r>
            <a:r>
              <a:rPr lang="en-US" altLang="en-US" sz="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SG" altLang="en-US" sz="7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C6215E8-30E0-4DE5-96AE-9D54CC75F633}"/>
              </a:ext>
            </a:extLst>
          </p:cNvPr>
          <p:cNvSpPr txBox="1"/>
          <p:nvPr/>
        </p:nvSpPr>
        <p:spPr bwMode="auto">
          <a:xfrm>
            <a:off x="2286019" y="1782084"/>
            <a:ext cx="505595" cy="28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lang="en-US" sz="1266" dirty="0"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  <a:latin typeface="Gill Sans"/>
                <a:ea typeface="ＭＳ Ｐゴシック" charset="0"/>
                <a:cs typeface="Gill Sans"/>
              </a:rPr>
              <a:t>+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4090925-79D9-468B-8A6E-C767E64E58C3}"/>
              </a:ext>
            </a:extLst>
          </p:cNvPr>
          <p:cNvSpPr txBox="1"/>
          <p:nvPr/>
        </p:nvSpPr>
        <p:spPr bwMode="auto">
          <a:xfrm>
            <a:off x="5735617" y="1841935"/>
            <a:ext cx="601772" cy="28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lang="en-US" sz="1266" dirty="0"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  <a:latin typeface="Gill Sans"/>
                <a:ea typeface="ＭＳ Ｐゴシック" charset="0"/>
                <a:cs typeface="Gill Sans"/>
              </a:rPr>
              <a:t>+</a:t>
            </a:r>
          </a:p>
        </p:txBody>
      </p:sp>
      <p:sp>
        <p:nvSpPr>
          <p:cNvPr id="26" name="TextBox 18">
            <a:extLst>
              <a:ext uri="{FF2B5EF4-FFF2-40B4-BE49-F238E27FC236}">
                <a16:creationId xmlns:a16="http://schemas.microsoft.com/office/drawing/2014/main" id="{A42128E5-31D6-4A28-B7C5-B8858F7D3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6495" y="831338"/>
            <a:ext cx="1175382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a rocky planet like Venus, the other production routes, like those in Saturn, are unavailable.</a:t>
            </a:r>
            <a:endParaRPr lang="en-SG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4717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1AC2E-DCA1-8D1B-4094-6D459B0C0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3" name="Rectangle 4">
            <a:extLst>
              <a:ext uri="{FF2B5EF4-FFF2-40B4-BE49-F238E27FC236}">
                <a16:creationId xmlns:a16="http://schemas.microsoft.com/office/drawing/2014/main" id="{566A6BDE-03E8-4DAA-3A20-357BB8B4EF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76200"/>
            <a:ext cx="8077200" cy="624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buFontTx/>
              <a:buNone/>
            </a:pPr>
            <a:br>
              <a:rPr lang="en-US" altLang="en-US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40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40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40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16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4000" b="1">
                <a:solidFill>
                  <a:srgbClr val="FFDE2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r>
              <a:rPr lang="en-US" altLang="en-US" sz="5400" b="1">
                <a:solidFill>
                  <a:srgbClr val="FFDE2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br>
              <a:rPr lang="en-US" altLang="en-US" sz="14200" b="1">
                <a:solidFill>
                  <a:srgbClr val="FFDE2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endParaRPr lang="en-US" altLang="en-US" sz="14200" b="1">
              <a:solidFill>
                <a:srgbClr val="FFDE26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algn="ctr" eaLnBrk="1" hangingPunct="1">
              <a:buFontTx/>
              <a:buNone/>
            </a:pPr>
            <a:br>
              <a:rPr lang="en-US" altLang="en-US" sz="4000" b="1">
                <a:solidFill>
                  <a:srgbClr val="99CC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endParaRPr lang="en-US" altLang="en-US" sz="4000" b="1">
              <a:solidFill>
                <a:srgbClr val="66CCFF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37A4CC7-16F0-EBE9-78E2-C778E45DF59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27000" y="1005205"/>
            <a:ext cx="8636000" cy="5097779"/>
          </a:xfrm>
        </p:spPr>
        <p:txBody>
          <a:bodyPr>
            <a:normAutofit/>
          </a:bodyPr>
          <a:lstStyle/>
          <a:p>
            <a:pPr algn="l"/>
            <a:r>
              <a:rPr lang="en-US" altLang="en-US" sz="20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Exercise 1</a:t>
            </a:r>
            <a:endParaRPr lang="en-GB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/>
            <a:r>
              <a:rPr 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are driving along an isolated stretch of Lim Chu Kang Road at 2am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you </a:t>
            </a:r>
            <a:r>
              <a:rPr 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see a human-like figure in white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waf</a:t>
            </a:r>
            <a:r>
              <a:rPr 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ting across the road. You should abduce that: ?</a:t>
            </a:r>
          </a:p>
          <a:p>
            <a:pPr lvl="0" algn="l"/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/>
            <a:endParaRPr lang="en-GB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/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/>
            <a:endParaRPr lang="en-GB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/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/>
            <a:r>
              <a:rPr lang="en-GB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Exercise 2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hangingPunct="1">
              <a:defRPr/>
            </a:pPr>
            <a:r>
              <a:rPr 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GB" sz="20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Your boyfriend said that he is too busy for dinner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So you decided to hang out with your girlfriends. During dinner, </a:t>
            </a:r>
            <a:r>
              <a:rPr lang="en-GB" sz="20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you spot your boyfriend at another table with another girl.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pPr algn="l" eaLnBrk="1" hangingPunct="1">
              <a:defRPr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best explanation?</a:t>
            </a:r>
            <a:endParaRPr lang="en-SG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hangingPunct="1">
              <a:defRPr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SG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SG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/>
            <a:endParaRPr lang="en-SG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l">
              <a:buFont typeface="+mj-lt"/>
              <a:buAutoNum type="alphaLcParenR"/>
            </a:pPr>
            <a:endParaRPr lang="en-SG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l">
              <a:buFont typeface="+mj-lt"/>
              <a:buAutoNum type="alphaLcParenR"/>
            </a:pPr>
            <a:endParaRPr lang="en-SG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nip and Round Single Corner Rectangle 4">
            <a:extLst>
              <a:ext uri="{FF2B5EF4-FFF2-40B4-BE49-F238E27FC236}">
                <a16:creationId xmlns:a16="http://schemas.microsoft.com/office/drawing/2014/main" id="{88327FF8-68DA-DA62-5FBC-E7300CCEEE08}"/>
              </a:ext>
            </a:extLst>
          </p:cNvPr>
          <p:cNvSpPr/>
          <p:nvPr/>
        </p:nvSpPr>
        <p:spPr>
          <a:xfrm>
            <a:off x="0" y="95250"/>
            <a:ext cx="87122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3200" b="1" spc="-15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Criteria for “</a:t>
            </a:r>
            <a:r>
              <a:rPr lang="en-US" sz="3200" b="1" spc="-150" dirty="0" err="1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Bestness</a:t>
            </a:r>
            <a:r>
              <a:rPr lang="en-US" sz="3200" b="1" spc="-15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”: Your Intuitions</a:t>
            </a:r>
          </a:p>
        </p:txBody>
      </p:sp>
      <p:sp>
        <p:nvSpPr>
          <p:cNvPr id="5" name="Snip and Round Single Corner Rectangle 5">
            <a:extLst>
              <a:ext uri="{FF2B5EF4-FFF2-40B4-BE49-F238E27FC236}">
                <a16:creationId xmlns:a16="http://schemas.microsoft.com/office/drawing/2014/main" id="{3DB67D66-1CF9-347F-CCDC-023163FBCFA3}"/>
              </a:ext>
            </a:extLst>
          </p:cNvPr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spcBef>
                <a:spcPct val="20000"/>
              </a:spcBef>
              <a:buChar char="•"/>
              <a:tabLst>
                <a:tab pos="43894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tabLst>
                <a:tab pos="43894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tabLst>
                <a:tab pos="43894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  <a:defRPr/>
            </a:pPr>
            <a:fld id="{1B1F8F8E-C6A8-412C-B091-B275DC93F50A}" type="slidenum">
              <a:rPr lang="en-US" altLang="en-US" sz="1300" smtClean="0">
                <a:solidFill>
                  <a:srgbClr val="FFFFFF"/>
                </a:solidFill>
                <a:latin typeface="Gill Sans MT" panose="020B0502020104020203" pitchFamily="34" charset="0"/>
                <a:ea typeface="MS PGothic" panose="020B0600070205080204" pitchFamily="34" charset="-128"/>
              </a:rPr>
              <a:pPr algn="r" eaLnBrk="1" hangingPunct="1">
                <a:spcBef>
                  <a:spcPct val="0"/>
                </a:spcBef>
                <a:buFontTx/>
                <a:buNone/>
                <a:defRPr/>
              </a:pPr>
              <a:t>4</a:t>
            </a:fld>
            <a:endParaRPr lang="en-US" altLang="en-US" sz="1300">
              <a:solidFill>
                <a:srgbClr val="FFFFFF"/>
              </a:solidFill>
              <a:latin typeface="Gill Sans MT" panose="020B0502020104020203" pitchFamily="34" charset="0"/>
              <a:ea typeface="MS PGothic" panose="020B0600070205080204" pitchFamily="34" charset="-128"/>
            </a:endParaRPr>
          </a:p>
        </p:txBody>
      </p:sp>
      <p:pic>
        <p:nvPicPr>
          <p:cNvPr id="2" name="Picture 1" descr="A tree on a dirt road&#10;&#10;Description automatically generated">
            <a:extLst>
              <a:ext uri="{FF2B5EF4-FFF2-40B4-BE49-F238E27FC236}">
                <a16:creationId xmlns:a16="http://schemas.microsoft.com/office/drawing/2014/main" id="{798997FB-8C57-C1C0-5FF9-D2C70CA7D0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" y="2057400"/>
            <a:ext cx="83058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863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5124"/>
    </mc:Choice>
    <mc:Fallback xmlns="">
      <p:transition spd="slow" advTm="95124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4"/>
          <p:cNvSpPr/>
          <p:nvPr/>
        </p:nvSpPr>
        <p:spPr>
          <a:xfrm>
            <a:off x="0" y="95250"/>
            <a:ext cx="87122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3200" b="1" spc="-15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Criteria for “</a:t>
            </a:r>
            <a:r>
              <a:rPr lang="en-US" sz="3200" b="1" spc="-150" dirty="0" err="1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Bestness</a:t>
            </a:r>
            <a:r>
              <a:rPr lang="en-US" sz="3200" b="1" spc="-15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</p:txBody>
      </p:sp>
      <p:sp>
        <p:nvSpPr>
          <p:cNvPr id="97283" name="Rectangle 4"/>
          <p:cNvSpPr>
            <a:spLocks noChangeArrowheads="1"/>
          </p:cNvSpPr>
          <p:nvPr/>
        </p:nvSpPr>
        <p:spPr bwMode="auto">
          <a:xfrm>
            <a:off x="381000" y="76200"/>
            <a:ext cx="8077200" cy="624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buFontTx/>
              <a:buNone/>
            </a:pPr>
            <a:br>
              <a:rPr lang="en-US" altLang="en-US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40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40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40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16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4000" b="1">
                <a:solidFill>
                  <a:srgbClr val="FFDE2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r>
              <a:rPr lang="en-US" altLang="en-US" sz="5400" b="1">
                <a:solidFill>
                  <a:srgbClr val="FFDE2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br>
              <a:rPr lang="en-US" altLang="en-US" sz="14200" b="1">
                <a:solidFill>
                  <a:srgbClr val="FFDE2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endParaRPr lang="en-US" altLang="en-US" sz="14200" b="1">
              <a:solidFill>
                <a:srgbClr val="FFDE26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algn="ctr" eaLnBrk="1" hangingPunct="1">
              <a:buFontTx/>
              <a:buNone/>
            </a:pPr>
            <a:br>
              <a:rPr lang="en-US" altLang="en-US" sz="4000" b="1">
                <a:solidFill>
                  <a:srgbClr val="99CC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endParaRPr lang="en-US" altLang="en-US" sz="4000" b="1">
              <a:solidFill>
                <a:srgbClr val="66CCFF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Snip and Round Single Corner Rectangle 5"/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spcBef>
                <a:spcPct val="20000"/>
              </a:spcBef>
              <a:buChar char="•"/>
              <a:tabLst>
                <a:tab pos="43894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tabLst>
                <a:tab pos="43894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tabLst>
                <a:tab pos="43894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  <a:defRPr/>
            </a:pPr>
            <a:fld id="{1B1F8F8E-C6A8-412C-B091-B275DC93F50A}" type="slidenum">
              <a:rPr lang="en-US" altLang="en-US" sz="1300" smtClean="0">
                <a:solidFill>
                  <a:srgbClr val="FFFFFF"/>
                </a:solidFill>
                <a:latin typeface="Gill Sans MT" panose="020B0502020104020203" pitchFamily="34" charset="0"/>
                <a:ea typeface="MS PGothic" panose="020B0600070205080204" pitchFamily="34" charset="-128"/>
              </a:rPr>
              <a:pPr algn="r" eaLnBrk="1" hangingPunct="1">
                <a:spcBef>
                  <a:spcPct val="0"/>
                </a:spcBef>
                <a:buFontTx/>
                <a:buNone/>
                <a:defRPr/>
              </a:pPr>
              <a:t>5</a:t>
            </a:fld>
            <a:endParaRPr lang="en-US" altLang="en-US" sz="1300">
              <a:solidFill>
                <a:srgbClr val="FFFFFF"/>
              </a:solidFill>
              <a:latin typeface="Gill Sans MT" panose="020B0502020104020203" pitchFamily="34" charset="0"/>
              <a:ea typeface="MS PGothic" panose="020B0600070205080204" pitchFamily="34" charset="-128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840BB27-AF22-446C-B223-BF0653E0CC8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27000" y="1091248"/>
            <a:ext cx="5207000" cy="5097779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Recall also that, whether an abductive argument is</a:t>
            </a:r>
            <a:r>
              <a:rPr lang="en-US" altLang="en-US" sz="2400" dirty="0">
                <a:solidFill>
                  <a:schemeClr val="tx1"/>
                </a:solidFill>
                <a:highlight>
                  <a:srgbClr val="FFFF00"/>
                </a:highlight>
                <a:latin typeface="Times New Roman"/>
                <a:ea typeface="MS PGothic"/>
                <a:cs typeface="Times New Roman"/>
              </a:rPr>
              <a:t> cogent </a:t>
            </a:r>
            <a:r>
              <a:rPr lang="en-US" altLang="en-US" sz="24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depends </a:t>
            </a:r>
            <a:r>
              <a:rPr lang="en-US" altLang="en-US" sz="2400" b="1" i="1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primarily</a:t>
            </a:r>
            <a:r>
              <a:rPr lang="en-US" altLang="en-US" sz="2400" i="1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 </a:t>
            </a:r>
            <a:r>
              <a:rPr lang="en-US" altLang="en-US" sz="24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on whether the explanation picked as best is </a:t>
            </a:r>
            <a:r>
              <a:rPr lang="en-US" altLang="en-US" sz="2400" dirty="0">
                <a:solidFill>
                  <a:schemeClr val="tx1"/>
                </a:solidFill>
                <a:highlight>
                  <a:srgbClr val="FFFF00"/>
                </a:highlight>
                <a:latin typeface="Times New Roman"/>
                <a:ea typeface="MS PGothic"/>
                <a:cs typeface="Times New Roman"/>
              </a:rPr>
              <a:t>indeed</a:t>
            </a:r>
            <a:r>
              <a:rPr lang="en-US" altLang="en-US" sz="24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 the best. </a:t>
            </a:r>
          </a:p>
          <a:p>
            <a:pPr algn="l"/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en-US" sz="24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To evaluate which explanation is the best, you should consider: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The </a:t>
            </a:r>
            <a:r>
              <a:rPr lang="en-US" altLang="en-US" sz="2400" dirty="0">
                <a:solidFill>
                  <a:schemeClr val="tx1"/>
                </a:solidFill>
                <a:highlight>
                  <a:srgbClr val="FFFF00"/>
                </a:highlight>
                <a:latin typeface="Times New Roman"/>
                <a:ea typeface="MS PGothic"/>
                <a:cs typeface="Times New Roman"/>
              </a:rPr>
              <a:t>simplicity</a:t>
            </a:r>
            <a:r>
              <a:rPr lang="en-US" altLang="en-US" sz="24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 of an explanation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The </a:t>
            </a:r>
            <a:r>
              <a:rPr lang="en-US" altLang="en-US" sz="2400" dirty="0">
                <a:solidFill>
                  <a:schemeClr val="tx1"/>
                </a:solidFill>
                <a:highlight>
                  <a:srgbClr val="FFFF00"/>
                </a:highlight>
                <a:latin typeface="Times New Roman"/>
                <a:ea typeface="MS PGothic"/>
                <a:cs typeface="Times New Roman"/>
              </a:rPr>
              <a:t>coherence</a:t>
            </a:r>
            <a:r>
              <a:rPr lang="en-US" altLang="en-US" sz="24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 of an explanation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The </a:t>
            </a:r>
            <a:r>
              <a:rPr lang="en-US" altLang="en-US" sz="2400" dirty="0">
                <a:solidFill>
                  <a:schemeClr val="tx1"/>
                </a:solidFill>
                <a:highlight>
                  <a:srgbClr val="FFFF00"/>
                </a:highlight>
                <a:latin typeface="Times New Roman"/>
                <a:ea typeface="MS PGothic"/>
                <a:cs typeface="Times New Roman"/>
              </a:rPr>
              <a:t>predictive power</a:t>
            </a:r>
            <a:r>
              <a:rPr lang="en-US" altLang="en-US" sz="24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 of an explanation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Simplicity | PPT">
            <a:extLst>
              <a:ext uri="{FF2B5EF4-FFF2-40B4-BE49-F238E27FC236}">
                <a16:creationId xmlns:a16="http://schemas.microsoft.com/office/drawing/2014/main" id="{28041F99-6A19-7D4A-8B0B-AB59B2F12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614" y="1257300"/>
            <a:ext cx="2387600" cy="179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oherence Stock Illustrations – 1,990 Coherence Stock ...">
            <a:extLst>
              <a:ext uri="{FF2B5EF4-FFF2-40B4-BE49-F238E27FC236}">
                <a16:creationId xmlns:a16="http://schemas.microsoft.com/office/drawing/2014/main" id="{2BAE4617-E7FB-9054-1AB4-2F4827A8AD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615" y="3276600"/>
            <a:ext cx="2387600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755E7A6-2BC5-C5B2-8370-7671A3B56B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9307" y="4712398"/>
            <a:ext cx="2610214" cy="1371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758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8361"/>
    </mc:Choice>
    <mc:Fallback xmlns="">
      <p:transition spd="slow" advTm="5836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A3BCA-1493-439A-8747-28040870D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4">
            <a:extLst>
              <a:ext uri="{FF2B5EF4-FFF2-40B4-BE49-F238E27FC236}">
                <a16:creationId xmlns:a16="http://schemas.microsoft.com/office/drawing/2014/main" id="{E26D5791-7724-62DD-53D1-8F9DAEF655B1}"/>
              </a:ext>
            </a:extLst>
          </p:cNvPr>
          <p:cNvSpPr/>
          <p:nvPr/>
        </p:nvSpPr>
        <p:spPr>
          <a:xfrm>
            <a:off x="0" y="95250"/>
            <a:ext cx="87122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3000" b="1" spc="-15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Criterion for “</a:t>
            </a:r>
            <a:r>
              <a:rPr lang="en-US" sz="3000" b="1" spc="-150" dirty="0" err="1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Bestness</a:t>
            </a:r>
            <a:r>
              <a:rPr lang="en-US" sz="3000" b="1" spc="-15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”: Simplicity</a:t>
            </a:r>
          </a:p>
        </p:txBody>
      </p:sp>
      <p:sp>
        <p:nvSpPr>
          <p:cNvPr id="97283" name="Rectangle 4">
            <a:extLst>
              <a:ext uri="{FF2B5EF4-FFF2-40B4-BE49-F238E27FC236}">
                <a16:creationId xmlns:a16="http://schemas.microsoft.com/office/drawing/2014/main" id="{B7B2C87F-E577-1492-C135-64BD83F91C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76200"/>
            <a:ext cx="8077200" cy="624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buFontTx/>
              <a:buNone/>
            </a:pPr>
            <a:br>
              <a:rPr lang="en-US" altLang="en-US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40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40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40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16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4000" b="1">
                <a:solidFill>
                  <a:srgbClr val="FFDE2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r>
              <a:rPr lang="en-US" altLang="en-US" sz="5400" b="1">
                <a:solidFill>
                  <a:srgbClr val="FFDE2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br>
              <a:rPr lang="en-US" altLang="en-US" sz="14200" b="1">
                <a:solidFill>
                  <a:srgbClr val="FFDE2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endParaRPr lang="en-US" altLang="en-US" sz="14200" b="1">
              <a:solidFill>
                <a:srgbClr val="FFDE26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algn="ctr" eaLnBrk="1" hangingPunct="1">
              <a:buFontTx/>
              <a:buNone/>
            </a:pPr>
            <a:br>
              <a:rPr lang="en-US" altLang="en-US" sz="4000" b="1">
                <a:solidFill>
                  <a:srgbClr val="99CC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endParaRPr lang="en-US" altLang="en-US" sz="4000" b="1">
              <a:solidFill>
                <a:srgbClr val="66CCFF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Snip and Round Single Corner Rectangle 5">
            <a:extLst>
              <a:ext uri="{FF2B5EF4-FFF2-40B4-BE49-F238E27FC236}">
                <a16:creationId xmlns:a16="http://schemas.microsoft.com/office/drawing/2014/main" id="{E5FB2A5B-0BE0-D30B-1465-360653EF3355}"/>
              </a:ext>
            </a:extLst>
          </p:cNvPr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spcBef>
                <a:spcPct val="20000"/>
              </a:spcBef>
              <a:buChar char="•"/>
              <a:tabLst>
                <a:tab pos="43894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tabLst>
                <a:tab pos="43894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tabLst>
                <a:tab pos="43894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  <a:defRPr/>
            </a:pPr>
            <a:fld id="{1B1F8F8E-C6A8-412C-B091-B275DC93F50A}" type="slidenum">
              <a:rPr lang="en-US" altLang="en-US" sz="1300" smtClean="0">
                <a:solidFill>
                  <a:srgbClr val="FFFFFF"/>
                </a:solidFill>
                <a:latin typeface="Gill Sans MT" panose="020B0502020104020203" pitchFamily="34" charset="0"/>
                <a:ea typeface="MS PGothic" panose="020B0600070205080204" pitchFamily="34" charset="-128"/>
              </a:rPr>
              <a:pPr algn="r" eaLnBrk="1" hangingPunct="1">
                <a:spcBef>
                  <a:spcPct val="0"/>
                </a:spcBef>
                <a:buFontTx/>
                <a:buNone/>
                <a:defRPr/>
              </a:pPr>
              <a:t>6</a:t>
            </a:fld>
            <a:endParaRPr lang="en-US" altLang="en-US" sz="1300">
              <a:solidFill>
                <a:srgbClr val="FFFFFF"/>
              </a:solidFill>
              <a:latin typeface="Gill Sans MT" panose="020B0502020104020203" pitchFamily="34" charset="0"/>
              <a:ea typeface="MS PGothic" panose="020B0600070205080204" pitchFamily="34" charset="-128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3CCEF93-F1A5-0DDC-684A-91C2B4A1852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27000" y="1245871"/>
            <a:ext cx="8636000" cy="5097779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An explanation is simpler if it makes fewer assumptions, or has fewer vague terms, or requires fewer further explanations.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If all candidate explanations can explain the evidence equally well; have </a:t>
            </a:r>
            <a:r>
              <a:rPr lang="en-US" altLang="en-US" sz="2400" dirty="0">
                <a:solidFill>
                  <a:schemeClr val="tx1"/>
                </a:solidFill>
                <a:highlight>
                  <a:srgbClr val="FFFF00"/>
                </a:highlight>
                <a:latin typeface="Times New Roman"/>
                <a:ea typeface="MS PGothic"/>
                <a:cs typeface="Times New Roman"/>
              </a:rPr>
              <a:t>equal degrees of predictive power</a:t>
            </a:r>
            <a:r>
              <a:rPr lang="en-US" altLang="en-US" sz="24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; </a:t>
            </a:r>
            <a:r>
              <a:rPr lang="en-US" altLang="en-US" sz="2400" dirty="0">
                <a:solidFill>
                  <a:schemeClr val="tx1"/>
                </a:solidFill>
                <a:highlight>
                  <a:srgbClr val="FFFF00"/>
                </a:highlight>
                <a:latin typeface="Times New Roman"/>
                <a:ea typeface="MS PGothic"/>
                <a:cs typeface="Times New Roman"/>
              </a:rPr>
              <a:t>cohere equally well </a:t>
            </a:r>
            <a:r>
              <a:rPr lang="en-US" altLang="en-US" sz="24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with your </a:t>
            </a:r>
            <a:r>
              <a:rPr lang="en-US" altLang="en-US" sz="2400" dirty="0">
                <a:solidFill>
                  <a:srgbClr val="FF0000"/>
                </a:solidFill>
                <a:latin typeface="Times New Roman"/>
                <a:ea typeface="MS PGothic"/>
                <a:cs typeface="Times New Roman"/>
              </a:rPr>
              <a:t>justified </a:t>
            </a:r>
            <a:r>
              <a:rPr lang="en-US" altLang="en-US" sz="24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background beliefs; then, the simpler explanation is better.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This criterion (also known as </a:t>
            </a:r>
            <a:r>
              <a:rPr lang="en-US" alt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/>
                <a:ea typeface="MS PGothic"/>
                <a:cs typeface="Times New Roman"/>
              </a:rPr>
              <a:t>Occam’s Razor</a:t>
            </a:r>
            <a:r>
              <a:rPr lang="en-US" altLang="en-US" sz="24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) suggests that, if everything else is equal, the </a:t>
            </a:r>
            <a:r>
              <a:rPr lang="en-US" altLang="en-US" sz="2400" u="sng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simpler</a:t>
            </a:r>
            <a:r>
              <a:rPr lang="en-US" altLang="en-US" sz="24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 explanation is the </a:t>
            </a:r>
            <a:r>
              <a:rPr lang="en-US" altLang="en-US" sz="2400" u="sng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better</a:t>
            </a:r>
            <a:r>
              <a:rPr lang="en-US" altLang="en-US" sz="24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 one.</a:t>
            </a:r>
          </a:p>
          <a:p>
            <a:pPr algn="l"/>
            <a:endParaRPr lang="en-US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982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3863"/>
    </mc:Choice>
    <mc:Fallback xmlns="">
      <p:transition spd="slow" advTm="163863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C1EE7-8871-6B62-0854-24C28D6BA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4">
            <a:extLst>
              <a:ext uri="{FF2B5EF4-FFF2-40B4-BE49-F238E27FC236}">
                <a16:creationId xmlns:a16="http://schemas.microsoft.com/office/drawing/2014/main" id="{4278FA68-F315-1D4B-0F50-D040096CAADE}"/>
              </a:ext>
            </a:extLst>
          </p:cNvPr>
          <p:cNvSpPr/>
          <p:nvPr/>
        </p:nvSpPr>
        <p:spPr>
          <a:xfrm>
            <a:off x="0" y="95250"/>
            <a:ext cx="87122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3000" b="1" spc="-15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Simplicity: Example</a:t>
            </a:r>
          </a:p>
        </p:txBody>
      </p:sp>
      <p:sp>
        <p:nvSpPr>
          <p:cNvPr id="97283" name="Rectangle 4">
            <a:extLst>
              <a:ext uri="{FF2B5EF4-FFF2-40B4-BE49-F238E27FC236}">
                <a16:creationId xmlns:a16="http://schemas.microsoft.com/office/drawing/2014/main" id="{22CD36F7-4061-5863-2CB6-82EE7A6A2C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4416"/>
            <a:ext cx="8077200" cy="624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457200" indent="-457200" algn="ctr" eaLnBrk="1" hangingPunct="1"/>
            <a:br>
              <a:rPr lang="en-US" altLang="en-US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40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40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40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16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4000" b="1">
                <a:solidFill>
                  <a:srgbClr val="FFDE2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r>
              <a:rPr lang="en-US" altLang="en-US" sz="5400" b="1">
                <a:solidFill>
                  <a:srgbClr val="FFDE2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br>
              <a:rPr lang="en-US" altLang="en-US" sz="14200" b="1">
                <a:solidFill>
                  <a:srgbClr val="FFDE2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endParaRPr lang="en-US" altLang="en-US" sz="14200" b="1">
              <a:solidFill>
                <a:srgbClr val="FFDE26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marL="571500" indent="-571500" algn="ctr" eaLnBrk="1" hangingPunct="1"/>
            <a:br>
              <a:rPr lang="en-US" altLang="en-US" sz="4000" b="1">
                <a:solidFill>
                  <a:srgbClr val="99CC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endParaRPr lang="en-US" altLang="en-US" sz="4000" b="1">
              <a:solidFill>
                <a:srgbClr val="66CCFF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Snip and Round Single Corner Rectangle 5">
            <a:extLst>
              <a:ext uri="{FF2B5EF4-FFF2-40B4-BE49-F238E27FC236}">
                <a16:creationId xmlns:a16="http://schemas.microsoft.com/office/drawing/2014/main" id="{ADA3E966-FA75-D3A2-D457-DC8C7B548890}"/>
              </a:ext>
            </a:extLst>
          </p:cNvPr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spcBef>
                <a:spcPct val="20000"/>
              </a:spcBef>
              <a:buChar char="•"/>
              <a:tabLst>
                <a:tab pos="43894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tabLst>
                <a:tab pos="43894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tabLst>
                <a:tab pos="43894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  <a:defRPr/>
            </a:pPr>
            <a:fld id="{1B1F8F8E-C6A8-412C-B091-B275DC93F50A}" type="slidenum">
              <a:rPr lang="en-US" altLang="en-US" sz="1300" smtClean="0">
                <a:solidFill>
                  <a:srgbClr val="FFFFFF"/>
                </a:solidFill>
                <a:latin typeface="Gill Sans MT" panose="020B0502020104020203" pitchFamily="34" charset="0"/>
                <a:ea typeface="MS PGothic" panose="020B0600070205080204" pitchFamily="34" charset="-128"/>
              </a:rPr>
              <a:pPr algn="r" eaLnBrk="1" hangingPunct="1">
                <a:spcBef>
                  <a:spcPct val="0"/>
                </a:spcBef>
                <a:buFontTx/>
                <a:buNone/>
                <a:defRPr/>
              </a:pPr>
              <a:t>7</a:t>
            </a:fld>
            <a:endParaRPr lang="en-US" altLang="en-US" sz="1300">
              <a:solidFill>
                <a:srgbClr val="FFFFFF"/>
              </a:solidFill>
              <a:latin typeface="Gill Sans MT" panose="020B0502020104020203" pitchFamily="34" charset="0"/>
              <a:ea typeface="MS PGothic" panose="020B0600070205080204" pitchFamily="34" charset="-128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68B5884-1C2F-07E3-979C-17F511DA1C2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27000" y="1245871"/>
            <a:ext cx="8636000" cy="5097779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consider the following explanations of planetary observations. Which is simpler?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And, is a ‘supernatural’ or a ‘natural’ explanation simpler?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C9E55B-E700-2A28-C4E2-7E4B583FABD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37" t="8666" r="911" b="12053"/>
          <a:stretch/>
        </p:blipFill>
        <p:spPr>
          <a:xfrm>
            <a:off x="1905000" y="2057400"/>
            <a:ext cx="4574565" cy="3005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972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0770"/>
    </mc:Choice>
    <mc:Fallback xmlns="">
      <p:transition spd="slow" advTm="29077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CE7BE-1BC9-F66A-F008-85B3CC961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4">
            <a:extLst>
              <a:ext uri="{FF2B5EF4-FFF2-40B4-BE49-F238E27FC236}">
                <a16:creationId xmlns:a16="http://schemas.microsoft.com/office/drawing/2014/main" id="{311F2383-AD8C-62CB-C6D7-1CF25BEB4DF6}"/>
              </a:ext>
            </a:extLst>
          </p:cNvPr>
          <p:cNvSpPr/>
          <p:nvPr/>
        </p:nvSpPr>
        <p:spPr>
          <a:xfrm>
            <a:off x="0" y="95250"/>
            <a:ext cx="87122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2800" b="1" spc="-15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Criterion for </a:t>
            </a:r>
            <a:r>
              <a:rPr lang="en-US" sz="2800" b="1" spc="-150" dirty="0" err="1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Bestness</a:t>
            </a:r>
            <a:r>
              <a:rPr lang="en-US" sz="2800" b="1" spc="-15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>
              <a:defRPr/>
            </a:pPr>
            <a:r>
              <a:rPr lang="en-US" sz="2800" b="1" spc="-15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Coherence</a:t>
            </a:r>
          </a:p>
        </p:txBody>
      </p:sp>
      <p:sp>
        <p:nvSpPr>
          <p:cNvPr id="97283" name="Rectangle 4">
            <a:extLst>
              <a:ext uri="{FF2B5EF4-FFF2-40B4-BE49-F238E27FC236}">
                <a16:creationId xmlns:a16="http://schemas.microsoft.com/office/drawing/2014/main" id="{8184F0C3-BADA-D43E-51FB-569B22E49B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76200"/>
            <a:ext cx="8077200" cy="624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buFontTx/>
              <a:buNone/>
            </a:pPr>
            <a:br>
              <a:rPr lang="en-US" altLang="en-US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40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40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40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16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4000" b="1">
                <a:solidFill>
                  <a:srgbClr val="FFDE2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r>
              <a:rPr lang="en-US" altLang="en-US" sz="5400" b="1">
                <a:solidFill>
                  <a:srgbClr val="FFDE2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br>
              <a:rPr lang="en-US" altLang="en-US" sz="14200" b="1">
                <a:solidFill>
                  <a:srgbClr val="FFDE2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endParaRPr lang="en-US" altLang="en-US" sz="14200" b="1">
              <a:solidFill>
                <a:srgbClr val="FFDE26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algn="ctr" eaLnBrk="1" hangingPunct="1">
              <a:buFontTx/>
              <a:buNone/>
            </a:pPr>
            <a:br>
              <a:rPr lang="en-US" altLang="en-US" sz="4000" b="1">
                <a:solidFill>
                  <a:srgbClr val="99CC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endParaRPr lang="en-US" altLang="en-US" sz="4000" b="1">
              <a:solidFill>
                <a:srgbClr val="66CCFF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Snip and Round Single Corner Rectangle 5">
            <a:extLst>
              <a:ext uri="{FF2B5EF4-FFF2-40B4-BE49-F238E27FC236}">
                <a16:creationId xmlns:a16="http://schemas.microsoft.com/office/drawing/2014/main" id="{E1AD539D-93CF-35E4-CC15-3442888DC92E}"/>
              </a:ext>
            </a:extLst>
          </p:cNvPr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spcBef>
                <a:spcPct val="20000"/>
              </a:spcBef>
              <a:buChar char="•"/>
              <a:tabLst>
                <a:tab pos="43894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tabLst>
                <a:tab pos="43894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tabLst>
                <a:tab pos="43894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  <a:defRPr/>
            </a:pPr>
            <a:fld id="{1B1F8F8E-C6A8-412C-B091-B275DC93F50A}" type="slidenum">
              <a:rPr lang="en-US" altLang="en-US" sz="1300" smtClean="0">
                <a:solidFill>
                  <a:srgbClr val="FFFFFF"/>
                </a:solidFill>
                <a:latin typeface="Gill Sans MT" panose="020B0502020104020203" pitchFamily="34" charset="0"/>
                <a:ea typeface="MS PGothic" panose="020B0600070205080204" pitchFamily="34" charset="-128"/>
              </a:rPr>
              <a:pPr algn="r" eaLnBrk="1" hangingPunct="1">
                <a:spcBef>
                  <a:spcPct val="0"/>
                </a:spcBef>
                <a:buFontTx/>
                <a:buNone/>
                <a:defRPr/>
              </a:pPr>
              <a:t>8</a:t>
            </a:fld>
            <a:endParaRPr lang="en-US" altLang="en-US" sz="1300">
              <a:solidFill>
                <a:srgbClr val="FFFFFF"/>
              </a:solidFill>
              <a:latin typeface="Gill Sans MT" panose="020B0502020104020203" pitchFamily="34" charset="0"/>
              <a:ea typeface="MS PGothic" panose="020B0600070205080204" pitchFamily="34" charset="-128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467CCAB-C084-9742-518E-C580F20EC26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67056" y="1091248"/>
            <a:ext cx="8636000" cy="5097779"/>
          </a:xfrm>
        </p:spPr>
        <p:txBody>
          <a:bodyPr>
            <a:normAutofit lnSpcReduction="10000"/>
          </a:bodyPr>
          <a:lstStyle/>
          <a:p>
            <a:pPr algn="l"/>
            <a:r>
              <a:rPr lang="en-US" altLang="en-US" sz="24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The most common/</a:t>
            </a:r>
            <a:r>
              <a:rPr lang="en-US" altLang="en-US" sz="2400" dirty="0">
                <a:solidFill>
                  <a:schemeClr val="tx1"/>
                </a:solidFill>
                <a:highlight>
                  <a:srgbClr val="FFFF00"/>
                </a:highlight>
                <a:latin typeface="Times New Roman"/>
                <a:ea typeface="MS PGothic"/>
                <a:cs typeface="Times New Roman"/>
              </a:rPr>
              <a:t> most instinctive way</a:t>
            </a:r>
            <a:r>
              <a:rPr lang="en-US" altLang="en-US" sz="24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 of choosing the best explanation is by appealing to </a:t>
            </a:r>
            <a:r>
              <a:rPr lang="en-US" altLang="en-US" sz="2400" dirty="0">
                <a:solidFill>
                  <a:schemeClr val="tx1"/>
                </a:solidFill>
                <a:highlight>
                  <a:srgbClr val="FFFF00"/>
                </a:highlight>
                <a:latin typeface="Times New Roman"/>
                <a:ea typeface="MS PGothic"/>
                <a:cs typeface="Times New Roman"/>
              </a:rPr>
              <a:t>coherence</a:t>
            </a:r>
            <a:r>
              <a:rPr lang="en-US" altLang="en-US" sz="24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. 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To see how coherence works, note that explanations do not happen in a vacuum – we bring </a:t>
            </a:r>
            <a:r>
              <a:rPr lang="en-US" altLang="en-US" sz="2400" b="1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background epistemological baggage</a:t>
            </a:r>
            <a:r>
              <a:rPr lang="en-US" altLang="en-US" sz="24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 to the task of explaining.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The ‘coherence’ of an explanation is the degree to which the explanation does </a:t>
            </a:r>
            <a:r>
              <a:rPr lang="en-US" altLang="en-US" sz="2400" u="sng" dirty="0">
                <a:solidFill>
                  <a:schemeClr val="tx1"/>
                </a:solidFill>
                <a:highlight>
                  <a:srgbClr val="FFFF00"/>
                </a:highlight>
                <a:latin typeface="Times New Roman"/>
                <a:ea typeface="MS PGothic"/>
                <a:cs typeface="Times New Roman"/>
              </a:rPr>
              <a:t>not</a:t>
            </a:r>
            <a:r>
              <a:rPr lang="en-US" altLang="en-US" sz="24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 contradict (or, is consistent) with our background beliefs about the nature and structure of our world.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If there must be contradiction, then the explanation would contradict </a:t>
            </a:r>
            <a:r>
              <a:rPr lang="en-US" altLang="en-US" sz="2400" b="1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less strongly held beliefs.</a:t>
            </a:r>
            <a:endParaRPr lang="en-US" altLang="en-US" sz="2400" dirty="0">
              <a:solidFill>
                <a:schemeClr val="tx1"/>
              </a:solidFill>
              <a:latin typeface="Times New Roman"/>
              <a:ea typeface="MS PGothic"/>
              <a:cs typeface="Times New Roman"/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Everything else being the same, the more coherent an explanation is, the better it is as an explanation of the observation.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altLang="en-US" sz="2400" b="1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But, how do we acquire our background beliefs?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en-US" alt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alt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8907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7380"/>
    </mc:Choice>
    <mc:Fallback xmlns="">
      <p:transition spd="slow" advTm="28738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2F513-5EA7-1128-CD69-85971CAF6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4">
            <a:extLst>
              <a:ext uri="{FF2B5EF4-FFF2-40B4-BE49-F238E27FC236}">
                <a16:creationId xmlns:a16="http://schemas.microsoft.com/office/drawing/2014/main" id="{65F2E6C3-BB91-DB2B-9E04-40DF2205A963}"/>
              </a:ext>
            </a:extLst>
          </p:cNvPr>
          <p:cNvSpPr/>
          <p:nvPr/>
        </p:nvSpPr>
        <p:spPr>
          <a:xfrm>
            <a:off x="0" y="95250"/>
            <a:ext cx="87122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3500" b="1" spc="-15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Coherence &amp; Subjectivity: </a:t>
            </a:r>
          </a:p>
        </p:txBody>
      </p:sp>
      <p:sp>
        <p:nvSpPr>
          <p:cNvPr id="97283" name="Rectangle 4">
            <a:extLst>
              <a:ext uri="{FF2B5EF4-FFF2-40B4-BE49-F238E27FC236}">
                <a16:creationId xmlns:a16="http://schemas.microsoft.com/office/drawing/2014/main" id="{73E34D7F-95FB-7719-46BB-2E354256E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76200"/>
            <a:ext cx="8077200" cy="624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buFontTx/>
              <a:buNone/>
            </a:pPr>
            <a:br>
              <a:rPr lang="en-US" altLang="en-US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40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40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40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16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4000" b="1">
                <a:solidFill>
                  <a:srgbClr val="FFDE2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r>
              <a:rPr lang="en-US" altLang="en-US" sz="5400" b="1">
                <a:solidFill>
                  <a:srgbClr val="FFDE2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br>
              <a:rPr lang="en-US" altLang="en-US" sz="14200" b="1">
                <a:solidFill>
                  <a:srgbClr val="FFDE2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endParaRPr lang="en-US" altLang="en-US" sz="14200" b="1">
              <a:solidFill>
                <a:srgbClr val="FFDE26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algn="ctr" eaLnBrk="1" hangingPunct="1">
              <a:buFontTx/>
              <a:buNone/>
            </a:pPr>
            <a:br>
              <a:rPr lang="en-US" altLang="en-US" sz="4000" b="1">
                <a:solidFill>
                  <a:srgbClr val="99CC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endParaRPr lang="en-US" altLang="en-US" sz="4000" b="1">
              <a:solidFill>
                <a:srgbClr val="66CCFF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Snip and Round Single Corner Rectangle 5">
            <a:extLst>
              <a:ext uri="{FF2B5EF4-FFF2-40B4-BE49-F238E27FC236}">
                <a16:creationId xmlns:a16="http://schemas.microsoft.com/office/drawing/2014/main" id="{054CEED5-BF4D-1215-88DC-66CAAC033120}"/>
              </a:ext>
            </a:extLst>
          </p:cNvPr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spcBef>
                <a:spcPct val="20000"/>
              </a:spcBef>
              <a:buChar char="•"/>
              <a:tabLst>
                <a:tab pos="43894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tabLst>
                <a:tab pos="43894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tabLst>
                <a:tab pos="43894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  <a:defRPr/>
            </a:pPr>
            <a:fld id="{1B1F8F8E-C6A8-412C-B091-B275DC93F50A}" type="slidenum">
              <a:rPr lang="en-US" altLang="en-US" sz="1300" smtClean="0">
                <a:solidFill>
                  <a:srgbClr val="FFFFFF"/>
                </a:solidFill>
                <a:latin typeface="Gill Sans MT" panose="020B0502020104020203" pitchFamily="34" charset="0"/>
                <a:ea typeface="MS PGothic" panose="020B0600070205080204" pitchFamily="34" charset="-128"/>
              </a:rPr>
              <a:pPr algn="r" eaLnBrk="1" hangingPunct="1">
                <a:spcBef>
                  <a:spcPct val="0"/>
                </a:spcBef>
                <a:buFontTx/>
                <a:buNone/>
                <a:defRPr/>
              </a:pPr>
              <a:t>9</a:t>
            </a:fld>
            <a:endParaRPr lang="en-US" altLang="en-US" sz="1300">
              <a:solidFill>
                <a:srgbClr val="FFFFFF"/>
              </a:solidFill>
              <a:latin typeface="Gill Sans MT" panose="020B0502020104020203" pitchFamily="34" charset="0"/>
              <a:ea typeface="MS PGothic" panose="020B0600070205080204" pitchFamily="34" charset="-128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EC58FB9-3295-10F6-A649-7B9BA53CB2A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13506" y="1111301"/>
            <a:ext cx="4001294" cy="5097779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altLang="en-US" sz="22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Our background beliefs might differ. In that case, relying on coherence might make different people pick different explanations as more coherent.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altLang="en-US" sz="22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How would disease be explained in 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The ‘modern’ world?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The ‘premodern’ world?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altLang="en-US" sz="22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Differences in background beliefs need not be cultural: they can be interpersonal too!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endParaRPr lang="en-US" alt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400" dirty="0">
              <a:solidFill>
                <a:srgbClr val="FF0000"/>
              </a:solidFill>
            </a:endParaRPr>
          </a:p>
          <a:p>
            <a:pPr algn="l"/>
            <a:endParaRPr lang="en-US" altLang="en-US" sz="2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alt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4" descr="An Ethical Relativism Example: Are Human Rights Universal?">
            <a:extLst>
              <a:ext uri="{FF2B5EF4-FFF2-40B4-BE49-F238E27FC236}">
                <a16:creationId xmlns:a16="http://schemas.microsoft.com/office/drawing/2014/main" id="{E6F9FFED-A7E9-8335-2EB2-D623B9E281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6100" y="827038"/>
            <a:ext cx="4858761" cy="5935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7625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0705"/>
    </mc:Choice>
    <mc:Fallback xmlns="">
      <p:transition spd="slow" advTm="140705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EA276-3FF8-0BC8-4D63-D78F89C50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4">
            <a:extLst>
              <a:ext uri="{FF2B5EF4-FFF2-40B4-BE49-F238E27FC236}">
                <a16:creationId xmlns:a16="http://schemas.microsoft.com/office/drawing/2014/main" id="{9399E33B-6CBE-B724-22AE-6D7E3CB3E3B1}"/>
              </a:ext>
            </a:extLst>
          </p:cNvPr>
          <p:cNvSpPr/>
          <p:nvPr/>
        </p:nvSpPr>
        <p:spPr>
          <a:xfrm>
            <a:off x="0" y="85090"/>
            <a:ext cx="87122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3500" b="1" spc="-15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Coherence: Dealing with Subjectivity</a:t>
            </a:r>
          </a:p>
        </p:txBody>
      </p:sp>
      <p:sp>
        <p:nvSpPr>
          <p:cNvPr id="97283" name="Rectangle 4">
            <a:extLst>
              <a:ext uri="{FF2B5EF4-FFF2-40B4-BE49-F238E27FC236}">
                <a16:creationId xmlns:a16="http://schemas.microsoft.com/office/drawing/2014/main" id="{1DCA3F0A-4044-E188-FB07-57C46E6D7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76200"/>
            <a:ext cx="8077200" cy="624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buFontTx/>
              <a:buNone/>
            </a:pPr>
            <a:br>
              <a:rPr lang="en-US" altLang="en-US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40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40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40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16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4000" b="1">
                <a:solidFill>
                  <a:srgbClr val="FFDE2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r>
              <a:rPr lang="en-US" altLang="en-US" sz="5400" b="1">
                <a:solidFill>
                  <a:srgbClr val="FFDE2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br>
              <a:rPr lang="en-US" altLang="en-US" sz="14200" b="1">
                <a:solidFill>
                  <a:srgbClr val="FFDE2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endParaRPr lang="en-US" altLang="en-US" sz="14200" b="1">
              <a:solidFill>
                <a:srgbClr val="FFDE26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algn="ctr" eaLnBrk="1" hangingPunct="1">
              <a:buFontTx/>
              <a:buNone/>
            </a:pPr>
            <a:br>
              <a:rPr lang="en-US" altLang="en-US" sz="4000" b="1">
                <a:solidFill>
                  <a:srgbClr val="99CC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endParaRPr lang="en-US" altLang="en-US" sz="4000" b="1">
              <a:solidFill>
                <a:srgbClr val="66CCFF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Snip and Round Single Corner Rectangle 5">
            <a:extLst>
              <a:ext uri="{FF2B5EF4-FFF2-40B4-BE49-F238E27FC236}">
                <a16:creationId xmlns:a16="http://schemas.microsoft.com/office/drawing/2014/main" id="{F58692E0-683B-B239-8214-FC307235A9DF}"/>
              </a:ext>
            </a:extLst>
          </p:cNvPr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spcBef>
                <a:spcPct val="20000"/>
              </a:spcBef>
              <a:buChar char="•"/>
              <a:tabLst>
                <a:tab pos="43894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tabLst>
                <a:tab pos="43894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tabLst>
                <a:tab pos="43894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  <a:defRPr/>
            </a:pPr>
            <a:fld id="{1B1F8F8E-C6A8-412C-B091-B275DC93F50A}" type="slidenum">
              <a:rPr lang="en-US" altLang="en-US" sz="1300" smtClean="0">
                <a:solidFill>
                  <a:srgbClr val="FFFFFF"/>
                </a:solidFill>
                <a:latin typeface="Gill Sans MT" panose="020B0502020104020203" pitchFamily="34" charset="0"/>
                <a:ea typeface="MS PGothic" panose="020B0600070205080204" pitchFamily="34" charset="-128"/>
              </a:rPr>
              <a:pPr algn="r" eaLnBrk="1" hangingPunct="1">
                <a:spcBef>
                  <a:spcPct val="0"/>
                </a:spcBef>
                <a:buFontTx/>
                <a:buNone/>
                <a:defRPr/>
              </a:pPr>
              <a:t>10</a:t>
            </a:fld>
            <a:endParaRPr lang="en-US" altLang="en-US" sz="1300">
              <a:solidFill>
                <a:srgbClr val="FFFFFF"/>
              </a:solidFill>
              <a:latin typeface="Gill Sans MT" panose="020B0502020104020203" pitchFamily="34" charset="0"/>
              <a:ea typeface="MS PGothic" panose="020B0600070205080204" pitchFamily="34" charset="-128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D05111E-AABE-3557-C037-A95E1BEA0D2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76200" y="1097915"/>
            <a:ext cx="8636000" cy="5097779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altLang="en-US" sz="22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Given the subjectivity, for coherence to </a:t>
            </a:r>
            <a:r>
              <a:rPr lang="en-US" altLang="en-US" sz="2200" i="1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effectively track </a:t>
            </a:r>
            <a:r>
              <a:rPr lang="en-US" altLang="en-US" sz="2200" i="1" err="1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bestness</a:t>
            </a:r>
            <a:r>
              <a:rPr lang="en-US" altLang="en-US" sz="22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, we need to ensure that our background beliefs about the world </a:t>
            </a:r>
            <a:r>
              <a:rPr lang="en-US" altLang="en-US" sz="2200" dirty="0">
                <a:solidFill>
                  <a:schemeClr val="tx1"/>
                </a:solidFill>
                <a:highlight>
                  <a:srgbClr val="FFFF00"/>
                </a:highlight>
                <a:latin typeface="Times New Roman"/>
                <a:ea typeface="MS PGothic"/>
                <a:cs typeface="Times New Roman"/>
              </a:rPr>
              <a:t>are routinely scrutinized, reviewed and revised.</a:t>
            </a:r>
            <a:r>
              <a:rPr lang="en-US" altLang="en-US" sz="22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  Avoid being </a:t>
            </a:r>
            <a:r>
              <a:rPr lang="en-US" altLang="en-US" sz="2200" dirty="0">
                <a:solidFill>
                  <a:srgbClr val="FF0000"/>
                </a:solidFill>
                <a:latin typeface="Times New Roman"/>
                <a:ea typeface="MS PGothic"/>
                <a:cs typeface="Times New Roman"/>
              </a:rPr>
              <a:t>dogmatic!</a:t>
            </a:r>
            <a:endParaRPr lang="en-US" altLang="en-US" sz="2200" dirty="0">
              <a:solidFill>
                <a:schemeClr val="tx1"/>
              </a:solidFill>
              <a:latin typeface="Times New Roman"/>
              <a:ea typeface="MS PGothic"/>
              <a:cs typeface="Times New Roman"/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altLang="en-US" sz="22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In performing these acts, we need to be disciplined to </a:t>
            </a:r>
            <a:r>
              <a:rPr lang="en-US" altLang="en-US" sz="2200" dirty="0">
                <a:solidFill>
                  <a:schemeClr val="tx1"/>
                </a:solidFill>
                <a:highlight>
                  <a:srgbClr val="FFFF00"/>
                </a:highlight>
                <a:latin typeface="Times New Roman"/>
                <a:ea typeface="MS PGothic"/>
                <a:cs typeface="Times New Roman"/>
              </a:rPr>
              <a:t>avoid our natural tendency towards the confirmation bias.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altLang="en-US" sz="22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Confirmation bias is our tendency to </a:t>
            </a:r>
            <a:r>
              <a:rPr lang="en-US" altLang="en-US" sz="2200" dirty="0">
                <a:solidFill>
                  <a:schemeClr val="tx1"/>
                </a:solidFill>
                <a:highlight>
                  <a:srgbClr val="FFFF00"/>
                </a:highlight>
                <a:latin typeface="Times New Roman"/>
                <a:ea typeface="MS PGothic"/>
                <a:cs typeface="Times New Roman"/>
              </a:rPr>
              <a:t>look for evidence that supports our existing beliefs</a:t>
            </a:r>
            <a:r>
              <a:rPr lang="en-US" altLang="en-US" sz="22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 (confirming evidence) and</a:t>
            </a:r>
            <a:r>
              <a:rPr lang="en-US" altLang="en-US" sz="2200" dirty="0">
                <a:solidFill>
                  <a:schemeClr val="tx1"/>
                </a:solidFill>
                <a:highlight>
                  <a:srgbClr val="FFFF00"/>
                </a:highlight>
                <a:latin typeface="Times New Roman"/>
                <a:ea typeface="MS PGothic"/>
                <a:cs typeface="Times New Roman"/>
              </a:rPr>
              <a:t> ignore (or not look for) evidence that refutes</a:t>
            </a:r>
            <a:r>
              <a:rPr lang="en-US" altLang="en-US" sz="22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 the same.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en-US" altLang="en-US" sz="2200" b="1" dirty="0">
              <a:solidFill>
                <a:schemeClr val="tx1"/>
              </a:solidFill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en-US" alt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en-US" alt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en-US" alt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en-US" alt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en-US" alt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en-US" alt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569BD0F-B175-34B3-4DF7-E519FC7E1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00" y="3962400"/>
            <a:ext cx="8026400" cy="229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468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3444"/>
    </mc:Choice>
    <mc:Fallback xmlns="">
      <p:transition spd="slow" advTm="283444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314F1-7B41-CA50-B891-86C25119D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4">
            <a:extLst>
              <a:ext uri="{FF2B5EF4-FFF2-40B4-BE49-F238E27FC236}">
                <a16:creationId xmlns:a16="http://schemas.microsoft.com/office/drawing/2014/main" id="{63858EDC-962D-DB82-FEC9-F2D82015FFA4}"/>
              </a:ext>
            </a:extLst>
          </p:cNvPr>
          <p:cNvSpPr/>
          <p:nvPr/>
        </p:nvSpPr>
        <p:spPr>
          <a:xfrm>
            <a:off x="0" y="0"/>
            <a:ext cx="8610600" cy="645319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625" b="1" spc="-113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Avoiding Confirmation Bias: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625" b="1" spc="-113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Learnt Your Lesson?</a:t>
            </a:r>
          </a:p>
        </p:txBody>
      </p:sp>
      <p:sp>
        <p:nvSpPr>
          <p:cNvPr id="6" name="Snip and Round Single Corner Rectangle 5">
            <a:extLst>
              <a:ext uri="{FF2B5EF4-FFF2-40B4-BE49-F238E27FC236}">
                <a16:creationId xmlns:a16="http://schemas.microsoft.com/office/drawing/2014/main" id="{EE013AD1-E090-FF19-1ABB-FDCDCEDC8AFC}"/>
              </a:ext>
            </a:extLst>
          </p:cNvPr>
          <p:cNvSpPr/>
          <p:nvPr/>
        </p:nvSpPr>
        <p:spPr>
          <a:xfrm>
            <a:off x="0" y="6400800"/>
            <a:ext cx="8610600" cy="395288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spcBef>
                <a:spcPct val="20000"/>
              </a:spcBef>
              <a:buChar char="•"/>
              <a:tabLst>
                <a:tab pos="43894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tabLst>
                <a:tab pos="43894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tabLst>
                <a:tab pos="43894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fontAlgn="auto" hangingPunct="1">
              <a:spcBef>
                <a:spcPct val="0"/>
              </a:spcBef>
              <a:spcAft>
                <a:spcPts val="0"/>
              </a:spcAft>
              <a:buNone/>
              <a:defRPr/>
            </a:pPr>
            <a:fld id="{D7E93987-DBB0-4B7A-80FA-BE5F5819E08C}" type="slidenum">
              <a:rPr lang="en-US" altLang="en-US" sz="975">
                <a:solidFill>
                  <a:srgbClr val="FFFFFF"/>
                </a:solidFill>
                <a:latin typeface="Gill Sans MT" panose="020B0502020104020203" pitchFamily="34" charset="0"/>
                <a:ea typeface="MS PGothic" panose="020B0600070205080204" pitchFamily="34" charset="-128"/>
              </a:rPr>
              <a:pPr algn="r" eaLnBrk="1" fontAlgn="auto" hangingPunct="1">
                <a:spcBef>
                  <a:spcPct val="0"/>
                </a:spcBef>
                <a:spcAft>
                  <a:spcPts val="0"/>
                </a:spcAft>
                <a:buNone/>
                <a:defRPr/>
              </a:pPr>
              <a:t>11</a:t>
            </a:fld>
            <a:endParaRPr lang="en-US" altLang="en-US" sz="975">
              <a:solidFill>
                <a:srgbClr val="FFFFFF"/>
              </a:solidFill>
              <a:latin typeface="Gill Sans MT" panose="020B0502020104020203" pitchFamily="34" charset="0"/>
              <a:ea typeface="MS PGothic" panose="020B0600070205080204" pitchFamily="34" charset="-128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A8B3D031-DB5B-B061-31DE-A90F133C3D2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52400" y="2775347"/>
            <a:ext cx="8458200" cy="3168253"/>
          </a:xfrm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257175" indent="-257175" algn="l" eaLnBrk="1" fontAlgn="auto" hangingPunct="1"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altLang="en-US" sz="2200" dirty="0">
                <a:latin typeface="Times New Roman"/>
                <a:ea typeface="MS PGothic"/>
                <a:cs typeface="Times New Roman"/>
              </a:rPr>
              <a:t>Let’s check whether you have learnt your lesson. </a:t>
            </a:r>
          </a:p>
          <a:p>
            <a:pPr marL="257175" indent="-257175" algn="l" eaLnBrk="1" fontAlgn="auto" hangingPunct="1"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l" eaLnBrk="1" fontAlgn="auto" hangingPunct="1"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altLang="en-US" sz="2200" dirty="0">
                <a:latin typeface="Times New Roman"/>
                <a:ea typeface="MS PGothic"/>
                <a:cs typeface="Times New Roman"/>
              </a:rPr>
              <a:t>Here is a sequence of 3 numbers. I have used a rule to generate these 3 numbers: </a:t>
            </a:r>
            <a:r>
              <a:rPr lang="en-US" altLang="en-US" sz="2200" dirty="0">
                <a:solidFill>
                  <a:srgbClr val="FF0000"/>
                </a:solidFill>
                <a:latin typeface="Times New Roman"/>
                <a:ea typeface="MS PGothic"/>
                <a:cs typeface="Times New Roman"/>
              </a:rPr>
              <a:t>2, 4, 6</a:t>
            </a:r>
            <a:r>
              <a:rPr lang="en-US" altLang="en-US" sz="2200" dirty="0">
                <a:latin typeface="Times New Roman"/>
                <a:ea typeface="MS PGothic"/>
                <a:cs typeface="Times New Roman"/>
              </a:rPr>
              <a:t>. </a:t>
            </a:r>
          </a:p>
          <a:p>
            <a:pPr marL="257175" indent="-257175" algn="l" eaLnBrk="1" fontAlgn="auto" hangingPunct="1"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l" eaLnBrk="1" fontAlgn="auto" hangingPunct="1"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altLang="en-US" sz="2200" dirty="0">
                <a:latin typeface="Times New Roman"/>
                <a:ea typeface="MS PGothic"/>
                <a:cs typeface="Times New Roman"/>
              </a:rPr>
              <a:t>Guess the rule in your head. </a:t>
            </a:r>
            <a:r>
              <a:rPr lang="en-US" altLang="en-US" sz="2200" b="1" dirty="0">
                <a:latin typeface="Times New Roman"/>
                <a:ea typeface="MS PGothic"/>
                <a:cs typeface="Times New Roman"/>
              </a:rPr>
              <a:t>If I asked you to check your guess with a next number in the sequence, what would that number be? </a:t>
            </a:r>
          </a:p>
          <a:p>
            <a:pPr marL="257175" indent="-257175" algn="l" eaLnBrk="1" fontAlgn="auto" hangingPunct="1"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l" eaLnBrk="1" fontAlgn="auto" hangingPunct="1"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fontAlgn="auto" hangingPunct="1">
              <a:spcAft>
                <a:spcPts val="0"/>
              </a:spcAft>
              <a:defRPr/>
            </a:pPr>
            <a:endParaRPr lang="en-US" altLang="en-US" sz="16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l" eaLnBrk="1" fontAlgn="auto" hangingPunct="1"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endParaRPr lang="en-US" altLang="en-US" sz="16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l" eaLnBrk="1" fontAlgn="auto" hangingPunct="1"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endParaRPr lang="en-US" altLang="en-US" sz="16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l" eaLnBrk="1" fontAlgn="auto" hangingPunct="1"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endParaRPr lang="en-US" altLang="en-US" sz="16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l" eaLnBrk="1" fontAlgn="auto" hangingPunct="1"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endParaRPr lang="en-US" altLang="en-US" sz="16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2" descr="https://miro.medium.com/max/875/0*66Ful0XzNuTqE_SG.gif">
            <a:extLst>
              <a:ext uri="{FF2B5EF4-FFF2-40B4-BE49-F238E27FC236}">
                <a16:creationId xmlns:a16="http://schemas.microsoft.com/office/drawing/2014/main" id="{CEF2960F-F919-E93F-52F1-C6538B2485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762000"/>
            <a:ext cx="8342056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973898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4"/>
          <p:cNvSpPr/>
          <p:nvPr/>
        </p:nvSpPr>
        <p:spPr>
          <a:xfrm>
            <a:off x="0" y="95250"/>
            <a:ext cx="87122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3200" b="1" spc="-15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Criteria for “</a:t>
            </a:r>
            <a:r>
              <a:rPr lang="en-US" sz="3200" b="1" spc="-150" dirty="0" err="1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Bestness</a:t>
            </a:r>
            <a:r>
              <a:rPr lang="en-US" sz="3200" b="1" spc="-15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”: Predictive Power</a:t>
            </a:r>
          </a:p>
        </p:txBody>
      </p:sp>
      <p:sp>
        <p:nvSpPr>
          <p:cNvPr id="97283" name="Rectangle 4"/>
          <p:cNvSpPr>
            <a:spLocks noChangeArrowheads="1"/>
          </p:cNvSpPr>
          <p:nvPr/>
        </p:nvSpPr>
        <p:spPr bwMode="auto">
          <a:xfrm>
            <a:off x="381000" y="76200"/>
            <a:ext cx="8077200" cy="624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buFontTx/>
              <a:buNone/>
            </a:pPr>
            <a:br>
              <a:rPr lang="en-US" altLang="en-US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40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40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40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16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4000" b="1">
                <a:solidFill>
                  <a:srgbClr val="FFDE2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r>
              <a:rPr lang="en-US" altLang="en-US" sz="5400" b="1">
                <a:solidFill>
                  <a:srgbClr val="FFDE2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br>
              <a:rPr lang="en-US" altLang="en-US" sz="14200" b="1">
                <a:solidFill>
                  <a:srgbClr val="FFDE2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endParaRPr lang="en-US" altLang="en-US" sz="14200" b="1">
              <a:solidFill>
                <a:srgbClr val="FFDE26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algn="ctr" eaLnBrk="1" hangingPunct="1">
              <a:buFontTx/>
              <a:buNone/>
            </a:pPr>
            <a:br>
              <a:rPr lang="en-US" altLang="en-US" sz="4000" b="1">
                <a:solidFill>
                  <a:srgbClr val="99CC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endParaRPr lang="en-US" altLang="en-US" sz="4000" b="1">
              <a:solidFill>
                <a:srgbClr val="66CCFF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Snip and Round Single Corner Rectangle 5"/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spcBef>
                <a:spcPct val="20000"/>
              </a:spcBef>
              <a:buChar char="•"/>
              <a:tabLst>
                <a:tab pos="43894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tabLst>
                <a:tab pos="43894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tabLst>
                <a:tab pos="43894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  <a:defRPr/>
            </a:pPr>
            <a:fld id="{1B1F8F8E-C6A8-412C-B091-B275DC93F50A}" type="slidenum">
              <a:rPr lang="en-US" altLang="en-US" sz="1300" smtClean="0">
                <a:solidFill>
                  <a:srgbClr val="FFFFFF"/>
                </a:solidFill>
                <a:latin typeface="Gill Sans MT" panose="020B0502020104020203" pitchFamily="34" charset="0"/>
                <a:ea typeface="MS PGothic" panose="020B0600070205080204" pitchFamily="34" charset="-128"/>
              </a:rPr>
              <a:pPr algn="r" eaLnBrk="1" hangingPunct="1">
                <a:spcBef>
                  <a:spcPct val="0"/>
                </a:spcBef>
                <a:buFontTx/>
                <a:buNone/>
                <a:defRPr/>
              </a:pPr>
              <a:t>12</a:t>
            </a:fld>
            <a:endParaRPr lang="en-US" altLang="en-US" sz="1300">
              <a:solidFill>
                <a:srgbClr val="FFFFFF"/>
              </a:solidFill>
              <a:latin typeface="Gill Sans MT" panose="020B0502020104020203" pitchFamily="34" charset="0"/>
              <a:ea typeface="MS PGothic" panose="020B0600070205080204" pitchFamily="34" charset="-128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840BB27-AF22-446C-B223-BF0653E0CC8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27000" y="1245871"/>
            <a:ext cx="8636000" cy="5097779"/>
          </a:xfrm>
        </p:spPr>
        <p:txBody>
          <a:bodyPr/>
          <a:lstStyle/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Given that simplicity is an </a:t>
            </a:r>
            <a:r>
              <a:rPr lang="en-US" altLang="en-US" sz="2400" dirty="0">
                <a:solidFill>
                  <a:schemeClr val="tx1"/>
                </a:solidFill>
                <a:highlight>
                  <a:srgbClr val="FFFF00"/>
                </a:highlight>
                <a:latin typeface="Times New Roman"/>
                <a:ea typeface="MS PGothic"/>
                <a:cs typeface="Times New Roman"/>
              </a:rPr>
              <a:t>aesthetic</a:t>
            </a:r>
            <a:r>
              <a:rPr lang="en-US" altLang="en-US" sz="24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 criterion and coherence can be </a:t>
            </a:r>
            <a:r>
              <a:rPr lang="en-US" altLang="en-US" sz="2400" dirty="0">
                <a:solidFill>
                  <a:schemeClr val="tx1"/>
                </a:solidFill>
                <a:highlight>
                  <a:srgbClr val="FFFF00"/>
                </a:highlight>
                <a:latin typeface="Times New Roman"/>
                <a:ea typeface="MS PGothic"/>
                <a:cs typeface="Times New Roman"/>
              </a:rPr>
              <a:t>subjective, </a:t>
            </a:r>
            <a:r>
              <a:rPr lang="en-US" altLang="en-US" sz="24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the gold standard of </a:t>
            </a:r>
            <a:r>
              <a:rPr lang="en-US" altLang="en-US" sz="2400" dirty="0" err="1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bestness</a:t>
            </a:r>
            <a:r>
              <a:rPr lang="en-US" altLang="en-US" sz="24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 is</a:t>
            </a:r>
            <a:r>
              <a:rPr lang="en-US" altLang="en-US" sz="2400" dirty="0">
                <a:solidFill>
                  <a:schemeClr val="tx1"/>
                </a:solidFill>
                <a:highlight>
                  <a:srgbClr val="FFFF00"/>
                </a:highlight>
                <a:latin typeface="Times New Roman"/>
                <a:ea typeface="MS PGothic"/>
                <a:cs typeface="Times New Roman"/>
              </a:rPr>
              <a:t> predictive power.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To understand predictive power, note that an explanation comes from a </a:t>
            </a:r>
            <a:r>
              <a:rPr lang="en-US" altLang="en-US" sz="2400" dirty="0">
                <a:solidFill>
                  <a:schemeClr val="tx1"/>
                </a:solidFill>
                <a:highlight>
                  <a:srgbClr val="FFFF00"/>
                </a:highlight>
                <a:latin typeface="Times New Roman"/>
                <a:ea typeface="MS PGothic"/>
                <a:cs typeface="Times New Roman"/>
              </a:rPr>
              <a:t>theory</a:t>
            </a:r>
            <a:r>
              <a:rPr lang="en-US" altLang="en-US" sz="24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 about how the world is like: so, if the theory (and the explanation) is correct, then we should be able to </a:t>
            </a:r>
            <a:r>
              <a:rPr lang="en-US" altLang="en-US" sz="2400" dirty="0">
                <a:solidFill>
                  <a:schemeClr val="tx1"/>
                </a:solidFill>
                <a:highlight>
                  <a:srgbClr val="FFFF00"/>
                </a:highlight>
                <a:latin typeface="Times New Roman"/>
                <a:ea typeface="MS PGothic"/>
                <a:cs typeface="Times New Roman"/>
              </a:rPr>
              <a:t>predict </a:t>
            </a:r>
            <a:r>
              <a:rPr lang="en-US" altLang="en-US" sz="24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other observations we can make in the world.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For example, if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US" altLang="en-US" sz="22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My dog is not eating,…..?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US" altLang="en-US" sz="22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I see Emma behaving all weird and distant…..?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The more correct/ accurate predictions an explanation makes, the higher the predictive power and the better it is.</a:t>
            </a:r>
          </a:p>
        </p:txBody>
      </p:sp>
    </p:spTree>
    <p:extLst>
      <p:ext uri="{BB962C8B-B14F-4D97-AF65-F5344CB8AC3E}">
        <p14:creationId xmlns:p14="http://schemas.microsoft.com/office/powerpoint/2010/main" val="1160512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6070"/>
    </mc:Choice>
    <mc:Fallback xmlns="">
      <p:transition spd="slow" advTm="9607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4">
            <a:extLst>
              <a:ext uri="{FF2B5EF4-FFF2-40B4-BE49-F238E27FC236}">
                <a16:creationId xmlns:a16="http://schemas.microsoft.com/office/drawing/2014/main" id="{46678FF8-346C-4AD5-8B9A-6DFB8C4858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0" y="914400"/>
            <a:ext cx="6057900" cy="468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20000"/>
              </a:spcBef>
              <a:buFontTx/>
              <a:buNone/>
            </a:pPr>
            <a:br>
              <a:rPr lang="en-US" altLang="en-US" sz="2400" b="1">
                <a:solidFill>
                  <a:srgbClr val="00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3000" b="1">
                <a:solidFill>
                  <a:srgbClr val="00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3000" b="1">
                <a:solidFill>
                  <a:srgbClr val="00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3000" b="1">
                <a:solidFill>
                  <a:srgbClr val="00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1200" b="1">
                <a:solidFill>
                  <a:srgbClr val="00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3000" b="1">
                <a:solidFill>
                  <a:srgbClr val="FFDE2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r>
              <a:rPr lang="en-US" altLang="en-US" sz="4050" b="1">
                <a:solidFill>
                  <a:srgbClr val="FFDE2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br>
              <a:rPr lang="en-US" altLang="en-US" sz="10650" b="1">
                <a:solidFill>
                  <a:srgbClr val="FFDE2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endParaRPr lang="en-US" altLang="en-US" sz="10650" b="1">
              <a:solidFill>
                <a:srgbClr val="FFDE26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algn="ctr" eaLnBrk="1" hangingPunct="1">
              <a:lnSpc>
                <a:spcPct val="100000"/>
              </a:lnSpc>
              <a:spcBef>
                <a:spcPct val="20000"/>
              </a:spcBef>
              <a:buFontTx/>
              <a:buNone/>
            </a:pPr>
            <a:br>
              <a:rPr lang="en-US" altLang="en-US" sz="3000" b="1">
                <a:solidFill>
                  <a:srgbClr val="99CC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endParaRPr lang="en-US" altLang="en-US" sz="3000" b="1">
              <a:solidFill>
                <a:srgbClr val="66CCFF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16389" name="Rectangle 4">
            <a:extLst>
              <a:ext uri="{FF2B5EF4-FFF2-40B4-BE49-F238E27FC236}">
                <a16:creationId xmlns:a16="http://schemas.microsoft.com/office/drawing/2014/main" id="{4F1610C8-7814-4291-83F3-CD565601F4B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1000" y="1345406"/>
            <a:ext cx="6477000" cy="3824288"/>
          </a:xfrm>
        </p:spPr>
        <p:txBody>
          <a:bodyPr/>
          <a:lstStyle/>
          <a:p>
            <a:pPr marL="257175" indent="-257175" algn="l" eaLnBrk="1" hangingPunct="1">
              <a:buFont typeface="Wingdings" panose="05000000000000000000" pitchFamily="2" charset="2"/>
              <a:buChar char="§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what should you do to abduce correctly?</a:t>
            </a:r>
          </a:p>
          <a:p>
            <a:pPr marL="257175" indent="-257175" algn="l" eaLnBrk="1" hangingPunct="1">
              <a:buFont typeface="Wingdings" panose="05000000000000000000" pitchFamily="2" charset="2"/>
              <a:buChar char="§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And, if you don’t?</a:t>
            </a:r>
          </a:p>
          <a:p>
            <a:pPr marL="257175" indent="-257175" algn="l" eaLnBrk="1" hangingPunct="1">
              <a:buFont typeface="Wingdings" panose="05000000000000000000" pitchFamily="2" charset="2"/>
              <a:buChar char="§"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l" eaLnBrk="1" hangingPunct="1">
              <a:buFont typeface="Arial" panose="020B0604020202020204" pitchFamily="34" charset="0"/>
              <a:buChar char="•"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l" eaLnBrk="1" hangingPunct="1">
              <a:buFont typeface="Arial" panose="020B0604020202020204" pitchFamily="34" charset="0"/>
              <a:buChar char="•"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390" name="Picture 2" descr="Image result for romeo and juliet death">
            <a:extLst>
              <a:ext uri="{FF2B5EF4-FFF2-40B4-BE49-F238E27FC236}">
                <a16:creationId xmlns:a16="http://schemas.microsoft.com/office/drawing/2014/main" id="{7D363016-5561-41D5-9E87-0C594C018A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6920" y="2547938"/>
            <a:ext cx="2964656" cy="296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1" name="Picture 4" descr="Image result for othello and desdemona death scene">
            <a:extLst>
              <a:ext uri="{FF2B5EF4-FFF2-40B4-BE49-F238E27FC236}">
                <a16:creationId xmlns:a16="http://schemas.microsoft.com/office/drawing/2014/main" id="{6D24CB2F-DBDB-4B5A-813B-E04D43910B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966" y="2547938"/>
            <a:ext cx="3177778" cy="296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Snip and Round Single Corner Rectangle 4">
            <a:extLst>
              <a:ext uri="{FF2B5EF4-FFF2-40B4-BE49-F238E27FC236}">
                <a16:creationId xmlns:a16="http://schemas.microsoft.com/office/drawing/2014/main" id="{69174EE3-B058-4A4E-88F3-F93CA9269572}"/>
              </a:ext>
            </a:extLst>
          </p:cNvPr>
          <p:cNvSpPr/>
          <p:nvPr/>
        </p:nvSpPr>
        <p:spPr>
          <a:xfrm>
            <a:off x="0" y="95250"/>
            <a:ext cx="87122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3200" b="1" spc="-15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Bad Abduction &amp; Tragic Consequences</a:t>
            </a:r>
          </a:p>
        </p:txBody>
      </p:sp>
      <p:sp>
        <p:nvSpPr>
          <p:cNvPr id="9" name="Snip and Round Single Corner Rectangle 5">
            <a:extLst>
              <a:ext uri="{FF2B5EF4-FFF2-40B4-BE49-F238E27FC236}">
                <a16:creationId xmlns:a16="http://schemas.microsoft.com/office/drawing/2014/main" id="{4A35A6DE-5BFC-477B-B5D7-D82151B6CCAF}"/>
              </a:ext>
            </a:extLst>
          </p:cNvPr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spcBef>
                <a:spcPct val="20000"/>
              </a:spcBef>
              <a:buChar char="•"/>
              <a:tabLst>
                <a:tab pos="43894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tabLst>
                <a:tab pos="43894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tabLst>
                <a:tab pos="43894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  <a:defRPr/>
            </a:pPr>
            <a:fld id="{1B1F8F8E-C6A8-412C-B091-B275DC93F50A}" type="slidenum">
              <a:rPr lang="en-US" altLang="en-US" sz="1300" smtClean="0">
                <a:solidFill>
                  <a:srgbClr val="FFFFFF"/>
                </a:solidFill>
                <a:latin typeface="Gill Sans MT" panose="020B0502020104020203" pitchFamily="34" charset="0"/>
                <a:ea typeface="MS PGothic" panose="020B0600070205080204" pitchFamily="34" charset="-128"/>
              </a:rPr>
              <a:pPr algn="r" eaLnBrk="1" hangingPunct="1">
                <a:spcBef>
                  <a:spcPct val="0"/>
                </a:spcBef>
                <a:buFontTx/>
                <a:buNone/>
                <a:defRPr/>
              </a:pPr>
              <a:t>13</a:t>
            </a:fld>
            <a:endParaRPr lang="en-US" altLang="en-US" sz="1300">
              <a:solidFill>
                <a:srgbClr val="FFFFFF"/>
              </a:solidFill>
              <a:latin typeface="Gill Sans MT" panose="020B0502020104020203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FBE25-2C0B-D58F-C211-806C2EF7C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4">
            <a:extLst>
              <a:ext uri="{FF2B5EF4-FFF2-40B4-BE49-F238E27FC236}">
                <a16:creationId xmlns:a16="http://schemas.microsoft.com/office/drawing/2014/main" id="{A8EE152A-8033-7C87-20B0-717F3FB46574}"/>
              </a:ext>
            </a:extLst>
          </p:cNvPr>
          <p:cNvSpPr/>
          <p:nvPr/>
        </p:nvSpPr>
        <p:spPr>
          <a:xfrm>
            <a:off x="19050" y="22241"/>
            <a:ext cx="8667750" cy="645319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2625" b="1" spc="-113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Summative Exercise:  Which inductive forms? </a:t>
            </a:r>
          </a:p>
        </p:txBody>
      </p:sp>
      <p:sp>
        <p:nvSpPr>
          <p:cNvPr id="97283" name="Rectangle 4">
            <a:extLst>
              <a:ext uri="{FF2B5EF4-FFF2-40B4-BE49-F238E27FC236}">
                <a16:creationId xmlns:a16="http://schemas.microsoft.com/office/drawing/2014/main" id="{2671B089-1790-6216-4E45-13E169908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0" y="914400"/>
            <a:ext cx="6057900" cy="468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buFontTx/>
              <a:buNone/>
            </a:pPr>
            <a:br>
              <a:rPr lang="en-US" altLang="en-US" sz="24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30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30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30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12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3000" b="1">
                <a:solidFill>
                  <a:srgbClr val="FFDE2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r>
              <a:rPr lang="en-US" altLang="en-US" sz="4050" b="1">
                <a:solidFill>
                  <a:srgbClr val="FFDE2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br>
              <a:rPr lang="en-US" altLang="en-US" sz="10650" b="1">
                <a:solidFill>
                  <a:srgbClr val="FFDE2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endParaRPr lang="en-US" altLang="en-US" sz="10650" b="1">
              <a:solidFill>
                <a:srgbClr val="FFDE26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algn="ctr" eaLnBrk="1" hangingPunct="1">
              <a:buFontTx/>
              <a:buNone/>
            </a:pPr>
            <a:br>
              <a:rPr lang="en-US" altLang="en-US" sz="3000" b="1">
                <a:solidFill>
                  <a:srgbClr val="99CC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endParaRPr lang="en-US" altLang="en-US" sz="3000" b="1">
              <a:solidFill>
                <a:srgbClr val="66CCFF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Snip and Round Single Corner Rectangle 5">
            <a:extLst>
              <a:ext uri="{FF2B5EF4-FFF2-40B4-BE49-F238E27FC236}">
                <a16:creationId xmlns:a16="http://schemas.microsoft.com/office/drawing/2014/main" id="{6B410E19-4DC8-11AF-23D3-DE0AAAF39CDB}"/>
              </a:ext>
            </a:extLst>
          </p:cNvPr>
          <p:cNvSpPr/>
          <p:nvPr/>
        </p:nvSpPr>
        <p:spPr>
          <a:xfrm>
            <a:off x="19050" y="6502576"/>
            <a:ext cx="8667750" cy="323658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spcBef>
                <a:spcPct val="20000"/>
              </a:spcBef>
              <a:buChar char="•"/>
              <a:tabLst>
                <a:tab pos="43894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tabLst>
                <a:tab pos="43894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tabLst>
                <a:tab pos="43894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  <a:defRPr/>
            </a:pPr>
            <a:fld id="{1B1F8F8E-C6A8-412C-B091-B275DC93F50A}" type="slidenum">
              <a:rPr lang="en-US" altLang="en-US" sz="975">
                <a:solidFill>
                  <a:srgbClr val="FFFFFF"/>
                </a:solidFill>
                <a:latin typeface="Gill Sans MT" panose="020B0502020104020203" pitchFamily="34" charset="0"/>
                <a:ea typeface="MS PGothic" panose="020B0600070205080204" pitchFamily="34" charset="-128"/>
              </a:rPr>
              <a:pPr algn="r" eaLnBrk="1" hangingPunct="1">
                <a:spcBef>
                  <a:spcPct val="0"/>
                </a:spcBef>
                <a:buFontTx/>
                <a:buNone/>
                <a:defRPr/>
              </a:pPr>
              <a:t>14</a:t>
            </a:fld>
            <a:endParaRPr lang="en-US" altLang="en-US" sz="975">
              <a:solidFill>
                <a:srgbClr val="FFFFFF"/>
              </a:solidFill>
              <a:latin typeface="Gill Sans MT" panose="020B0502020104020203" pitchFamily="34" charset="0"/>
              <a:ea typeface="MS PGothic" panose="020B0600070205080204" pitchFamily="34" charset="-128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C17EAA5-71B8-9ED6-A9FC-6B5606DCF3C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248371" y="1673401"/>
            <a:ext cx="6647260" cy="3823334"/>
          </a:xfrm>
        </p:spPr>
        <p:txBody>
          <a:bodyPr>
            <a:normAutofit/>
          </a:bodyPr>
          <a:lstStyle/>
          <a:p>
            <a:pPr algn="l"/>
            <a:endParaRPr lang="en-US" alt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Online Media 1" title="Thomas Sowell Destroys Feminism and Racialism in under 5 minutes">
            <a:hlinkClick r:id="" action="ppaction://media"/>
            <a:extLst>
              <a:ext uri="{FF2B5EF4-FFF2-40B4-BE49-F238E27FC236}">
                <a16:creationId xmlns:a16="http://schemas.microsoft.com/office/drawing/2014/main" id="{2709AB92-D314-F5D6-E8C3-BEF23D4CC0E6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23825" y="749164"/>
            <a:ext cx="8667750" cy="5671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707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FBE25-2C0B-D58F-C211-806C2EF7C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4">
            <a:extLst>
              <a:ext uri="{FF2B5EF4-FFF2-40B4-BE49-F238E27FC236}">
                <a16:creationId xmlns:a16="http://schemas.microsoft.com/office/drawing/2014/main" id="{A8EE152A-8033-7C87-20B0-717F3FB46574}"/>
              </a:ext>
            </a:extLst>
          </p:cNvPr>
          <p:cNvSpPr/>
          <p:nvPr/>
        </p:nvSpPr>
        <p:spPr>
          <a:xfrm>
            <a:off x="19050" y="22241"/>
            <a:ext cx="8667750" cy="645319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2625" b="1" spc="-113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Summative Exercise:  Which Argument form is attacked? </a:t>
            </a:r>
          </a:p>
        </p:txBody>
      </p:sp>
      <p:sp>
        <p:nvSpPr>
          <p:cNvPr id="97283" name="Rectangle 4">
            <a:extLst>
              <a:ext uri="{FF2B5EF4-FFF2-40B4-BE49-F238E27FC236}">
                <a16:creationId xmlns:a16="http://schemas.microsoft.com/office/drawing/2014/main" id="{2671B089-1790-6216-4E45-13E169908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0" y="914400"/>
            <a:ext cx="6057900" cy="468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buFontTx/>
              <a:buNone/>
            </a:pPr>
            <a:br>
              <a:rPr lang="en-US" altLang="en-US" sz="24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30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30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30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12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3000" b="1">
                <a:solidFill>
                  <a:srgbClr val="FFDE2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r>
              <a:rPr lang="en-US" altLang="en-US" sz="4050" b="1">
                <a:solidFill>
                  <a:srgbClr val="FFDE2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br>
              <a:rPr lang="en-US" altLang="en-US" sz="10650" b="1">
                <a:solidFill>
                  <a:srgbClr val="FFDE2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endParaRPr lang="en-US" altLang="en-US" sz="10650" b="1">
              <a:solidFill>
                <a:srgbClr val="FFDE26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algn="ctr" eaLnBrk="1" hangingPunct="1">
              <a:buFontTx/>
              <a:buNone/>
            </a:pPr>
            <a:br>
              <a:rPr lang="en-US" altLang="en-US" sz="3000" b="1">
                <a:solidFill>
                  <a:srgbClr val="99CC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endParaRPr lang="en-US" altLang="en-US" sz="3000" b="1">
              <a:solidFill>
                <a:srgbClr val="66CCFF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Snip and Round Single Corner Rectangle 5">
            <a:extLst>
              <a:ext uri="{FF2B5EF4-FFF2-40B4-BE49-F238E27FC236}">
                <a16:creationId xmlns:a16="http://schemas.microsoft.com/office/drawing/2014/main" id="{6B410E19-4DC8-11AF-23D3-DE0AAAF39CDB}"/>
              </a:ext>
            </a:extLst>
          </p:cNvPr>
          <p:cNvSpPr/>
          <p:nvPr/>
        </p:nvSpPr>
        <p:spPr>
          <a:xfrm>
            <a:off x="19050" y="6502576"/>
            <a:ext cx="8667750" cy="323658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spcBef>
                <a:spcPct val="20000"/>
              </a:spcBef>
              <a:buChar char="•"/>
              <a:tabLst>
                <a:tab pos="43894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tabLst>
                <a:tab pos="43894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tabLst>
                <a:tab pos="43894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  <a:defRPr/>
            </a:pPr>
            <a:fld id="{1B1F8F8E-C6A8-412C-B091-B275DC93F50A}" type="slidenum">
              <a:rPr lang="en-US" altLang="en-US" sz="975">
                <a:solidFill>
                  <a:srgbClr val="FFFFFF"/>
                </a:solidFill>
                <a:latin typeface="Gill Sans MT" panose="020B0502020104020203" pitchFamily="34" charset="0"/>
                <a:ea typeface="MS PGothic" panose="020B0600070205080204" pitchFamily="34" charset="-128"/>
              </a:rPr>
              <a:pPr algn="r" eaLnBrk="1" hangingPunct="1">
                <a:spcBef>
                  <a:spcPct val="0"/>
                </a:spcBef>
                <a:buFontTx/>
                <a:buNone/>
                <a:defRPr/>
              </a:pPr>
              <a:t>15</a:t>
            </a:fld>
            <a:endParaRPr lang="en-US" altLang="en-US" sz="975">
              <a:solidFill>
                <a:srgbClr val="FFFFFF"/>
              </a:solidFill>
              <a:latin typeface="Gill Sans MT" panose="020B0502020104020203" pitchFamily="34" charset="0"/>
              <a:ea typeface="MS PGothic" panose="020B0600070205080204" pitchFamily="34" charset="-128"/>
            </a:endParaRPr>
          </a:p>
        </p:txBody>
      </p:sp>
      <p:pic>
        <p:nvPicPr>
          <p:cNvPr id="3" name="Online Media 2" title="For and Against National Service | Yes, Prime Minister | Comedy Greats">
            <a:hlinkClick r:id="" action="ppaction://media"/>
            <a:extLst>
              <a:ext uri="{FF2B5EF4-FFF2-40B4-BE49-F238E27FC236}">
                <a16:creationId xmlns:a16="http://schemas.microsoft.com/office/drawing/2014/main" id="{0B9CA3FB-B2A7-D1E9-5A51-EF63A683AA2E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762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003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4"/>
          <p:cNvSpPr/>
          <p:nvPr/>
        </p:nvSpPr>
        <p:spPr>
          <a:xfrm>
            <a:off x="0" y="95250"/>
            <a:ext cx="87122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3000" b="1" spc="-15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Appeal to Ignorance: Examples</a:t>
            </a:r>
          </a:p>
        </p:txBody>
      </p:sp>
      <p:sp>
        <p:nvSpPr>
          <p:cNvPr id="97283" name="Rectangle 4"/>
          <p:cNvSpPr>
            <a:spLocks noChangeArrowheads="1"/>
          </p:cNvSpPr>
          <p:nvPr/>
        </p:nvSpPr>
        <p:spPr bwMode="auto">
          <a:xfrm>
            <a:off x="381000" y="76200"/>
            <a:ext cx="8077200" cy="624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buFontTx/>
              <a:buNone/>
            </a:pPr>
            <a:br>
              <a:rPr lang="en-US" altLang="en-US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40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40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40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16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4000" b="1">
                <a:solidFill>
                  <a:srgbClr val="FFDE2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r>
              <a:rPr lang="en-US" altLang="en-US" sz="5400" b="1">
                <a:solidFill>
                  <a:srgbClr val="FFDE2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br>
              <a:rPr lang="en-US" altLang="en-US" sz="14200" b="1">
                <a:solidFill>
                  <a:srgbClr val="FFDE2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endParaRPr lang="en-US" altLang="en-US" sz="14200" b="1">
              <a:solidFill>
                <a:srgbClr val="FFDE26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algn="ctr" eaLnBrk="1" hangingPunct="1">
              <a:buFontTx/>
              <a:buNone/>
            </a:pPr>
            <a:br>
              <a:rPr lang="en-US" altLang="en-US" sz="4000" b="1">
                <a:solidFill>
                  <a:srgbClr val="99CC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endParaRPr lang="en-US" altLang="en-US" sz="4000" b="1">
              <a:solidFill>
                <a:srgbClr val="66CCFF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Snip and Round Single Corner Rectangle 5"/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spcBef>
                <a:spcPct val="20000"/>
              </a:spcBef>
              <a:buChar char="•"/>
              <a:tabLst>
                <a:tab pos="43894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tabLst>
                <a:tab pos="43894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tabLst>
                <a:tab pos="43894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  <a:defRPr/>
            </a:pPr>
            <a:fld id="{1B1F8F8E-C6A8-412C-B091-B275DC93F50A}" type="slidenum">
              <a:rPr lang="en-US" altLang="en-US" sz="1300" smtClean="0">
                <a:solidFill>
                  <a:srgbClr val="FFFFFF"/>
                </a:solidFill>
                <a:latin typeface="Gill Sans MT" panose="020B0502020104020203" pitchFamily="34" charset="0"/>
                <a:ea typeface="MS PGothic" panose="020B0600070205080204" pitchFamily="34" charset="-128"/>
              </a:rPr>
              <a:pPr algn="r" eaLnBrk="1" hangingPunct="1">
                <a:spcBef>
                  <a:spcPct val="0"/>
                </a:spcBef>
                <a:buFontTx/>
                <a:buNone/>
                <a:defRPr/>
              </a:pPr>
              <a:t>16</a:t>
            </a:fld>
            <a:endParaRPr lang="en-US" altLang="en-US" sz="1300">
              <a:solidFill>
                <a:srgbClr val="FFFFFF"/>
              </a:solidFill>
              <a:latin typeface="Gill Sans MT" panose="020B0502020104020203" pitchFamily="34" charset="0"/>
              <a:ea typeface="MS PGothic" panose="020B0600070205080204" pitchFamily="34" charset="-128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840BB27-AF22-446C-B223-BF0653E0CC8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27000" y="1245871"/>
            <a:ext cx="8636000" cy="5097779"/>
          </a:xfrm>
        </p:spPr>
        <p:txBody>
          <a:bodyPr>
            <a:normAutofit/>
          </a:bodyPr>
          <a:lstStyle/>
          <a:p>
            <a:pPr algn="l"/>
            <a:r>
              <a:rPr lang="en-US" altLang="en-US" sz="22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Consider the following examples:</a:t>
            </a:r>
          </a:p>
          <a:p>
            <a:pPr algn="l"/>
            <a:r>
              <a:rPr lang="en-US" altLang="en-US" sz="2200" u="sng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Example 1</a:t>
            </a:r>
          </a:p>
          <a:p>
            <a:pPr algn="l"/>
            <a:r>
              <a:rPr lang="en-US" altLang="en-US" sz="22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Premise:  There’s no sign that my boyfriend loves me.</a:t>
            </a:r>
          </a:p>
          <a:p>
            <a:pPr algn="l"/>
            <a:r>
              <a:rPr lang="en-US" altLang="en-US" sz="22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Conclusion: So, he doesn’t.</a:t>
            </a:r>
          </a:p>
          <a:p>
            <a:pPr algn="l"/>
            <a:endParaRPr lang="en-US" altLang="en-US" sz="2200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en-US" sz="2200" u="sng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Example 2</a:t>
            </a:r>
          </a:p>
          <a:p>
            <a:pPr algn="l"/>
            <a:r>
              <a:rPr lang="en-US" altLang="en-US" sz="22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Premise: There is no evidence that God exists.</a:t>
            </a:r>
          </a:p>
          <a:p>
            <a:pPr algn="l"/>
            <a:r>
              <a:rPr lang="en-US" altLang="en-US" sz="22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Conclusion: So, he doesn’t.</a:t>
            </a:r>
          </a:p>
          <a:p>
            <a:pPr algn="l"/>
            <a:endParaRPr lang="en-US" alt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en-US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/>
                <a:ea typeface="MS PGothic"/>
                <a:cs typeface="Times New Roman"/>
              </a:rPr>
              <a:t>In these examples, the conclusion infers that something is (or, is likely to be) false</a:t>
            </a:r>
            <a:r>
              <a:rPr lang="en-US" altLang="en-US" sz="2200" dirty="0">
                <a:solidFill>
                  <a:srgbClr val="FF0000"/>
                </a:solidFill>
                <a:latin typeface="Times New Roman"/>
                <a:ea typeface="MS PGothic"/>
                <a:cs typeface="Times New Roman"/>
              </a:rPr>
              <a:t>/true</a:t>
            </a:r>
            <a:r>
              <a:rPr lang="en-US" altLang="en-US" sz="22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 </a:t>
            </a:r>
            <a:r>
              <a:rPr lang="en-US" altLang="en-US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/>
                <a:ea typeface="MS PGothic"/>
                <a:cs typeface="Times New Roman"/>
              </a:rPr>
              <a:t>because there is no evidence for it</a:t>
            </a:r>
            <a:r>
              <a:rPr lang="en-US" altLang="en-US" sz="2200" dirty="0">
                <a:solidFill>
                  <a:srgbClr val="FF0000"/>
                </a:solidFill>
                <a:latin typeface="Times New Roman"/>
                <a:ea typeface="MS PGothic"/>
                <a:cs typeface="Times New Roman"/>
              </a:rPr>
              <a:t>/against it</a:t>
            </a:r>
            <a:r>
              <a:rPr lang="en-US" altLang="en-US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/>
                <a:ea typeface="MS PGothic"/>
                <a:cs typeface="Times New Roman"/>
              </a:rPr>
              <a:t>; such arguments are ‘appeals to ignorance’.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en-US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alt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1773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1698"/>
    </mc:Choice>
    <mc:Fallback xmlns="">
      <p:transition spd="slow" advTm="61698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4"/>
          <p:cNvSpPr/>
          <p:nvPr/>
        </p:nvSpPr>
        <p:spPr>
          <a:xfrm>
            <a:off x="0" y="95250"/>
            <a:ext cx="87122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3000" b="1" spc="-15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Appeal to Ignorance, Reconstructed</a:t>
            </a:r>
          </a:p>
        </p:txBody>
      </p:sp>
      <p:sp>
        <p:nvSpPr>
          <p:cNvPr id="97283" name="Rectangle 4"/>
          <p:cNvSpPr>
            <a:spLocks noChangeArrowheads="1"/>
          </p:cNvSpPr>
          <p:nvPr/>
        </p:nvSpPr>
        <p:spPr bwMode="auto">
          <a:xfrm>
            <a:off x="381000" y="76200"/>
            <a:ext cx="8077200" cy="624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buFontTx/>
              <a:buNone/>
            </a:pPr>
            <a:br>
              <a:rPr lang="en-US" altLang="en-US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40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40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40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16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4000" b="1">
                <a:solidFill>
                  <a:srgbClr val="FFDE2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r>
              <a:rPr lang="en-US" altLang="en-US" sz="5400" b="1">
                <a:solidFill>
                  <a:srgbClr val="FFDE2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br>
              <a:rPr lang="en-US" altLang="en-US" sz="14200" b="1">
                <a:solidFill>
                  <a:srgbClr val="FFDE2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endParaRPr lang="en-US" altLang="en-US" sz="14200" b="1">
              <a:solidFill>
                <a:srgbClr val="FFDE26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algn="ctr" eaLnBrk="1" hangingPunct="1">
              <a:buFontTx/>
              <a:buNone/>
            </a:pPr>
            <a:br>
              <a:rPr lang="en-US" altLang="en-US" sz="4000" b="1">
                <a:solidFill>
                  <a:srgbClr val="99CC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endParaRPr lang="en-US" altLang="en-US" sz="4000" b="1">
              <a:solidFill>
                <a:srgbClr val="66CCFF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Snip and Round Single Corner Rectangle 5"/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spcBef>
                <a:spcPct val="20000"/>
              </a:spcBef>
              <a:buChar char="•"/>
              <a:tabLst>
                <a:tab pos="43894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tabLst>
                <a:tab pos="43894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tabLst>
                <a:tab pos="43894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  <a:defRPr/>
            </a:pPr>
            <a:fld id="{1B1F8F8E-C6A8-412C-B091-B275DC93F50A}" type="slidenum">
              <a:rPr lang="en-US" altLang="en-US" sz="1300" smtClean="0">
                <a:solidFill>
                  <a:srgbClr val="FFFFFF"/>
                </a:solidFill>
                <a:latin typeface="Gill Sans MT" panose="020B0502020104020203" pitchFamily="34" charset="0"/>
                <a:ea typeface="MS PGothic" panose="020B0600070205080204" pitchFamily="34" charset="-128"/>
              </a:rPr>
              <a:pPr algn="r" eaLnBrk="1" hangingPunct="1">
                <a:spcBef>
                  <a:spcPct val="0"/>
                </a:spcBef>
                <a:buFontTx/>
                <a:buNone/>
                <a:defRPr/>
              </a:pPr>
              <a:t>17</a:t>
            </a:fld>
            <a:endParaRPr lang="en-US" altLang="en-US" sz="1300">
              <a:solidFill>
                <a:srgbClr val="FFFFFF"/>
              </a:solidFill>
              <a:latin typeface="Gill Sans MT" panose="020B0502020104020203" pitchFamily="34" charset="0"/>
              <a:ea typeface="MS PGothic" panose="020B0600070205080204" pitchFamily="34" charset="-128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840BB27-AF22-446C-B223-BF0653E0CC8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90905" y="1091248"/>
            <a:ext cx="8636000" cy="5097779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altLang="en-US" sz="24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At its most general, the structure of an appeal to ignorance is this:</a:t>
            </a:r>
          </a:p>
          <a:p>
            <a:pPr lvl="1" algn="l"/>
            <a:r>
              <a:rPr lang="en-US" altLang="en-US" sz="24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Premise: We have no evidence that X</a:t>
            </a:r>
            <a:r>
              <a:rPr lang="en-US" altLang="en-US" sz="2400" dirty="0">
                <a:solidFill>
                  <a:srgbClr val="FF0000"/>
                </a:solidFill>
                <a:latin typeface="Times New Roman"/>
                <a:ea typeface="MS PGothic"/>
                <a:cs typeface="Times New Roman"/>
              </a:rPr>
              <a:t>/not X</a:t>
            </a:r>
            <a:r>
              <a:rPr lang="en-US" altLang="en-US" sz="24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.</a:t>
            </a:r>
          </a:p>
          <a:p>
            <a:pPr lvl="1" algn="l"/>
            <a:r>
              <a:rPr lang="en-US" altLang="en-US" sz="24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Conclusion: So, X is false</a:t>
            </a:r>
            <a:r>
              <a:rPr lang="en-US" altLang="en-US" sz="2400" dirty="0">
                <a:solidFill>
                  <a:srgbClr val="FF0000"/>
                </a:solidFill>
                <a:latin typeface="Times New Roman"/>
                <a:ea typeface="MS PGothic"/>
                <a:cs typeface="Times New Roman"/>
              </a:rPr>
              <a:t>/true</a:t>
            </a:r>
            <a:r>
              <a:rPr lang="en-US" altLang="en-US" sz="24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.</a:t>
            </a:r>
          </a:p>
          <a:p>
            <a:pPr algn="l"/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/>
                <a:ea typeface="MS PGothic"/>
                <a:cs typeface="Times New Roman"/>
              </a:rPr>
              <a:t>As it stands, the appeal to ignorance is a bad argument; it clearly has a </a:t>
            </a:r>
            <a:r>
              <a:rPr lang="en-US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  <a:latin typeface="Times New Roman"/>
                <a:ea typeface="MS PGothic"/>
                <a:cs typeface="Times New Roman"/>
              </a:rPr>
              <a:t>relatively weak</a:t>
            </a:r>
            <a:r>
              <a:rPr lang="en-US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/>
                <a:ea typeface="MS PGothic"/>
                <a:cs typeface="Times New Roman"/>
              </a:rPr>
              <a:t> inference.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en-US" sz="24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The most charitable approach to such arguments, then, is to consider them as abductive: </a:t>
            </a:r>
          </a:p>
          <a:p>
            <a:pPr marL="914400" lvl="1" indent="-457200" algn="l">
              <a:buAutoNum type="arabicPeriod"/>
            </a:pPr>
            <a:r>
              <a:rPr lang="en-US" altLang="en-US" sz="24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O: There is no evidence for X</a:t>
            </a:r>
          </a:p>
          <a:p>
            <a:pPr marL="914400" lvl="1" indent="-457200" algn="l">
              <a:buAutoNum type="arabicPeriod"/>
            </a:pPr>
            <a:r>
              <a:rPr lang="en-US" altLang="en-US" sz="24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The best explanation for O is E* = ‘X is false’.</a:t>
            </a:r>
          </a:p>
          <a:p>
            <a:pPr algn="l"/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en-US" sz="24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	C.	X is false</a:t>
            </a:r>
          </a:p>
          <a:p>
            <a:pPr algn="l"/>
            <a:endParaRPr lang="en-US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14045D9-0181-484F-A09D-0884E708EAC5}"/>
              </a:ext>
            </a:extLst>
          </p:cNvPr>
          <p:cNvCxnSpPr>
            <a:cxnSpLocks/>
          </p:cNvCxnSpPr>
          <p:nvPr/>
        </p:nvCxnSpPr>
        <p:spPr>
          <a:xfrm>
            <a:off x="90905" y="5181600"/>
            <a:ext cx="714809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1521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0169"/>
    </mc:Choice>
    <mc:Fallback xmlns="">
      <p:transition spd="slow" advTm="170169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4"/>
          <p:cNvSpPr/>
          <p:nvPr/>
        </p:nvSpPr>
        <p:spPr>
          <a:xfrm>
            <a:off x="0" y="95250"/>
            <a:ext cx="87122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3000" b="1" spc="-15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Appeals to Ignorance: Cogent or </a:t>
            </a:r>
            <a:r>
              <a:rPr lang="en-US" sz="3000" b="1" spc="-150" dirty="0" err="1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Uncogent</a:t>
            </a:r>
            <a:r>
              <a:rPr lang="en-US" sz="3000" b="1" spc="-15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97283" name="Rectangle 4"/>
          <p:cNvSpPr>
            <a:spLocks noChangeArrowheads="1"/>
          </p:cNvSpPr>
          <p:nvPr/>
        </p:nvSpPr>
        <p:spPr bwMode="auto">
          <a:xfrm>
            <a:off x="381000" y="76200"/>
            <a:ext cx="8077200" cy="624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buFontTx/>
              <a:buNone/>
            </a:pPr>
            <a:br>
              <a:rPr lang="en-US" altLang="en-US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40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40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40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16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4000" b="1">
                <a:solidFill>
                  <a:srgbClr val="FFDE2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r>
              <a:rPr lang="en-US" altLang="en-US" sz="5400" b="1">
                <a:solidFill>
                  <a:srgbClr val="FFDE2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br>
              <a:rPr lang="en-US" altLang="en-US" sz="14200" b="1">
                <a:solidFill>
                  <a:srgbClr val="FFDE2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endParaRPr lang="en-US" altLang="en-US" sz="14200" b="1">
              <a:solidFill>
                <a:srgbClr val="FFDE26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algn="ctr" eaLnBrk="1" hangingPunct="1">
              <a:buFontTx/>
              <a:buNone/>
            </a:pPr>
            <a:br>
              <a:rPr lang="en-US" altLang="en-US" sz="4000" b="1">
                <a:solidFill>
                  <a:srgbClr val="99CC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endParaRPr lang="en-US" altLang="en-US" sz="4000" b="1">
              <a:solidFill>
                <a:srgbClr val="66CCFF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Snip and Round Single Corner Rectangle 5"/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spcBef>
                <a:spcPct val="20000"/>
              </a:spcBef>
              <a:buChar char="•"/>
              <a:tabLst>
                <a:tab pos="43894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tabLst>
                <a:tab pos="43894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tabLst>
                <a:tab pos="43894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  <a:defRPr/>
            </a:pPr>
            <a:fld id="{1B1F8F8E-C6A8-412C-B091-B275DC93F50A}" type="slidenum">
              <a:rPr lang="en-US" altLang="en-US" sz="1300" smtClean="0">
                <a:solidFill>
                  <a:srgbClr val="FFFFFF"/>
                </a:solidFill>
                <a:latin typeface="Gill Sans MT" panose="020B0502020104020203" pitchFamily="34" charset="0"/>
                <a:ea typeface="MS PGothic" panose="020B0600070205080204" pitchFamily="34" charset="-128"/>
              </a:rPr>
              <a:pPr algn="r" eaLnBrk="1" hangingPunct="1">
                <a:spcBef>
                  <a:spcPct val="0"/>
                </a:spcBef>
                <a:buFontTx/>
                <a:buNone/>
                <a:defRPr/>
              </a:pPr>
              <a:t>18</a:t>
            </a:fld>
            <a:endParaRPr lang="en-US" altLang="en-US" sz="1300">
              <a:solidFill>
                <a:srgbClr val="FFFFFF"/>
              </a:solidFill>
              <a:latin typeface="Gill Sans MT" panose="020B0502020104020203" pitchFamily="34" charset="0"/>
              <a:ea typeface="MS PGothic" panose="020B0600070205080204" pitchFamily="34" charset="-128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840BB27-AF22-446C-B223-BF0653E0CC8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100" y="989527"/>
            <a:ext cx="8636000" cy="5097779"/>
          </a:xfrm>
        </p:spPr>
        <p:txBody>
          <a:bodyPr/>
          <a:lstStyle/>
          <a:p>
            <a:pPr algn="l"/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evaluating appeals to ignorance, the standard criteria for evaluating abductive arguments apply.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en-US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this argument cogent?</a:t>
            </a:r>
          </a:p>
          <a:p>
            <a:pPr marL="457200" indent="-457200" algn="l">
              <a:buAutoNum type="arabicPeriod"/>
            </a:pPr>
            <a:r>
              <a:rPr lang="en-US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O: There’s no sign that my boyfriend loves me.</a:t>
            </a:r>
          </a:p>
          <a:p>
            <a:pPr marL="457200" indent="-457200" algn="l">
              <a:buAutoNum type="arabicPeriod"/>
            </a:pPr>
            <a:r>
              <a:rPr lang="en-US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best explanation for O is E*: ‘He doesn’t love me’.</a:t>
            </a:r>
          </a:p>
          <a:p>
            <a:pPr algn="l"/>
            <a:r>
              <a:rPr lang="en-US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	He doesn’t love me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en-US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this?</a:t>
            </a:r>
          </a:p>
          <a:p>
            <a:pPr marL="457200" indent="-457200" algn="l">
              <a:buAutoNum type="arabicPeriod"/>
            </a:pPr>
            <a:r>
              <a:rPr lang="en-US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O: There is no evidence that God exists</a:t>
            </a:r>
          </a:p>
          <a:p>
            <a:pPr marL="457200" indent="-457200" algn="l">
              <a:buAutoNum type="arabicPeriod"/>
            </a:pPr>
            <a:r>
              <a:rPr lang="en-US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best explanation for O is E*: ‘God doesn’t exist’.</a:t>
            </a:r>
          </a:p>
          <a:p>
            <a:pPr algn="l"/>
            <a:r>
              <a:rPr lang="en-US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	God doesn’t exist.</a:t>
            </a:r>
          </a:p>
          <a:p>
            <a:pPr algn="l"/>
            <a:endParaRPr lang="en-US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8136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1473"/>
    </mc:Choice>
    <mc:Fallback xmlns="">
      <p:transition spd="slow" advTm="371473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4">
            <a:extLst>
              <a:ext uri="{FF2B5EF4-FFF2-40B4-BE49-F238E27FC236}">
                <a16:creationId xmlns:a16="http://schemas.microsoft.com/office/drawing/2014/main" id="{CE5993EE-7789-4FA2-8404-0E13D1B0EB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0" y="914400"/>
            <a:ext cx="6057900" cy="468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20000"/>
              </a:spcBef>
              <a:buFontTx/>
              <a:buNone/>
            </a:pPr>
            <a:br>
              <a:rPr lang="en-US" altLang="en-US" sz="2400" b="1">
                <a:solidFill>
                  <a:srgbClr val="00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3000" b="1">
                <a:solidFill>
                  <a:srgbClr val="00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3000" b="1">
                <a:solidFill>
                  <a:srgbClr val="00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3000" b="1">
                <a:solidFill>
                  <a:srgbClr val="00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1200" b="1">
                <a:solidFill>
                  <a:srgbClr val="00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3000" b="1">
                <a:solidFill>
                  <a:srgbClr val="FFDE2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r>
              <a:rPr lang="en-US" altLang="en-US" sz="4050" b="1">
                <a:solidFill>
                  <a:srgbClr val="FFDE2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br>
              <a:rPr lang="en-US" altLang="en-US" sz="10650" b="1">
                <a:solidFill>
                  <a:srgbClr val="FFDE2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endParaRPr lang="en-US" altLang="en-US" sz="10650" b="1">
              <a:solidFill>
                <a:srgbClr val="FFDE26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algn="ctr" eaLnBrk="1" hangingPunct="1">
              <a:lnSpc>
                <a:spcPct val="100000"/>
              </a:lnSpc>
              <a:spcBef>
                <a:spcPct val="20000"/>
              </a:spcBef>
              <a:buFontTx/>
              <a:buNone/>
            </a:pPr>
            <a:br>
              <a:rPr lang="en-US" altLang="en-US" sz="3000" b="1">
                <a:solidFill>
                  <a:srgbClr val="99CC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endParaRPr lang="en-US" altLang="en-US" sz="3000" b="1">
              <a:solidFill>
                <a:srgbClr val="66CCFF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9C32CB1-CBF3-44AD-880A-208D4DCB052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1182687"/>
            <a:ext cx="8255000" cy="5067300"/>
          </a:xfrm>
        </p:spPr>
        <p:txBody>
          <a:bodyPr rtlCol="0">
            <a:normAutofit fontScale="92500" lnSpcReduction="2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endParaRPr lang="en-US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fontAlgn="auto" hangingPunct="1">
              <a:spcAft>
                <a:spcPts val="0"/>
              </a:spcAft>
              <a:defRPr/>
            </a:pPr>
            <a:r>
              <a:rPr lang="en-US" altLang="en-US" sz="2400" u="sng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Example 1</a:t>
            </a:r>
          </a:p>
          <a:p>
            <a:pPr algn="l" eaLnBrk="1" fontAlgn="auto" hangingPunct="1">
              <a:spcAft>
                <a:spcPts val="0"/>
              </a:spcAft>
              <a:defRPr/>
            </a:pPr>
            <a:r>
              <a:rPr lang="en-US" altLang="en-US" sz="24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Premise: I have no evidence (from several blood and other diagnostic tests) that I have HIV.</a:t>
            </a:r>
          </a:p>
          <a:p>
            <a:pPr algn="l" eaLnBrk="1" fontAlgn="auto" hangingPunct="1">
              <a:spcAft>
                <a:spcPts val="0"/>
              </a:spcAft>
              <a:defRPr/>
            </a:pPr>
            <a:r>
              <a:rPr lang="en-US" altLang="en-US" sz="24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Conclusion: So, I don’t have HIV.</a:t>
            </a:r>
          </a:p>
          <a:p>
            <a:pPr algn="l" eaLnBrk="1" fontAlgn="auto" hangingPunct="1">
              <a:spcAft>
                <a:spcPts val="0"/>
              </a:spcAft>
              <a:defRPr/>
            </a:pPr>
            <a:endParaRPr lang="en-US" altLang="en-US" sz="2400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fontAlgn="auto" hangingPunct="1">
              <a:spcAft>
                <a:spcPts val="0"/>
              </a:spcAft>
              <a:defRPr/>
            </a:pPr>
            <a:r>
              <a:rPr lang="en-US" altLang="en-US" sz="2400" u="sng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Example 2</a:t>
            </a:r>
          </a:p>
          <a:p>
            <a:pPr algn="l" eaLnBrk="1" fontAlgn="auto" hangingPunct="1">
              <a:spcAft>
                <a:spcPts val="0"/>
              </a:spcAft>
              <a:defRPr/>
            </a:pPr>
            <a:r>
              <a:rPr lang="en-US" altLang="en-US" sz="24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Premise:  We have no evidence that there is any community transmission of Covid in Laos.</a:t>
            </a:r>
          </a:p>
          <a:p>
            <a:pPr algn="l" eaLnBrk="1" fontAlgn="auto" hangingPunct="1">
              <a:spcAft>
                <a:spcPts val="0"/>
              </a:spcAft>
              <a:defRPr/>
            </a:pPr>
            <a:r>
              <a:rPr lang="en-US" altLang="en-US" sz="24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Conclusion: So, there isn’t any community transmission.</a:t>
            </a:r>
          </a:p>
          <a:p>
            <a:pPr algn="l" eaLnBrk="1" fontAlgn="auto" hangingPunct="1">
              <a:spcAft>
                <a:spcPts val="0"/>
              </a:spcAft>
              <a:defRPr/>
            </a:pPr>
            <a:endParaRPr lang="en-US" altLang="en-US" sz="2400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fontAlgn="auto" hangingPunct="1">
              <a:spcAft>
                <a:spcPts val="0"/>
              </a:spcAft>
              <a:defRPr/>
            </a:pPr>
            <a:r>
              <a:rPr lang="en-US" altLang="en-US" sz="2400" u="sng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Example 3</a:t>
            </a:r>
          </a:p>
          <a:p>
            <a:pPr algn="l" eaLnBrk="1" fontAlgn="auto" hangingPunct="1">
              <a:spcAft>
                <a:spcPts val="0"/>
              </a:spcAft>
              <a:defRPr/>
            </a:pPr>
            <a:r>
              <a:rPr lang="en-US" altLang="en-US" sz="24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Premise: There is no evidence that Israeli intelligence suspected that a Hamas attack like that on October 7th was in the works.</a:t>
            </a:r>
          </a:p>
          <a:p>
            <a:pPr algn="l" eaLnBrk="1" fontAlgn="auto" hangingPunct="1">
              <a:spcAft>
                <a:spcPts val="0"/>
              </a:spcAft>
              <a:defRPr/>
            </a:pPr>
            <a:r>
              <a:rPr lang="en-US" altLang="en-US" sz="24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Conclusion: So, Israeli intelligence had no such suspicions.</a:t>
            </a:r>
          </a:p>
          <a:p>
            <a:pPr algn="l" eaLnBrk="1" fontAlgn="auto" hangingPunct="1">
              <a:spcAft>
                <a:spcPts val="0"/>
              </a:spcAft>
              <a:defRPr/>
            </a:pPr>
            <a:endParaRPr lang="en-US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fontAlgn="auto" hangingPunct="1">
              <a:spcAft>
                <a:spcPts val="0"/>
              </a:spcAft>
              <a:defRPr/>
            </a:pPr>
            <a:endParaRPr lang="en-US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l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nip and Round Single Corner Rectangle 4">
            <a:extLst>
              <a:ext uri="{FF2B5EF4-FFF2-40B4-BE49-F238E27FC236}">
                <a16:creationId xmlns:a16="http://schemas.microsoft.com/office/drawing/2014/main" id="{161541B9-B32A-4FB2-A14D-C4ABD7BB28D2}"/>
              </a:ext>
            </a:extLst>
          </p:cNvPr>
          <p:cNvSpPr/>
          <p:nvPr/>
        </p:nvSpPr>
        <p:spPr>
          <a:xfrm>
            <a:off x="0" y="95250"/>
            <a:ext cx="87122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3200" b="1" spc="-15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Appeal to Ignorance: Exercises</a:t>
            </a:r>
          </a:p>
        </p:txBody>
      </p:sp>
      <p:sp>
        <p:nvSpPr>
          <p:cNvPr id="9" name="Snip and Round Single Corner Rectangle 5">
            <a:extLst>
              <a:ext uri="{FF2B5EF4-FFF2-40B4-BE49-F238E27FC236}">
                <a16:creationId xmlns:a16="http://schemas.microsoft.com/office/drawing/2014/main" id="{54D02870-AAFC-4687-893F-BA36D8947796}"/>
              </a:ext>
            </a:extLst>
          </p:cNvPr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spcBef>
                <a:spcPct val="20000"/>
              </a:spcBef>
              <a:buChar char="•"/>
              <a:tabLst>
                <a:tab pos="43894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tabLst>
                <a:tab pos="43894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tabLst>
                <a:tab pos="43894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  <a:defRPr/>
            </a:pPr>
            <a:fld id="{1B1F8F8E-C6A8-412C-B091-B275DC93F50A}" type="slidenum">
              <a:rPr lang="en-US" altLang="en-US" sz="1300" smtClean="0">
                <a:solidFill>
                  <a:srgbClr val="FFFFFF"/>
                </a:solidFill>
                <a:latin typeface="Gill Sans MT" panose="020B0502020104020203" pitchFamily="34" charset="0"/>
                <a:ea typeface="MS PGothic" panose="020B0600070205080204" pitchFamily="34" charset="-128"/>
              </a:rPr>
              <a:pPr algn="r" eaLnBrk="1" hangingPunct="1">
                <a:spcBef>
                  <a:spcPct val="0"/>
                </a:spcBef>
                <a:buFontTx/>
                <a:buNone/>
                <a:defRPr/>
              </a:pPr>
              <a:t>19</a:t>
            </a:fld>
            <a:endParaRPr lang="en-US" altLang="en-US" sz="1300">
              <a:solidFill>
                <a:srgbClr val="FFFFFF"/>
              </a:solidFill>
              <a:latin typeface="Gill Sans MT" panose="020B0502020104020203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33949-E311-44A4-3EAE-2A879085A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4">
            <a:extLst>
              <a:ext uri="{FF2B5EF4-FFF2-40B4-BE49-F238E27FC236}">
                <a16:creationId xmlns:a16="http://schemas.microsoft.com/office/drawing/2014/main" id="{F459558A-616A-614A-EB0B-78B73B0155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0" y="914400"/>
            <a:ext cx="6057900" cy="468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20000"/>
              </a:spcBef>
              <a:buFontTx/>
              <a:buNone/>
            </a:pPr>
            <a:br>
              <a:rPr lang="en-US" altLang="en-US" sz="2400" b="1">
                <a:solidFill>
                  <a:srgbClr val="00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3000" b="1">
                <a:solidFill>
                  <a:srgbClr val="00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3000" b="1">
                <a:solidFill>
                  <a:srgbClr val="00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3000" b="1">
                <a:solidFill>
                  <a:srgbClr val="00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1200" b="1">
                <a:solidFill>
                  <a:srgbClr val="00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3000" b="1">
                <a:solidFill>
                  <a:srgbClr val="FFDE2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r>
              <a:rPr lang="en-US" altLang="en-US" sz="4050" b="1">
                <a:solidFill>
                  <a:srgbClr val="FFDE2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br>
              <a:rPr lang="en-US" altLang="en-US" sz="10650" b="1">
                <a:solidFill>
                  <a:srgbClr val="FFDE2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endParaRPr lang="en-US" altLang="en-US" sz="10650" b="1">
              <a:solidFill>
                <a:srgbClr val="FFDE26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algn="ctr" eaLnBrk="1" hangingPunct="1">
              <a:lnSpc>
                <a:spcPct val="100000"/>
              </a:lnSpc>
              <a:spcBef>
                <a:spcPct val="20000"/>
              </a:spcBef>
              <a:buFontTx/>
              <a:buNone/>
            </a:pPr>
            <a:br>
              <a:rPr lang="en-US" altLang="en-US" sz="3000" b="1">
                <a:solidFill>
                  <a:srgbClr val="99CC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endParaRPr lang="en-US" altLang="en-US" sz="3000" b="1">
              <a:solidFill>
                <a:srgbClr val="66CCFF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242DDAA-D117-6339-731F-17A3560F176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402430" y="3126452"/>
            <a:ext cx="7907339" cy="2808628"/>
          </a:xfrm>
        </p:spPr>
        <p:txBody>
          <a:bodyPr rtlCol="0">
            <a:no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endParaRPr lang="en-US" altLang="en-US" sz="20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fontAlgn="auto" hangingPunct="1">
              <a:spcAft>
                <a:spcPts val="0"/>
              </a:spcAft>
              <a:defRPr/>
            </a:pPr>
            <a:r>
              <a:rPr lang="en-US" altLang="en-US" sz="22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4</a:t>
            </a:r>
          </a:p>
          <a:p>
            <a:pPr algn="l" eaLnBrk="1" fontAlgn="auto" hangingPunct="1">
              <a:spcAft>
                <a:spcPts val="0"/>
              </a:spcAft>
              <a:defRPr/>
            </a:pP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Premise 1: United Nations has found no evidence that Saddam Hussein is stockpiling weapons of mass destruction.</a:t>
            </a:r>
          </a:p>
          <a:p>
            <a:pPr algn="l" eaLnBrk="1" fontAlgn="auto" hangingPunct="1">
              <a:spcAft>
                <a:spcPts val="0"/>
              </a:spcAft>
              <a:defRPr/>
            </a:pP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Premise 2: The best explanation of this is that Saddam is not stockpiling such weapons.</a:t>
            </a:r>
          </a:p>
          <a:p>
            <a:pPr algn="l" eaLnBrk="1" fontAlgn="auto" hangingPunct="1">
              <a:spcAft>
                <a:spcPts val="0"/>
              </a:spcAft>
              <a:defRPr/>
            </a:pP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 So, Saddam is not stockpiling WMDs.</a:t>
            </a:r>
          </a:p>
          <a:p>
            <a:pPr algn="l" eaLnBrk="1" fontAlgn="auto" hangingPunct="1">
              <a:spcAft>
                <a:spcPts val="0"/>
              </a:spcAft>
              <a:defRPr/>
            </a:pPr>
            <a:endParaRPr lang="en-US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fontAlgn="auto" hangingPunct="1">
              <a:spcAft>
                <a:spcPts val="0"/>
              </a:spcAft>
              <a:defRPr/>
            </a:pPr>
            <a:endParaRPr lang="en-US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l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nip and Round Single Corner Rectangle 4">
            <a:extLst>
              <a:ext uri="{FF2B5EF4-FFF2-40B4-BE49-F238E27FC236}">
                <a16:creationId xmlns:a16="http://schemas.microsoft.com/office/drawing/2014/main" id="{F901FFD6-9921-A953-E4EE-98C07DDBB093}"/>
              </a:ext>
            </a:extLst>
          </p:cNvPr>
          <p:cNvSpPr/>
          <p:nvPr/>
        </p:nvSpPr>
        <p:spPr>
          <a:xfrm>
            <a:off x="0" y="95250"/>
            <a:ext cx="87122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3200" b="1" spc="-15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Appeal to Ignorance: Exercises</a:t>
            </a:r>
          </a:p>
        </p:txBody>
      </p:sp>
      <p:sp>
        <p:nvSpPr>
          <p:cNvPr id="9" name="Snip and Round Single Corner Rectangle 5">
            <a:extLst>
              <a:ext uri="{FF2B5EF4-FFF2-40B4-BE49-F238E27FC236}">
                <a16:creationId xmlns:a16="http://schemas.microsoft.com/office/drawing/2014/main" id="{22DD366F-FDF3-29F9-861F-0CF86AB4E789}"/>
              </a:ext>
            </a:extLst>
          </p:cNvPr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spcBef>
                <a:spcPct val="20000"/>
              </a:spcBef>
              <a:buChar char="•"/>
              <a:tabLst>
                <a:tab pos="43894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tabLst>
                <a:tab pos="43894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tabLst>
                <a:tab pos="43894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  <a:defRPr/>
            </a:pPr>
            <a:fld id="{1B1F8F8E-C6A8-412C-B091-B275DC93F50A}" type="slidenum">
              <a:rPr lang="en-US" altLang="en-US" sz="1300" smtClean="0">
                <a:solidFill>
                  <a:srgbClr val="FFFFFF"/>
                </a:solidFill>
                <a:latin typeface="Gill Sans MT" panose="020B0502020104020203" pitchFamily="34" charset="0"/>
                <a:ea typeface="MS PGothic" panose="020B0600070205080204" pitchFamily="34" charset="-128"/>
              </a:rPr>
              <a:pPr algn="r" eaLnBrk="1" hangingPunct="1">
                <a:spcBef>
                  <a:spcPct val="0"/>
                </a:spcBef>
                <a:buFontTx/>
                <a:buNone/>
                <a:defRPr/>
              </a:pPr>
              <a:t>20</a:t>
            </a:fld>
            <a:endParaRPr lang="en-US" altLang="en-US" sz="1300">
              <a:solidFill>
                <a:srgbClr val="FFFFFF"/>
              </a:solidFill>
              <a:latin typeface="Gill Sans MT" panose="020B0502020104020203" pitchFamily="34" charset="0"/>
              <a:ea typeface="MS PGothic" panose="020B0600070205080204" pitchFamily="34" charset="-128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8FB40D4-A62A-6A7D-A5C1-465FBFCFF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3849" y="1065034"/>
            <a:ext cx="2762250" cy="1967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result for iraq us vs un">
            <a:extLst>
              <a:ext uri="{FF2B5EF4-FFF2-40B4-BE49-F238E27FC236}">
                <a16:creationId xmlns:a16="http://schemas.microsoft.com/office/drawing/2014/main" id="{C4A7E07A-47AD-031B-35B9-3607534E05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2970" y="1065034"/>
            <a:ext cx="2638425" cy="1952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00693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4"/>
          <p:cNvSpPr/>
          <p:nvPr/>
        </p:nvSpPr>
        <p:spPr>
          <a:xfrm>
            <a:off x="0" y="95250"/>
            <a:ext cx="87122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3000" b="1" spc="-15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Appeal to Ignorance &amp; Burden of Proof</a:t>
            </a:r>
          </a:p>
        </p:txBody>
      </p:sp>
      <p:sp>
        <p:nvSpPr>
          <p:cNvPr id="6" name="Snip and Round Single Corner Rectangle 5"/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spcBef>
                <a:spcPct val="20000"/>
              </a:spcBef>
              <a:buChar char="•"/>
              <a:tabLst>
                <a:tab pos="43894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tabLst>
                <a:tab pos="43894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tabLst>
                <a:tab pos="43894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  <a:defRPr/>
            </a:pPr>
            <a:fld id="{1B1F8F8E-C6A8-412C-B091-B275DC93F50A}" type="slidenum">
              <a:rPr lang="en-US" altLang="en-US" sz="1300" smtClean="0">
                <a:solidFill>
                  <a:srgbClr val="FFFFFF"/>
                </a:solidFill>
                <a:latin typeface="Gill Sans MT" panose="020B0502020104020203" pitchFamily="34" charset="0"/>
                <a:ea typeface="MS PGothic" panose="020B0600070205080204" pitchFamily="34" charset="-128"/>
              </a:rPr>
              <a:pPr algn="r" eaLnBrk="1" hangingPunct="1">
                <a:spcBef>
                  <a:spcPct val="0"/>
                </a:spcBef>
                <a:buFontTx/>
                <a:buNone/>
                <a:defRPr/>
              </a:pPr>
              <a:t>21</a:t>
            </a:fld>
            <a:endParaRPr lang="en-US" altLang="en-US" sz="1300">
              <a:solidFill>
                <a:srgbClr val="FFFFFF"/>
              </a:solidFill>
              <a:latin typeface="Gill Sans MT" panose="020B0502020104020203" pitchFamily="34" charset="0"/>
              <a:ea typeface="MS PGothic" panose="020B0600070205080204" pitchFamily="34" charset="-128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886ECCC-012F-437F-9788-6734ED09CC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7924549"/>
              </p:ext>
            </p:extLst>
          </p:nvPr>
        </p:nvGraphicFramePr>
        <p:xfrm>
          <a:off x="462198" y="2901315"/>
          <a:ext cx="7836052" cy="134974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918026">
                  <a:extLst>
                    <a:ext uri="{9D8B030D-6E8A-4147-A177-3AD203B41FA5}">
                      <a16:colId xmlns:a16="http://schemas.microsoft.com/office/drawing/2014/main" val="2815350254"/>
                    </a:ext>
                  </a:extLst>
                </a:gridCol>
                <a:gridCol w="3918026">
                  <a:extLst>
                    <a:ext uri="{9D8B030D-6E8A-4147-A177-3AD203B41FA5}">
                      <a16:colId xmlns:a16="http://schemas.microsoft.com/office/drawing/2014/main" val="2054655574"/>
                    </a:ext>
                  </a:extLst>
                </a:gridCol>
              </a:tblGrid>
              <a:tr h="453648">
                <a:tc gridSpan="2">
                  <a:txBody>
                    <a:bodyPr/>
                    <a:lstStyle/>
                    <a:p>
                      <a:r>
                        <a:rPr lang="en-S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 1: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259357"/>
                  </a:ext>
                </a:extLst>
              </a:tr>
              <a:tr h="896096"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You: There is no evidence that God exists. So, he doesn’t.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I: There is no evidence that God doesn’t exists. So, he does.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165868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FADFE64-A661-4CBF-9B04-8502276791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0552273"/>
              </p:ext>
            </p:extLst>
          </p:nvPr>
        </p:nvGraphicFramePr>
        <p:xfrm>
          <a:off x="468376" y="4572000"/>
          <a:ext cx="7775448" cy="137731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887724">
                  <a:extLst>
                    <a:ext uri="{9D8B030D-6E8A-4147-A177-3AD203B41FA5}">
                      <a16:colId xmlns:a16="http://schemas.microsoft.com/office/drawing/2014/main" val="2815350254"/>
                    </a:ext>
                  </a:extLst>
                </a:gridCol>
                <a:gridCol w="3887724">
                  <a:extLst>
                    <a:ext uri="{9D8B030D-6E8A-4147-A177-3AD203B41FA5}">
                      <a16:colId xmlns:a16="http://schemas.microsoft.com/office/drawing/2014/main" val="2054655574"/>
                    </a:ext>
                  </a:extLst>
                </a:gridCol>
              </a:tblGrid>
              <a:tr h="462915">
                <a:tc gridSpan="2">
                  <a:txBody>
                    <a:bodyPr/>
                    <a:lstStyle/>
                    <a:p>
                      <a:r>
                        <a:rPr lang="en-S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 2: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259357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You: There is no evidence that our ministers aren’t corrupt. So, they are.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I: There is no evidence that our ministers are corrupt. So, they aren’t.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16586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C06D0C7-76B0-4DB1-9A09-8B00C5134F23}"/>
              </a:ext>
            </a:extLst>
          </p:cNvPr>
          <p:cNvSpPr txBox="1"/>
          <p:nvPr/>
        </p:nvSpPr>
        <p:spPr>
          <a:xfrm>
            <a:off x="462198" y="1163637"/>
            <a:ext cx="793902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many instances, where appeals to ignorance are made, there might not be any evidence either </a:t>
            </a:r>
            <a:r>
              <a:rPr lang="en-US" altLang="en-US" sz="2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altLang="en-US" sz="2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against</a:t>
            </a: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X.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these cases, appeals to ignorance can be made both to affirm or deny that X.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801571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1838"/>
    </mc:Choice>
    <mc:Fallback xmlns="">
      <p:transition spd="slow" advTm="151838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4"/>
          <p:cNvSpPr/>
          <p:nvPr/>
        </p:nvSpPr>
        <p:spPr>
          <a:xfrm>
            <a:off x="0" y="95250"/>
            <a:ext cx="87122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3000" b="1" spc="-15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Appeal to Ignorance &amp; Burden of Proof</a:t>
            </a:r>
          </a:p>
        </p:txBody>
      </p:sp>
      <p:sp>
        <p:nvSpPr>
          <p:cNvPr id="97283" name="Rectangle 4"/>
          <p:cNvSpPr>
            <a:spLocks noChangeArrowheads="1"/>
          </p:cNvSpPr>
          <p:nvPr/>
        </p:nvSpPr>
        <p:spPr bwMode="auto">
          <a:xfrm>
            <a:off x="381000" y="76200"/>
            <a:ext cx="8077200" cy="624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buFontTx/>
              <a:buNone/>
            </a:pPr>
            <a:br>
              <a:rPr lang="en-US" altLang="en-US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40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40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40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16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4000" b="1">
                <a:solidFill>
                  <a:srgbClr val="FFDE2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r>
              <a:rPr lang="en-US" altLang="en-US" sz="5400" b="1">
                <a:solidFill>
                  <a:srgbClr val="FFDE2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br>
              <a:rPr lang="en-US" altLang="en-US" sz="14200" b="1">
                <a:solidFill>
                  <a:srgbClr val="FFDE2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endParaRPr lang="en-US" altLang="en-US" sz="14200" b="1">
              <a:solidFill>
                <a:srgbClr val="FFDE26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algn="ctr" eaLnBrk="1" hangingPunct="1">
              <a:buFontTx/>
              <a:buNone/>
            </a:pPr>
            <a:br>
              <a:rPr lang="en-US" altLang="en-US" sz="4000" b="1">
                <a:solidFill>
                  <a:srgbClr val="99CC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endParaRPr lang="en-US" altLang="en-US" sz="4000" b="1">
              <a:solidFill>
                <a:srgbClr val="66CCFF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Snip and Round Single Corner Rectangle 5"/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spcBef>
                <a:spcPct val="20000"/>
              </a:spcBef>
              <a:buChar char="•"/>
              <a:tabLst>
                <a:tab pos="43894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tabLst>
                <a:tab pos="43894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tabLst>
                <a:tab pos="43894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  <a:defRPr/>
            </a:pPr>
            <a:fld id="{1B1F8F8E-C6A8-412C-B091-B275DC93F50A}" type="slidenum">
              <a:rPr lang="en-US" altLang="en-US" sz="1300" smtClean="0">
                <a:solidFill>
                  <a:srgbClr val="FFFFFF"/>
                </a:solidFill>
                <a:latin typeface="Gill Sans MT" panose="020B0502020104020203" pitchFamily="34" charset="0"/>
                <a:ea typeface="MS PGothic" panose="020B0600070205080204" pitchFamily="34" charset="-128"/>
              </a:rPr>
              <a:pPr algn="r" eaLnBrk="1" hangingPunct="1">
                <a:spcBef>
                  <a:spcPct val="0"/>
                </a:spcBef>
                <a:buFontTx/>
                <a:buNone/>
                <a:defRPr/>
              </a:pPr>
              <a:t>22</a:t>
            </a:fld>
            <a:endParaRPr lang="en-US" altLang="en-US" sz="1300">
              <a:solidFill>
                <a:srgbClr val="FFFFFF"/>
              </a:solidFill>
              <a:latin typeface="Gill Sans MT" panose="020B0502020104020203" pitchFamily="34" charset="0"/>
              <a:ea typeface="MS PGothic" panose="020B0600070205080204" pitchFamily="34" charset="-128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840BB27-AF22-446C-B223-BF0653E0CC8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27000" y="1245871"/>
            <a:ext cx="8636000" cy="5097779"/>
          </a:xfrm>
        </p:spPr>
        <p:txBody>
          <a:bodyPr/>
          <a:lstStyle/>
          <a:p>
            <a:pPr algn="l"/>
            <a:r>
              <a:rPr lang="en-US" altLang="en-US" sz="24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In these cases, since the conclusions can’t, both, be true, who must provide ‘proof</a:t>
            </a:r>
            <a:r>
              <a:rPr lang="en-US" altLang="en-US" sz="2400" i="1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’</a:t>
            </a:r>
            <a:r>
              <a:rPr lang="en-US" altLang="en-US" sz="24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? You or I? On who, does the burden of proof lie?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Bertrand Russell has this to say: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But, it is controversial whether </a:t>
            </a:r>
          </a:p>
          <a:p>
            <a:pPr algn="l"/>
            <a:r>
              <a:rPr lang="en-US" altLang="en-US" sz="24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     Russell is correct…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en-US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en-US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en-US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en-US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en-US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6" name="Picture 2" descr="Image result for russell teapot">
            <a:extLst>
              <a:ext uri="{FF2B5EF4-FFF2-40B4-BE49-F238E27FC236}">
                <a16:creationId xmlns:a16="http://schemas.microsoft.com/office/drawing/2014/main" id="{398F1D3A-9E34-4FBC-8D15-28E82B7C75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8664" y="2144806"/>
            <a:ext cx="4563093" cy="4139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3289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7216"/>
    </mc:Choice>
    <mc:Fallback xmlns="">
      <p:transition spd="slow" advTm="197216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0E28D-7C0C-21D5-BA69-F730D844B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4">
            <a:extLst>
              <a:ext uri="{FF2B5EF4-FFF2-40B4-BE49-F238E27FC236}">
                <a16:creationId xmlns:a16="http://schemas.microsoft.com/office/drawing/2014/main" id="{90E9C2F7-954A-874D-B1CD-8CFE8A0B78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0" y="914400"/>
            <a:ext cx="6057900" cy="468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20000"/>
              </a:spcBef>
              <a:buFontTx/>
              <a:buNone/>
            </a:pPr>
            <a:br>
              <a:rPr lang="en-US" altLang="en-US" sz="2400" b="1">
                <a:solidFill>
                  <a:srgbClr val="00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3000" b="1">
                <a:solidFill>
                  <a:srgbClr val="00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3000" b="1">
                <a:solidFill>
                  <a:srgbClr val="00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3000" b="1">
                <a:solidFill>
                  <a:srgbClr val="00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1200" b="1">
                <a:solidFill>
                  <a:srgbClr val="00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3000" b="1">
                <a:solidFill>
                  <a:srgbClr val="FFDE2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r>
              <a:rPr lang="en-US" altLang="en-US" sz="4050" b="1">
                <a:solidFill>
                  <a:srgbClr val="FFDE2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br>
              <a:rPr lang="en-US" altLang="en-US" sz="10650" b="1">
                <a:solidFill>
                  <a:srgbClr val="FFDE2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endParaRPr lang="en-US" altLang="en-US" sz="10650" b="1">
              <a:solidFill>
                <a:srgbClr val="FFDE26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algn="ctr" eaLnBrk="1" hangingPunct="1">
              <a:lnSpc>
                <a:spcPct val="100000"/>
              </a:lnSpc>
              <a:spcBef>
                <a:spcPct val="20000"/>
              </a:spcBef>
              <a:buFontTx/>
              <a:buNone/>
            </a:pPr>
            <a:br>
              <a:rPr lang="en-US" altLang="en-US" sz="3000" b="1">
                <a:solidFill>
                  <a:srgbClr val="99CC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endParaRPr lang="en-US" altLang="en-US" sz="3000" b="1">
              <a:solidFill>
                <a:srgbClr val="66CCFF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C8C1F84-D148-49A9-C3E3-9CC6FA3E1C3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03200" y="1257300"/>
            <a:ext cx="8255000" cy="5067300"/>
          </a:xfrm>
        </p:spPr>
        <p:txBody>
          <a:bodyPr rtlCol="0"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endParaRPr lang="en-US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fontAlgn="auto" hangingPunct="1">
              <a:spcAft>
                <a:spcPts val="0"/>
              </a:spcAft>
              <a:defRPr/>
            </a:pPr>
            <a:endParaRPr lang="en-US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fontAlgn="auto" hangingPunct="1">
              <a:spcAft>
                <a:spcPts val="0"/>
              </a:spcAft>
              <a:defRPr/>
            </a:pPr>
            <a:endParaRPr lang="en-US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nip and Round Single Corner Rectangle 4">
            <a:extLst>
              <a:ext uri="{FF2B5EF4-FFF2-40B4-BE49-F238E27FC236}">
                <a16:creationId xmlns:a16="http://schemas.microsoft.com/office/drawing/2014/main" id="{4BDA4ACF-6DAF-8860-CA98-5365BD9EDE60}"/>
              </a:ext>
            </a:extLst>
          </p:cNvPr>
          <p:cNvSpPr/>
          <p:nvPr/>
        </p:nvSpPr>
        <p:spPr>
          <a:xfrm>
            <a:off x="0" y="95250"/>
            <a:ext cx="87122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3200" b="1" spc="-15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Burden of Proof: Controversial</a:t>
            </a:r>
          </a:p>
        </p:txBody>
      </p:sp>
      <p:sp>
        <p:nvSpPr>
          <p:cNvPr id="9" name="Snip and Round Single Corner Rectangle 5">
            <a:extLst>
              <a:ext uri="{FF2B5EF4-FFF2-40B4-BE49-F238E27FC236}">
                <a16:creationId xmlns:a16="http://schemas.microsoft.com/office/drawing/2014/main" id="{8D6F521D-5B4F-8E67-B6CC-4FE7B2EC85FA}"/>
              </a:ext>
            </a:extLst>
          </p:cNvPr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spcBef>
                <a:spcPct val="20000"/>
              </a:spcBef>
              <a:buChar char="•"/>
              <a:tabLst>
                <a:tab pos="43894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tabLst>
                <a:tab pos="43894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tabLst>
                <a:tab pos="43894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  <a:defRPr/>
            </a:pPr>
            <a:fld id="{1B1F8F8E-C6A8-412C-B091-B275DC93F50A}" type="slidenum">
              <a:rPr lang="en-US" altLang="en-US" sz="1300" smtClean="0">
                <a:solidFill>
                  <a:srgbClr val="FFFFFF"/>
                </a:solidFill>
                <a:latin typeface="Gill Sans MT" panose="020B0502020104020203" pitchFamily="34" charset="0"/>
                <a:ea typeface="MS PGothic" panose="020B0600070205080204" pitchFamily="34" charset="-128"/>
              </a:rPr>
              <a:pPr algn="r" eaLnBrk="1" hangingPunct="1">
                <a:spcBef>
                  <a:spcPct val="0"/>
                </a:spcBef>
                <a:buFontTx/>
                <a:buNone/>
                <a:defRPr/>
              </a:pPr>
              <a:t>23</a:t>
            </a:fld>
            <a:endParaRPr lang="en-US" altLang="en-US" sz="1300">
              <a:solidFill>
                <a:srgbClr val="FFFFFF"/>
              </a:solidFill>
              <a:latin typeface="Gill Sans MT" panose="020B0502020104020203" pitchFamily="34" charset="0"/>
              <a:ea typeface="MS PGothic" panose="020B0600070205080204" pitchFamily="34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2BF64A-42A5-A06B-ACCD-C2777539AF8D}"/>
              </a:ext>
            </a:extLst>
          </p:cNvPr>
          <p:cNvSpPr txBox="1"/>
          <p:nvPr/>
        </p:nvSpPr>
        <p:spPr>
          <a:xfrm>
            <a:off x="546100" y="3770630"/>
            <a:ext cx="7620000" cy="230832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Atheist: If you want to maintain that </a:t>
            </a:r>
            <a:r>
              <a:rPr lang="en-US" dirty="0">
                <a:solidFill>
                  <a:schemeClr val="tx1"/>
                </a:solidFill>
                <a:highlight>
                  <a:srgbClr val="FFFF00"/>
                </a:highlight>
                <a:latin typeface="Times New Roman"/>
                <a:ea typeface="MS PGothic"/>
                <a:cs typeface="Times New Roman"/>
              </a:rPr>
              <a:t>God exists </a:t>
            </a:r>
            <a:r>
              <a:rPr lang="en-US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then the burden of proof is on you to produce some evidence.</a:t>
            </a:r>
          </a:p>
          <a:p>
            <a:endParaRPr lang="en-US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Theist: If you want to hold that </a:t>
            </a:r>
            <a:r>
              <a:rPr lang="en-US" dirty="0">
                <a:solidFill>
                  <a:schemeClr val="tx1"/>
                </a:solidFill>
                <a:highlight>
                  <a:srgbClr val="FFFF00"/>
                </a:highlight>
                <a:latin typeface="Times New Roman"/>
                <a:ea typeface="MS PGothic"/>
                <a:cs typeface="Times New Roman"/>
              </a:rPr>
              <a:t>billions of believers around the world are deluded</a:t>
            </a:r>
            <a:r>
              <a:rPr lang="en-US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 then the burden of proof is on you to prove it.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CD8083-7EF7-B364-BD95-2422BB579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350" y="1276239"/>
            <a:ext cx="5276850" cy="2152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7184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4"/>
          <p:cNvSpPr/>
          <p:nvPr/>
        </p:nvSpPr>
        <p:spPr>
          <a:xfrm>
            <a:off x="66604" y="66420"/>
            <a:ext cx="8229600" cy="961624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b="1" spc="-113" dirty="0">
                <a:solidFill>
                  <a:prstClr val="white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Forms of Abduction : Conspiracy Theories (CT)</a:t>
            </a:r>
          </a:p>
        </p:txBody>
      </p:sp>
      <p:sp>
        <p:nvSpPr>
          <p:cNvPr id="97283" name="Rectangle 4"/>
          <p:cNvSpPr>
            <a:spLocks noChangeArrowheads="1"/>
          </p:cNvSpPr>
          <p:nvPr/>
        </p:nvSpPr>
        <p:spPr bwMode="auto">
          <a:xfrm>
            <a:off x="1428750" y="914400"/>
            <a:ext cx="6057900" cy="468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buFontTx/>
              <a:buNone/>
            </a:pPr>
            <a:br>
              <a:rPr lang="en-US" altLang="en-US" sz="24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30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30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30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12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3000" b="1">
                <a:solidFill>
                  <a:srgbClr val="FFDE2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r>
              <a:rPr lang="en-US" altLang="en-US" sz="4050" b="1">
                <a:solidFill>
                  <a:srgbClr val="FFDE2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br>
              <a:rPr lang="en-US" altLang="en-US" sz="10650" b="1">
                <a:solidFill>
                  <a:srgbClr val="FFDE2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endParaRPr lang="en-US" altLang="en-US" sz="10650" b="1">
              <a:solidFill>
                <a:srgbClr val="FFDE26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algn="ctr" eaLnBrk="1" hangingPunct="1">
              <a:buFontTx/>
              <a:buNone/>
            </a:pPr>
            <a:br>
              <a:rPr lang="en-US" altLang="en-US" sz="3000" b="1">
                <a:solidFill>
                  <a:srgbClr val="99CC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endParaRPr lang="en-US" altLang="en-US" sz="3000" b="1">
              <a:solidFill>
                <a:srgbClr val="66CCFF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Snip and Round Single Corner Rectangle 5"/>
          <p:cNvSpPr/>
          <p:nvPr/>
        </p:nvSpPr>
        <p:spPr>
          <a:xfrm>
            <a:off x="-1072" y="6527798"/>
            <a:ext cx="9144000" cy="362436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spcBef>
                <a:spcPct val="20000"/>
              </a:spcBef>
              <a:buChar char="•"/>
              <a:tabLst>
                <a:tab pos="43894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tabLst>
                <a:tab pos="43894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tabLst>
                <a:tab pos="43894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  <a:defRPr/>
            </a:pPr>
            <a:fld id="{1B1F8F8E-C6A8-412C-B091-B275DC93F50A}" type="slidenum">
              <a:rPr lang="en-US" altLang="en-US" sz="975">
                <a:solidFill>
                  <a:srgbClr val="FFFFFF"/>
                </a:solidFill>
                <a:latin typeface="Gill Sans MT" panose="020B0502020104020203" pitchFamily="34" charset="0"/>
                <a:ea typeface="MS PGothic" panose="020B0600070205080204" pitchFamily="34" charset="-128"/>
              </a:rPr>
              <a:pPr algn="r" eaLnBrk="1" hangingPunct="1">
                <a:spcBef>
                  <a:spcPct val="0"/>
                </a:spcBef>
                <a:buFontTx/>
                <a:buNone/>
                <a:defRPr/>
              </a:pPr>
              <a:t>24</a:t>
            </a:fld>
            <a:endParaRPr lang="en-US" altLang="en-US" sz="975">
              <a:solidFill>
                <a:srgbClr val="FFFFFF"/>
              </a:solidFill>
              <a:latin typeface="Gill Sans MT" panose="020B0502020104020203" pitchFamily="34" charset="0"/>
              <a:ea typeface="MS PGothic" panose="020B0600070205080204" pitchFamily="34" charset="-128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697FFF-81E6-4689-9302-F4281FF3AA9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68" r="2254"/>
          <a:stretch/>
        </p:blipFill>
        <p:spPr>
          <a:xfrm>
            <a:off x="189547" y="1416703"/>
            <a:ext cx="2020253" cy="15004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B25C4A2-419D-4321-A9D2-9CCDDF94282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28" r="1756"/>
          <a:stretch/>
        </p:blipFill>
        <p:spPr>
          <a:xfrm>
            <a:off x="2453860" y="1390939"/>
            <a:ext cx="1781171" cy="15004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93579C4-9945-45E1-99E8-45BAB74910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000" y="2939127"/>
            <a:ext cx="2484805" cy="183234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7DD4538-1723-481D-A11C-4CBB479C8F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9710" y="1416703"/>
            <a:ext cx="1724431" cy="1415964"/>
          </a:xfrm>
          <a:prstGeom prst="rect">
            <a:avLst/>
          </a:prstGeom>
        </p:spPr>
      </p:pic>
      <p:sp>
        <p:nvSpPr>
          <p:cNvPr id="14" name="Rectangle 4">
            <a:extLst>
              <a:ext uri="{FF2B5EF4-FFF2-40B4-BE49-F238E27FC236}">
                <a16:creationId xmlns:a16="http://schemas.microsoft.com/office/drawing/2014/main" id="{E561D071-AB19-45CE-A0B9-240A4FA0E52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92505" y="963076"/>
            <a:ext cx="5910942" cy="515366"/>
          </a:xfrm>
        </p:spPr>
        <p:txBody>
          <a:bodyPr>
            <a:normAutofit lnSpcReduction="10000"/>
          </a:bodyPr>
          <a:lstStyle/>
          <a:p>
            <a:pPr marL="257175" indent="-257175" algn="l">
              <a:buFont typeface="Wingdings" panose="05000000000000000000" pitchFamily="2" charset="2"/>
              <a:buChar char="§"/>
            </a:pPr>
            <a:r>
              <a:rPr lang="en-US" altLang="en-US" sz="2800" b="1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Do you know these stories?</a:t>
            </a:r>
          </a:p>
          <a:p>
            <a:pPr algn="l"/>
            <a:endParaRPr lang="en-US" altLang="en-US" b="1" u="sng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257175" indent="-257175" algn="l">
              <a:buFont typeface="Arial" panose="020B0604020202020204" pitchFamily="34" charset="0"/>
              <a:buChar char="•"/>
            </a:pPr>
            <a:endParaRPr lang="en-US" altLang="en-US" b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Image result for sandy hook shooting conspiracy">
            <a:extLst>
              <a:ext uri="{FF2B5EF4-FFF2-40B4-BE49-F238E27FC236}">
                <a16:creationId xmlns:a16="http://schemas.microsoft.com/office/drawing/2014/main" id="{AFA69AF0-A2F0-45FA-BD43-82C6F5F6CD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1772" y="1384348"/>
            <a:ext cx="2491774" cy="144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mage result for vaccine conspiracy">
            <a:extLst>
              <a:ext uri="{FF2B5EF4-FFF2-40B4-BE49-F238E27FC236}">
                <a16:creationId xmlns:a16="http://schemas.microsoft.com/office/drawing/2014/main" id="{34B0A42B-4141-4D19-BD65-3B05A377A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04" y="2923514"/>
            <a:ext cx="2413001" cy="1827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picture containing text, newspaper&#10;&#10;Description automatically generated">
            <a:extLst>
              <a:ext uri="{FF2B5EF4-FFF2-40B4-BE49-F238E27FC236}">
                <a16:creationId xmlns:a16="http://schemas.microsoft.com/office/drawing/2014/main" id="{1CB6C617-5233-448A-A284-8077C6DCB08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119" y="4877932"/>
            <a:ext cx="5235575" cy="16963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B289C78-A79E-4A5F-A3A9-1AF33DB26F9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78689" y="3066569"/>
            <a:ext cx="3184192" cy="3382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344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1179"/>
    </mc:Choice>
    <mc:Fallback xmlns="">
      <p:transition spd="slow" advTm="131179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4"/>
          <p:cNvSpPr/>
          <p:nvPr/>
        </p:nvSpPr>
        <p:spPr>
          <a:xfrm>
            <a:off x="0" y="95250"/>
            <a:ext cx="87122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3200" b="1" spc="-113" dirty="0">
                <a:solidFill>
                  <a:prstClr val="white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And what about this?</a:t>
            </a:r>
          </a:p>
        </p:txBody>
      </p:sp>
      <p:sp>
        <p:nvSpPr>
          <p:cNvPr id="97283" name="Rectangle 4"/>
          <p:cNvSpPr>
            <a:spLocks noChangeArrowheads="1"/>
          </p:cNvSpPr>
          <p:nvPr/>
        </p:nvSpPr>
        <p:spPr bwMode="auto">
          <a:xfrm>
            <a:off x="381000" y="76200"/>
            <a:ext cx="8077200" cy="624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buFontTx/>
              <a:buNone/>
            </a:pPr>
            <a:br>
              <a:rPr lang="en-US" altLang="en-US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40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40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40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16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4000" b="1">
                <a:solidFill>
                  <a:srgbClr val="FFDE2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r>
              <a:rPr lang="en-US" altLang="en-US" sz="5400" b="1">
                <a:solidFill>
                  <a:srgbClr val="FFDE2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br>
              <a:rPr lang="en-US" altLang="en-US" sz="14200" b="1">
                <a:solidFill>
                  <a:srgbClr val="FFDE2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endParaRPr lang="en-US" altLang="en-US" sz="14200" b="1">
              <a:solidFill>
                <a:srgbClr val="FFDE26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algn="ctr" eaLnBrk="1" hangingPunct="1">
              <a:buFontTx/>
              <a:buNone/>
            </a:pPr>
            <a:br>
              <a:rPr lang="en-US" altLang="en-US" sz="4000" b="1">
                <a:solidFill>
                  <a:srgbClr val="99CC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endParaRPr lang="en-US" altLang="en-US" sz="4000" b="1">
              <a:solidFill>
                <a:srgbClr val="66CCFF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Snip and Round Single Corner Rectangle 5"/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spcBef>
                <a:spcPct val="20000"/>
              </a:spcBef>
              <a:buChar char="•"/>
              <a:tabLst>
                <a:tab pos="43894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tabLst>
                <a:tab pos="43894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tabLst>
                <a:tab pos="43894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  <a:defRPr/>
            </a:pPr>
            <a:fld id="{1B1F8F8E-C6A8-412C-B091-B275DC93F50A}" type="slidenum">
              <a:rPr lang="en-US" altLang="en-US" sz="1300" smtClean="0">
                <a:solidFill>
                  <a:srgbClr val="FFFFFF"/>
                </a:solidFill>
                <a:latin typeface="Gill Sans MT" panose="020B0502020104020203" pitchFamily="34" charset="0"/>
                <a:ea typeface="MS PGothic" panose="020B0600070205080204" pitchFamily="34" charset="-128"/>
              </a:rPr>
              <a:pPr algn="r" eaLnBrk="1" hangingPunct="1">
                <a:spcBef>
                  <a:spcPct val="0"/>
                </a:spcBef>
                <a:buFontTx/>
                <a:buNone/>
                <a:defRPr/>
              </a:pPr>
              <a:t>25</a:t>
            </a:fld>
            <a:endParaRPr lang="en-US" altLang="en-US" sz="1300">
              <a:solidFill>
                <a:srgbClr val="FFFFFF"/>
              </a:solidFill>
              <a:latin typeface="Gill Sans MT" panose="020B0502020104020203" pitchFamily="34" charset="0"/>
              <a:ea typeface="MS PGothic" panose="020B0600070205080204" pitchFamily="34" charset="-128"/>
            </a:endParaRPr>
          </a:p>
        </p:txBody>
      </p:sp>
      <p:pic>
        <p:nvPicPr>
          <p:cNvPr id="2" name="Online Media 1" title="Paul McCartney is Dead Conspiracy Theory, Explained">
            <a:hlinkClick r:id="" action="ppaction://media"/>
            <a:extLst>
              <a:ext uri="{FF2B5EF4-FFF2-40B4-BE49-F238E27FC236}">
                <a16:creationId xmlns:a16="http://schemas.microsoft.com/office/drawing/2014/main" id="{F7007E91-27BA-4E17-A01F-7659E0195586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30187" y="1108075"/>
            <a:ext cx="8482013" cy="521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690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2115"/>
    </mc:Choice>
    <mc:Fallback xmlns="">
      <p:transition spd="slow" advTm="11211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4"/>
          <p:cNvSpPr/>
          <p:nvPr/>
        </p:nvSpPr>
        <p:spPr>
          <a:xfrm>
            <a:off x="0" y="95250"/>
            <a:ext cx="87122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3200" b="1" spc="-113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Conspiracy Theory (CT): Definition and Features</a:t>
            </a:r>
          </a:p>
        </p:txBody>
      </p:sp>
      <p:sp>
        <p:nvSpPr>
          <p:cNvPr id="97283" name="Rectangle 4"/>
          <p:cNvSpPr>
            <a:spLocks noChangeArrowheads="1"/>
          </p:cNvSpPr>
          <p:nvPr/>
        </p:nvSpPr>
        <p:spPr bwMode="auto">
          <a:xfrm>
            <a:off x="381000" y="76200"/>
            <a:ext cx="8077200" cy="624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buFontTx/>
              <a:buNone/>
            </a:pPr>
            <a:br>
              <a:rPr lang="en-US" altLang="en-US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40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40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40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16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4000" b="1">
                <a:solidFill>
                  <a:srgbClr val="FFDE2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r>
              <a:rPr lang="en-US" altLang="en-US" sz="5400" b="1">
                <a:solidFill>
                  <a:srgbClr val="FFDE2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br>
              <a:rPr lang="en-US" altLang="en-US" sz="14200" b="1">
                <a:solidFill>
                  <a:srgbClr val="FFDE2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endParaRPr lang="en-US" altLang="en-US" sz="14200" b="1">
              <a:solidFill>
                <a:srgbClr val="FFDE26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algn="ctr" eaLnBrk="1" hangingPunct="1">
              <a:buFontTx/>
              <a:buNone/>
            </a:pPr>
            <a:br>
              <a:rPr lang="en-US" altLang="en-US" sz="4000" b="1">
                <a:solidFill>
                  <a:srgbClr val="99CC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endParaRPr lang="en-US" altLang="en-US" sz="4000" b="1">
              <a:solidFill>
                <a:srgbClr val="66CCFF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Snip and Round Single Corner Rectangle 5"/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spcBef>
                <a:spcPct val="20000"/>
              </a:spcBef>
              <a:buChar char="•"/>
              <a:tabLst>
                <a:tab pos="43894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tabLst>
                <a:tab pos="43894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tabLst>
                <a:tab pos="43894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  <a:defRPr/>
            </a:pPr>
            <a:fld id="{1B1F8F8E-C6A8-412C-B091-B275DC93F50A}" type="slidenum">
              <a:rPr lang="en-US" altLang="en-US" sz="1300" smtClean="0">
                <a:solidFill>
                  <a:srgbClr val="FFFFFF"/>
                </a:solidFill>
                <a:latin typeface="Gill Sans MT" panose="020B0502020104020203" pitchFamily="34" charset="0"/>
                <a:ea typeface="MS PGothic" panose="020B0600070205080204" pitchFamily="34" charset="-128"/>
              </a:rPr>
              <a:pPr algn="r" eaLnBrk="1" hangingPunct="1">
                <a:spcBef>
                  <a:spcPct val="0"/>
                </a:spcBef>
                <a:buFontTx/>
                <a:buNone/>
                <a:defRPr/>
              </a:pPr>
              <a:t>26</a:t>
            </a:fld>
            <a:endParaRPr lang="en-US" altLang="en-US" sz="1300">
              <a:solidFill>
                <a:srgbClr val="FFFFFF"/>
              </a:solidFill>
              <a:latin typeface="Gill Sans MT" panose="020B0502020104020203" pitchFamily="34" charset="0"/>
              <a:ea typeface="MS PGothic" panose="020B0600070205080204" pitchFamily="34" charset="-128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840BB27-AF22-446C-B223-BF0653E0CC8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58750" y="1108075"/>
            <a:ext cx="8826500" cy="5097779"/>
          </a:xfrm>
        </p:spPr>
        <p:txBody>
          <a:bodyPr/>
          <a:lstStyle/>
          <a:p>
            <a:pPr algn="l"/>
            <a:r>
              <a:rPr lang="en-US" altLang="en-US" sz="22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A conspiracy theory </a:t>
            </a:r>
            <a:r>
              <a:rPr lang="en-US" altLang="en-US" sz="2200" dirty="0">
                <a:solidFill>
                  <a:schemeClr val="tx1"/>
                </a:solidFill>
                <a:highlight>
                  <a:srgbClr val="FFFF00"/>
                </a:highlight>
                <a:latin typeface="Times New Roman"/>
                <a:ea typeface="MS PGothic"/>
                <a:cs typeface="Times New Roman"/>
              </a:rPr>
              <a:t>is the claim that</a:t>
            </a:r>
            <a:r>
              <a:rPr lang="en-US" altLang="en-US" sz="22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 a </a:t>
            </a:r>
            <a:r>
              <a:rPr lang="en-US" altLang="en-US" sz="2200" u="sng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closed</a:t>
            </a:r>
            <a:r>
              <a:rPr lang="en-US" altLang="en-US" sz="22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 network of </a:t>
            </a:r>
            <a:r>
              <a:rPr lang="en-US" altLang="en-US" sz="2200" u="sng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powerful</a:t>
            </a:r>
            <a:r>
              <a:rPr lang="en-US" altLang="en-US" sz="22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 people </a:t>
            </a:r>
            <a:r>
              <a:rPr lang="en-US" altLang="en-US" sz="2200" u="sng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secretively </a:t>
            </a:r>
            <a:r>
              <a:rPr lang="en-US" altLang="en-US" sz="22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 act(ed) in a particular way.</a:t>
            </a:r>
          </a:p>
          <a:p>
            <a:pPr marL="257175" indent="-257175" algn="l">
              <a:buFont typeface="Wingdings" panose="05000000000000000000" pitchFamily="2" charset="2"/>
              <a:buChar char="§"/>
            </a:pPr>
            <a:r>
              <a:rPr lang="en-US" altLang="en-US" sz="22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This claim is supposed to explain a particular set of observations</a:t>
            </a:r>
          </a:p>
          <a:p>
            <a:pPr lvl="1" algn="l"/>
            <a:endParaRPr lang="en-US" alt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l">
              <a:buFont typeface="Wingdings" panose="05000000000000000000" pitchFamily="2" charset="2"/>
              <a:buChar char="§"/>
            </a:pPr>
            <a:r>
              <a:rPr lang="en-US" altLang="en-US" sz="22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Here are other key aspects of a CT:</a:t>
            </a:r>
          </a:p>
          <a:p>
            <a:pPr marL="971550" lvl="2" indent="-257175" algn="l">
              <a:buFont typeface="Wingdings" panose="05000000000000000000" pitchFamily="2" charset="2"/>
              <a:buChar char="§"/>
            </a:pPr>
            <a:r>
              <a:rPr lang="en-US" altLang="en-US" sz="22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A CT can be either </a:t>
            </a:r>
            <a:r>
              <a:rPr lang="en-US" altLang="en-US" sz="2200" dirty="0">
                <a:solidFill>
                  <a:schemeClr val="tx1"/>
                </a:solidFill>
                <a:highlight>
                  <a:srgbClr val="FFFF00"/>
                </a:highlight>
                <a:latin typeface="Times New Roman"/>
                <a:ea typeface="MS PGothic"/>
                <a:cs typeface="Times New Roman"/>
              </a:rPr>
              <a:t>‘local’ or ‘global’: </a:t>
            </a:r>
            <a:r>
              <a:rPr lang="en-US" altLang="en-US" sz="22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for a local CT, the ‘particular way’ is a one-off event; for a global CT, the ‘particular way’ refers to a collection of events: to that end, a global CT may tie </a:t>
            </a:r>
            <a:r>
              <a:rPr lang="en-US" altLang="en-US" sz="2200" i="1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prima facie</a:t>
            </a:r>
            <a:r>
              <a:rPr lang="en-US" altLang="en-US" sz="22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 unrelated events together.</a:t>
            </a:r>
          </a:p>
          <a:p>
            <a:pPr marL="971550" lvl="2" indent="-257175" algn="l">
              <a:buFont typeface="Wingdings" panose="05000000000000000000" pitchFamily="2" charset="2"/>
              <a:buChar char="§"/>
            </a:pPr>
            <a:r>
              <a:rPr lang="en-US" altLang="en-US" sz="22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A CT generally attributes </a:t>
            </a:r>
            <a:r>
              <a:rPr lang="en-US" altLang="en-US" sz="2200" dirty="0">
                <a:solidFill>
                  <a:schemeClr val="tx1"/>
                </a:solidFill>
                <a:highlight>
                  <a:srgbClr val="FFFF00"/>
                </a:highlight>
                <a:latin typeface="Times New Roman"/>
                <a:ea typeface="MS PGothic"/>
                <a:cs typeface="Times New Roman"/>
              </a:rPr>
              <a:t>malevolent intentions</a:t>
            </a:r>
            <a:r>
              <a:rPr lang="en-US" altLang="en-US" sz="22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 to the ‘conspirators’. </a:t>
            </a:r>
          </a:p>
          <a:p>
            <a:pPr marL="971550" lvl="2" indent="-257175" algn="l">
              <a:buFont typeface="Wingdings" panose="05000000000000000000" pitchFamily="2" charset="2"/>
              <a:buChar char="§"/>
            </a:pPr>
            <a:r>
              <a:rPr lang="en-US" altLang="en-US" sz="22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A CT generally </a:t>
            </a:r>
            <a:r>
              <a:rPr lang="en-US" altLang="en-US" sz="2200" dirty="0">
                <a:solidFill>
                  <a:schemeClr val="tx1"/>
                </a:solidFill>
                <a:highlight>
                  <a:srgbClr val="FFFF00"/>
                </a:highlight>
                <a:latin typeface="Times New Roman"/>
                <a:ea typeface="MS PGothic"/>
                <a:cs typeface="Times New Roman"/>
              </a:rPr>
              <a:t>rejects the received wisdom</a:t>
            </a:r>
            <a:r>
              <a:rPr lang="en-US" altLang="en-US" sz="22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 about what is the best explanation of the observations.</a:t>
            </a:r>
          </a:p>
        </p:txBody>
      </p:sp>
    </p:spTree>
    <p:extLst>
      <p:ext uri="{BB962C8B-B14F-4D97-AF65-F5344CB8AC3E}">
        <p14:creationId xmlns:p14="http://schemas.microsoft.com/office/powerpoint/2010/main" val="3223868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3819"/>
    </mc:Choice>
    <mc:Fallback xmlns="">
      <p:transition spd="slow" advTm="113819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4"/>
          <p:cNvSpPr/>
          <p:nvPr/>
        </p:nvSpPr>
        <p:spPr>
          <a:xfrm>
            <a:off x="0" y="95250"/>
            <a:ext cx="87122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3200" b="1" spc="-113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Conspiracy Theory: CT as a Form of Abduction</a:t>
            </a:r>
          </a:p>
        </p:txBody>
      </p:sp>
      <p:sp>
        <p:nvSpPr>
          <p:cNvPr id="97283" name="Rectangle 4"/>
          <p:cNvSpPr>
            <a:spLocks noChangeArrowheads="1"/>
          </p:cNvSpPr>
          <p:nvPr/>
        </p:nvSpPr>
        <p:spPr bwMode="auto">
          <a:xfrm>
            <a:off x="381000" y="76200"/>
            <a:ext cx="8077200" cy="624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buFontTx/>
              <a:buNone/>
            </a:pPr>
            <a:br>
              <a:rPr lang="en-US" altLang="en-US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40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40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40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16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4000" b="1">
                <a:solidFill>
                  <a:srgbClr val="FFDE2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r>
              <a:rPr lang="en-US" altLang="en-US" sz="5400" b="1">
                <a:solidFill>
                  <a:srgbClr val="FFDE2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br>
              <a:rPr lang="en-US" altLang="en-US" sz="14200" b="1">
                <a:solidFill>
                  <a:srgbClr val="FFDE2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endParaRPr lang="en-US" altLang="en-US" sz="14200" b="1">
              <a:solidFill>
                <a:srgbClr val="FFDE26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algn="ctr" eaLnBrk="1" hangingPunct="1">
              <a:buFontTx/>
              <a:buNone/>
            </a:pPr>
            <a:br>
              <a:rPr lang="en-US" altLang="en-US" sz="4000" b="1">
                <a:solidFill>
                  <a:srgbClr val="99CC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endParaRPr lang="en-US" altLang="en-US" sz="4000" b="1">
              <a:solidFill>
                <a:srgbClr val="66CCFF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Snip and Round Single Corner Rectangle 5"/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spcBef>
                <a:spcPct val="20000"/>
              </a:spcBef>
              <a:buChar char="•"/>
              <a:tabLst>
                <a:tab pos="43894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tabLst>
                <a:tab pos="43894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tabLst>
                <a:tab pos="43894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  <a:defRPr/>
            </a:pPr>
            <a:fld id="{1B1F8F8E-C6A8-412C-B091-B275DC93F50A}" type="slidenum">
              <a:rPr lang="en-US" altLang="en-US" sz="1300" smtClean="0">
                <a:solidFill>
                  <a:srgbClr val="FFFFFF"/>
                </a:solidFill>
                <a:latin typeface="Gill Sans MT" panose="020B0502020104020203" pitchFamily="34" charset="0"/>
                <a:ea typeface="MS PGothic" panose="020B0600070205080204" pitchFamily="34" charset="-128"/>
              </a:rPr>
              <a:pPr algn="r" eaLnBrk="1" hangingPunct="1">
                <a:spcBef>
                  <a:spcPct val="0"/>
                </a:spcBef>
                <a:buFontTx/>
                <a:buNone/>
                <a:defRPr/>
              </a:pPr>
              <a:t>27</a:t>
            </a:fld>
            <a:endParaRPr lang="en-US" altLang="en-US" sz="1300">
              <a:solidFill>
                <a:srgbClr val="FFFFFF"/>
              </a:solidFill>
              <a:latin typeface="Gill Sans MT" panose="020B0502020104020203" pitchFamily="34" charset="0"/>
              <a:ea typeface="MS PGothic" panose="020B0600070205080204" pitchFamily="34" charset="-128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840BB27-AF22-446C-B223-BF0653E0CC8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27000" y="1245871"/>
            <a:ext cx="8636000" cy="5097779"/>
          </a:xfrm>
        </p:spPr>
        <p:txBody>
          <a:bodyPr/>
          <a:lstStyle/>
          <a:p>
            <a:pPr marL="257175" indent="-257175" algn="l">
              <a:buFont typeface="Wingdings" panose="05000000000000000000" pitchFamily="2" charset="2"/>
              <a:buChar char="§"/>
            </a:pPr>
            <a:r>
              <a:rPr lang="en-US" altLang="en-US" sz="28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The most charitable way of justifying a CT is as the conclusion of an abductive argument.</a:t>
            </a:r>
          </a:p>
          <a:p>
            <a:pPr marL="257175" indent="-257175" algn="l">
              <a:buFont typeface="Wingdings" panose="05000000000000000000" pitchFamily="2" charset="2"/>
              <a:buChar char="§"/>
            </a:pPr>
            <a:endParaRPr lang="en-US" alt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l">
              <a:buFont typeface="Wingdings" panose="05000000000000000000" pitchFamily="2" charset="2"/>
              <a:buChar char="§"/>
            </a:pPr>
            <a:r>
              <a:rPr lang="en-US" altLang="en-US" sz="28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A conspiracy theory fits the standard template of abduction in the following manner:</a:t>
            </a:r>
          </a:p>
          <a:p>
            <a:pPr lvl="2" algn="l"/>
            <a:r>
              <a:rPr lang="en-US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/>
                <a:ea typeface="MS PGothic"/>
                <a:cs typeface="Times New Roman"/>
              </a:rPr>
              <a:t>P1: O: _____?_____</a:t>
            </a:r>
          </a:p>
          <a:p>
            <a:pPr lvl="2" algn="l"/>
            <a:r>
              <a:rPr lang="en-US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/>
                <a:ea typeface="MS PGothic"/>
                <a:cs typeface="Times New Roman"/>
              </a:rPr>
              <a:t>P2:  E</a:t>
            </a:r>
            <a:r>
              <a:rPr lang="en-US" altLang="en-US" sz="2800" baseline="-25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/>
                <a:ea typeface="MS PGothic"/>
                <a:cs typeface="Times New Roman"/>
              </a:rPr>
              <a:t>1</a:t>
            </a:r>
            <a:r>
              <a:rPr lang="en-US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/>
                <a:ea typeface="MS PGothic"/>
                <a:cs typeface="Times New Roman"/>
              </a:rPr>
              <a:t> = “Conspiracy Theory” is the best explanation out of all explanations (E</a:t>
            </a:r>
            <a:r>
              <a:rPr lang="en-US" altLang="en-US" sz="2800" baseline="-25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/>
                <a:ea typeface="MS PGothic"/>
                <a:cs typeface="Times New Roman"/>
              </a:rPr>
              <a:t>1</a:t>
            </a:r>
            <a:r>
              <a:rPr lang="en-US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/>
                <a:ea typeface="MS PGothic"/>
                <a:cs typeface="Times New Roman"/>
              </a:rPr>
              <a:t>, E</a:t>
            </a:r>
            <a:r>
              <a:rPr lang="en-US" altLang="en-US" sz="2800" baseline="-25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/>
                <a:ea typeface="MS PGothic"/>
                <a:cs typeface="Times New Roman"/>
              </a:rPr>
              <a:t>2</a:t>
            </a:r>
            <a:r>
              <a:rPr lang="en-US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/>
                <a:ea typeface="MS PGothic"/>
                <a:cs typeface="Times New Roman"/>
              </a:rPr>
              <a:t>,…, E</a:t>
            </a:r>
            <a:r>
              <a:rPr lang="en-US" altLang="en-US" sz="2800" baseline="-25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/>
                <a:ea typeface="MS PGothic"/>
                <a:cs typeface="Times New Roman"/>
              </a:rPr>
              <a:t>n</a:t>
            </a:r>
            <a:r>
              <a:rPr lang="en-US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/>
                <a:ea typeface="MS PGothic"/>
                <a:cs typeface="Times New Roman"/>
              </a:rPr>
              <a:t>)</a:t>
            </a:r>
          </a:p>
          <a:p>
            <a:pPr lvl="2" algn="l"/>
            <a:r>
              <a:rPr lang="en-US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/>
                <a:ea typeface="MS PGothic"/>
                <a:cs typeface="Times New Roman"/>
              </a:rPr>
              <a:t>C: </a:t>
            </a:r>
            <a:r>
              <a:rPr lang="en-US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  <a:latin typeface="Times New Roman"/>
                <a:ea typeface="MS PGothic"/>
                <a:cs typeface="Times New Roman"/>
              </a:rPr>
              <a:t>The Conspiracy Theory is true. </a:t>
            </a:r>
          </a:p>
        </p:txBody>
      </p:sp>
    </p:spTree>
    <p:extLst>
      <p:ext uri="{BB962C8B-B14F-4D97-AF65-F5344CB8AC3E}">
        <p14:creationId xmlns:p14="http://schemas.microsoft.com/office/powerpoint/2010/main" val="2205170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555"/>
    </mc:Choice>
    <mc:Fallback xmlns="">
      <p:transition spd="slow" advTm="30555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4"/>
          <p:cNvSpPr/>
          <p:nvPr/>
        </p:nvSpPr>
        <p:spPr>
          <a:xfrm>
            <a:off x="0" y="95250"/>
            <a:ext cx="87122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3200" b="1" spc="-113" dirty="0" err="1">
                <a:solidFill>
                  <a:prstClr val="white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Theorising</a:t>
            </a:r>
            <a:r>
              <a:rPr lang="en-US" sz="3200" b="1" spc="-113" dirty="0">
                <a:solidFill>
                  <a:prstClr val="white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a Conspiracy: Good or Bad Abduction?</a:t>
            </a:r>
          </a:p>
        </p:txBody>
      </p:sp>
      <p:sp>
        <p:nvSpPr>
          <p:cNvPr id="97283" name="Rectangle 4"/>
          <p:cNvSpPr>
            <a:spLocks noChangeArrowheads="1"/>
          </p:cNvSpPr>
          <p:nvPr/>
        </p:nvSpPr>
        <p:spPr bwMode="auto">
          <a:xfrm>
            <a:off x="381000" y="76200"/>
            <a:ext cx="8077200" cy="624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buFontTx/>
              <a:buNone/>
            </a:pPr>
            <a:br>
              <a:rPr lang="en-US" altLang="en-US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40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40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40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16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4000" b="1">
                <a:solidFill>
                  <a:srgbClr val="FFDE2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r>
              <a:rPr lang="en-US" altLang="en-US" sz="5400" b="1">
                <a:solidFill>
                  <a:srgbClr val="FFDE2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br>
              <a:rPr lang="en-US" altLang="en-US" sz="14200" b="1">
                <a:solidFill>
                  <a:srgbClr val="FFDE2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endParaRPr lang="en-US" altLang="en-US" sz="14200" b="1">
              <a:solidFill>
                <a:srgbClr val="FFDE26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algn="ctr" eaLnBrk="1" hangingPunct="1">
              <a:buFontTx/>
              <a:buNone/>
            </a:pPr>
            <a:br>
              <a:rPr lang="en-US" altLang="en-US" sz="4000" b="1">
                <a:solidFill>
                  <a:srgbClr val="99CC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endParaRPr lang="en-US" altLang="en-US" sz="4000" b="1">
              <a:solidFill>
                <a:srgbClr val="66CCFF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Snip and Round Single Corner Rectangle 5"/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spcBef>
                <a:spcPct val="20000"/>
              </a:spcBef>
              <a:buChar char="•"/>
              <a:tabLst>
                <a:tab pos="43894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tabLst>
                <a:tab pos="43894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tabLst>
                <a:tab pos="43894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  <a:defRPr/>
            </a:pPr>
            <a:fld id="{1B1F8F8E-C6A8-412C-B091-B275DC93F50A}" type="slidenum">
              <a:rPr lang="en-US" altLang="en-US" sz="1300" smtClean="0">
                <a:solidFill>
                  <a:srgbClr val="FFFFFF"/>
                </a:solidFill>
                <a:latin typeface="Gill Sans MT" panose="020B0502020104020203" pitchFamily="34" charset="0"/>
                <a:ea typeface="MS PGothic" panose="020B0600070205080204" pitchFamily="34" charset="-128"/>
              </a:rPr>
              <a:pPr algn="r" eaLnBrk="1" hangingPunct="1">
                <a:spcBef>
                  <a:spcPct val="0"/>
                </a:spcBef>
                <a:buFontTx/>
                <a:buNone/>
                <a:defRPr/>
              </a:pPr>
              <a:t>28</a:t>
            </a:fld>
            <a:endParaRPr lang="en-US" altLang="en-US" sz="1300">
              <a:solidFill>
                <a:srgbClr val="FFFFFF"/>
              </a:solidFill>
              <a:latin typeface="Gill Sans MT" panose="020B0502020104020203" pitchFamily="34" charset="0"/>
              <a:ea typeface="MS PGothic" panose="020B0600070205080204" pitchFamily="34" charset="-128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840BB27-AF22-446C-B223-BF0653E0CC8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76200" y="1091248"/>
            <a:ext cx="8863013" cy="5097779"/>
          </a:xfrm>
        </p:spPr>
        <p:txBody>
          <a:bodyPr/>
          <a:lstStyle/>
          <a:p>
            <a:pPr marL="257175" indent="-257175" algn="l"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Times New Roman"/>
                <a:ea typeface="Tahoma"/>
                <a:cs typeface="Times New Roman"/>
              </a:rPr>
              <a:t>Again, in evaluating CTs you look at whether the abductive argument is cogent. Again, that largely depends on whether the CT is the </a:t>
            </a:r>
            <a:r>
              <a:rPr lang="en-US" altLang="en-US" sz="2000" dirty="0">
                <a:solidFill>
                  <a:schemeClr val="tx1"/>
                </a:solidFill>
                <a:highlight>
                  <a:srgbClr val="FFFF00"/>
                </a:highlight>
                <a:latin typeface="Times New Roman"/>
                <a:ea typeface="Tahoma"/>
                <a:cs typeface="Times New Roman"/>
              </a:rPr>
              <a:t>best explanation.</a:t>
            </a:r>
          </a:p>
          <a:p>
            <a:pPr marL="257175" indent="-257175" algn="l">
              <a:buFont typeface="Wingdings" panose="05000000000000000000" pitchFamily="2" charset="2"/>
              <a:buChar char="§"/>
            </a:pP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257175" indent="-257175" algn="l"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Times New Roman"/>
                <a:ea typeface="Tahoma"/>
                <a:cs typeface="Times New Roman"/>
              </a:rPr>
              <a:t>To determine whether it is, you should ask the following questions:</a:t>
            </a:r>
          </a:p>
          <a:p>
            <a:pPr marL="971550" lvl="2" indent="-257175" algn="l"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rgbClr val="FF0000"/>
                </a:solidFill>
                <a:latin typeface="Times New Roman"/>
                <a:ea typeface="Tahoma"/>
                <a:cs typeface="Times New Roman"/>
              </a:rPr>
              <a:t>Does the conspiracy theorist ignore  </a:t>
            </a:r>
            <a:r>
              <a:rPr lang="en-US" altLang="en-US" sz="2000" i="1" dirty="0">
                <a:solidFill>
                  <a:srgbClr val="FF0000"/>
                </a:solidFill>
                <a:latin typeface="Times New Roman"/>
                <a:ea typeface="Tahoma"/>
                <a:cs typeface="Times New Roman"/>
              </a:rPr>
              <a:t>simpler</a:t>
            </a:r>
            <a:r>
              <a:rPr lang="en-US" altLang="en-US" sz="2000" dirty="0">
                <a:solidFill>
                  <a:srgbClr val="FF0000"/>
                </a:solidFill>
                <a:latin typeface="Times New Roman"/>
                <a:ea typeface="Tahoma"/>
                <a:cs typeface="Times New Roman"/>
              </a:rPr>
              <a:t> and equally good explanations?</a:t>
            </a:r>
          </a:p>
          <a:p>
            <a:pPr marL="714375" lvl="2" algn="l"/>
            <a:r>
              <a:rPr lang="en-US" altLang="en-US" sz="2000" dirty="0">
                <a:solidFill>
                  <a:schemeClr val="tx1"/>
                </a:solidFill>
                <a:latin typeface="Times New Roman"/>
                <a:ea typeface="Tahoma"/>
                <a:cs typeface="Times New Roman"/>
              </a:rPr>
              <a:t>(simpler to consider the virus spreading from bats to humans than being an accidentally released bio weapon)</a:t>
            </a:r>
          </a:p>
          <a:p>
            <a:pPr marL="971550" lvl="2" indent="-257175" algn="l"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rgbClr val="FF0000"/>
                </a:solidFill>
                <a:latin typeface="Times New Roman"/>
                <a:ea typeface="Tahoma"/>
                <a:cs typeface="Times New Roman"/>
              </a:rPr>
              <a:t>Does the conspiracy theorist either </a:t>
            </a:r>
            <a:r>
              <a:rPr lang="en-US" altLang="en-US" sz="2000" i="1" dirty="0">
                <a:solidFill>
                  <a:srgbClr val="FF0000"/>
                </a:solidFill>
                <a:latin typeface="Times New Roman"/>
                <a:ea typeface="Tahoma"/>
                <a:cs typeface="Times New Roman"/>
              </a:rPr>
              <a:t>ignore or use disconfirming evidence as confirmation</a:t>
            </a:r>
            <a:r>
              <a:rPr lang="en-US" altLang="en-US" sz="2000" dirty="0">
                <a:solidFill>
                  <a:srgbClr val="FF0000"/>
                </a:solidFill>
                <a:latin typeface="Times New Roman"/>
                <a:ea typeface="Tahoma"/>
                <a:cs typeface="Times New Roman"/>
              </a:rPr>
              <a:t> of the fact that there is a conspiracy?</a:t>
            </a:r>
          </a:p>
          <a:p>
            <a:pPr marL="714375" lvl="2" algn="l"/>
            <a:r>
              <a:rPr lang="en-US" altLang="en-US" sz="2000" dirty="0">
                <a:solidFill>
                  <a:schemeClr val="tx1"/>
                </a:solidFill>
                <a:latin typeface="Times New Roman"/>
                <a:ea typeface="Tahoma"/>
                <a:cs typeface="Times New Roman"/>
              </a:rPr>
              <a:t>(evidence that China wasn’t developing a Covid bio weapon doesn’t mean China is good at hiding what it does) </a:t>
            </a:r>
          </a:p>
          <a:p>
            <a:pPr marL="1057275" lvl="2" indent="-342900" algn="l"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rgbClr val="FF0000"/>
                </a:solidFill>
                <a:latin typeface="Times New Roman"/>
                <a:ea typeface="Tahoma"/>
                <a:cs typeface="Times New Roman"/>
              </a:rPr>
              <a:t>Does the conspiracy theorist </a:t>
            </a:r>
            <a:r>
              <a:rPr lang="en-US" altLang="en-US" sz="2000" i="1" dirty="0">
                <a:solidFill>
                  <a:srgbClr val="FF0000"/>
                </a:solidFill>
                <a:latin typeface="Times New Roman"/>
                <a:ea typeface="Tahoma"/>
                <a:cs typeface="Times New Roman"/>
              </a:rPr>
              <a:t>appeal to ignorance</a:t>
            </a:r>
            <a:r>
              <a:rPr lang="en-US" altLang="en-US" sz="2000" dirty="0">
                <a:solidFill>
                  <a:srgbClr val="FF0000"/>
                </a:solidFill>
                <a:latin typeface="Times New Roman"/>
                <a:ea typeface="Tahoma"/>
                <a:cs typeface="Times New Roman"/>
              </a:rPr>
              <a:t> and shift the burden of proof? </a:t>
            </a:r>
          </a:p>
          <a:p>
            <a:pPr marL="714375" lvl="2" algn="l"/>
            <a:r>
              <a:rPr lang="en-US" altLang="en-US" sz="2000" dirty="0">
                <a:solidFill>
                  <a:schemeClr val="tx1"/>
                </a:solidFill>
                <a:latin typeface="Times New Roman"/>
                <a:ea typeface="Tahoma"/>
                <a:cs typeface="Times New Roman"/>
              </a:rPr>
              <a:t>(no evidence that China </a:t>
            </a:r>
            <a:r>
              <a:rPr lang="en-US" altLang="en-US" sz="2000" i="1" dirty="0">
                <a:solidFill>
                  <a:schemeClr val="tx1"/>
                </a:solidFill>
                <a:latin typeface="Times New Roman"/>
                <a:ea typeface="Tahoma"/>
                <a:cs typeface="Times New Roman"/>
              </a:rPr>
              <a:t>wasn’t</a:t>
            </a:r>
            <a:r>
              <a:rPr lang="en-US" altLang="en-US" sz="2000" dirty="0">
                <a:solidFill>
                  <a:schemeClr val="tx1"/>
                </a:solidFill>
                <a:latin typeface="Times New Roman"/>
                <a:ea typeface="Tahoma"/>
                <a:cs typeface="Times New Roman"/>
              </a:rPr>
              <a:t> developing a bio weapon means it was)</a:t>
            </a:r>
          </a:p>
        </p:txBody>
      </p:sp>
    </p:spTree>
    <p:extLst>
      <p:ext uri="{BB962C8B-B14F-4D97-AF65-F5344CB8AC3E}">
        <p14:creationId xmlns:p14="http://schemas.microsoft.com/office/powerpoint/2010/main" val="2713838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4215"/>
    </mc:Choice>
    <mc:Fallback xmlns="">
      <p:transition spd="slow" advTm="394215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3" name="Rectangle 4"/>
          <p:cNvSpPr>
            <a:spLocks noChangeArrowheads="1"/>
          </p:cNvSpPr>
          <p:nvPr/>
        </p:nvSpPr>
        <p:spPr bwMode="auto">
          <a:xfrm>
            <a:off x="1428750" y="914400"/>
            <a:ext cx="6057900" cy="468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buFontTx/>
              <a:buNone/>
            </a:pPr>
            <a:br>
              <a:rPr lang="en-US" altLang="en-US" sz="24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30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30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30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1200" b="1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en-US" sz="3000" b="1">
                <a:solidFill>
                  <a:srgbClr val="FFDE2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r>
              <a:rPr lang="en-US" altLang="en-US" sz="4050" b="1">
                <a:solidFill>
                  <a:srgbClr val="FFDE2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br>
              <a:rPr lang="en-US" altLang="en-US" sz="10650" b="1">
                <a:solidFill>
                  <a:srgbClr val="FFDE2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endParaRPr lang="en-US" altLang="en-US" sz="10650" b="1">
              <a:solidFill>
                <a:srgbClr val="FFDE26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algn="ctr" eaLnBrk="1" hangingPunct="1">
              <a:buFontTx/>
              <a:buNone/>
            </a:pPr>
            <a:br>
              <a:rPr lang="en-US" altLang="en-US" sz="3000" b="1">
                <a:solidFill>
                  <a:srgbClr val="99CC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endParaRPr lang="en-US" altLang="en-US" sz="3000" b="1">
              <a:solidFill>
                <a:srgbClr val="66CCFF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Online Media 1" title="Why we are all attracted to conspiracy theories">
            <a:hlinkClick r:id="" action="ppaction://media"/>
            <a:extLst>
              <a:ext uri="{FF2B5EF4-FFF2-40B4-BE49-F238E27FC236}">
                <a16:creationId xmlns:a16="http://schemas.microsoft.com/office/drawing/2014/main" id="{A72F74D0-C6DA-4595-A518-D7D70C2E3F6B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52400" y="1066921"/>
            <a:ext cx="8559800" cy="5352929"/>
          </a:xfrm>
          <a:prstGeom prst="rect">
            <a:avLst/>
          </a:prstGeom>
        </p:spPr>
      </p:pic>
      <p:sp>
        <p:nvSpPr>
          <p:cNvPr id="7" name="Snip and Round Single Corner Rectangle 4">
            <a:extLst>
              <a:ext uri="{FF2B5EF4-FFF2-40B4-BE49-F238E27FC236}">
                <a16:creationId xmlns:a16="http://schemas.microsoft.com/office/drawing/2014/main" id="{16D39289-D825-4272-ABC2-AE40CFBEC38D}"/>
              </a:ext>
            </a:extLst>
          </p:cNvPr>
          <p:cNvSpPr/>
          <p:nvPr/>
        </p:nvSpPr>
        <p:spPr>
          <a:xfrm>
            <a:off x="0" y="95250"/>
            <a:ext cx="87122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3200" b="1" spc="-15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So, Why Do We Believe CTs?</a:t>
            </a:r>
          </a:p>
        </p:txBody>
      </p:sp>
      <p:sp>
        <p:nvSpPr>
          <p:cNvPr id="8" name="Snip and Round Single Corner Rectangle 5">
            <a:extLst>
              <a:ext uri="{FF2B5EF4-FFF2-40B4-BE49-F238E27FC236}">
                <a16:creationId xmlns:a16="http://schemas.microsoft.com/office/drawing/2014/main" id="{41FE359F-C849-4CBE-8391-A4B38ED0A6C1}"/>
              </a:ext>
            </a:extLst>
          </p:cNvPr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spcBef>
                <a:spcPct val="20000"/>
              </a:spcBef>
              <a:buChar char="•"/>
              <a:tabLst>
                <a:tab pos="43894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tabLst>
                <a:tab pos="43894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tabLst>
                <a:tab pos="43894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  <a:defRPr/>
            </a:pPr>
            <a:fld id="{1B1F8F8E-C6A8-412C-B091-B275DC93F50A}" type="slidenum">
              <a:rPr lang="en-US" altLang="en-US" sz="1300" smtClean="0">
                <a:solidFill>
                  <a:srgbClr val="FFFFFF"/>
                </a:solidFill>
                <a:latin typeface="Gill Sans MT" panose="020B0502020104020203" pitchFamily="34" charset="0"/>
                <a:ea typeface="MS PGothic" panose="020B0600070205080204" pitchFamily="34" charset="-128"/>
              </a:rPr>
              <a:pPr algn="r" eaLnBrk="1" hangingPunct="1">
                <a:spcBef>
                  <a:spcPct val="0"/>
                </a:spcBef>
                <a:buFontTx/>
                <a:buNone/>
                <a:defRPr/>
              </a:pPr>
              <a:t>29</a:t>
            </a:fld>
            <a:endParaRPr lang="en-US" altLang="en-US" sz="1300">
              <a:solidFill>
                <a:srgbClr val="FFFFFF"/>
              </a:solidFill>
              <a:latin typeface="Gill Sans MT" panose="020B0502020104020203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38235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>
            <a:extLst>
              <a:ext uri="{FF2B5EF4-FFF2-40B4-BE49-F238E27FC236}">
                <a16:creationId xmlns:a16="http://schemas.microsoft.com/office/drawing/2014/main" id="{5254B6C9-3ABD-481F-948C-65078837653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52400" y="955675"/>
            <a:ext cx="5543550" cy="5445126"/>
          </a:xfrm>
        </p:spPr>
        <p:txBody>
          <a:bodyPr>
            <a:noAutofit/>
          </a:bodyPr>
          <a:lstStyle/>
          <a:p>
            <a:pPr algn="l" eaLnBrk="1" hangingPunct="1">
              <a:defRPr/>
            </a:pPr>
            <a:r>
              <a:rPr lang="en-US" altLang="en-US" sz="2200" b="1" dirty="0">
                <a:solidFill>
                  <a:schemeClr val="tx1"/>
                </a:solidFill>
                <a:latin typeface="Times New Roman"/>
                <a:ea typeface="Tahoma"/>
                <a:cs typeface="Times New Roman"/>
              </a:rPr>
              <a:t>Consider the following arguments, </a:t>
            </a:r>
            <a:r>
              <a:rPr lang="en-US" altLang="en-US" sz="2200" b="1" dirty="0">
                <a:solidFill>
                  <a:schemeClr val="tx1"/>
                </a:solidFill>
                <a:highlight>
                  <a:srgbClr val="FFFF00"/>
                </a:highlight>
                <a:latin typeface="Times New Roman"/>
                <a:ea typeface="Tahoma"/>
                <a:cs typeface="Times New Roman"/>
              </a:rPr>
              <a:t>what</a:t>
            </a:r>
            <a:r>
              <a:rPr lang="en-US" altLang="en-US" sz="2200" b="1" dirty="0">
                <a:solidFill>
                  <a:schemeClr val="tx1"/>
                </a:solidFill>
                <a:latin typeface="Times New Roman"/>
                <a:ea typeface="Tahoma"/>
                <a:cs typeface="Times New Roman"/>
              </a:rPr>
              <a:t> is the conspiracy theory? Is it good or bad abduction?</a:t>
            </a:r>
          </a:p>
          <a:p>
            <a:pPr algn="l" eaLnBrk="1" hangingPunct="1">
              <a:defRPr/>
            </a:pPr>
            <a:endParaRPr lang="en-US" altLang="en-US" sz="1800" b="1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algn="l" eaLnBrk="1" hangingPunct="1">
              <a:defRPr/>
            </a:pPr>
            <a:r>
              <a:rPr lang="en-US" altLang="en-US" sz="1800" b="1" u="sng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Example 1</a:t>
            </a:r>
          </a:p>
          <a:p>
            <a:pPr algn="l" eaLnBrk="1" hangingPunct="1">
              <a:defRPr/>
            </a:pPr>
            <a:r>
              <a:rPr lang="en-US" sz="18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It never rains on National Day. This is not a coincidence. The Singapore Government believes that a successful ND helps to reinforce their popularity so they secretly get the air force to conduct cloud-seeding.  A few days before ND jets spray chemicals into the clouds that induce rain. This drains the clouds making rain on ND unlikely.</a:t>
            </a:r>
            <a:r>
              <a:rPr lang="en-AU" sz="1800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 </a:t>
            </a:r>
          </a:p>
          <a:p>
            <a:pPr algn="l" eaLnBrk="1" hangingPunct="1">
              <a:defRPr/>
            </a:pPr>
            <a:r>
              <a:rPr lang="en-US" altLang="en-US" sz="1800" b="1" u="sng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Example 2</a:t>
            </a:r>
          </a:p>
          <a:p>
            <a:pPr algn="l" eaLnBrk="1" hangingPunct="1">
              <a:defRPr/>
            </a:pPr>
            <a:r>
              <a:rPr lang="en-SG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the aftermath of the 9/11 attack on the World Trade Centre, Bush said he saw tv footage of the first plane hit; but none was screened! He must have watched secret footage. So, he knew that a plane was going to hit the WTC.</a:t>
            </a:r>
          </a:p>
          <a:p>
            <a:pPr algn="l" eaLnBrk="1" hangingPunct="1">
              <a:defRPr/>
            </a:pPr>
            <a:endParaRPr lang="en-SG" altLang="en-US" sz="1800" b="1" u="sng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algn="l" eaLnBrk="1" hangingPunct="1">
              <a:defRPr/>
            </a:pPr>
            <a:r>
              <a:rPr lang="en-GB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What’s your favourite?</a:t>
            </a:r>
            <a:endParaRPr lang="en-SG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hangingPunct="1">
              <a:defRPr/>
            </a:pPr>
            <a:endParaRPr lang="en-SG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l" eaLnBrk="1" hangingPunct="1">
              <a:buFont typeface="Arial" panose="020B0604020202020204" pitchFamily="34" charset="0"/>
              <a:buChar char="•"/>
              <a:defRPr/>
            </a:pPr>
            <a:endParaRPr lang="en-US" altLang="en-US" sz="1800" b="1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2" descr="Related image">
            <a:extLst>
              <a:ext uri="{FF2B5EF4-FFF2-40B4-BE49-F238E27FC236}">
                <a16:creationId xmlns:a16="http://schemas.microsoft.com/office/drawing/2014/main" id="{6454FD9E-06F6-46A2-8478-3F15DC66A0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4863" y="1235008"/>
            <a:ext cx="2864476" cy="4962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nip and Round Single Corner Rectangle 4">
            <a:extLst>
              <a:ext uri="{FF2B5EF4-FFF2-40B4-BE49-F238E27FC236}">
                <a16:creationId xmlns:a16="http://schemas.microsoft.com/office/drawing/2014/main" id="{8FC31B11-04B3-477F-91C8-C31847D8F63A}"/>
              </a:ext>
            </a:extLst>
          </p:cNvPr>
          <p:cNvSpPr/>
          <p:nvPr/>
        </p:nvSpPr>
        <p:spPr>
          <a:xfrm>
            <a:off x="0" y="95250"/>
            <a:ext cx="87122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3200" b="1" spc="-15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Conspiracy Theory: Exercises</a:t>
            </a:r>
          </a:p>
        </p:txBody>
      </p:sp>
      <p:sp>
        <p:nvSpPr>
          <p:cNvPr id="10" name="Snip and Round Single Corner Rectangle 5">
            <a:extLst>
              <a:ext uri="{FF2B5EF4-FFF2-40B4-BE49-F238E27FC236}">
                <a16:creationId xmlns:a16="http://schemas.microsoft.com/office/drawing/2014/main" id="{C24A4B01-F36D-442E-BE15-70FD648169CE}"/>
              </a:ext>
            </a:extLst>
          </p:cNvPr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spcBef>
                <a:spcPct val="20000"/>
              </a:spcBef>
              <a:buChar char="•"/>
              <a:tabLst>
                <a:tab pos="43894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tabLst>
                <a:tab pos="43894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tabLst>
                <a:tab pos="43894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  <a:defRPr/>
            </a:pPr>
            <a:fld id="{1B1F8F8E-C6A8-412C-B091-B275DC93F50A}" type="slidenum">
              <a:rPr lang="en-US" altLang="en-US" sz="1300" smtClean="0">
                <a:solidFill>
                  <a:srgbClr val="FFFFFF"/>
                </a:solidFill>
                <a:latin typeface="Gill Sans MT" panose="020B0502020104020203" pitchFamily="34" charset="0"/>
                <a:ea typeface="MS PGothic" panose="020B0600070205080204" pitchFamily="34" charset="-128"/>
              </a:rPr>
              <a:pPr algn="r" eaLnBrk="1" hangingPunct="1">
                <a:spcBef>
                  <a:spcPct val="0"/>
                </a:spcBef>
                <a:buFontTx/>
                <a:buNone/>
                <a:defRPr/>
              </a:pPr>
              <a:t>30</a:t>
            </a:fld>
            <a:endParaRPr lang="en-US" altLang="en-US" sz="1300">
              <a:solidFill>
                <a:srgbClr val="FFFFFF"/>
              </a:solidFill>
              <a:latin typeface="Gill Sans MT" panose="020B0502020104020203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Rectangle 2">
            <a:extLst>
              <a:ext uri="{FF2B5EF4-FFF2-40B4-BE49-F238E27FC236}">
                <a16:creationId xmlns:a16="http://schemas.microsoft.com/office/drawing/2014/main" id="{43173F59-25FA-4A60-8382-1E6DEF6C992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4356100" y="1752600"/>
            <a:ext cx="3917157" cy="3600450"/>
          </a:xfrm>
        </p:spPr>
        <p:txBody>
          <a:bodyPr/>
          <a:lstStyle/>
          <a:p>
            <a:pPr algn="l" eaLnBrk="1" hangingPunct="1"/>
            <a:r>
              <a:rPr lang="en-US" altLang="en-US" sz="225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Additional readings </a:t>
            </a:r>
            <a:r>
              <a:rPr lang="en-US" altLang="en-US" sz="225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(on eLearn) </a:t>
            </a:r>
          </a:p>
          <a:p>
            <a:pPr algn="l" eaLnBrk="1" hangingPunct="1"/>
            <a:endParaRPr lang="en-US" altLang="en-US" sz="2250" dirty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hangingPunct="1"/>
            <a:endParaRPr lang="en-US" altLang="en-US" sz="2250" dirty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hangingPunct="1"/>
            <a:r>
              <a:rPr lang="en-US" altLang="en-US" sz="225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Exercises (on eLearn):  </a:t>
            </a:r>
          </a:p>
          <a:p>
            <a:pPr marL="342900" indent="-342900" algn="l" eaLnBrk="1" hangingPunct="1">
              <a:buFont typeface="Arial" panose="020B0604020202020204" pitchFamily="34" charset="0"/>
              <a:buChar char="•"/>
            </a:pPr>
            <a:r>
              <a:rPr lang="en-US" altLang="en-US" sz="225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Abduction Exercises</a:t>
            </a:r>
          </a:p>
        </p:txBody>
      </p:sp>
      <p:pic>
        <p:nvPicPr>
          <p:cNvPr id="30725" name="Picture 2">
            <a:extLst>
              <a:ext uri="{FF2B5EF4-FFF2-40B4-BE49-F238E27FC236}">
                <a16:creationId xmlns:a16="http://schemas.microsoft.com/office/drawing/2014/main" id="{61B55999-529F-4143-80A8-83ECA00EFF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21"/>
          <a:stretch>
            <a:fillRect/>
          </a:stretch>
        </p:blipFill>
        <p:spPr bwMode="auto">
          <a:xfrm>
            <a:off x="685800" y="1628774"/>
            <a:ext cx="3158974" cy="36004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nip and Round Single Corner Rectangle 4">
            <a:extLst>
              <a:ext uri="{FF2B5EF4-FFF2-40B4-BE49-F238E27FC236}">
                <a16:creationId xmlns:a16="http://schemas.microsoft.com/office/drawing/2014/main" id="{64D5A656-4693-4496-84CD-353D05276868}"/>
              </a:ext>
            </a:extLst>
          </p:cNvPr>
          <p:cNvSpPr/>
          <p:nvPr/>
        </p:nvSpPr>
        <p:spPr>
          <a:xfrm>
            <a:off x="0" y="95250"/>
            <a:ext cx="87122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3200" b="1" spc="-15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Reading</a:t>
            </a:r>
          </a:p>
        </p:txBody>
      </p:sp>
      <p:sp>
        <p:nvSpPr>
          <p:cNvPr id="9" name="Snip and Round Single Corner Rectangle 5">
            <a:extLst>
              <a:ext uri="{FF2B5EF4-FFF2-40B4-BE49-F238E27FC236}">
                <a16:creationId xmlns:a16="http://schemas.microsoft.com/office/drawing/2014/main" id="{F0F55B69-3A71-4823-BC55-918E6D7980DF}"/>
              </a:ext>
            </a:extLst>
          </p:cNvPr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spcBef>
                <a:spcPct val="20000"/>
              </a:spcBef>
              <a:buChar char="•"/>
              <a:tabLst>
                <a:tab pos="43894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tabLst>
                <a:tab pos="43894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tabLst>
                <a:tab pos="43894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  <a:defRPr/>
            </a:pPr>
            <a:fld id="{1B1F8F8E-C6A8-412C-B091-B275DC93F50A}" type="slidenum">
              <a:rPr lang="en-US" altLang="en-US" sz="1300" smtClean="0">
                <a:solidFill>
                  <a:srgbClr val="FFFFFF"/>
                </a:solidFill>
                <a:latin typeface="Gill Sans MT" panose="020B0502020104020203" pitchFamily="34" charset="0"/>
                <a:ea typeface="MS PGothic" panose="020B0600070205080204" pitchFamily="34" charset="-128"/>
              </a:rPr>
              <a:pPr algn="r" eaLnBrk="1" hangingPunct="1">
                <a:spcBef>
                  <a:spcPct val="0"/>
                </a:spcBef>
                <a:buFontTx/>
                <a:buNone/>
                <a:defRPr/>
              </a:pPr>
              <a:t>31</a:t>
            </a:fld>
            <a:endParaRPr lang="en-US" altLang="en-US" sz="1300">
              <a:solidFill>
                <a:srgbClr val="FFFFFF"/>
              </a:solidFill>
              <a:latin typeface="Gill Sans MT" panose="020B0502020104020203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Sky">
      <a:dk1>
        <a:sysClr val="windowText" lastClr="000000"/>
      </a:dk1>
      <a:lt1>
        <a:sysClr val="window" lastClr="FFFFFF"/>
      </a:lt1>
      <a:dk2>
        <a:srgbClr val="1782BF"/>
      </a:dk2>
      <a:lt2>
        <a:srgbClr val="62BCE9"/>
      </a:lt2>
      <a:accent1>
        <a:srgbClr val="073779"/>
      </a:accent1>
      <a:accent2>
        <a:srgbClr val="8FD9FB"/>
      </a:accent2>
      <a:accent3>
        <a:srgbClr val="FFCC00"/>
      </a:accent3>
      <a:accent4>
        <a:srgbClr val="EB6615"/>
      </a:accent4>
      <a:accent5>
        <a:srgbClr val="C76402"/>
      </a:accent5>
      <a:accent6>
        <a:srgbClr val="B523B4"/>
      </a:accent6>
      <a:hlink>
        <a:srgbClr val="FFDE26"/>
      </a:hlink>
      <a:folHlink>
        <a:srgbClr val="DEBE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6951d41b-6b8e-4636-984f-012bff14ba18}" enabled="1" method="Standard" siteId="{c98a79ca-5a9a-4791-a243-f06afd67464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29521</TotalTime>
  <Words>2549</Words>
  <Application>Microsoft Office PowerPoint</Application>
  <PresentationFormat>On-screen Show (4:3)</PresentationFormat>
  <Paragraphs>338</Paragraphs>
  <Slides>31</Slides>
  <Notes>3</Notes>
  <HiddenSlides>0</HiddenSlides>
  <MMClips>4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44" baseType="lpstr">
      <vt:lpstr>Arial</vt:lpstr>
      <vt:lpstr>Arial Black</vt:lpstr>
      <vt:lpstr>Arial Narrow</vt:lpstr>
      <vt:lpstr>Calibri</vt:lpstr>
      <vt:lpstr>Calibri Light</vt:lpstr>
      <vt:lpstr>Gill Sans</vt:lpstr>
      <vt:lpstr>Gill Sans Light</vt:lpstr>
      <vt:lpstr>Gill Sans MT</vt:lpstr>
      <vt:lpstr>GuardianTextEgyptian</vt:lpstr>
      <vt:lpstr>Times New Roman</vt:lpstr>
      <vt:lpstr>Wingdings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Akash</dc:creator>
  <cp:lastModifiedBy>Calvin YAP Jun</cp:lastModifiedBy>
  <cp:revision>962</cp:revision>
  <cp:lastPrinted>2017-02-07T09:22:39Z</cp:lastPrinted>
  <dcterms:created xsi:type="dcterms:W3CDTF">2011-01-03T13:28:58Z</dcterms:created>
  <dcterms:modified xsi:type="dcterms:W3CDTF">2026-09-27T19:21:07Z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951d41b-6b8e-4636-984f-012bff14ba18_Enabled">
    <vt:lpwstr>true</vt:lpwstr>
  </property>
  <property fmtid="{D5CDD505-2E9C-101B-9397-08002B2CF9AE}" pid="3" name="MSIP_Label_6951d41b-6b8e-4636-984f-012bff14ba18_SetDate">
    <vt:lpwstr>2024-02-10T10:11:12Z</vt:lpwstr>
  </property>
  <property fmtid="{D5CDD505-2E9C-101B-9397-08002B2CF9AE}" pid="4" name="MSIP_Label_6951d41b-6b8e-4636-984f-012bff14ba18_Method">
    <vt:lpwstr>Standard</vt:lpwstr>
  </property>
  <property fmtid="{D5CDD505-2E9C-101B-9397-08002B2CF9AE}" pid="5" name="MSIP_Label_6951d41b-6b8e-4636-984f-012bff14ba18_Name">
    <vt:lpwstr>6951d41b-6b8e-4636-984f-012bff14ba18</vt:lpwstr>
  </property>
  <property fmtid="{D5CDD505-2E9C-101B-9397-08002B2CF9AE}" pid="6" name="MSIP_Label_6951d41b-6b8e-4636-984f-012bff14ba18_SiteId">
    <vt:lpwstr>c98a79ca-5a9a-4791-a243-f06afd67464d</vt:lpwstr>
  </property>
  <property fmtid="{D5CDD505-2E9C-101B-9397-08002B2CF9AE}" pid="7" name="MSIP_Label_6951d41b-6b8e-4636-984f-012bff14ba18_ActionId">
    <vt:lpwstr>074c67cc-f424-4042-ba8b-fc4945625b63</vt:lpwstr>
  </property>
  <property fmtid="{D5CDD505-2E9C-101B-9397-08002B2CF9AE}" pid="8" name="MSIP_Label_6951d41b-6b8e-4636-984f-012bff14ba18_ContentBits">
    <vt:lpwstr>1</vt:lpwstr>
  </property>
  <property fmtid="{D5CDD505-2E9C-101B-9397-08002B2CF9AE}" pid="9" name="ClassificationContentMarkingHeaderLocations">
    <vt:lpwstr>Office Theme:8\1_Office Theme:3</vt:lpwstr>
  </property>
  <property fmtid="{D5CDD505-2E9C-101B-9397-08002B2CF9AE}" pid="10" name="ClassificationContentMarkingHeaderText">
    <vt:lpwstr>SMU Classification: Restricted</vt:lpwstr>
  </property>
</Properties>
</file>