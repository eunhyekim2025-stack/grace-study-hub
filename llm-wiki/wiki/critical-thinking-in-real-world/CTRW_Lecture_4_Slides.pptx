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handoutMasterIdLst>
    <p:handoutMasterId r:id="rId47"/>
  </p:handoutMasterIdLst>
  <p:sldIdLst>
    <p:sldId id="688" r:id="rId2"/>
    <p:sldId id="765" r:id="rId3"/>
    <p:sldId id="799" r:id="rId4"/>
    <p:sldId id="745" r:id="rId5"/>
    <p:sldId id="766" r:id="rId6"/>
    <p:sldId id="781" r:id="rId7"/>
    <p:sldId id="782" r:id="rId8"/>
    <p:sldId id="783" r:id="rId9"/>
    <p:sldId id="784" r:id="rId10"/>
    <p:sldId id="787" r:id="rId11"/>
    <p:sldId id="1162" r:id="rId12"/>
    <p:sldId id="758" r:id="rId13"/>
    <p:sldId id="757" r:id="rId14"/>
    <p:sldId id="780" r:id="rId15"/>
    <p:sldId id="769" r:id="rId16"/>
    <p:sldId id="770" r:id="rId17"/>
    <p:sldId id="771" r:id="rId18"/>
    <p:sldId id="772" r:id="rId19"/>
    <p:sldId id="773" r:id="rId20"/>
    <p:sldId id="775" r:id="rId21"/>
    <p:sldId id="1172" r:id="rId22"/>
    <p:sldId id="791" r:id="rId23"/>
    <p:sldId id="1165" r:id="rId24"/>
    <p:sldId id="792" r:id="rId25"/>
    <p:sldId id="1177" r:id="rId26"/>
    <p:sldId id="1178" r:id="rId27"/>
    <p:sldId id="803" r:id="rId28"/>
    <p:sldId id="1179" r:id="rId29"/>
    <p:sldId id="751" r:id="rId30"/>
    <p:sldId id="752" r:id="rId31"/>
    <p:sldId id="753" r:id="rId32"/>
    <p:sldId id="754" r:id="rId33"/>
    <p:sldId id="1163" r:id="rId34"/>
    <p:sldId id="1164" r:id="rId35"/>
    <p:sldId id="755" r:id="rId36"/>
    <p:sldId id="793" r:id="rId37"/>
    <p:sldId id="661" r:id="rId38"/>
    <p:sldId id="1168" r:id="rId39"/>
    <p:sldId id="797" r:id="rId40"/>
    <p:sldId id="1171" r:id="rId41"/>
    <p:sldId id="796" r:id="rId42"/>
    <p:sldId id="677" r:id="rId43"/>
    <p:sldId id="800" r:id="rId44"/>
    <p:sldId id="1170" r:id="rId45"/>
  </p:sldIdLst>
  <p:sldSz cx="9144000" cy="6858000" type="screen4x3"/>
  <p:notesSz cx="6797675" cy="9874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hlink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9933FF"/>
    <a:srgbClr val="DDDDDD"/>
    <a:srgbClr val="FF9900"/>
    <a:srgbClr val="0099CC"/>
    <a:srgbClr val="66CCFF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D88FEF-7425-7523-50F0-D99F55F7C89C}" v="93" dt="2024-09-06T13:50:35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00" autoAdjust="0"/>
    <p:restoredTop sz="93780" autoAdjust="0"/>
  </p:normalViewPr>
  <p:slideViewPr>
    <p:cSldViewPr>
      <p:cViewPr varScale="1">
        <p:scale>
          <a:sx n="63" d="100"/>
          <a:sy n="63" d="100"/>
        </p:scale>
        <p:origin x="1208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2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57DCB37-64E9-4CC1-88F2-8268D8EC01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40E7E-8633-4126-9D5C-FD4D717602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13F8B2-9EBE-4108-AE24-AD52AC2F6BE1}" type="datetimeFigureOut">
              <a:rPr lang="en-US" altLang="en-US"/>
              <a:pPr>
                <a:defRPr/>
              </a:pPr>
              <a:t>2/3/2026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DF1C57-55F5-49FB-B12F-76751F9EC2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CC9C0-2E93-4B45-BC9D-B311D8E7A4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993580F-5616-4839-845C-8586A1E7B4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3312D8-3B86-4CF9-A1C0-7FAA7D77B5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7C9220-4DEF-4E83-975E-F650FE9CB1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727603E-B12B-4D67-B29C-8B201C52BA7C}" type="datetimeFigureOut">
              <a:rPr lang="en-US" altLang="en-US"/>
              <a:pPr>
                <a:defRPr/>
              </a:pPr>
              <a:t>2/3/2026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50AF24D-77DA-49A5-AD29-21605D2F5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AD6F725-A0BC-4E41-9566-84CFD320B7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A4A26-368D-4BC3-8A6D-2688313EB7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EDD09-4F8A-4C71-8E28-FD3114924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1623488-F580-4DED-B2EB-A0BD46F669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F09E164B-7786-4C36-9A49-ED9A497F33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6ACBC71A-D326-4753-AF2C-267CDB3E09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12C06EDC-8FDC-4287-92A9-BC2F58D21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6835DD43-D607-465F-B443-B132F7E694D3}" type="slidenum">
              <a:rPr lang="en-GB" altLang="en-US" sz="1200" smtClean="0">
                <a:ea typeface="MS PGothic" panose="020B0600070205080204" pitchFamily="34" charset="-128"/>
              </a:rPr>
              <a:pPr/>
              <a:t>2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BDDD9A81-6CFD-4439-A270-77895539FCA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7AF07531-3449-4102-9A22-A174FE6A46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B2C09C01-4F1A-4F03-ADBF-B71CD667E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68B0F8B-CB30-46CF-8E1F-CB9DCEB0C760}" type="slidenum">
              <a:rPr lang="en-GB" altLang="en-US">
                <a:solidFill>
                  <a:schemeClr val="hlink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19ED8E95-2C56-4ED2-A95C-9A48A36637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FC448A86-C10B-41A4-8D71-29F2AB9507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5DA43285-B3AB-4637-91AF-9B6F3D720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895A68EF-3370-4702-B678-9EBFA6BDF65B}" type="slidenum">
              <a:rPr lang="en-GB" altLang="en-US" sz="1200" smtClean="0">
                <a:ea typeface="MS PGothic" panose="020B0600070205080204" pitchFamily="34" charset="-128"/>
              </a:rPr>
              <a:pPr/>
              <a:t>4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FD54F345-5A57-4B0E-94F2-B5B5BD2E1A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9AC06BF6-1F85-464C-B0C8-4A8DADBD08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BF04F7EC-EA30-4C7A-8964-2065A60A8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5F0027EB-671D-49D7-B481-77A902697703}" type="slidenum">
              <a:rPr lang="en-GB" altLang="en-US" sz="1200" smtClean="0">
                <a:ea typeface="MS PGothic" panose="020B0600070205080204" pitchFamily="34" charset="-128"/>
              </a:rPr>
              <a:pPr/>
              <a:t>5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A12972C4-9DF6-4B2F-8312-42248931AB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6F21E882-0553-4138-9D62-E07FE029B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BA50EC53-3A04-4194-88F5-47F918463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4A575DE6-21E1-4BB5-9272-D904BC889C4C}" type="slidenum">
              <a:rPr lang="en-GB" altLang="en-US" sz="1200" smtClean="0">
                <a:ea typeface="MS PGothic" panose="020B0600070205080204" pitchFamily="34" charset="-128"/>
              </a:rPr>
              <a:pPr/>
              <a:t>6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47B378CB-FC56-4DDA-BEC3-7E89B85C56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21624D68-9EE9-41E8-8429-8CCF2B81FE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41DE593-4A35-45F5-A548-E7853AEEF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923B41EA-CF51-4A50-BA24-9D46F0E10991}" type="slidenum">
              <a:rPr lang="en-GB" altLang="en-US" sz="1200" smtClean="0">
                <a:ea typeface="MS PGothic" panose="020B0600070205080204" pitchFamily="34" charset="-128"/>
              </a:rPr>
              <a:pPr/>
              <a:t>7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EAD069C3-FCA9-45A8-8BE8-E33989432B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2AB8DA80-7597-472C-B913-7E41AFE391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29156994-A8E2-48AD-B06F-4B882D195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2F0DED6E-35A2-42A5-93A9-7721257E9172}" type="slidenum">
              <a:rPr lang="en-GB" altLang="en-US" sz="1200" smtClean="0">
                <a:ea typeface="MS PGothic" panose="020B0600070205080204" pitchFamily="34" charset="-128"/>
              </a:rPr>
              <a:pPr/>
              <a:t>8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F91548CC-22AB-4EDE-A06D-4FA67DD670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CDE94C80-2890-4DB9-AC2D-56EF2A7CAE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6CA54E3-708B-4FE8-9D42-F9791E0E5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713E1179-790E-401F-B002-1E26BDE2C1A8}" type="slidenum">
              <a:rPr lang="en-GB" altLang="en-US" sz="1200" smtClean="0">
                <a:ea typeface="MS PGothic" panose="020B0600070205080204" pitchFamily="34" charset="-128"/>
              </a:rPr>
              <a:pPr/>
              <a:t>9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E4B5B22E-3F85-477A-B7EA-1785E4057E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B82D58EE-3B31-4559-9EBB-3B8381BA97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B16625C3-5967-4A3B-9D85-5078BE916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3F800486-0DAF-48F2-9DBB-8C04ACE93CD9}" type="slidenum">
              <a:rPr lang="en-GB" altLang="en-US" sz="1200" smtClean="0">
                <a:ea typeface="MS PGothic" panose="020B0600070205080204" pitchFamily="34" charset="-128"/>
              </a:rPr>
              <a:pPr/>
              <a:t>10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E4B5B22E-3F85-477A-B7EA-1785E4057E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B82D58EE-3B31-4559-9EBB-3B8381BA97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B16625C3-5967-4A3B-9D85-5078BE916D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3F800486-0DAF-48F2-9DBB-8C04ACE93CD9}" type="slidenum">
              <a:rPr lang="en-GB" altLang="en-US" sz="1200" smtClean="0">
                <a:ea typeface="MS PGothic" panose="020B0600070205080204" pitchFamily="34" charset="-128"/>
              </a:rPr>
              <a:pPr/>
              <a:t>11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1983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5979277F-8671-497A-BFE0-B7FCA89111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9133E85A-8976-49AE-83F7-D464158035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92DF7829-5706-4B7A-878E-A1364470D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79471C8-168F-4C3B-BE0F-6EE7F98B101F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15FBD870-146B-4C26-9142-AA398FBD09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42718F5C-C39B-40F6-9CBA-06876ED3A64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7A733F8E-5857-460A-900C-3CC856E7B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D9614306-A0A0-4220-A971-42FEAAFD2CBA}" type="slidenum">
              <a:rPr lang="en-GB" altLang="en-US" sz="1200" smtClean="0">
                <a:ea typeface="MS PGothic" panose="020B0600070205080204" pitchFamily="34" charset="-128"/>
              </a:rPr>
              <a:pPr/>
              <a:t>14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8059E629-E0CE-4FEF-BBEC-93E5F9CE77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81534929-0391-4F2C-A60D-5A90A1967D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C51DE011-C30C-462B-B350-3B476A542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DFABB624-5417-4334-B6B4-9D0F6A4AAAB1}" type="slidenum">
              <a:rPr lang="en-GB" altLang="en-US" sz="1200" smtClean="0">
                <a:ea typeface="MS PGothic" panose="020B0600070205080204" pitchFamily="34" charset="-128"/>
              </a:rPr>
              <a:pPr/>
              <a:t>15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59B8E2F3-7329-4155-8EB3-86DA49B761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77B1169E-1334-4F4C-801D-0AB03E1F81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39ECFF5B-AA4D-48B8-99A4-C5C7BA361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58B9F05B-EE70-4EEE-9B63-F893AF252D0B}" type="slidenum">
              <a:rPr lang="en-GB" altLang="en-US" sz="1200" smtClean="0">
                <a:ea typeface="MS PGothic" panose="020B0600070205080204" pitchFamily="34" charset="-128"/>
              </a:rPr>
              <a:pPr/>
              <a:t>16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4E37A7A6-FFB7-4C47-A877-C39B7F0AD7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C2CD1BB8-E1F5-46CC-98AF-04E7D2FAF1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54DEA796-24A9-450D-9A71-639B7589F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A485C6A8-624D-4876-AEE3-7C0C8A83F2DF}" type="slidenum">
              <a:rPr lang="en-GB" altLang="en-US" sz="1200" smtClean="0">
                <a:ea typeface="MS PGothic" panose="020B0600070205080204" pitchFamily="34" charset="-128"/>
              </a:rPr>
              <a:pPr/>
              <a:t>17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B8539D42-2EDA-400C-8FE0-B640C2153E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2954D767-1B13-4592-8A12-4997E70FAC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A8972097-4DA7-4196-80AE-A248DB011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2F56702A-03C4-481E-B838-1BCC20A5AD5E}" type="slidenum">
              <a:rPr lang="en-GB" altLang="en-US" sz="1200" smtClean="0">
                <a:ea typeface="MS PGothic" panose="020B0600070205080204" pitchFamily="34" charset="-128"/>
              </a:rPr>
              <a:pPr/>
              <a:t>18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1BA6F314-BC6D-4F7B-8B52-182C590F79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162AA82-9B4A-4461-8C47-ACDF24D6EB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E3C1FBFB-220E-4B5B-AF2F-8496D35FF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4DD4F0A9-E1D0-4E97-B4C2-038A496F463E}" type="slidenum">
              <a:rPr lang="en-GB" altLang="en-US" sz="1200" smtClean="0">
                <a:ea typeface="MS PGothic" panose="020B0600070205080204" pitchFamily="34" charset="-128"/>
              </a:rPr>
              <a:pPr/>
              <a:t>19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48630FA2-2326-4A00-89BA-59C6C68207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DBAC457D-A6C8-4953-8C95-18ACC3983C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99AC0EEC-CE51-41ED-A7EE-548647C13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D4CE0D8C-1D8C-4A85-81D4-40B42BE82DCF}" type="slidenum">
              <a:rPr lang="en-GB" altLang="en-US" sz="1200" smtClean="0">
                <a:ea typeface="MS PGothic" panose="020B0600070205080204" pitchFamily="34" charset="-128"/>
              </a:rPr>
              <a:pPr/>
              <a:t>20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48630FA2-2326-4A00-89BA-59C6C68207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DBAC457D-A6C8-4953-8C95-18ACC3983C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99AC0EEC-CE51-41ED-A7EE-548647C13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D4CE0D8C-1D8C-4A85-81D4-40B42BE82DCF}" type="slidenum">
              <a:rPr lang="en-GB" altLang="en-US" sz="1200" smtClean="0">
                <a:ea typeface="MS PGothic" panose="020B0600070205080204" pitchFamily="34" charset="-128"/>
              </a:rPr>
              <a:pPr/>
              <a:t>21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7722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E63B494C-4418-4356-B757-6B23B9493C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A2B491C1-A4B9-4D1C-B9BF-68E84D6E41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C4DD4C56-C8F1-4193-8AD0-5270F923C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B21DE20F-6DCF-427B-8BD3-16C26C1E86DD}" type="slidenum">
              <a:rPr lang="en-GB" altLang="en-US" sz="1200" smtClean="0">
                <a:ea typeface="MS PGothic" panose="020B0600070205080204" pitchFamily="34" charset="-128"/>
              </a:rPr>
              <a:pPr/>
              <a:t>22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1EE51AC0-C401-42D8-9D8C-3B6AF9C8FDF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6636273F-481C-4253-A076-E963C324C8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1A6EA0F8-C9D0-4E35-8609-CF77C83C4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7CD400E-4E61-44EA-BF56-E6CB6C4CAB8D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1108C71F-F151-42E4-9565-F024B4DCE5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14E40DFC-4C92-4CAB-B6A4-D85F613350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4E38EF70-4413-4399-A195-5110CF9A02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41F09004-6EDA-4586-891F-29E91812E1D2}" type="slidenum">
              <a:rPr lang="en-GB" altLang="en-US" sz="1200" smtClean="0">
                <a:ea typeface="MS PGothic" panose="020B0600070205080204" pitchFamily="34" charset="-128"/>
              </a:rPr>
              <a:pPr/>
              <a:t>24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274D-3C5B-1D73-BD30-E5BBA1AA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5AFC228B-7D55-1000-F415-02086BEB8D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0DDCEC49-418D-7253-4363-0B9CE154A5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3FACA376-4A23-B7B3-4D07-206894115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0A0AD2CE-B453-4674-AD16-D6A3FEE9987E}" type="slidenum">
              <a:rPr lang="en-GB" altLang="en-US" sz="1200" smtClean="0">
                <a:ea typeface="MS PGothic" panose="020B0600070205080204" pitchFamily="34" charset="-128"/>
              </a:rPr>
              <a:pPr/>
              <a:t>25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16219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9A3A-CDC4-5BEA-C76D-F4A62C63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10F09EE0-8213-2C9F-8F5F-92BBE0C3283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4705AAA8-527E-54F1-4DC2-AA5763A377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4E40294D-049E-4EF2-294C-9D1CFFC2E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1AD0DDEC-0696-4F96-899B-DF4B83F10252}" type="slidenum">
              <a:rPr lang="en-GB" altLang="en-US" sz="1200" smtClean="0">
                <a:ea typeface="MS PGothic" panose="020B0600070205080204" pitchFamily="34" charset="-128"/>
              </a:rPr>
              <a:pPr/>
              <a:t>26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00905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buFontTx/>
              <a:buChar char="-"/>
            </a:pPr>
            <a:endParaRPr lang="en-US" alt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35398E5-D0A5-4159-B820-30A354CF68CB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>
                <a:spcBef>
                  <a:spcPct val="0"/>
                </a:spcBef>
              </a:pPr>
              <a:t>27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99147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BF69A-4692-25D5-49BE-38F4478FB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844CA221-07E3-B074-2408-2554834359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939AE647-4B2F-6115-4AC2-CF865B0CF3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459EA376-F9B1-9906-BACE-49D6F56BD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BC5AC142-08AC-473F-A884-C853E318284D}" type="slidenum">
              <a:rPr lang="en-GB" altLang="en-US" sz="1200" smtClean="0">
                <a:ea typeface="MS PGothic" panose="020B0600070205080204" pitchFamily="34" charset="-128"/>
              </a:rPr>
              <a:pPr/>
              <a:t>28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214971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317EA4D0-D4BE-4E0E-A411-590ABFC781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240DEBFE-0F5E-4585-9BA0-19CDB5D8C32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7B2A2C0D-0991-417D-9720-92073DC60A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DA742AA-E0F1-4F71-A787-141DC01F1402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02813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D0D7797-770B-415C-89AA-01C75E464C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4B86465C-4091-4C39-B012-D073C60215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CF1F7DFA-1705-4238-9AF4-829255BEE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F7DC70A-1CB8-4524-A4A4-E374A8AA9C46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03726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B5AE5C80-6CC4-45C5-AEC6-EAB9244D17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7890A926-2B69-422F-811A-CC5C79C928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4CA66DF4-6B52-455C-B413-580F0531D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CB6B68-D42A-496A-BBB1-35D03D55288D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281262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80CFFDAA-3EC9-4AD0-8E6C-4578559091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46D0E7E5-3EA2-4141-90E0-603274FD69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A9FFD7D4-7987-4504-9917-42C4A351E8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53ACF51-713D-4544-B305-70DA05290E39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30362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7403D320-0763-473E-9F11-6E30F11B2D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7F6B197B-B3CB-447E-825F-BD0B49B7D9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AF33EBDF-5B10-4662-9E77-C5C7F54A0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2735561E-BFA9-4138-B442-09148273ECE8}" type="slidenum">
              <a:rPr lang="en-GB" altLang="en-US" sz="1200" smtClean="0">
                <a:ea typeface="MS PGothic" panose="020B0600070205080204" pitchFamily="34" charset="-128"/>
              </a:rPr>
              <a:pPr/>
              <a:t>33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50893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CE3DC041-08F5-4D94-ADA2-0F33D4BF2A7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38D7D0D0-8E88-4AC5-B42F-8E7AFCF2DB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9D4DE8C9-E5AB-4806-8D36-31648DA7E4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45CD800-A9B1-43F0-8A4A-28F5EF01CF96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7403D320-0763-473E-9F11-6E30F11B2D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7F6B197B-B3CB-447E-825F-BD0B49B7D9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AF33EBDF-5B10-4662-9E77-C5C7F54A0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2735561E-BFA9-4138-B442-09148273ECE8}" type="slidenum">
              <a:rPr lang="en-GB" altLang="en-US" sz="1200" smtClean="0">
                <a:ea typeface="MS PGothic" panose="020B0600070205080204" pitchFamily="34" charset="-128"/>
              </a:rPr>
              <a:pPr/>
              <a:t>35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A8DB0AEF-3702-4F54-A4B2-8B045FAE17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CEC46538-E9BE-42B8-B839-6624F5CF5D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A6AB50FF-0889-4F24-9A3A-A3D19D2EE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34B30EB9-6EA5-4448-BF17-691ECE042721}" type="slidenum">
              <a:rPr lang="en-GB" altLang="en-US" sz="1200" smtClean="0">
                <a:ea typeface="MS PGothic" panose="020B0600070205080204" pitchFamily="34" charset="-128"/>
              </a:rPr>
              <a:pPr/>
              <a:t>36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6D8FF4E-00F3-4F52-A393-D96B0548C0BB}" type="slidenum">
              <a:rPr lang="en-GB" altLang="en-US" sz="1200" smtClean="0"/>
              <a:pPr/>
              <a:t>38</a:t>
            </a:fld>
            <a:endParaRPr lang="en-GB" altLang="en-US" sz="1200"/>
          </a:p>
        </p:txBody>
      </p:sp>
    </p:spTree>
    <p:extLst>
      <p:ext uri="{BB962C8B-B14F-4D97-AF65-F5344CB8AC3E}">
        <p14:creationId xmlns:p14="http://schemas.microsoft.com/office/powerpoint/2010/main" val="26369815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50C74811-6794-40B4-B284-C21DEFBE2D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649074B-DDFA-4CB4-9B8F-35C3B9D42E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2640265-39F4-4A2C-A94A-C47774D5E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B6B87D4-C9FB-4F24-8E95-471F8B7095E2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50C74811-6794-40B4-B284-C21DEFBE2D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5649074B-DDFA-4CB4-9B8F-35C3B9D42E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82640265-39F4-4A2C-A94A-C47774D5E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B6B87D4-C9FB-4F24-8E95-471F8B7095E2}" type="slidenum">
              <a:rPr lang="en-GB" altLang="en-US" smtClean="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GB" altLang="en-US">
              <a:solidFill>
                <a:schemeClr val="hlink"/>
              </a:solidFill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04884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ACDDD4A4-5A2B-41E1-87CD-617DD06C56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614B5355-9FC0-4555-996C-2C4A8059D9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E76354A0-E40F-4345-AA7D-A73899AC7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</a:defRPr>
            </a:lvl9pPr>
          </a:lstStyle>
          <a:p>
            <a:fld id="{25F214B9-E5B4-4758-AABE-3D234BE47993}" type="slidenum">
              <a:rPr lang="en-GB" altLang="en-US" sz="1200" smtClean="0">
                <a:ea typeface="MS PGothic" panose="020B0600070205080204" pitchFamily="34" charset="-128"/>
              </a:rPr>
              <a:pPr/>
              <a:t>44</a:t>
            </a:fld>
            <a:endParaRPr lang="en-GB" altLang="en-US" sz="120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1572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6F740-4ECE-4E00-A346-DB1B9554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C93B4-9E50-4567-9A58-0D1EC653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AD318-8EC1-4398-B322-7C22FE31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CAC12-211B-4AE0-8748-982807F47D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69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9EC7D-CC69-4145-9355-7C8223D20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B8B05-E100-4DEC-8009-2931B9D87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31F2E-A66B-4B80-8998-45D70B3F0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69B35-C1E4-4BA8-AF61-09167B109D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2532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C0E94-7C40-4F35-9073-0492064E3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68CDC-16F3-4864-90CF-DD50EAD80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BF9EB-F3E1-496C-9E59-69CDAE60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8E383-3A56-4335-900F-79760D1F51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882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C06DF06-743A-4BCC-8251-C4A7B2D36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69194B6-3FB4-40A6-BDDA-E744961B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4D1961-2A05-4FC5-BF91-748E34D0B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A1BF12-3468-4C11-9F37-98736A4F55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8596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C6609AC-3BED-4B3E-98FF-3F613A738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77E803D-5714-4015-BD24-C9578E902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0D49FC9-FDB7-416E-B56C-F0D0F275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8569D-B0D8-47B4-997F-0656ECA73D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346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C4C9DC-5A47-4D75-A589-5916FBD03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F818A23-C477-4F69-B945-3ABCB6E3A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31C77ED-EC5F-465A-B35B-87D830F7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171BD-A9DA-4C04-87DC-FE183666C1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508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93C6317-1EE4-4729-8910-3E5D9E5E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3084DA7-E2AB-486C-B068-357EAB37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09CEB44-7371-41E3-B064-5A0322E6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FAC732-7694-40C1-8195-C0ABD9386A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6379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AEE28FF-35B3-4F3B-868E-D67D8692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D40CF4A-C7DC-4C0E-BC40-F6399BE39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4989FD-0390-4D9E-93D1-3C85A7D12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E77F2-DF7B-40C8-9B9D-32537904FA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249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448A0F6-8E56-4044-B117-1506862F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268B241-A3F2-479D-A9EA-468CF8FF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F3AD71-A443-41C7-8071-E2CE2DA15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0CA56-D590-451D-810A-817472EBFB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172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14600-B217-4472-807D-93A131300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E47D0-CA70-4610-B6F4-E5C74A82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7057C-80CB-423C-A4CC-248EF95E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561F0-C3B3-41F3-832F-7C9C4ADADB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7976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0DB54-343C-4B2E-8E28-CED93B69F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C5CB5-F2FE-45C0-910F-2B3B0043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B056C-ED21-4FC5-8516-2B91DEA7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C59D78-AD8C-478A-9DBB-F93D429FCB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2483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A6662DC-0FE0-422A-BBBD-F369E1F7900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8389119-B3D7-4227-86D8-C8A5D4B0A3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61AA3-5B58-4C0B-935D-6E49FD004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Times New Roman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A006E-84CF-4EB4-A8E1-F4B2DFB4A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Times New Roman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749C8-BA81-4BE0-B67D-22FDA9001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E972BDCD-B9F2-4453-B4A0-DBD0124C41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MSIPCMContentMarking" descr="{&quot;HashCode&quot;:1068245140,&quot;Placement&quot;:&quot;Header&quot;,&quot;Top&quot;:0.0,&quot;Left&quot;:301.1819,&quot;SlideWidth&quot;:720,&quot;SlideHeight&quot;:540}">
            <a:extLst>
              <a:ext uri="{FF2B5EF4-FFF2-40B4-BE49-F238E27FC236}">
                <a16:creationId xmlns:a16="http://schemas.microsoft.com/office/drawing/2014/main" id="{6D8B8503-E186-8877-E3DC-DE0EB0091017}"/>
              </a:ext>
            </a:extLst>
          </p:cNvPr>
          <p:cNvSpPr txBox="1"/>
          <p:nvPr userDrawn="1"/>
        </p:nvSpPr>
        <p:spPr>
          <a:xfrm>
            <a:off x="3825010" y="0"/>
            <a:ext cx="1493980" cy="22816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SG" sz="800">
                <a:solidFill>
                  <a:srgbClr val="000000"/>
                </a:solidFill>
                <a:latin typeface="Calibri" panose="020F0502020204030204" pitchFamily="34" charset="0"/>
              </a:rPr>
              <a:t>SMU Classification: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MS PGothic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raitstimes.com/forum/letters-in-print/implement-dress-code-for-university-student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othership.sg/2017/12/singapore-university-dress-code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GAHOpJeWLZ4?feature=oembed" TargetMode="External"/><Relationship Id="rId4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A0F67804-9EF7-48AC-AC12-15B079C5B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685800"/>
            <a:ext cx="6400800" cy="5029200"/>
          </a:xfrm>
        </p:spPr>
        <p:txBody>
          <a:bodyPr/>
          <a:lstStyle/>
          <a:p>
            <a:pPr eaLnBrk="1" hangingPunct="1"/>
            <a:r>
              <a:rPr lang="en-US" altLang="en-US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Thinking</a:t>
            </a:r>
          </a:p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Real World</a:t>
            </a:r>
          </a:p>
          <a:p>
            <a:pPr eaLnBrk="1" hangingPunct="1"/>
            <a:endParaRPr lang="en-US" alt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Seminar 4</a:t>
            </a:r>
          </a:p>
          <a:p>
            <a:pPr eaLnBrk="1" hangingPunct="1"/>
            <a:b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Sovan Patra</a:t>
            </a:r>
          </a:p>
        </p:txBody>
      </p:sp>
    </p:spTree>
  </p:cSld>
  <p:clrMapOvr>
    <a:masterClrMapping/>
  </p:clrMapOvr>
  <p:transition spd="slow" advTm="12346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9E7A66EE-D3D2-4E03-BB3E-004193C4CE75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You Should Already Know: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9AE3E875-01DD-4964-BF78-08C7B8892ED1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3EDF4A48-1C02-48C5-B869-D67683ABC832}" type="slidenum">
              <a:rPr lang="en-US" altLang="en-US" sz="130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en-US" sz="13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4" name="TextBox 1">
            <a:extLst>
              <a:ext uri="{FF2B5EF4-FFF2-40B4-BE49-F238E27FC236}">
                <a16:creationId xmlns:a16="http://schemas.microsoft.com/office/drawing/2014/main" id="{AC545C09-9613-4C88-A562-AFC03739C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5" y="1041400"/>
            <a:ext cx="15240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 dirty="0">
                <a:latin typeface="Times New Roman" panose="02020603050405020304" pitchFamily="18" charset="0"/>
              </a:rPr>
              <a:t>Argument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SG" altLang="en-US" sz="2000" dirty="0">
                <a:latin typeface="Times New Roman" panose="02020603050405020304" pitchFamily="18" charset="0"/>
              </a:rPr>
              <a:t>(</a:t>
            </a:r>
            <a:r>
              <a:rPr lang="en-SG" altLang="en-US" sz="2000" dirty="0">
                <a:highlight>
                  <a:srgbClr val="FFFF00"/>
                </a:highlight>
                <a:latin typeface="Times New Roman" panose="02020603050405020304" pitchFamily="18" charset="0"/>
              </a:rPr>
              <a:t>Deductive</a:t>
            </a:r>
            <a:r>
              <a:rPr lang="en-SG" altLang="en-US" sz="2000" dirty="0">
                <a:latin typeface="Times New Roman" panose="02020603050405020304" pitchFamily="18" charset="0"/>
              </a:rPr>
              <a:t>/ Inductive)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0B8001C-9CE2-4847-91DF-1921E541925E}"/>
              </a:ext>
            </a:extLst>
          </p:cNvPr>
          <p:cNvCxnSpPr/>
          <p:nvPr/>
        </p:nvCxnSpPr>
        <p:spPr>
          <a:xfrm flipV="1">
            <a:off x="2212975" y="1336675"/>
            <a:ext cx="914400" cy="133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27C1CF-0CA3-4F18-98BD-69D71D8A51F2}"/>
              </a:ext>
            </a:extLst>
          </p:cNvPr>
          <p:cNvCxnSpPr>
            <a:cxnSpLocks/>
          </p:cNvCxnSpPr>
          <p:nvPr/>
        </p:nvCxnSpPr>
        <p:spPr>
          <a:xfrm>
            <a:off x="2220913" y="1562100"/>
            <a:ext cx="906462" cy="190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7" name="TextBox 10">
            <a:extLst>
              <a:ext uri="{FF2B5EF4-FFF2-40B4-BE49-F238E27FC236}">
                <a16:creationId xmlns:a16="http://schemas.microsoft.com/office/drawing/2014/main" id="{0A781E28-20E1-47C6-A803-A11BA8A7A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074738"/>
            <a:ext cx="3048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 dirty="0">
                <a:latin typeface="Times New Roman" panose="02020603050405020304" pitchFamily="18" charset="0"/>
              </a:rPr>
              <a:t>Good/Acceptable (</a:t>
            </a:r>
            <a:r>
              <a:rPr lang="en-SG" altLang="en-US" sz="2000" dirty="0">
                <a:highlight>
                  <a:srgbClr val="FFFF00"/>
                </a:highlight>
                <a:latin typeface="Times New Roman" panose="02020603050405020304" pitchFamily="18" charset="0"/>
              </a:rPr>
              <a:t>Sound</a:t>
            </a:r>
            <a:r>
              <a:rPr lang="en-SG" altLang="en-US" sz="2000" dirty="0">
                <a:latin typeface="Times New Roman" panose="02020603050405020304" pitchFamily="18" charset="0"/>
              </a:rPr>
              <a:t>/Cogent)</a:t>
            </a:r>
          </a:p>
        </p:txBody>
      </p:sp>
      <p:sp>
        <p:nvSpPr>
          <p:cNvPr id="5128" name="TextBox 11">
            <a:extLst>
              <a:ext uri="{FF2B5EF4-FFF2-40B4-BE49-F238E27FC236}">
                <a16:creationId xmlns:a16="http://schemas.microsoft.com/office/drawing/2014/main" id="{569F1D87-8C56-43BC-A4F1-39E89700C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752600"/>
            <a:ext cx="3276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 dirty="0">
                <a:latin typeface="Times New Roman" panose="02020603050405020304" pitchFamily="18" charset="0"/>
              </a:rPr>
              <a:t>Bad/unacceptable (</a:t>
            </a:r>
            <a:r>
              <a:rPr lang="en-SG" altLang="en-US" sz="2000" dirty="0">
                <a:highlight>
                  <a:srgbClr val="FFFF00"/>
                </a:highlight>
                <a:latin typeface="Times New Roman" panose="02020603050405020304" pitchFamily="18" charset="0"/>
              </a:rPr>
              <a:t>Unsound</a:t>
            </a:r>
            <a:r>
              <a:rPr lang="en-SG" altLang="en-US" sz="2000" dirty="0">
                <a:latin typeface="Times New Roman" panose="02020603050405020304" pitchFamily="18" charset="0"/>
              </a:rPr>
              <a:t>/</a:t>
            </a:r>
            <a:r>
              <a:rPr lang="en-SG" altLang="en-US" sz="2000" dirty="0" err="1">
                <a:latin typeface="Times New Roman" panose="02020603050405020304" pitchFamily="18" charset="0"/>
              </a:rPr>
              <a:t>Uncogent</a:t>
            </a:r>
            <a:r>
              <a:rPr lang="en-SG" altLang="en-US" sz="2000" dirty="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5129" name="TextBox 12">
            <a:extLst>
              <a:ext uri="{FF2B5EF4-FFF2-40B4-BE49-F238E27FC236}">
                <a16:creationId xmlns:a16="http://schemas.microsoft.com/office/drawing/2014/main" id="{F9DF3179-D63C-451A-95D4-E5FE0E2BF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630488"/>
            <a:ext cx="1524000" cy="4000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SG" altLang="en-US" sz="2000">
                <a:latin typeface="Times New Roman" panose="02020603050405020304" pitchFamily="18" charset="0"/>
              </a:rPr>
              <a:t>Premise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5C712E-CFA5-4238-A686-28FF209D69D7}"/>
              </a:ext>
            </a:extLst>
          </p:cNvPr>
          <p:cNvCxnSpPr/>
          <p:nvPr/>
        </p:nvCxnSpPr>
        <p:spPr>
          <a:xfrm flipV="1">
            <a:off x="3660775" y="2673350"/>
            <a:ext cx="914400" cy="133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C25B5CA-D30D-40F4-AF9D-361C8F4DF27C}"/>
              </a:ext>
            </a:extLst>
          </p:cNvPr>
          <p:cNvCxnSpPr>
            <a:cxnSpLocks/>
          </p:cNvCxnSpPr>
          <p:nvPr/>
        </p:nvCxnSpPr>
        <p:spPr>
          <a:xfrm>
            <a:off x="3668713" y="2897188"/>
            <a:ext cx="906462" cy="190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2" name="TextBox 15">
            <a:extLst>
              <a:ext uri="{FF2B5EF4-FFF2-40B4-BE49-F238E27FC236}">
                <a16:creationId xmlns:a16="http://schemas.microsoft.com/office/drawing/2014/main" id="{585848F8-B7FB-42F1-B789-492F09A73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409825"/>
            <a:ext cx="3048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>
                <a:latin typeface="Times New Roman" panose="02020603050405020304" pitchFamily="18" charset="0"/>
              </a:rPr>
              <a:t>Acceptable (True)</a:t>
            </a:r>
          </a:p>
        </p:txBody>
      </p:sp>
      <p:sp>
        <p:nvSpPr>
          <p:cNvPr id="5133" name="TextBox 16">
            <a:extLst>
              <a:ext uri="{FF2B5EF4-FFF2-40B4-BE49-F238E27FC236}">
                <a16:creationId xmlns:a16="http://schemas.microsoft.com/office/drawing/2014/main" id="{5529C8AC-6B4C-4925-A642-672AABE24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871788"/>
            <a:ext cx="3429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>
                <a:latin typeface="Times New Roman" panose="02020603050405020304" pitchFamily="18" charset="0"/>
              </a:rPr>
              <a:t>Unacceptable (False)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3BD449-1A43-461D-83AD-D4CB54839010}"/>
              </a:ext>
            </a:extLst>
          </p:cNvPr>
          <p:cNvCxnSpPr>
            <a:cxnSpLocks/>
            <a:stCxn id="5129" idx="2"/>
          </p:cNvCxnSpPr>
          <p:nvPr/>
        </p:nvCxnSpPr>
        <p:spPr>
          <a:xfrm>
            <a:off x="2895600" y="3030538"/>
            <a:ext cx="0" cy="14652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5" name="TextBox 19">
            <a:extLst>
              <a:ext uri="{FF2B5EF4-FFF2-40B4-BE49-F238E27FC236}">
                <a16:creationId xmlns:a16="http://schemas.microsoft.com/office/drawing/2014/main" id="{616F4E2F-8773-446A-8B35-5DCE39DE0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525963"/>
            <a:ext cx="1730375" cy="4000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SG" altLang="en-US" sz="2000">
                <a:latin typeface="Times New Roman" panose="02020603050405020304" pitchFamily="18" charset="0"/>
              </a:rPr>
              <a:t>Conclusion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FD8930E-4D53-4712-A27D-1192F5AABC5F}"/>
              </a:ext>
            </a:extLst>
          </p:cNvPr>
          <p:cNvCxnSpPr>
            <a:stCxn id="5135" idx="2"/>
          </p:cNvCxnSpPr>
          <p:nvPr/>
        </p:nvCxnSpPr>
        <p:spPr>
          <a:xfrm flipH="1">
            <a:off x="1882775" y="4926013"/>
            <a:ext cx="1116013" cy="438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3924A8-EEFF-4ED7-B0F3-82071BE6A3F0}"/>
              </a:ext>
            </a:extLst>
          </p:cNvPr>
          <p:cNvCxnSpPr>
            <a:cxnSpLocks/>
            <a:stCxn id="5135" idx="2"/>
          </p:cNvCxnSpPr>
          <p:nvPr/>
        </p:nvCxnSpPr>
        <p:spPr>
          <a:xfrm>
            <a:off x="2998788" y="4926013"/>
            <a:ext cx="1012825" cy="4524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8" name="TextBox 24">
            <a:extLst>
              <a:ext uri="{FF2B5EF4-FFF2-40B4-BE49-F238E27FC236}">
                <a16:creationId xmlns:a16="http://schemas.microsoft.com/office/drawing/2014/main" id="{97355DA8-73A1-4CB7-A78C-2071132E1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5365750"/>
            <a:ext cx="22717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>
                <a:latin typeface="Times New Roman" panose="02020603050405020304" pitchFamily="18" charset="0"/>
              </a:rPr>
              <a:t>Established, for a good argument</a:t>
            </a:r>
          </a:p>
        </p:txBody>
      </p:sp>
      <p:sp>
        <p:nvSpPr>
          <p:cNvPr id="5139" name="TextBox 25">
            <a:extLst>
              <a:ext uri="{FF2B5EF4-FFF2-40B4-BE49-F238E27FC236}">
                <a16:creationId xmlns:a16="http://schemas.microsoft.com/office/drawing/2014/main" id="{801B1C82-3608-4CBE-AFE6-04249C7AD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3138" y="5378450"/>
            <a:ext cx="227012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>
                <a:latin typeface="Times New Roman" panose="02020603050405020304" pitchFamily="18" charset="0"/>
              </a:rPr>
              <a:t>Not established, for a bad argument</a:t>
            </a:r>
          </a:p>
        </p:txBody>
      </p:sp>
      <p:sp>
        <p:nvSpPr>
          <p:cNvPr id="5140" name="TextBox 27">
            <a:extLst>
              <a:ext uri="{FF2B5EF4-FFF2-40B4-BE49-F238E27FC236}">
                <a16:creationId xmlns:a16="http://schemas.microsoft.com/office/drawing/2014/main" id="{13117DA8-5E22-42CE-8E5E-42ED14C02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5" y="3668713"/>
            <a:ext cx="152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>
                <a:latin typeface="Times New Roman" panose="02020603050405020304" pitchFamily="18" charset="0"/>
              </a:rPr>
              <a:t>Inference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8BA89A2-FE9F-4657-8110-2C9FCDFBF05B}"/>
              </a:ext>
            </a:extLst>
          </p:cNvPr>
          <p:cNvCxnSpPr/>
          <p:nvPr/>
        </p:nvCxnSpPr>
        <p:spPr>
          <a:xfrm flipV="1">
            <a:off x="4191000" y="3732213"/>
            <a:ext cx="914400" cy="133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1E21308-8E04-4647-8746-1E04DEE860B5}"/>
              </a:ext>
            </a:extLst>
          </p:cNvPr>
          <p:cNvCxnSpPr>
            <a:cxnSpLocks/>
          </p:cNvCxnSpPr>
          <p:nvPr/>
        </p:nvCxnSpPr>
        <p:spPr>
          <a:xfrm>
            <a:off x="4198938" y="3957638"/>
            <a:ext cx="906462" cy="190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3" name="TextBox 30">
            <a:extLst>
              <a:ext uri="{FF2B5EF4-FFF2-40B4-BE49-F238E27FC236}">
                <a16:creationId xmlns:a16="http://schemas.microsoft.com/office/drawing/2014/main" id="{40679D5B-2FED-48E3-845B-AB737ADBDC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3332163"/>
            <a:ext cx="38131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 dirty="0">
                <a:latin typeface="Times New Roman" panose="02020603050405020304" pitchFamily="18" charset="0"/>
              </a:rPr>
              <a:t>Acceptable (</a:t>
            </a:r>
            <a:r>
              <a:rPr lang="en-SG" altLang="en-US" sz="2000" dirty="0">
                <a:highlight>
                  <a:srgbClr val="FFFF00"/>
                </a:highlight>
                <a:latin typeface="Times New Roman" panose="02020603050405020304" pitchFamily="18" charset="0"/>
              </a:rPr>
              <a:t>Valid</a:t>
            </a:r>
            <a:r>
              <a:rPr lang="en-SG" altLang="en-US" sz="2000" dirty="0">
                <a:latin typeface="Times New Roman" panose="02020603050405020304" pitchFamily="18" charset="0"/>
              </a:rPr>
              <a:t>/Relatively Strong)</a:t>
            </a:r>
          </a:p>
        </p:txBody>
      </p:sp>
      <p:sp>
        <p:nvSpPr>
          <p:cNvPr id="5144" name="TextBox 31">
            <a:extLst>
              <a:ext uri="{FF2B5EF4-FFF2-40B4-BE49-F238E27FC236}">
                <a16:creationId xmlns:a16="http://schemas.microsoft.com/office/drawing/2014/main" id="{3139A409-25E8-494C-A4A0-2C4AAB086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8425" y="3930650"/>
            <a:ext cx="3429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SG" altLang="en-US" sz="2000" dirty="0">
                <a:latin typeface="Times New Roman" panose="02020603050405020304" pitchFamily="18" charset="0"/>
              </a:rPr>
              <a:t>Unacceptable (</a:t>
            </a:r>
            <a:r>
              <a:rPr lang="en-SG" altLang="en-US" sz="2000" dirty="0">
                <a:highlight>
                  <a:srgbClr val="FFFF00"/>
                </a:highlight>
                <a:latin typeface="Times New Roman" panose="02020603050405020304" pitchFamily="18" charset="0"/>
              </a:rPr>
              <a:t>Invalid</a:t>
            </a:r>
            <a:r>
              <a:rPr lang="en-SG" altLang="en-US" sz="2000" dirty="0">
                <a:latin typeface="Times New Roman" panose="02020603050405020304" pitchFamily="18" charset="0"/>
              </a:rPr>
              <a:t>/Relatively weak)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79E1B76-AF0B-473F-B56F-348B8DB2E31B}"/>
              </a:ext>
            </a:extLst>
          </p:cNvPr>
          <p:cNvSpPr/>
          <p:nvPr/>
        </p:nvSpPr>
        <p:spPr>
          <a:xfrm>
            <a:off x="457200" y="2460624"/>
            <a:ext cx="8150225" cy="3863975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SG"/>
          </a:p>
        </p:txBody>
      </p:sp>
    </p:spTree>
  </p:cSld>
  <p:clrMapOvr>
    <a:masterClrMapping/>
  </p:clrMapOvr>
  <p:transition spd="slow" advTm="92488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16043409-99FA-4A6D-8A29-E447E3478DEC}"/>
              </a:ext>
            </a:extLst>
          </p:cNvPr>
          <p:cNvSpPr/>
          <p:nvPr/>
        </p:nvSpPr>
        <p:spPr>
          <a:xfrm>
            <a:off x="12404" y="-7778"/>
            <a:ext cx="8598195" cy="84409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200" b="1" spc="-113" dirty="0">
                <a:latin typeface="Gill Sans MT"/>
                <a:cs typeface="Gill Sans MT"/>
              </a:rPr>
              <a:t>Your intellectual/ reasonableness obligations: (So far)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5F606450-FFD1-4471-A055-B9F5DC408996}"/>
              </a:ext>
            </a:extLst>
          </p:cNvPr>
          <p:cNvSpPr/>
          <p:nvPr/>
        </p:nvSpPr>
        <p:spPr>
          <a:xfrm>
            <a:off x="12403" y="6400800"/>
            <a:ext cx="8598195" cy="41547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6E685E9A-0A1F-496B-9E4C-9B0C561E20AE}" type="slidenum">
              <a:rPr lang="en-US" altLang="en-US" sz="975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en-US" sz="975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35844" name="TextBox 14">
            <a:extLst>
              <a:ext uri="{FF2B5EF4-FFF2-40B4-BE49-F238E27FC236}">
                <a16:creationId xmlns:a16="http://schemas.microsoft.com/office/drawing/2014/main" id="{6AD2399B-C361-4334-A6EC-C81632BC7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3" y="836317"/>
            <a:ext cx="8902997" cy="621708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GB" altLang="en-US" sz="1900" dirty="0">
                <a:latin typeface="Times New Roman"/>
                <a:ea typeface="MS PGothic"/>
                <a:cs typeface="Times New Roman"/>
              </a:rPr>
              <a:t>Take a (non-expert) opinion seriously if and only if there is a sound/cogent argument for it.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endParaRPr lang="en-GB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GB" altLang="en-US" sz="1900" dirty="0">
                <a:latin typeface="Times New Roman"/>
                <a:ea typeface="MS PGothic"/>
                <a:cs typeface="Times New Roman"/>
              </a:rPr>
              <a:t>If it is your argument, be as clear as possible in expressing it.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endParaRPr lang="en-GB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GB" altLang="en-US" sz="1900" dirty="0">
                <a:latin typeface="Times New Roman"/>
                <a:ea typeface="MS PGothic"/>
                <a:cs typeface="Times New Roman"/>
              </a:rPr>
              <a:t>If it is someone else’s argument, be as charitable as possible in interpreting it.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endParaRPr lang="en-GB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GB" altLang="en-US" sz="1900" dirty="0">
                <a:latin typeface="Times New Roman"/>
                <a:ea typeface="MS PGothic"/>
                <a:cs typeface="Times New Roman"/>
              </a:rPr>
              <a:t>If there is a cogent argument for an opinion, retain some scepticism about the opinion.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endParaRPr lang="en-GB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GB" altLang="en-US" sz="1900" dirty="0">
                <a:latin typeface="Times New Roman"/>
                <a:ea typeface="MS PGothic"/>
                <a:cs typeface="Times New Roman"/>
              </a:rPr>
              <a:t>If you think there is a sound argument for a </a:t>
            </a:r>
            <a:r>
              <a:rPr lang="en-GB" altLang="en-US" sz="1900" b="1" dirty="0">
                <a:latin typeface="Times New Roman"/>
                <a:ea typeface="MS PGothic"/>
                <a:cs typeface="Times New Roman"/>
              </a:rPr>
              <a:t>normative</a:t>
            </a:r>
            <a:r>
              <a:rPr lang="en-GB" altLang="en-US" sz="1900" dirty="0">
                <a:latin typeface="Times New Roman"/>
                <a:ea typeface="MS PGothic"/>
                <a:cs typeface="Times New Roman"/>
              </a:rPr>
              <a:t> opinion, check again!</a:t>
            </a:r>
          </a:p>
          <a:p>
            <a:pPr marL="457200" lvl="1" indent="0" eaLnBrk="1" hangingPunct="1">
              <a:spcBef>
                <a:spcPct val="0"/>
              </a:spcBef>
              <a:buNone/>
              <a:defRPr/>
            </a:pPr>
            <a:endParaRPr lang="en-GB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GB" altLang="en-US" sz="1900" dirty="0">
                <a:latin typeface="Times New Roman"/>
                <a:ea typeface="MS PGothic"/>
                <a:cs typeface="Times New Roman"/>
              </a:rPr>
              <a:t>Do not dismiss an opinion as false, just because the argument for it is bad.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endParaRPr lang="en-GB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GB" altLang="en-US" sz="1900" dirty="0">
                <a:latin typeface="Times New Roman"/>
                <a:ea typeface="MS PGothic"/>
                <a:cs typeface="Times New Roman"/>
              </a:rPr>
              <a:t>Remember: an inference is either valid/invalid [relatively stronger/weaker]; it does not depend on your opinion.</a:t>
            </a: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endParaRPr lang="en-GB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r>
              <a:rPr lang="en-GB" altLang="en-US" sz="1900" dirty="0">
                <a:latin typeface="Times New Roman"/>
                <a:ea typeface="MS PGothic"/>
                <a:cs typeface="Times New Roman"/>
              </a:rPr>
              <a:t>Remember: a statement is either true or false; it can’t be both and does not depend on your opinion.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endParaRPr lang="en-GB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§"/>
              <a:defRPr/>
            </a:pPr>
            <a:endParaRPr lang="en-GB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717"/>
    </mc:Choice>
    <mc:Fallback xmlns="">
      <p:transition spd="slow" advTm="34571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9D810B75-3784-463D-9153-326757D44820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Attacking An Argument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0F6C8C37-8851-46EA-837E-0607AF9AC20F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4CBE4D8C-A20F-40E3-9993-83ACA5595807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3CFBD8E7-F59C-427F-B35E-543FDC8F5B8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838200"/>
            <a:ext cx="90678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When you don’t want to accept the conclusion of an ‘argument’, you must identify where the ‘argument’ goes awry (i.e. you must ‘attack’ the argument).</a:t>
            </a:r>
          </a:p>
          <a:p>
            <a:pPr marL="0" indent="0" eaLnBrk="1" hangingPunct="1"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You can attack an argument by identifying a 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statement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that challenges either the </a:t>
            </a:r>
            <a:r>
              <a:rPr lang="en-US" altLang="en-US" sz="24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acceptability of its </a:t>
            </a:r>
            <a:r>
              <a:rPr lang="en-US" altLang="en-US" sz="2400" u="sng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premises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or the </a:t>
            </a:r>
            <a:r>
              <a:rPr lang="en-US" altLang="en-US" sz="24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acceptability of its </a:t>
            </a:r>
            <a:r>
              <a:rPr lang="en-US" altLang="en-US" sz="2400" u="sng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inference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.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Sometimes, you could also challenge the</a:t>
            </a:r>
            <a:r>
              <a:rPr lang="en-US" altLang="en-US" sz="24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 truth of the </a:t>
            </a:r>
            <a:r>
              <a:rPr lang="en-US" altLang="en-US" sz="2400" u="sng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conclusion</a:t>
            </a:r>
            <a:r>
              <a:rPr lang="en-US" altLang="en-US" sz="24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In an arrow diagram, an attack is represented via a 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dashed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arrow drawn from the 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attacking statement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to the component of the argument that is being attacked.</a:t>
            </a:r>
          </a:p>
          <a:p>
            <a:pPr marL="0" indent="0" eaLnBrk="1" hangingPunct="1"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16128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888E4254-2E8E-429B-A195-44CA63A22F5E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Attacking An Argument: Testing intuitions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C870CC1C-983E-4BF1-A7BB-7A20CC918019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66585335-E482-4A35-A9F8-DDD2BFF98546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C48A7C16-CBA4-46DF-BDE6-6B997FDCF42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96863" y="1570038"/>
            <a:ext cx="8382000" cy="39925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argument: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1" name="TextBox 1">
            <a:extLst>
              <a:ext uri="{FF2B5EF4-FFF2-40B4-BE49-F238E27FC236}">
                <a16:creationId xmlns:a16="http://schemas.microsoft.com/office/drawing/2014/main" id="{4F2628C3-84AA-45A0-A239-186158778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38400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(1) Albert drives a taxi.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2" name="TextBox 5">
            <a:extLst>
              <a:ext uri="{FF2B5EF4-FFF2-40B4-BE49-F238E27FC236}">
                <a16:creationId xmlns:a16="http://schemas.microsoft.com/office/drawing/2014/main" id="{48458272-431A-4353-BC38-1AD1F831A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427288"/>
            <a:ext cx="350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(2) Many taxi drivers are rich.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3" name="TextBox 2">
            <a:extLst>
              <a:ext uri="{FF2B5EF4-FFF2-40B4-BE49-F238E27FC236}">
                <a16:creationId xmlns:a16="http://schemas.microsoft.com/office/drawing/2014/main" id="{F6900616-E562-40DD-8719-3E3F20794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667000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+</a:t>
            </a:r>
            <a:endParaRPr lang="en-SG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655751-526D-4225-81AE-03D94771B016}"/>
              </a:ext>
            </a:extLst>
          </p:cNvPr>
          <p:cNvCxnSpPr/>
          <p:nvPr/>
        </p:nvCxnSpPr>
        <p:spPr>
          <a:xfrm>
            <a:off x="609600" y="3589338"/>
            <a:ext cx="7315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CE57CF-2E2A-4B37-931F-6A2202540295}"/>
              </a:ext>
            </a:extLst>
          </p:cNvPr>
          <p:cNvCxnSpPr/>
          <p:nvPr/>
        </p:nvCxnSpPr>
        <p:spPr>
          <a:xfrm>
            <a:off x="4191000" y="3589338"/>
            <a:ext cx="0" cy="1058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26" name="TextBox 11">
            <a:extLst>
              <a:ext uri="{FF2B5EF4-FFF2-40B4-BE49-F238E27FC236}">
                <a16:creationId xmlns:a16="http://schemas.microsoft.com/office/drawing/2014/main" id="{124AF8CA-3AC7-42ED-BD04-7EACCA734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27588"/>
            <a:ext cx="350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(3) Albert is rich.</a:t>
            </a:r>
            <a:endParaRPr lang="en-SG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7" name="Rectangle 4">
            <a:extLst>
              <a:ext uri="{FF2B5EF4-FFF2-40B4-BE49-F238E27FC236}">
                <a16:creationId xmlns:a16="http://schemas.microsoft.com/office/drawing/2014/main" id="{1B3FF34D-7A80-4A94-B7C6-5475D85696B0}"/>
              </a:ext>
            </a:extLst>
          </p:cNvPr>
          <p:cNvSpPr txBox="1">
            <a:spLocks/>
          </p:cNvSpPr>
          <p:nvPr/>
        </p:nvSpPr>
        <p:spPr bwMode="auto">
          <a:xfrm>
            <a:off x="481013" y="5287963"/>
            <a:ext cx="836612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do not want to accept the conclusion. Then, you would have to attack either ___, or ____, or the __________, or, ____.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76124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810EA3B9-ED93-4F7C-97F9-C4EC664E74A3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Attacking An Argument: Testing intuitions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EC54B199-8125-4A4E-B60B-1DD29FDFB1CD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D24B495A-2C40-4F5A-BBAB-D5F53862056B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D68DCB1C-468A-4501-9ADD-5905A7D056E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96863" y="1570038"/>
            <a:ext cx="8382000" cy="39925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imes New Roman"/>
                <a:ea typeface="MS PGothic"/>
                <a:cs typeface="Times New Roman"/>
              </a:rPr>
              <a:t>Consider the statement: 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(4)Albert is blind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9" name="TextBox 1">
            <a:extLst>
              <a:ext uri="{FF2B5EF4-FFF2-40B4-BE49-F238E27FC236}">
                <a16:creationId xmlns:a16="http://schemas.microsoft.com/office/drawing/2014/main" id="{B4CB1072-6273-47C3-AA1C-82C205A18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38400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(1) Albert drives a taxi.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0" name="TextBox 5">
            <a:extLst>
              <a:ext uri="{FF2B5EF4-FFF2-40B4-BE49-F238E27FC236}">
                <a16:creationId xmlns:a16="http://schemas.microsoft.com/office/drawing/2014/main" id="{20AA0179-B348-44A3-B5D8-7E10AA6BA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427288"/>
            <a:ext cx="350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(2) Many taxi drivers are rich.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1" name="TextBox 2">
            <a:extLst>
              <a:ext uri="{FF2B5EF4-FFF2-40B4-BE49-F238E27FC236}">
                <a16:creationId xmlns:a16="http://schemas.microsoft.com/office/drawing/2014/main" id="{542DD48E-0033-4551-8575-176A358CC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667000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+</a:t>
            </a:r>
            <a:endParaRPr lang="en-SG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B0A5CD-39DD-4C68-B8AB-62AF22885A80}"/>
              </a:ext>
            </a:extLst>
          </p:cNvPr>
          <p:cNvCxnSpPr/>
          <p:nvPr/>
        </p:nvCxnSpPr>
        <p:spPr>
          <a:xfrm>
            <a:off x="609600" y="3589338"/>
            <a:ext cx="7315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FDCE5F-3401-4B10-878D-AEBAE299B164}"/>
              </a:ext>
            </a:extLst>
          </p:cNvPr>
          <p:cNvCxnSpPr/>
          <p:nvPr/>
        </p:nvCxnSpPr>
        <p:spPr>
          <a:xfrm>
            <a:off x="4191000" y="3589338"/>
            <a:ext cx="0" cy="1058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74" name="TextBox 11">
            <a:extLst>
              <a:ext uri="{FF2B5EF4-FFF2-40B4-BE49-F238E27FC236}">
                <a16:creationId xmlns:a16="http://schemas.microsoft.com/office/drawing/2014/main" id="{4602A543-0B95-47D8-B77A-7F8E5E753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27588"/>
            <a:ext cx="350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(3) Albert is rich.</a:t>
            </a:r>
            <a:endParaRPr lang="en-SG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5" name="Rectangle 4">
            <a:extLst>
              <a:ext uri="{FF2B5EF4-FFF2-40B4-BE49-F238E27FC236}">
                <a16:creationId xmlns:a16="http://schemas.microsoft.com/office/drawing/2014/main" id="{089C32B7-FB39-445E-8815-DCA270BB1ACD}"/>
              </a:ext>
            </a:extLst>
          </p:cNvPr>
          <p:cNvSpPr txBox="1">
            <a:spLocks/>
          </p:cNvSpPr>
          <p:nvPr/>
        </p:nvSpPr>
        <p:spPr bwMode="auto">
          <a:xfrm>
            <a:off x="481013" y="5287963"/>
            <a:ext cx="836612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would 4 attack?, and why?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135997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08DCBAAF-2424-4DF8-813F-8C9E9EBCC953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Attacking An Argument: Testing intuitions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D68516D8-688C-44A3-8DE3-995E5131158B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C2B87818-1DFB-4B95-999E-29F669D5864F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DCF8ED7-6A5A-4AAA-AD1A-66C8ACB2F3F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96863" y="1570038"/>
            <a:ext cx="8382000" cy="39925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imes New Roman"/>
                <a:ea typeface="MS PGothic"/>
                <a:cs typeface="Times New Roman"/>
              </a:rPr>
              <a:t>Consider the statement: 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(5)Albert receives low-income welfare support from the government</a:t>
            </a:r>
            <a:r>
              <a:rPr lang="en-US" altLang="en-US" sz="2400" b="1" dirty="0">
                <a:latin typeface="Times New Roman"/>
                <a:ea typeface="MS PGothic"/>
                <a:cs typeface="Times New Roman"/>
              </a:rPr>
              <a:t>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7" name="TextBox 1">
            <a:extLst>
              <a:ext uri="{FF2B5EF4-FFF2-40B4-BE49-F238E27FC236}">
                <a16:creationId xmlns:a16="http://schemas.microsoft.com/office/drawing/2014/main" id="{6BF129D9-ECD5-4B78-96D2-72CB0E843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38400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(1) Albert drives a taxi.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8" name="TextBox 5">
            <a:extLst>
              <a:ext uri="{FF2B5EF4-FFF2-40B4-BE49-F238E27FC236}">
                <a16:creationId xmlns:a16="http://schemas.microsoft.com/office/drawing/2014/main" id="{A977A69C-FC24-401D-9F24-575AD85EA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427288"/>
            <a:ext cx="350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(2) Many taxi drivers are rich.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9" name="TextBox 2">
            <a:extLst>
              <a:ext uri="{FF2B5EF4-FFF2-40B4-BE49-F238E27FC236}">
                <a16:creationId xmlns:a16="http://schemas.microsoft.com/office/drawing/2014/main" id="{14A4E443-AFA6-4918-8653-F288C300C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667000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+</a:t>
            </a:r>
            <a:endParaRPr lang="en-SG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99DB8C-514C-403C-BC1D-5F40924D6D8D}"/>
              </a:ext>
            </a:extLst>
          </p:cNvPr>
          <p:cNvCxnSpPr/>
          <p:nvPr/>
        </p:nvCxnSpPr>
        <p:spPr>
          <a:xfrm>
            <a:off x="609600" y="3589338"/>
            <a:ext cx="7315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303A3E-C78D-45C7-899F-10E71182F368}"/>
              </a:ext>
            </a:extLst>
          </p:cNvPr>
          <p:cNvCxnSpPr/>
          <p:nvPr/>
        </p:nvCxnSpPr>
        <p:spPr>
          <a:xfrm>
            <a:off x="4191000" y="3589338"/>
            <a:ext cx="0" cy="1058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22" name="TextBox 11">
            <a:extLst>
              <a:ext uri="{FF2B5EF4-FFF2-40B4-BE49-F238E27FC236}">
                <a16:creationId xmlns:a16="http://schemas.microsoft.com/office/drawing/2014/main" id="{BDEC979F-C887-4A23-9865-F068F7896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27588"/>
            <a:ext cx="350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(3) Albert is rich.</a:t>
            </a:r>
            <a:endParaRPr lang="en-SG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3" name="Rectangle 4">
            <a:extLst>
              <a:ext uri="{FF2B5EF4-FFF2-40B4-BE49-F238E27FC236}">
                <a16:creationId xmlns:a16="http://schemas.microsoft.com/office/drawing/2014/main" id="{A16CB7D4-0844-4573-BC40-3A295A40F2C5}"/>
              </a:ext>
            </a:extLst>
          </p:cNvPr>
          <p:cNvSpPr txBox="1">
            <a:spLocks/>
          </p:cNvSpPr>
          <p:nvPr/>
        </p:nvSpPr>
        <p:spPr bwMode="auto">
          <a:xfrm>
            <a:off x="481013" y="5287963"/>
            <a:ext cx="836612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would 5 attack?, and why?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199515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ECDD9FE0-4218-4FDD-B996-D5F22A53F11E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Attacking An Argument: Testing intuitions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820B0D8B-600A-4210-9B05-54F3B374F936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C02B57F3-3B2B-403F-BFB4-EA93F124F1A3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E1C39090-D404-4FB0-8F6B-9AD19557AC8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96863" y="1570038"/>
            <a:ext cx="8382000" cy="39925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imes New Roman"/>
                <a:ea typeface="MS PGothic"/>
                <a:cs typeface="Times New Roman"/>
              </a:rPr>
              <a:t>Consider the statement: 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(6)For every rich taxi driver, there are many more poor ones.</a:t>
            </a:r>
            <a:r>
              <a:rPr lang="en-US" altLang="en-US" sz="2400" b="1" dirty="0">
                <a:latin typeface="Times New Roman"/>
                <a:ea typeface="MS PGothic"/>
                <a:cs typeface="Times New Roman"/>
              </a:rPr>
              <a:t>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5" name="TextBox 1">
            <a:extLst>
              <a:ext uri="{FF2B5EF4-FFF2-40B4-BE49-F238E27FC236}">
                <a16:creationId xmlns:a16="http://schemas.microsoft.com/office/drawing/2014/main" id="{997BE077-3995-447C-B36B-F2419B51E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438400"/>
            <a:ext cx="3505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(1) Albert drives a taxi.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6" name="TextBox 5">
            <a:extLst>
              <a:ext uri="{FF2B5EF4-FFF2-40B4-BE49-F238E27FC236}">
                <a16:creationId xmlns:a16="http://schemas.microsoft.com/office/drawing/2014/main" id="{3551A2F1-5C26-4EF0-99A7-6494AE623C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427288"/>
            <a:ext cx="3505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(2) Many taxi drivers are rich.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7" name="TextBox 2">
            <a:extLst>
              <a:ext uri="{FF2B5EF4-FFF2-40B4-BE49-F238E27FC236}">
                <a16:creationId xmlns:a16="http://schemas.microsoft.com/office/drawing/2014/main" id="{DBB33A4A-64CC-46B4-A270-1D6CCED7A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667000"/>
            <a:ext cx="53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+</a:t>
            </a:r>
            <a:endParaRPr lang="en-SG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D75E93-DCB5-42BD-86AD-4759F1446065}"/>
              </a:ext>
            </a:extLst>
          </p:cNvPr>
          <p:cNvCxnSpPr/>
          <p:nvPr/>
        </p:nvCxnSpPr>
        <p:spPr>
          <a:xfrm>
            <a:off x="609600" y="3589338"/>
            <a:ext cx="7315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754A2F-01C8-41CD-9B7B-33EFA8AACDF9}"/>
              </a:ext>
            </a:extLst>
          </p:cNvPr>
          <p:cNvCxnSpPr/>
          <p:nvPr/>
        </p:nvCxnSpPr>
        <p:spPr>
          <a:xfrm>
            <a:off x="4191000" y="3589338"/>
            <a:ext cx="0" cy="1058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0" name="TextBox 11">
            <a:extLst>
              <a:ext uri="{FF2B5EF4-FFF2-40B4-BE49-F238E27FC236}">
                <a16:creationId xmlns:a16="http://schemas.microsoft.com/office/drawing/2014/main" id="{B3DF689E-B904-4077-9DC5-748568171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4827588"/>
            <a:ext cx="350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(3) Albert is rich.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1" name="Rectangle 4">
            <a:extLst>
              <a:ext uri="{FF2B5EF4-FFF2-40B4-BE49-F238E27FC236}">
                <a16:creationId xmlns:a16="http://schemas.microsoft.com/office/drawing/2014/main" id="{49C112AB-2FB8-4450-B740-553693B3CBB8}"/>
              </a:ext>
            </a:extLst>
          </p:cNvPr>
          <p:cNvSpPr txBox="1">
            <a:spLocks/>
          </p:cNvSpPr>
          <p:nvPr/>
        </p:nvSpPr>
        <p:spPr bwMode="auto">
          <a:xfrm>
            <a:off x="481013" y="5287963"/>
            <a:ext cx="8366125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would 6 attack?, and why?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26642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3A35B01E-976A-46F8-A736-79C6C75994FD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What Is Under Attack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CBCDE0AA-9FC8-43AE-830B-29C79BE2293F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4444116A-DC11-48D8-8EF0-866E123F0BA2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46E8607E-DF06-4610-BEB1-F094E33B13A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295400"/>
            <a:ext cx="8382000" cy="426720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Given our discussion so far, we can identify what is under attack by using the following 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definitions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: Let’s use P,C, I and AS for premise, conclusion, inference and attacking statement, respectively. 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a) A premise is attacked if, and only if, </a:t>
            </a:r>
            <a:r>
              <a:rPr lang="en-US" altLang="en-US" sz="22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Prob(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P | AS</a:t>
            </a:r>
            <a:r>
              <a:rPr lang="en-US" altLang="en-US" sz="22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) &lt; Prob(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P</a:t>
            </a:r>
            <a:r>
              <a:rPr lang="en-US" altLang="en-US" sz="22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).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In other words, with the attacking statement, the premise is less likely to be true, than without.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b) A conclusion is attacked if, and only if, </a:t>
            </a:r>
            <a:r>
              <a:rPr lang="en-US" altLang="en-US" sz="22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Prob(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C| AS</a:t>
            </a:r>
            <a:r>
              <a:rPr lang="en-US" altLang="en-US" sz="22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) &lt; Prob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(C). 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In other words, with the attacking statement, the conclusion is less likely to be true, than without.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c) An inference is attacked if and only if </a:t>
            </a:r>
            <a:r>
              <a:rPr lang="en-US" altLang="en-US" sz="22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Prob(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 C| P + AS</a:t>
            </a:r>
            <a:r>
              <a:rPr lang="en-US" altLang="en-US" sz="22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) &lt; Prob(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C| P</a:t>
            </a:r>
            <a:r>
              <a:rPr lang="en-US" altLang="en-US" sz="22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). 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In other words,  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adding the attacking statement to the existing premises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reduces the strength of inference.</a:t>
            </a:r>
          </a:p>
        </p:txBody>
      </p:sp>
    </p:spTree>
  </p:cSld>
  <p:clrMapOvr>
    <a:masterClrMapping/>
  </p:clrMapOvr>
  <p:transition spd="slow" advTm="173475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55963D32-2CE0-44F2-BB93-7EE117CE0414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What Is Under Attack: </a:t>
            </a:r>
          </a:p>
          <a:p>
            <a:pPr eaLnBrk="1" hangingPunct="1">
              <a:defRPr/>
            </a:pPr>
            <a:r>
              <a:rPr lang="en-US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Examples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0640929B-F035-4585-BD0E-3C0F5221818B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B062A1FE-32E0-4A13-BDC3-A3CC715D288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0E215A5E-1285-47BD-842A-AE220174DBC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295400"/>
            <a:ext cx="8382000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</a:p>
          <a:p>
            <a:pPr lvl="1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Original Argument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: (1)Emma worked very hard last year. So, (2)she was promoted.</a:t>
            </a:r>
          </a:p>
          <a:p>
            <a:pPr lvl="1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Attacking Statement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: (3)Emma was on </a:t>
            </a:r>
            <a:r>
              <a:rPr lang="en-US" altLang="en-US" sz="2000" b="1" dirty="0">
                <a:latin typeface="Times New Roman"/>
                <a:ea typeface="MS PGothic"/>
                <a:cs typeface="Times New Roman"/>
              </a:rPr>
              <a:t>unpaid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 leave for 10 months last year.</a:t>
            </a:r>
            <a:endParaRPr lang="en-US" altLang="en-US" sz="1600" dirty="0">
              <a:latin typeface="Times New Roman"/>
              <a:ea typeface="MS PGothic"/>
              <a:cs typeface="Times New Roman"/>
            </a:endParaRPr>
          </a:p>
          <a:p>
            <a:pPr marL="0" indent="0" eaLnBrk="1" hangingPunct="1">
              <a:buNone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</a:t>
            </a:r>
          </a:p>
          <a:p>
            <a:pPr lvl="1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Original Argument: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(1) Mona is Chinese since (2) Mona is Singaporean and (3) most Singaporeans are Chinese.</a:t>
            </a:r>
          </a:p>
          <a:p>
            <a:pPr lvl="1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Attacking Statement: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 (4)Mona’s Malay is better than her Chinese.</a:t>
            </a:r>
          </a:p>
          <a:p>
            <a:pPr marL="0" indent="0" eaLnBrk="1" hangingPunct="1">
              <a:buNone/>
              <a:defRPr/>
            </a:pPr>
            <a:endParaRPr lang="en-US" altLang="en-US" sz="18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DDB7D14-1668-ACED-F399-ECE9A164FF13}"/>
              </a:ext>
            </a:extLst>
          </p:cNvPr>
          <p:cNvCxnSpPr/>
          <p:nvPr/>
        </p:nvCxnSpPr>
        <p:spPr>
          <a:xfrm>
            <a:off x="228600" y="5636261"/>
            <a:ext cx="73152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356759C-A5BC-4EBD-4513-6C7F0442440E}"/>
              </a:ext>
            </a:extLst>
          </p:cNvPr>
          <p:cNvCxnSpPr>
            <a:cxnSpLocks/>
          </p:cNvCxnSpPr>
          <p:nvPr/>
        </p:nvCxnSpPr>
        <p:spPr>
          <a:xfrm>
            <a:off x="2743200" y="5592763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11">
            <a:extLst>
              <a:ext uri="{FF2B5EF4-FFF2-40B4-BE49-F238E27FC236}">
                <a16:creationId xmlns:a16="http://schemas.microsoft.com/office/drawing/2014/main" id="{06F281E0-4A48-680F-3284-AE2DA8544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132388"/>
            <a:ext cx="350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(2) Mona’s </a:t>
            </a:r>
            <a:r>
              <a:rPr lang="en-US" altLang="en-US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S’porean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+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2E1DFAB8-3DC2-E5F8-6AE6-30A2823E1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599" y="5102225"/>
            <a:ext cx="4190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(3) Most </a:t>
            </a:r>
            <a:r>
              <a:rPr lang="en-US" altLang="en-US" sz="24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S’poreans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are Chinese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0465087F-A542-F352-132F-CC94A0B32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6076156"/>
            <a:ext cx="350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(1) Mona’s Chinese</a:t>
            </a:r>
            <a:endParaRPr lang="en-SG" altLang="en-US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497778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55963D32-2CE0-44F2-BB93-7EE117CE0414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What Is Under Attack: </a:t>
            </a:r>
          </a:p>
          <a:p>
            <a:pPr eaLnBrk="1" hangingPunct="1">
              <a:defRPr/>
            </a:pPr>
            <a:r>
              <a:rPr lang="en-US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Examples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0640929B-F035-4585-BD0E-3C0F5221818B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B062A1FE-32E0-4A13-BDC3-A3CC715D288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0E215A5E-1285-47BD-842A-AE220174DBC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099" y="1295400"/>
            <a:ext cx="8863013" cy="5029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Original Argument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: (1)Mona is late and she hasn’t called. (2)She always calls when she is late. (3)Something bad must have happened to her.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Attacking Statement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: (4)Mona’s handphone was very low on battery when she left the house.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4</a:t>
            </a: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Original Argument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: (1)Sovan loves Emma. (2)Emma loves Sovan. (3)They should get married.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altLang="en-US" sz="22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Attacking Statement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: (4) Sovan only lusts after Emma.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18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58571"/>
      </p:ext>
    </p:extLst>
  </p:cSld>
  <p:clrMapOvr>
    <a:masterClrMapping/>
  </p:clrMapOvr>
  <p:transition spd="slow" advTm="497778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TextBox 16">
            <a:extLst>
              <a:ext uri="{FF2B5EF4-FFF2-40B4-BE49-F238E27FC236}">
                <a16:creationId xmlns:a16="http://schemas.microsoft.com/office/drawing/2014/main" id="{F98C4AEF-2AAB-4920-8613-9482F4419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79" y="2887267"/>
            <a:ext cx="266342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2.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There is no important difference between currently legal and currently illegal drugs</a:t>
            </a:r>
          </a:p>
        </p:txBody>
      </p:sp>
      <p:sp>
        <p:nvSpPr>
          <p:cNvPr id="41989" name="TextBox 17">
            <a:extLst>
              <a:ext uri="{FF2B5EF4-FFF2-40B4-BE49-F238E27FC236}">
                <a16:creationId xmlns:a16="http://schemas.microsoft.com/office/drawing/2014/main" id="{761C064F-8DD2-4C5D-A4EC-C08CBB110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6669" y="2896791"/>
            <a:ext cx="20574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3.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If there’s no important difference, they should be treated identically in law</a:t>
            </a:r>
          </a:p>
        </p:txBody>
      </p:sp>
      <p:sp>
        <p:nvSpPr>
          <p:cNvPr id="41990" name="TextBox 18">
            <a:extLst>
              <a:ext uri="{FF2B5EF4-FFF2-40B4-BE49-F238E27FC236}">
                <a16:creationId xmlns:a16="http://schemas.microsoft.com/office/drawing/2014/main" id="{279EDCB4-2627-42ED-BAF2-CA1635EAA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7685" y="3119437"/>
            <a:ext cx="2057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2E1571-B935-47AC-9D62-0F071FA496BA}"/>
              </a:ext>
            </a:extLst>
          </p:cNvPr>
          <p:cNvCxnSpPr/>
          <p:nvPr/>
        </p:nvCxnSpPr>
        <p:spPr>
          <a:xfrm>
            <a:off x="1068754" y="4038600"/>
            <a:ext cx="4951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747AAA-FF1D-443E-9513-D11073C6A6DA}"/>
              </a:ext>
            </a:extLst>
          </p:cNvPr>
          <p:cNvCxnSpPr/>
          <p:nvPr/>
        </p:nvCxnSpPr>
        <p:spPr>
          <a:xfrm>
            <a:off x="2318910" y="4045743"/>
            <a:ext cx="0" cy="46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3" name="TextBox 23">
            <a:extLst>
              <a:ext uri="{FF2B5EF4-FFF2-40B4-BE49-F238E27FC236}">
                <a16:creationId xmlns:a16="http://schemas.microsoft.com/office/drawing/2014/main" id="{22822F19-F338-4886-AA36-F51105975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986" y="4507543"/>
            <a:ext cx="30908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4.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Either we should legalise currently illegal drugs or make currently legal drugs illegal</a:t>
            </a:r>
          </a:p>
        </p:txBody>
      </p:sp>
      <p:sp>
        <p:nvSpPr>
          <p:cNvPr id="41994" name="TextBox 24">
            <a:extLst>
              <a:ext uri="{FF2B5EF4-FFF2-40B4-BE49-F238E27FC236}">
                <a16:creationId xmlns:a16="http://schemas.microsoft.com/office/drawing/2014/main" id="{7DED5145-F748-424F-A52C-48627C471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194" y="4503906"/>
            <a:ext cx="28526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7.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We shouldn’t (</a:t>
            </a:r>
            <a:r>
              <a: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 a liberal society)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make currently legal drugs illegal.</a:t>
            </a:r>
          </a:p>
        </p:txBody>
      </p:sp>
      <p:sp>
        <p:nvSpPr>
          <p:cNvPr id="41995" name="TextBox 25">
            <a:extLst>
              <a:ext uri="{FF2B5EF4-FFF2-40B4-BE49-F238E27FC236}">
                <a16:creationId xmlns:a16="http://schemas.microsoft.com/office/drawing/2014/main" id="{59BC9BB9-67F6-4FF5-8723-5CA91769B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386" y="4519449"/>
            <a:ext cx="20574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35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EF85228-C772-4C52-847D-9C6A0A7614A3}"/>
              </a:ext>
            </a:extLst>
          </p:cNvPr>
          <p:cNvCxnSpPr>
            <a:cxnSpLocks/>
          </p:cNvCxnSpPr>
          <p:nvPr/>
        </p:nvCxnSpPr>
        <p:spPr>
          <a:xfrm>
            <a:off x="570390" y="5334000"/>
            <a:ext cx="61257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EC098C7-AFDE-49BD-A4FB-36A8056D971C}"/>
              </a:ext>
            </a:extLst>
          </p:cNvPr>
          <p:cNvCxnSpPr/>
          <p:nvPr/>
        </p:nvCxnSpPr>
        <p:spPr>
          <a:xfrm>
            <a:off x="4037490" y="5334000"/>
            <a:ext cx="0" cy="461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8" name="TextBox 28">
            <a:extLst>
              <a:ext uri="{FF2B5EF4-FFF2-40B4-BE49-F238E27FC236}">
                <a16:creationId xmlns:a16="http://schemas.microsoft.com/office/drawing/2014/main" id="{183FD250-EEF1-4B55-A342-5B729455E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690" y="1175242"/>
            <a:ext cx="239196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5.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We should not(</a:t>
            </a:r>
            <a:r>
              <a: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 a liberal society)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police private behaviour unless it damages the social fabric or causes harm to unwilling third parties</a:t>
            </a:r>
          </a:p>
        </p:txBody>
      </p:sp>
      <p:sp>
        <p:nvSpPr>
          <p:cNvPr id="41999" name="TextBox 29">
            <a:extLst>
              <a:ext uri="{FF2B5EF4-FFF2-40B4-BE49-F238E27FC236}">
                <a16:creationId xmlns:a16="http://schemas.microsoft.com/office/drawing/2014/main" id="{2E942FAA-CF25-4CDE-A691-87EA923AC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547" y="1387079"/>
            <a:ext cx="2057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6.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Use of currently legal drugs does not damage the social fabric or cause harm to unwilling third parties</a:t>
            </a:r>
          </a:p>
        </p:txBody>
      </p:sp>
      <p:sp>
        <p:nvSpPr>
          <p:cNvPr id="42000" name="TextBox 30">
            <a:extLst>
              <a:ext uri="{FF2B5EF4-FFF2-40B4-BE49-F238E27FC236}">
                <a16:creationId xmlns:a16="http://schemas.microsoft.com/office/drawing/2014/main" id="{8A07FEA4-F1EE-46D0-B137-4C5DE4E04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8041" y="1847850"/>
            <a:ext cx="2057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122F2A-7BE8-4594-A994-9D6C40489B7B}"/>
              </a:ext>
            </a:extLst>
          </p:cNvPr>
          <p:cNvCxnSpPr/>
          <p:nvPr/>
        </p:nvCxnSpPr>
        <p:spPr>
          <a:xfrm>
            <a:off x="3760390" y="2832150"/>
            <a:ext cx="49518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C62ECEE-7C97-4C14-807F-D5ED44C877D3}"/>
              </a:ext>
            </a:extLst>
          </p:cNvPr>
          <p:cNvCxnSpPr>
            <a:cxnSpLocks/>
          </p:cNvCxnSpPr>
          <p:nvPr/>
        </p:nvCxnSpPr>
        <p:spPr>
          <a:xfrm>
            <a:off x="6407149" y="2832150"/>
            <a:ext cx="0" cy="1739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03" name="TextBox 33">
            <a:extLst>
              <a:ext uri="{FF2B5EF4-FFF2-40B4-BE49-F238E27FC236}">
                <a16:creationId xmlns:a16="http://schemas.microsoft.com/office/drawing/2014/main" id="{BA2DE7CE-DA17-40E4-A138-1BBFD24F4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78" y="955476"/>
            <a:ext cx="28194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1.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Currently </a:t>
            </a:r>
            <a:r>
              <a: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legal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and currently </a:t>
            </a:r>
            <a:r>
              <a:rPr lang="en-SG" altLang="en-US" sz="1600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illegal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drugs (</a:t>
            </a:r>
            <a:r>
              <a: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nicotine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and</a:t>
            </a:r>
            <a:r>
              <a:rPr lang="en-SG" altLang="en-US" sz="1600" dirty="0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SG" altLang="en-US" sz="1600" dirty="0" err="1">
                <a:solidFill>
                  <a:srgbClr val="7030A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ganja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 are used for the same purposes and pose similar health risks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C440A5-184E-44B0-8BFD-A083FA40FD55}"/>
              </a:ext>
            </a:extLst>
          </p:cNvPr>
          <p:cNvCxnSpPr>
            <a:cxnSpLocks/>
          </p:cNvCxnSpPr>
          <p:nvPr/>
        </p:nvCxnSpPr>
        <p:spPr>
          <a:xfrm flipV="1">
            <a:off x="517889" y="2321040"/>
            <a:ext cx="2613422" cy="11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07E9E22-3C0F-4FC6-9F6F-37DD5627839B}"/>
              </a:ext>
            </a:extLst>
          </p:cNvPr>
          <p:cNvCxnSpPr>
            <a:cxnSpLocks/>
          </p:cNvCxnSpPr>
          <p:nvPr/>
        </p:nvCxnSpPr>
        <p:spPr>
          <a:xfrm>
            <a:off x="1719263" y="2306321"/>
            <a:ext cx="0" cy="541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4">
            <a:extLst>
              <a:ext uri="{FF2B5EF4-FFF2-40B4-BE49-F238E27FC236}">
                <a16:creationId xmlns:a16="http://schemas.microsoft.com/office/drawing/2014/main" id="{1ED7B2AF-D138-4227-B48F-EF7FAF8C1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6563" y="5791481"/>
            <a:ext cx="285267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8.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We should legalise</a:t>
            </a:r>
            <a:r>
              <a: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SG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currently illegal drugs.</a:t>
            </a:r>
          </a:p>
        </p:txBody>
      </p:sp>
      <p:sp>
        <p:nvSpPr>
          <p:cNvPr id="23" name="Snip and Round Single Corner Rectangle 7">
            <a:extLst>
              <a:ext uri="{FF2B5EF4-FFF2-40B4-BE49-F238E27FC236}">
                <a16:creationId xmlns:a16="http://schemas.microsoft.com/office/drawing/2014/main" id="{588A69B1-04F9-4B8E-86AD-B1E4B4587E5F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F7ADBE3B-3354-4488-B798-46DAE08CFFC7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24" name="Snip and Round Single Corner Rectangle 6">
            <a:extLst>
              <a:ext uri="{FF2B5EF4-FFF2-40B4-BE49-F238E27FC236}">
                <a16:creationId xmlns:a16="http://schemas.microsoft.com/office/drawing/2014/main" id="{C933FE7E-5F96-4219-B2E8-45FEE3A90DA3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Ex: Grayling’s Original Argument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D07064C-BE36-46D7-B61F-8ED69839A633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118194" y="965200"/>
            <a:ext cx="7187605" cy="36576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GB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Example 6: Grayling</a:t>
            </a:r>
          </a:p>
          <a:p>
            <a:pPr marL="0" indent="0" eaLnBrk="1" hangingPunct="1">
              <a:buNone/>
            </a:pPr>
            <a:r>
              <a:rPr lang="en-GB" altLang="zh-CN" sz="2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What do the following attack?</a:t>
            </a:r>
          </a:p>
          <a:p>
            <a:pPr marL="0" indent="0" eaLnBrk="1" hangingPunct="1">
              <a:buNone/>
            </a:pPr>
            <a:r>
              <a:rPr lang="en-GB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However, Grayling,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(9)</a:t>
            </a:r>
            <a:r>
              <a:rPr lang="en-GB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parking on a double yellow line does not damage the social fabric or harm unwilling third parties and, yet, it is rightly criminalised. Further,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(10)</a:t>
            </a:r>
            <a:r>
              <a:rPr lang="en-GB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second-hand smoke is a significant health hazard. In addition,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(11)</a:t>
            </a:r>
            <a:r>
              <a:rPr lang="en-GB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research shows that unlike nicotine, ecstasy damages nerve cells. Moreover,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(12)</a:t>
            </a:r>
            <a:r>
              <a:rPr lang="en-GB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if we legalise ecstasy, we will set off a conservative backlash and lose the election. So,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(13)</a:t>
            </a:r>
            <a:r>
              <a:rPr lang="en-GB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we should not legalise ecstasy. And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(14) </a:t>
            </a:r>
            <a:r>
              <a:rPr lang="en-GB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why must all societies be liberal? And,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(15) </a:t>
            </a:r>
            <a:r>
              <a:rPr lang="en-GB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even liberal societies are now criminalising the not wearing of masks!</a:t>
            </a:r>
          </a:p>
        </p:txBody>
      </p:sp>
      <p:sp>
        <p:nvSpPr>
          <p:cNvPr id="6" name="Snip and Round Single Corner Rectangle 7">
            <a:extLst>
              <a:ext uri="{FF2B5EF4-FFF2-40B4-BE49-F238E27FC236}">
                <a16:creationId xmlns:a16="http://schemas.microsoft.com/office/drawing/2014/main" id="{05BC353C-204F-4FBF-A9F1-2FCA49D631B5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F7ADBE3B-3354-4488-B798-46DAE08CFFC7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DDB028C2-17B7-426E-9CBB-5FF535A861B6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What Is Under Attack:</a:t>
            </a:r>
          </a:p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Examples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A1ECF96C-D56E-4173-A03A-B64B26362101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 Is An Argument!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C105A0E7-E656-44BD-9521-0EDE222E1916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B7910272-0843-43C9-8A80-E8BE3B676A94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A61D07B8-3F22-4822-A07A-223F16F9D8F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0" y="993775"/>
            <a:ext cx="8382000" cy="39925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following diagram: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9" name="Rectangle 4">
            <a:extLst>
              <a:ext uri="{FF2B5EF4-FFF2-40B4-BE49-F238E27FC236}">
                <a16:creationId xmlns:a16="http://schemas.microsoft.com/office/drawing/2014/main" id="{2E3CF494-19DF-4F9C-9E84-6199859C001C}"/>
              </a:ext>
            </a:extLst>
          </p:cNvPr>
          <p:cNvSpPr txBox="1">
            <a:spLocks/>
          </p:cNvSpPr>
          <p:nvPr/>
        </p:nvSpPr>
        <p:spPr bwMode="auto">
          <a:xfrm>
            <a:off x="611188" y="4756150"/>
            <a:ext cx="5345112" cy="1662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attack from (4) on (1) is an argument in its own right!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606" name="Group 10">
            <a:extLst>
              <a:ext uri="{FF2B5EF4-FFF2-40B4-BE49-F238E27FC236}">
                <a16:creationId xmlns:a16="http://schemas.microsoft.com/office/drawing/2014/main" id="{802AFF4D-1D5F-4115-ABA6-EBE72D2E2CA4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565275"/>
            <a:ext cx="6781800" cy="2714625"/>
            <a:chOff x="228600" y="1747837"/>
            <a:chExt cx="8013700" cy="3380264"/>
          </a:xfrm>
        </p:grpSpPr>
        <p:grpSp>
          <p:nvGrpSpPr>
            <p:cNvPr id="25611" name="Group 8">
              <a:extLst>
                <a:ext uri="{FF2B5EF4-FFF2-40B4-BE49-F238E27FC236}">
                  <a16:creationId xmlns:a16="http://schemas.microsoft.com/office/drawing/2014/main" id="{93F9D523-93D2-4B14-9684-7C37E2DE43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00" y="2824955"/>
              <a:ext cx="7772400" cy="654641"/>
              <a:chOff x="533400" y="2703511"/>
              <a:chExt cx="7772400" cy="654641"/>
            </a:xfrm>
          </p:grpSpPr>
          <p:sp>
            <p:nvSpPr>
              <p:cNvPr id="25619" name="TextBox 1">
                <a:extLst>
                  <a:ext uri="{FF2B5EF4-FFF2-40B4-BE49-F238E27FC236}">
                    <a16:creationId xmlns:a16="http://schemas.microsoft.com/office/drawing/2014/main" id="{EF2F0DC7-BA9C-4AAC-AD97-A22184EE98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2714623"/>
                <a:ext cx="3505200" cy="459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(1) Albert drives a taxi.</a:t>
                </a:r>
                <a:endParaRPr lang="en-SG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0" name="TextBox 5">
                <a:extLst>
                  <a:ext uri="{FF2B5EF4-FFF2-40B4-BE49-F238E27FC236}">
                    <a16:creationId xmlns:a16="http://schemas.microsoft.com/office/drawing/2014/main" id="{2B6F7D51-9C50-4563-A389-40C89ECCBA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600" y="2703511"/>
                <a:ext cx="3505200" cy="459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(2) Many taxi drivers are rich.</a:t>
                </a:r>
                <a:endParaRPr lang="en-SG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21" name="TextBox 2">
                <a:extLst>
                  <a:ext uri="{FF2B5EF4-FFF2-40B4-BE49-F238E27FC236}">
                    <a16:creationId xmlns:a16="http://schemas.microsoft.com/office/drawing/2014/main" id="{DBAF3F73-A053-4069-A81E-38E1384471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2400" y="2943223"/>
                <a:ext cx="533400" cy="4149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latin typeface="Times New Roman" panose="02020603050405020304" pitchFamily="18" charset="0"/>
                  </a:rPr>
                  <a:t>+</a:t>
                </a:r>
                <a:endParaRPr lang="en-SG" altLang="en-US" sz="16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5612" name="Group 5">
              <a:extLst>
                <a:ext uri="{FF2B5EF4-FFF2-40B4-BE49-F238E27FC236}">
                  <a16:creationId xmlns:a16="http://schemas.microsoft.com/office/drawing/2014/main" id="{344999CE-FE94-4BCC-9621-652941C7C5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3817140"/>
              <a:ext cx="7315200" cy="1310961"/>
              <a:chOff x="609600" y="4265611"/>
              <a:chExt cx="7315200" cy="1310961"/>
            </a:xfrm>
          </p:grpSpPr>
          <p:grpSp>
            <p:nvGrpSpPr>
              <p:cNvPr id="25615" name="Group 3">
                <a:extLst>
                  <a:ext uri="{FF2B5EF4-FFF2-40B4-BE49-F238E27FC236}">
                    <a16:creationId xmlns:a16="http://schemas.microsoft.com/office/drawing/2014/main" id="{0C621A1F-0FB7-46B8-9372-1E2D6E2EAC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9600" y="4265611"/>
                <a:ext cx="7315200" cy="658812"/>
                <a:chOff x="609600" y="4265611"/>
                <a:chExt cx="7315200" cy="658812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086FD4CC-8D93-4E93-9799-987B87729F7E}"/>
                    </a:ext>
                  </a:extLst>
                </p:cNvPr>
                <p:cNvCxnSpPr/>
                <p:nvPr/>
              </p:nvCxnSpPr>
              <p:spPr>
                <a:xfrm>
                  <a:off x="609401" y="4265980"/>
                  <a:ext cx="7315878" cy="0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B402E237-30D8-4D0C-81E8-359896816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0430" y="4267956"/>
                  <a:ext cx="0" cy="65628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616" name="TextBox 11">
                <a:extLst>
                  <a:ext uri="{FF2B5EF4-FFF2-40B4-BE49-F238E27FC236}">
                    <a16:creationId xmlns:a16="http://schemas.microsoft.com/office/drawing/2014/main" id="{A23EE49C-CE4F-49B6-A2E6-32749CD07C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0" y="5103811"/>
                <a:ext cx="3505200" cy="4727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(3) Albert is rich.</a:t>
                </a:r>
                <a:endParaRPr lang="en-SG" altLang="en-US" sz="18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5613" name="TextBox 11">
              <a:extLst>
                <a:ext uri="{FF2B5EF4-FFF2-40B4-BE49-F238E27FC236}">
                  <a16:creationId xmlns:a16="http://schemas.microsoft.com/office/drawing/2014/main" id="{69ED5C08-4731-4068-A203-57F17D674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1747837"/>
              <a:ext cx="3886199" cy="4727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(4) Albert is blind.</a:t>
              </a:r>
              <a:endParaRPr lang="en-SG" altLang="en-US" sz="18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A6B8D33-D2CE-434A-A756-96BBCF4FD87D}"/>
                </a:ext>
              </a:extLst>
            </p:cNvPr>
            <p:cNvCxnSpPr>
              <a:cxnSpLocks/>
            </p:cNvCxnSpPr>
            <p:nvPr/>
          </p:nvCxnSpPr>
          <p:spPr>
            <a:xfrm>
              <a:off x="1905624" y="2210399"/>
              <a:ext cx="0" cy="60884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07" name="Group 13">
            <a:extLst>
              <a:ext uri="{FF2B5EF4-FFF2-40B4-BE49-F238E27FC236}">
                <a16:creationId xmlns:a16="http://schemas.microsoft.com/office/drawing/2014/main" id="{279037C1-AF58-4AC3-9946-767B03BF20F0}"/>
              </a:ext>
            </a:extLst>
          </p:cNvPr>
          <p:cNvGrpSpPr>
            <a:grpSpLocks/>
          </p:cNvGrpSpPr>
          <p:nvPr/>
        </p:nvGrpSpPr>
        <p:grpSpPr bwMode="auto">
          <a:xfrm>
            <a:off x="5681663" y="4630737"/>
            <a:ext cx="3030537" cy="1188763"/>
            <a:chOff x="6037673" y="4252950"/>
            <a:chExt cx="3030127" cy="1188682"/>
          </a:xfrm>
        </p:grpSpPr>
        <p:sp>
          <p:nvSpPr>
            <p:cNvPr id="25608" name="TextBox 1">
              <a:extLst>
                <a:ext uri="{FF2B5EF4-FFF2-40B4-BE49-F238E27FC236}">
                  <a16:creationId xmlns:a16="http://schemas.microsoft.com/office/drawing/2014/main" id="{6D12C357-90FB-4AD6-A6EA-FBC9A9971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5818" y="5103101"/>
              <a:ext cx="2733056" cy="338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(7) Albert </a:t>
              </a:r>
              <a:r>
                <a:rPr lang="en-US" altLang="en-US" sz="1600" b="1" u="sng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does not </a:t>
              </a:r>
              <a:r>
                <a:rPr lang="en-US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drive a taxi</a:t>
              </a:r>
              <a:endPara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09" name="TextBox 20">
              <a:extLst>
                <a:ext uri="{FF2B5EF4-FFF2-40B4-BE49-F238E27FC236}">
                  <a16:creationId xmlns:a16="http://schemas.microsoft.com/office/drawing/2014/main" id="{60DE4E1F-7DC3-46A0-9E54-5C4C1C0BD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7673" y="4252950"/>
              <a:ext cx="3030127" cy="338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(4) Albert is blind.</a:t>
              </a:r>
              <a:endPara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1E9EEAD-1C82-42BC-B55D-B2D07FF5F383}"/>
                </a:ext>
              </a:extLst>
            </p:cNvPr>
            <p:cNvCxnSpPr>
              <a:cxnSpLocks/>
            </p:cNvCxnSpPr>
            <p:nvPr/>
          </p:nvCxnSpPr>
          <p:spPr>
            <a:xfrm>
              <a:off x="7344008" y="4613287"/>
              <a:ext cx="0" cy="476217"/>
            </a:xfrm>
            <a:prstGeom prst="straightConnector1">
              <a:avLst/>
            </a:prstGeom>
            <a:ln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Tm="80369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96C6CCE0-2E33-49AE-AB35-9869290D0BB2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 Is An Argument!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E4C5C6D8-C2F4-442D-833C-B040A619B226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8CAFA316-0FBE-4931-869E-E60AF91FCF54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DD6A5F51-9521-44C4-B66F-5B3D1998471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3500" y="955675"/>
            <a:ext cx="8382000" cy="39925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Now consider: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9" name="Rectangle 4">
            <a:extLst>
              <a:ext uri="{FF2B5EF4-FFF2-40B4-BE49-F238E27FC236}">
                <a16:creationId xmlns:a16="http://schemas.microsoft.com/office/drawing/2014/main" id="{5A08C1B2-A781-44D2-A851-A90E4BEB2C00}"/>
              </a:ext>
            </a:extLst>
          </p:cNvPr>
          <p:cNvSpPr txBox="1">
            <a:spLocks/>
          </p:cNvSpPr>
          <p:nvPr/>
        </p:nvSpPr>
        <p:spPr bwMode="auto">
          <a:xfrm>
            <a:off x="611188" y="4756150"/>
            <a:ext cx="5345112" cy="1662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attack from (5) on (3) is an argument in its own right!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654" name="Group 10">
            <a:extLst>
              <a:ext uri="{FF2B5EF4-FFF2-40B4-BE49-F238E27FC236}">
                <a16:creationId xmlns:a16="http://schemas.microsoft.com/office/drawing/2014/main" id="{FFB79279-D1E0-492F-B670-06377942D111}"/>
              </a:ext>
            </a:extLst>
          </p:cNvPr>
          <p:cNvGrpSpPr>
            <a:grpSpLocks/>
          </p:cNvGrpSpPr>
          <p:nvPr/>
        </p:nvGrpSpPr>
        <p:grpSpPr bwMode="auto">
          <a:xfrm>
            <a:off x="966788" y="1609725"/>
            <a:ext cx="6577012" cy="3021013"/>
            <a:chOff x="469900" y="1802263"/>
            <a:chExt cx="7772400" cy="3763024"/>
          </a:xfrm>
        </p:grpSpPr>
        <p:grpSp>
          <p:nvGrpSpPr>
            <p:cNvPr id="27659" name="Group 8">
              <a:extLst>
                <a:ext uri="{FF2B5EF4-FFF2-40B4-BE49-F238E27FC236}">
                  <a16:creationId xmlns:a16="http://schemas.microsoft.com/office/drawing/2014/main" id="{8FD99FC5-6CF8-4DCA-A14E-E268FB3CC2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00" y="1802263"/>
              <a:ext cx="7772400" cy="654642"/>
              <a:chOff x="533400" y="1680819"/>
              <a:chExt cx="7772400" cy="654642"/>
            </a:xfrm>
          </p:grpSpPr>
          <p:sp>
            <p:nvSpPr>
              <p:cNvPr id="27667" name="TextBox 1">
                <a:extLst>
                  <a:ext uri="{FF2B5EF4-FFF2-40B4-BE49-F238E27FC236}">
                    <a16:creationId xmlns:a16="http://schemas.microsoft.com/office/drawing/2014/main" id="{5776147E-EE0A-4692-9956-EA0919531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1691932"/>
                <a:ext cx="3505199" cy="4600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(1) Albert drives a taxi.</a:t>
                </a:r>
                <a:endParaRPr lang="en-SG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68" name="TextBox 5">
                <a:extLst>
                  <a:ext uri="{FF2B5EF4-FFF2-40B4-BE49-F238E27FC236}">
                    <a16:creationId xmlns:a16="http://schemas.microsoft.com/office/drawing/2014/main" id="{F9FFDA06-0AD0-4126-B71B-A942237FCD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601" y="1680819"/>
                <a:ext cx="3505199" cy="4600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(2) Many taxi drivers are rich.</a:t>
                </a:r>
                <a:endParaRPr lang="en-SG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69" name="TextBox 2">
                <a:extLst>
                  <a:ext uri="{FF2B5EF4-FFF2-40B4-BE49-F238E27FC236}">
                    <a16:creationId xmlns:a16="http://schemas.microsoft.com/office/drawing/2014/main" id="{C73F9C28-D658-4F26-A9FA-BA739EAD38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2400" y="1920532"/>
                <a:ext cx="533399" cy="4149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latin typeface="Times New Roman" panose="02020603050405020304" pitchFamily="18" charset="0"/>
                  </a:rPr>
                  <a:t>+</a:t>
                </a:r>
                <a:endParaRPr lang="en-SG" altLang="en-US" sz="16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660" name="Group 5">
              <a:extLst>
                <a:ext uri="{FF2B5EF4-FFF2-40B4-BE49-F238E27FC236}">
                  <a16:creationId xmlns:a16="http://schemas.microsoft.com/office/drawing/2014/main" id="{92B373C5-616C-4712-AFD8-CDCB15F2BC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2794449"/>
              <a:ext cx="7315200" cy="1310960"/>
              <a:chOff x="609600" y="3242920"/>
              <a:chExt cx="7315200" cy="1310960"/>
            </a:xfrm>
          </p:grpSpPr>
          <p:grpSp>
            <p:nvGrpSpPr>
              <p:cNvPr id="27663" name="Group 3">
                <a:extLst>
                  <a:ext uri="{FF2B5EF4-FFF2-40B4-BE49-F238E27FC236}">
                    <a16:creationId xmlns:a16="http://schemas.microsoft.com/office/drawing/2014/main" id="{797AB8D8-B9F8-4512-9445-A8C75241FF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9600" y="3242920"/>
                <a:ext cx="7315200" cy="658813"/>
                <a:chOff x="609600" y="3242920"/>
                <a:chExt cx="7315200" cy="658813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DA0E383D-0333-4EB6-8606-7A63EC51B7CF}"/>
                    </a:ext>
                  </a:extLst>
                </p:cNvPr>
                <p:cNvCxnSpPr/>
                <p:nvPr/>
              </p:nvCxnSpPr>
              <p:spPr>
                <a:xfrm>
                  <a:off x="608727" y="3243397"/>
                  <a:ext cx="7316525" cy="0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8A116B11-FAE2-4721-8C69-303D0A3279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90071" y="3245375"/>
                  <a:ext cx="0" cy="65650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664" name="TextBox 11">
                <a:extLst>
                  <a:ext uri="{FF2B5EF4-FFF2-40B4-BE49-F238E27FC236}">
                    <a16:creationId xmlns:a16="http://schemas.microsoft.com/office/drawing/2014/main" id="{0F4F1576-563E-4328-A2B3-7C145F2092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0" y="4081119"/>
                <a:ext cx="3505200" cy="4727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(3) Albert is rich.</a:t>
                </a:r>
                <a:endParaRPr lang="en-SG" altLang="en-US" sz="18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7661" name="TextBox 11">
              <a:extLst>
                <a:ext uri="{FF2B5EF4-FFF2-40B4-BE49-F238E27FC236}">
                  <a16:creationId xmlns:a16="http://schemas.microsoft.com/office/drawing/2014/main" id="{FA3BD062-A663-46B8-A180-4CFC7AE4F4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900" y="4760287"/>
              <a:ext cx="3886199" cy="8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(5) Albert receives welfare support from the government.</a:t>
              </a:r>
              <a:endParaRPr lang="en-SG" altLang="en-US" sz="18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7C4D716-64DB-4833-93E8-D4D3FFE23B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9130" y="4105954"/>
              <a:ext cx="990545" cy="62684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55" name="Group 13">
            <a:extLst>
              <a:ext uri="{FF2B5EF4-FFF2-40B4-BE49-F238E27FC236}">
                <a16:creationId xmlns:a16="http://schemas.microsoft.com/office/drawing/2014/main" id="{C6CD8F79-4771-4115-AC07-9515A4D5845D}"/>
              </a:ext>
            </a:extLst>
          </p:cNvPr>
          <p:cNvGrpSpPr>
            <a:grpSpLocks/>
          </p:cNvGrpSpPr>
          <p:nvPr/>
        </p:nvGrpSpPr>
        <p:grpSpPr bwMode="auto">
          <a:xfrm>
            <a:off x="5721350" y="4354513"/>
            <a:ext cx="3030538" cy="1465262"/>
            <a:chOff x="6077282" y="3976275"/>
            <a:chExt cx="3030127" cy="1465380"/>
          </a:xfrm>
        </p:grpSpPr>
        <p:sp>
          <p:nvSpPr>
            <p:cNvPr id="27656" name="TextBox 1">
              <a:extLst>
                <a:ext uri="{FF2B5EF4-FFF2-40B4-BE49-F238E27FC236}">
                  <a16:creationId xmlns:a16="http://schemas.microsoft.com/office/drawing/2014/main" id="{32B0FF87-4119-4557-B6C3-F4A5E977C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5818" y="5103101"/>
              <a:ext cx="273305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(8) Albert is </a:t>
              </a:r>
              <a:r>
                <a:rPr lang="en-US" altLang="en-US" sz="1600" b="1" u="sng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not</a:t>
              </a:r>
              <a:r>
                <a:rPr lang="en-US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rich.</a:t>
              </a:r>
              <a:endPara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57" name="TextBox 20">
              <a:extLst>
                <a:ext uri="{FF2B5EF4-FFF2-40B4-BE49-F238E27FC236}">
                  <a16:creationId xmlns:a16="http://schemas.microsoft.com/office/drawing/2014/main" id="{879AB7C3-14D3-44B8-92DC-DA235D688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77282" y="3976275"/>
              <a:ext cx="303012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(5) Albert receives welfare support from the government.</a:t>
              </a:r>
              <a:endPara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98BF2FB-7A8D-41C3-BDF6-16E5A5891AE5}"/>
                </a:ext>
              </a:extLst>
            </p:cNvPr>
            <p:cNvCxnSpPr>
              <a:cxnSpLocks/>
            </p:cNvCxnSpPr>
            <p:nvPr/>
          </p:nvCxnSpPr>
          <p:spPr>
            <a:xfrm>
              <a:off x="7345523" y="4612913"/>
              <a:ext cx="0" cy="477876"/>
            </a:xfrm>
            <a:prstGeom prst="straightConnector1">
              <a:avLst/>
            </a:prstGeom>
            <a:ln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Tm="41898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EEB5F2A1-CF67-45E8-8D2F-975F124AF197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 Is An Argument!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C8DC3192-04CA-41B0-B4BF-609D7BA46D15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5112FE4C-77AE-48C5-8E49-D84B0A1028A3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E5975690-AB51-419B-A34B-C75C2F20FB9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3500" y="955675"/>
            <a:ext cx="8382000" cy="39925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finally: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9" name="Rectangle 4">
            <a:extLst>
              <a:ext uri="{FF2B5EF4-FFF2-40B4-BE49-F238E27FC236}">
                <a16:creationId xmlns:a16="http://schemas.microsoft.com/office/drawing/2014/main" id="{0216F97E-9534-42E3-BA4E-3994BB6570E0}"/>
              </a:ext>
            </a:extLst>
          </p:cNvPr>
          <p:cNvSpPr txBox="1">
            <a:spLocks/>
          </p:cNvSpPr>
          <p:nvPr/>
        </p:nvSpPr>
        <p:spPr bwMode="auto">
          <a:xfrm>
            <a:off x="338138" y="4525963"/>
            <a:ext cx="5343525" cy="16605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attack from (6) on the inference is an argument in its own right!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702" name="Group 10">
            <a:extLst>
              <a:ext uri="{FF2B5EF4-FFF2-40B4-BE49-F238E27FC236}">
                <a16:creationId xmlns:a16="http://schemas.microsoft.com/office/drawing/2014/main" id="{810CC7C7-816B-41CA-BB9B-62DC8BA3A5EF}"/>
              </a:ext>
            </a:extLst>
          </p:cNvPr>
          <p:cNvGrpSpPr>
            <a:grpSpLocks/>
          </p:cNvGrpSpPr>
          <p:nvPr/>
        </p:nvGrpSpPr>
        <p:grpSpPr bwMode="auto">
          <a:xfrm>
            <a:off x="387350" y="1798638"/>
            <a:ext cx="7824788" cy="1849437"/>
            <a:chOff x="469900" y="1802263"/>
            <a:chExt cx="9245602" cy="2303146"/>
          </a:xfrm>
        </p:grpSpPr>
        <p:grpSp>
          <p:nvGrpSpPr>
            <p:cNvPr id="29707" name="Group 8">
              <a:extLst>
                <a:ext uri="{FF2B5EF4-FFF2-40B4-BE49-F238E27FC236}">
                  <a16:creationId xmlns:a16="http://schemas.microsoft.com/office/drawing/2014/main" id="{6097F235-B41F-4713-BAFF-22AC58ED91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9900" y="1802263"/>
              <a:ext cx="7772400" cy="654642"/>
              <a:chOff x="533400" y="1680819"/>
              <a:chExt cx="7772400" cy="654642"/>
            </a:xfrm>
          </p:grpSpPr>
          <p:sp>
            <p:nvSpPr>
              <p:cNvPr id="29715" name="TextBox 1">
                <a:extLst>
                  <a:ext uri="{FF2B5EF4-FFF2-40B4-BE49-F238E27FC236}">
                    <a16:creationId xmlns:a16="http://schemas.microsoft.com/office/drawing/2014/main" id="{736C5A9E-6D8A-4C9B-BE73-5A555B84FB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1691934"/>
                <a:ext cx="3505199" cy="459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(1) Albert drives a taxi.</a:t>
                </a:r>
                <a:endParaRPr lang="en-SG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6" name="TextBox 5">
                <a:extLst>
                  <a:ext uri="{FF2B5EF4-FFF2-40B4-BE49-F238E27FC236}">
                    <a16:creationId xmlns:a16="http://schemas.microsoft.com/office/drawing/2014/main" id="{FDBB518D-6F49-4F92-9E91-DB73F86EDD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601" y="1680819"/>
                <a:ext cx="3505199" cy="459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(2) Many taxi drivers are rich.</a:t>
                </a:r>
                <a:endParaRPr lang="en-SG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17" name="TextBox 2">
                <a:extLst>
                  <a:ext uri="{FF2B5EF4-FFF2-40B4-BE49-F238E27FC236}">
                    <a16:creationId xmlns:a16="http://schemas.microsoft.com/office/drawing/2014/main" id="{93D50471-EF3C-4AC3-8802-AED36E9050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2400" y="1920532"/>
                <a:ext cx="533399" cy="4149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1600">
                    <a:latin typeface="Times New Roman" panose="02020603050405020304" pitchFamily="18" charset="0"/>
                  </a:rPr>
                  <a:t>+</a:t>
                </a:r>
                <a:endParaRPr lang="en-SG" altLang="en-US" sz="16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708" name="Group 5">
              <a:extLst>
                <a:ext uri="{FF2B5EF4-FFF2-40B4-BE49-F238E27FC236}">
                  <a16:creationId xmlns:a16="http://schemas.microsoft.com/office/drawing/2014/main" id="{9E8A6DA0-FF4F-42C4-A8BA-455E59D070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9600" y="2794449"/>
              <a:ext cx="7315200" cy="1310960"/>
              <a:chOff x="609600" y="3242920"/>
              <a:chExt cx="7315200" cy="1310960"/>
            </a:xfrm>
          </p:grpSpPr>
          <p:grpSp>
            <p:nvGrpSpPr>
              <p:cNvPr id="29711" name="Group 3">
                <a:extLst>
                  <a:ext uri="{FF2B5EF4-FFF2-40B4-BE49-F238E27FC236}">
                    <a16:creationId xmlns:a16="http://schemas.microsoft.com/office/drawing/2014/main" id="{A1278958-3B70-417E-8840-B2A82FB602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9600" y="3242920"/>
                <a:ext cx="7315200" cy="818341"/>
                <a:chOff x="609600" y="3242920"/>
                <a:chExt cx="7315200" cy="818341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0F51B009-BA08-4082-9C62-C6216FF44D03}"/>
                    </a:ext>
                  </a:extLst>
                </p:cNvPr>
                <p:cNvCxnSpPr/>
                <p:nvPr/>
              </p:nvCxnSpPr>
              <p:spPr>
                <a:xfrm>
                  <a:off x="608706" y="3243163"/>
                  <a:ext cx="7315448" cy="0"/>
                </a:xfrm>
                <a:prstGeom prst="line">
                  <a:avLst/>
                </a:prstGeom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82821A55-8E9A-4150-9D9F-A928210E15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9524" y="3245139"/>
                  <a:ext cx="0" cy="81648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712" name="TextBox 11">
                <a:extLst>
                  <a:ext uri="{FF2B5EF4-FFF2-40B4-BE49-F238E27FC236}">
                    <a16:creationId xmlns:a16="http://schemas.microsoft.com/office/drawing/2014/main" id="{5473294A-CE26-425D-B19B-404F757AF7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8000" y="4081119"/>
                <a:ext cx="3505200" cy="4727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8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(3) Albert is rich.</a:t>
                </a:r>
                <a:endParaRPr lang="en-SG" altLang="en-US" sz="180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09" name="TextBox 11">
              <a:extLst>
                <a:ext uri="{FF2B5EF4-FFF2-40B4-BE49-F238E27FC236}">
                  <a16:creationId xmlns:a16="http://schemas.microsoft.com/office/drawing/2014/main" id="{7BC0314A-F4F9-4915-B321-19C8F8BCDE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9301" y="2953644"/>
              <a:ext cx="3886201" cy="80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(6) For every rich taxi driver, there are 3 poor ones.</a:t>
              </a:r>
              <a:endParaRPr lang="en-SG" altLang="en-US" sz="18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6696771-18E9-4BDD-8C8E-401ECCB086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22824" y="3223689"/>
              <a:ext cx="1071057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703" name="Group 13">
            <a:extLst>
              <a:ext uri="{FF2B5EF4-FFF2-40B4-BE49-F238E27FC236}">
                <a16:creationId xmlns:a16="http://schemas.microsoft.com/office/drawing/2014/main" id="{79884F09-2A3B-4026-BEBB-D7F2829761CA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4319589"/>
            <a:ext cx="3395663" cy="1746141"/>
            <a:chOff x="5765801" y="3941125"/>
            <a:chExt cx="3396262" cy="1747058"/>
          </a:xfrm>
        </p:grpSpPr>
        <p:sp>
          <p:nvSpPr>
            <p:cNvPr id="29704" name="TextBox 1">
              <a:extLst>
                <a:ext uri="{FF2B5EF4-FFF2-40B4-BE49-F238E27FC236}">
                  <a16:creationId xmlns:a16="http://schemas.microsoft.com/office/drawing/2014/main" id="{6E92385A-5E86-446E-97F5-D37C451FC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5801" y="5103101"/>
              <a:ext cx="3396262" cy="585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(9) The inference from 1 and 2 to 3 is unacceptable.</a:t>
              </a:r>
              <a:endPara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05" name="TextBox 20">
              <a:extLst>
                <a:ext uri="{FF2B5EF4-FFF2-40B4-BE49-F238E27FC236}">
                  <a16:creationId xmlns:a16="http://schemas.microsoft.com/office/drawing/2014/main" id="{B6BA3471-1962-40F5-B3EE-B57AFC154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7673" y="3941125"/>
              <a:ext cx="303012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(6) For every rich taxi driver, there are 3 poor ones.</a:t>
              </a:r>
              <a:endParaRPr lang="en-SG" altLang="en-US" sz="16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BE9FE17-AB17-4F28-85D1-DC8FF7220A9A}"/>
                </a:ext>
              </a:extLst>
            </p:cNvPr>
            <p:cNvCxnSpPr>
              <a:cxnSpLocks/>
            </p:cNvCxnSpPr>
            <p:nvPr/>
          </p:nvCxnSpPr>
          <p:spPr>
            <a:xfrm>
              <a:off x="7344054" y="4612990"/>
              <a:ext cx="0" cy="478089"/>
            </a:xfrm>
            <a:prstGeom prst="straightConnector1">
              <a:avLst/>
            </a:prstGeom>
            <a:ln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slow" advTm="62568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527E9206-3C6F-4DA1-A1EE-A57D7956D401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 Is An Argument: Summary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ED0572E8-984C-4A5E-94AC-8C5601BB3BD0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8F45515B-4744-4A63-9D1E-3AD4A58CA7ED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83C8CC49-3676-45AE-A241-C6CB603989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181100"/>
            <a:ext cx="83820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So:</a:t>
            </a:r>
          </a:p>
          <a:p>
            <a:pPr marL="457200" indent="-457200" eaLnBrk="1" hangingPunct="1">
              <a:buFont typeface="+mj-lt"/>
              <a:buAutoNum type="alphaLcParenR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An attack on a premise is an argument that </a:t>
            </a:r>
            <a:r>
              <a:rPr lang="en-US" altLang="en-US" sz="24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infers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from the attacking statement(s) that the attacked premise is false/likely to be false.</a:t>
            </a:r>
          </a:p>
          <a:p>
            <a:pPr marL="457200" indent="-457200" eaLnBrk="1" hangingPunct="1">
              <a:buFont typeface="+mj-lt"/>
              <a:buAutoNum type="alphaLcParenR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An attack on a conclusion is an argument that </a:t>
            </a:r>
            <a:r>
              <a:rPr lang="en-US" altLang="en-US" sz="24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infers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from the attacking statement(s) that the attacked conclusion is false/likely to be false. </a:t>
            </a:r>
          </a:p>
          <a:p>
            <a:pPr marL="457200" indent="-457200" eaLnBrk="1" hangingPunct="1">
              <a:buFont typeface="+mj-lt"/>
              <a:buAutoNum type="alphaLcParenR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An attack on an inference is an argument that </a:t>
            </a:r>
            <a:r>
              <a:rPr lang="en-US" altLang="en-US" sz="24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infers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from the attacking statement(s) that the attacked inference is weak/invalid.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And, so: since all attacks are arguments, they can be </a:t>
            </a:r>
            <a:r>
              <a:rPr lang="en-US" altLang="en-US" sz="2400" i="1" dirty="0">
                <a:latin typeface="Times New Roman"/>
                <a:ea typeface="MS PGothic"/>
                <a:cs typeface="Times New Roman"/>
              </a:rPr>
              <a:t>deductive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or </a:t>
            </a:r>
            <a:r>
              <a:rPr lang="en-US" altLang="en-US" sz="2400" i="1" dirty="0">
                <a:latin typeface="Times New Roman"/>
                <a:ea typeface="MS PGothic"/>
                <a:cs typeface="Times New Roman"/>
              </a:rPr>
              <a:t>inductive.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</a:t>
            </a:r>
          </a:p>
          <a:p>
            <a:pPr marL="457200" indent="-457200" eaLnBrk="1" hangingPunct="1">
              <a:buFont typeface="+mj-lt"/>
              <a:buAutoNum type="alphaLcParenR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62193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EB339D59-712A-4DDB-B17E-FF937839DBA0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 Is An Argument: Summary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A51B20B0-4909-4055-B380-19A32E6D443A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014BD95E-F504-4CEB-AF7D-6B1AB0BCD6BD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E563ED6C-DD29-40BB-A7FC-6F7FDD4C77A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295400"/>
            <a:ext cx="83820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If the attacking argument is deductive,</a:t>
            </a:r>
          </a:p>
          <a:p>
            <a:pPr marL="457200" indent="-457200" eaLnBrk="1" hangingPunct="1">
              <a:buFont typeface="+mj-lt"/>
              <a:buAutoNum type="alphaLcParenR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It can be either sound or unsound.</a:t>
            </a:r>
          </a:p>
          <a:p>
            <a:pPr marL="457200" indent="-457200" eaLnBrk="1" hangingPunct="1">
              <a:buFont typeface="+mj-lt"/>
              <a:buAutoNum type="alphaLcParenR"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+mj-lt"/>
              <a:buAutoNum type="alphaLcParenR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If an 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attacking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argument is sound, we should then say that the statement (premise </a:t>
            </a:r>
            <a:r>
              <a:rPr lang="en-US" altLang="en-US" sz="2400" dirty="0">
                <a:highlight>
                  <a:srgbClr val="00FFFF"/>
                </a:highlight>
                <a:latin typeface="Times New Roman"/>
                <a:ea typeface="MS PGothic"/>
                <a:cs typeface="Times New Roman"/>
              </a:rPr>
              <a:t>(or, conclusion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)) under attack </a:t>
            </a:r>
            <a:r>
              <a:rPr lang="en-US" altLang="en-US" sz="2400" u="sng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must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 be false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(</a:t>
            </a:r>
            <a:r>
              <a:rPr lang="en-US" altLang="en-US" sz="24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Prob(</a:t>
            </a:r>
            <a:r>
              <a:rPr lang="en-US" altLang="en-US" sz="2400" i="1" dirty="0">
                <a:latin typeface="Times New Roman"/>
                <a:ea typeface="MS PGothic"/>
                <a:cs typeface="Times New Roman"/>
              </a:rPr>
              <a:t>P (</a:t>
            </a:r>
            <a:r>
              <a:rPr lang="en-US" altLang="en-US" sz="2400" i="1" dirty="0">
                <a:highlight>
                  <a:srgbClr val="00FFFF"/>
                </a:highlight>
                <a:latin typeface="Times New Roman"/>
                <a:ea typeface="MS PGothic"/>
                <a:cs typeface="Times New Roman"/>
              </a:rPr>
              <a:t>or, C</a:t>
            </a:r>
            <a:r>
              <a:rPr lang="en-US" altLang="en-US" sz="2400" i="1" dirty="0">
                <a:latin typeface="Times New Roman"/>
                <a:ea typeface="MS PGothic"/>
                <a:cs typeface="Times New Roman"/>
              </a:rPr>
              <a:t>) | AS</a:t>
            </a:r>
            <a:r>
              <a:rPr lang="en-US" altLang="en-US" sz="24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) </a:t>
            </a:r>
            <a:r>
              <a:rPr lang="en-US" altLang="en-US" sz="24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= 0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), or the inference under attack </a:t>
            </a:r>
            <a:r>
              <a:rPr lang="en-US" altLang="en-US" sz="2400" u="sng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must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 be unacceptable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.</a:t>
            </a:r>
            <a:endParaRPr lang="en-US" altLang="en-US" sz="2000" dirty="0">
              <a:latin typeface="Times New Roman"/>
              <a:ea typeface="MS PGothic"/>
              <a:cs typeface="Times New Roman"/>
            </a:endParaRPr>
          </a:p>
          <a:p>
            <a:pPr eaLnBrk="1" hangingPunct="1"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167913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009F8F72-48B5-4A08-8373-B885EC8D43FC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 Is An Argument: Summary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FCFD9566-96F4-4C85-8F22-1AFCD450AD57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27975D9F-18AB-4E19-AEDD-57AC61EFFC7A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19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0CA4DC23-20DC-40C3-BB3D-84357F006A4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295400"/>
            <a:ext cx="83820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If the attacking argument is inductive,</a:t>
            </a:r>
          </a:p>
          <a:p>
            <a:pPr marL="457200" indent="-457200" eaLnBrk="1" hangingPunct="1">
              <a:buFont typeface="+mj-lt"/>
              <a:buAutoNum type="alphaLcParenR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It can be either cogent or </a:t>
            </a:r>
            <a:r>
              <a:rPr lang="en-US" altLang="en-US" sz="2400" dirty="0" err="1">
                <a:latin typeface="Times New Roman"/>
                <a:ea typeface="MS PGothic"/>
                <a:cs typeface="Times New Roman"/>
              </a:rPr>
              <a:t>uncogent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.</a:t>
            </a:r>
          </a:p>
          <a:p>
            <a:pPr marL="457200" indent="-457200" eaLnBrk="1" hangingPunct="1">
              <a:buFont typeface="+mj-lt"/>
              <a:buAutoNum type="alphaLcParenR"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1" hangingPunct="1">
              <a:buFont typeface="+mj-lt"/>
              <a:buAutoNum type="alphaLcParenR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If an 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attacking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argument is cogent, we should then say that the statement (premise (</a:t>
            </a:r>
            <a:r>
              <a:rPr lang="en-US" altLang="en-US" sz="2400" dirty="0">
                <a:highlight>
                  <a:srgbClr val="00FFFF"/>
                </a:highlight>
                <a:latin typeface="Times New Roman"/>
                <a:ea typeface="MS PGothic"/>
                <a:cs typeface="Times New Roman"/>
              </a:rPr>
              <a:t>or, conclusion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)) under attack </a:t>
            </a:r>
            <a:r>
              <a:rPr lang="en-US" altLang="en-US" sz="2400" u="sng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is highly likely to be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 false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(</a:t>
            </a:r>
            <a:r>
              <a:rPr lang="en-US" altLang="en-US" sz="24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Prob(</a:t>
            </a:r>
            <a:r>
              <a:rPr lang="en-US" altLang="en-US" sz="2400" i="1" dirty="0">
                <a:latin typeface="Times New Roman"/>
                <a:ea typeface="MS PGothic"/>
                <a:cs typeface="Times New Roman"/>
              </a:rPr>
              <a:t>P (</a:t>
            </a:r>
            <a:r>
              <a:rPr lang="en-US" altLang="en-US" sz="2400" i="1" dirty="0">
                <a:highlight>
                  <a:srgbClr val="00FFFF"/>
                </a:highlight>
                <a:latin typeface="Times New Roman"/>
                <a:ea typeface="MS PGothic"/>
                <a:cs typeface="Times New Roman"/>
              </a:rPr>
              <a:t>or, C</a:t>
            </a:r>
            <a:r>
              <a:rPr lang="en-US" altLang="en-US" sz="2400" i="1" dirty="0">
                <a:latin typeface="Times New Roman"/>
                <a:ea typeface="MS PGothic"/>
                <a:cs typeface="Times New Roman"/>
              </a:rPr>
              <a:t>) | AS</a:t>
            </a:r>
            <a:r>
              <a:rPr lang="en-US" altLang="en-US" sz="2400" i="1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) </a:t>
            </a:r>
            <a:r>
              <a:rPr lang="en-US" altLang="en-US" sz="24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= a relatively low number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), or the inference under attack </a:t>
            </a:r>
            <a:r>
              <a:rPr lang="en-US" altLang="en-US" sz="2400" u="sng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is highly likely to be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 unacceptable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.</a:t>
            </a:r>
          </a:p>
        </p:txBody>
      </p:sp>
    </p:spTree>
  </p:cSld>
  <p:clrMapOvr>
    <a:masterClrMapping/>
  </p:clrMapOvr>
  <p:transition spd="slow" advTm="12182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539EF577-1746-42EB-A42D-BACA1FCA6CD1}"/>
              </a:ext>
            </a:extLst>
          </p:cNvPr>
          <p:cNvSpPr/>
          <p:nvPr/>
        </p:nvSpPr>
        <p:spPr>
          <a:xfrm>
            <a:off x="0" y="95250"/>
            <a:ext cx="8712200" cy="10477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and The Principle of Charity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D6CC5553-7B31-41E9-BAE0-D250E7605708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4FF45747-758B-48D9-99A2-8D8DF150CFBD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20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574C192C-4E86-432D-A12A-91A399752AE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295400"/>
            <a:ext cx="8382000" cy="4953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Since the attack is an argument, we extend charity to it in the same way as we would to ‘standard’ arguments. So, a lack of clarity in an attack is clarified in the most </a:t>
            </a:r>
            <a:r>
              <a:rPr lang="en-US" altLang="en-US" sz="2000" dirty="0" err="1">
                <a:latin typeface="Times New Roman"/>
                <a:ea typeface="MS PGothic"/>
                <a:cs typeface="Times New Roman"/>
              </a:rPr>
              <a:t>favourable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 way for the attacking argument.  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There are several ways in which the attack can be unclear; let’s consider some.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It might be unclear </a:t>
            </a:r>
            <a:r>
              <a:rPr lang="en-US" altLang="en-US" sz="2000" u="sng" dirty="0">
                <a:latin typeface="Times New Roman"/>
                <a:ea typeface="MS PGothic"/>
                <a:cs typeface="Times New Roman"/>
              </a:rPr>
              <a:t>whether the attack is on a conclusion or an inference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. In such cases charity requires us to consider it as an attack on inference. To see why consider the argument, </a:t>
            </a: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“(1) Emma and Mona come from the same JC; (2) Emma is going to university so, (3) Mona will go to university, too.” 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and, the attacking statement, “(3) </a:t>
            </a: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But, Mona didn’t even finish JC.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” </a:t>
            </a:r>
            <a:r>
              <a:rPr lang="en-US" altLang="en-US" sz="2000" i="1" dirty="0">
                <a:latin typeface="Times New Roman"/>
                <a:ea typeface="MS PGothic"/>
                <a:cs typeface="Times New Roman"/>
              </a:rPr>
              <a:t>Now consider what an attack generally wants to establish.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So, what does charity mandate?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392242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539EF577-1746-42EB-A42D-BACA1FCA6CD1}"/>
              </a:ext>
            </a:extLst>
          </p:cNvPr>
          <p:cNvSpPr/>
          <p:nvPr/>
        </p:nvSpPr>
        <p:spPr>
          <a:xfrm>
            <a:off x="0" y="95250"/>
            <a:ext cx="8712200" cy="10477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and The Principle of Charity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D6CC5553-7B31-41E9-BAE0-D250E7605708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4FF45747-758B-48D9-99A2-8D8DF150CFBD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21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574C192C-4E86-432D-A12A-91A399752AE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295400"/>
            <a:ext cx="8382000" cy="49530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So, when it is unclear whether the attack is on a </a:t>
            </a: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conclusion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 or an </a:t>
            </a: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inference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, it is charitable  to consider it as an attack on the _________________.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506224"/>
      </p:ext>
    </p:extLst>
  </p:cSld>
  <p:clrMapOvr>
    <a:masterClrMapping/>
  </p:clrMapOvr>
  <p:transition spd="slow" advTm="392242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9C747DC1-6F2A-4683-9D10-F6C05DAC89B0}"/>
              </a:ext>
            </a:extLst>
          </p:cNvPr>
          <p:cNvSpPr/>
          <p:nvPr/>
        </p:nvSpPr>
        <p:spPr>
          <a:xfrm>
            <a:off x="0" y="95250"/>
            <a:ext cx="8712200" cy="10477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and The Principle of Charity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11CA0567-F697-481F-A3A5-A6A5374278CC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60791A71-713F-49AE-800A-CF80527F8A40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22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0B3D3806-5B2D-4C20-8E2C-D80051530A1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295400"/>
            <a:ext cx="8382000" cy="426720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2. The ‘should’ case: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 Consider the argument:  </a:t>
            </a: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“(1) Sovan should marry Emma because (2) he loves her and (3) she loves him.” 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and, the attacking statement, </a:t>
            </a:r>
            <a:r>
              <a:rPr lang="en-US" altLang="en-US" sz="20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“(4) But, one should not marry for love”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Now if you consider (4) to be on attack on inference, is it acceptable?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If you consider (4) to be an attack on any of the explicit premises, is it acceptable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But, if you consider (4) to be an attack on (5), is it acceptable?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Moral: If an argument has a normative conclusion, then an (implicit) premise can always make the inference valid. The attacking statement, which appears to attack the inference, is really an attack on a (hidden) premise.</a:t>
            </a:r>
            <a:r>
              <a:rPr lang="en-US" altLang="en-US" sz="2000" b="1" dirty="0">
                <a:latin typeface="Times New Roman"/>
                <a:ea typeface="MS PGothic"/>
                <a:cs typeface="Times New Roman"/>
              </a:rPr>
              <a:t> 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1873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nip and Round Single Corner Rectangle 6">
            <a:extLst>
              <a:ext uri="{FF2B5EF4-FFF2-40B4-BE49-F238E27FC236}">
                <a16:creationId xmlns:a16="http://schemas.microsoft.com/office/drawing/2014/main" id="{1CCEEA09-FEC5-47F5-8FE4-2EDBF10A3E4A}"/>
              </a:ext>
            </a:extLst>
          </p:cNvPr>
          <p:cNvSpPr/>
          <p:nvPr/>
        </p:nvSpPr>
        <p:spPr>
          <a:xfrm>
            <a:off x="0" y="95250"/>
            <a:ext cx="8712200" cy="10477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Sovan and Emma</a:t>
            </a:r>
          </a:p>
        </p:txBody>
      </p:sp>
      <p:sp>
        <p:nvSpPr>
          <p:cNvPr id="14" name="Snip and Round Single Corner Rectangle 7">
            <a:extLst>
              <a:ext uri="{FF2B5EF4-FFF2-40B4-BE49-F238E27FC236}">
                <a16:creationId xmlns:a16="http://schemas.microsoft.com/office/drawing/2014/main" id="{981CAEB2-1223-4F56-8FA6-61FFC64C1867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60791A71-713F-49AE-800A-CF80527F8A40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23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480ACCC-9EC7-4D77-A135-C2ACB2305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219200"/>
            <a:ext cx="7720012" cy="2984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charity to the original argument implies this: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53F986E-5D8B-45DC-A23A-827B467A599F}"/>
              </a:ext>
            </a:extLst>
          </p:cNvPr>
          <p:cNvGrpSpPr/>
          <p:nvPr/>
        </p:nvGrpSpPr>
        <p:grpSpPr>
          <a:xfrm>
            <a:off x="235520" y="2679096"/>
            <a:ext cx="8603680" cy="2422429"/>
            <a:chOff x="169885" y="2411217"/>
            <a:chExt cx="8603680" cy="2422429"/>
          </a:xfrm>
        </p:grpSpPr>
        <p:sp>
          <p:nvSpPr>
            <p:cNvPr id="17" name="TextBox 1">
              <a:extLst>
                <a:ext uri="{FF2B5EF4-FFF2-40B4-BE49-F238E27FC236}">
                  <a16:creationId xmlns:a16="http://schemas.microsoft.com/office/drawing/2014/main" id="{9F6135FE-3EFD-4FAE-9D16-8AA5D8DE5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885" y="2496852"/>
              <a:ext cx="196371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rPr>
                <a:t>(2) Sovan loves Emma.</a:t>
              </a:r>
              <a:endParaRPr lang="en-SG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18" name="TextBox 5">
              <a:extLst>
                <a:ext uri="{FF2B5EF4-FFF2-40B4-BE49-F238E27FC236}">
                  <a16:creationId xmlns:a16="http://schemas.microsoft.com/office/drawing/2014/main" id="{467661C9-D101-48BC-A1CC-E54C3FA1E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2443462"/>
              <a:ext cx="2462662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rPr>
                <a:t>(3) Emma loves Sovan.</a:t>
              </a:r>
              <a:endParaRPr lang="en-SG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19" name="TextBox 2">
              <a:extLst>
                <a:ext uri="{FF2B5EF4-FFF2-40B4-BE49-F238E27FC236}">
                  <a16:creationId xmlns:a16="http://schemas.microsoft.com/office/drawing/2014/main" id="{2AC05C13-E620-4A83-8769-769A872D3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0637" y="2535579"/>
              <a:ext cx="46116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ea typeface="MS PGothic" panose="020B0600070205080204" pitchFamily="34" charset="-128"/>
                </a:rPr>
                <a:t>+</a:t>
              </a:r>
              <a:endParaRPr lang="en-SG" altLang="en-US" sz="2000" dirty="0"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0021D21-300B-403E-92BE-2981DF612F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810000"/>
              <a:ext cx="754380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E0BEA9D-AE9D-4A3B-8B9C-A6BC6B07FE52}"/>
                </a:ext>
              </a:extLst>
            </p:cNvPr>
            <p:cNvCxnSpPr/>
            <p:nvPr/>
          </p:nvCxnSpPr>
          <p:spPr>
            <a:xfrm>
              <a:off x="4529138" y="3810000"/>
              <a:ext cx="0" cy="595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A573AB30-8804-42BD-922E-F72D764CC4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8881" y="4433536"/>
              <a:ext cx="58358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rPr>
                <a:t>(1) Sovan should marry Emma.</a:t>
              </a:r>
              <a:endParaRPr lang="en-SG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23" name="TextBox 12">
              <a:extLst>
                <a:ext uri="{FF2B5EF4-FFF2-40B4-BE49-F238E27FC236}">
                  <a16:creationId xmlns:a16="http://schemas.microsoft.com/office/drawing/2014/main" id="{D8D086CC-8E2F-4AB0-94CD-975A0AEE0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0637" y="2411217"/>
              <a:ext cx="3462928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rPr>
                <a:t>(5) You should marry someone who you love and who loves you.</a:t>
              </a:r>
              <a:endParaRPr lang="en-SG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2D832C95-87DA-42AF-989C-91DAC81F3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6678" y="2588303"/>
              <a:ext cx="46116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latin typeface="Times New Roman" panose="02020603050405020304" pitchFamily="18" charset="0"/>
                  <a:ea typeface="MS PGothic" panose="020B0600070205080204" pitchFamily="34" charset="-128"/>
                </a:rPr>
                <a:t>+</a:t>
              </a:r>
              <a:endParaRPr lang="en-SG" altLang="en-US" sz="2000" dirty="0">
                <a:latin typeface="Times New Roman" panose="02020603050405020304" pitchFamily="18" charset="0"/>
                <a:ea typeface="MS PGothic" panose="020B0600070205080204" pitchFamily="34" charset="-128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E16442BC-42D9-474C-8D2C-51F2C3187FA1}"/>
              </a:ext>
            </a:extLst>
          </p:cNvPr>
          <p:cNvSpPr/>
          <p:nvPr/>
        </p:nvSpPr>
        <p:spPr>
          <a:xfrm>
            <a:off x="0" y="95250"/>
            <a:ext cx="8712200" cy="10477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and The Principle of Charity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D70937D0-2FFE-43F4-9D0C-C44CBD72236D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27DDD571-8C7C-4CC6-BC0A-6743904480FB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24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0149FCE4-5460-4F28-8D05-4C03CC5A2B3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295400"/>
            <a:ext cx="8382000" cy="4876800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3. It might be unclear whether a statement attacks the premise or, the inference or, the conclusion of an argument, </a:t>
            </a:r>
            <a:r>
              <a:rPr lang="en-US" altLang="en-US" sz="1800" i="1" dirty="0">
                <a:latin typeface="Times New Roman"/>
                <a:ea typeface="MS PGothic"/>
                <a:cs typeface="Times New Roman"/>
              </a:rPr>
              <a:t>because any way of interpreting the attacking argument is poor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. Consider the argument:  </a:t>
            </a:r>
            <a:r>
              <a:rPr lang="en-US" altLang="en-US" sz="18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“(1) He will be late because  (2) he left late and (3) if he left late, he will be late.”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and, the attacking statement, </a:t>
            </a:r>
            <a:r>
              <a:rPr lang="en-US" altLang="en-US" sz="18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“But, (4) you are always late, yourself!” 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What does (4) attack?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Moral: If the attack is patently unacceptable, </a:t>
            </a:r>
            <a:r>
              <a:rPr lang="en-US" altLang="en-US" sz="1800" b="1" dirty="0">
                <a:latin typeface="Times New Roman"/>
                <a:ea typeface="MS PGothic"/>
                <a:cs typeface="Times New Roman"/>
              </a:rPr>
              <a:t>it is charitable to not consider it as an attack, but a separate, unrelated observation.</a:t>
            </a:r>
          </a:p>
        </p:txBody>
      </p:sp>
    </p:spTree>
  </p:cSld>
  <p:clrMapOvr>
    <a:masterClrMapping/>
  </p:clrMapOvr>
  <p:transition spd="slow" advTm="1916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BED0-04FC-1F88-3A27-778B55EE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0EF8979A-5021-85A9-A523-6BABC517F8A5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Completing the definition of Cogency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2D838F2D-27BE-6540-D2A2-0F5C020B7B15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11E3C3A4-9F60-4D13-BFEE-F4FEA8699CF3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25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DF3CECBE-E527-D37B-056F-C306B39B2A6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143000"/>
            <a:ext cx="8382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Recall that, in Lecture/Seminar 3, we said an argument is cogent </a:t>
            </a:r>
            <a:r>
              <a:rPr lang="en-US" altLang="en-US" sz="2200" i="1" dirty="0">
                <a:highlight>
                  <a:srgbClr val="00FFFF"/>
                </a:highlight>
                <a:latin typeface="Times New Roman"/>
                <a:ea typeface="MS PGothic"/>
                <a:cs typeface="Times New Roman"/>
              </a:rPr>
              <a:t>only if 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it contains </a:t>
            </a:r>
            <a:r>
              <a:rPr lang="en-US" altLang="en-US" sz="2200" u="sng" dirty="0">
                <a:latin typeface="Times New Roman"/>
                <a:ea typeface="MS PGothic"/>
                <a:cs typeface="Times New Roman"/>
              </a:rPr>
              <a:t>true premises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and a </a:t>
            </a:r>
            <a:r>
              <a:rPr lang="en-US" altLang="en-US" sz="2200" u="sng" dirty="0">
                <a:latin typeface="Times New Roman"/>
                <a:ea typeface="MS PGothic"/>
                <a:cs typeface="Times New Roman"/>
              </a:rPr>
              <a:t>relatively strong inference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Now, we are ready to consider the missing ‘</a:t>
            </a:r>
            <a:r>
              <a:rPr lang="en-US" altLang="en-US" sz="2200" i="1" dirty="0">
                <a:latin typeface="Times New Roman"/>
                <a:ea typeface="MS PGothic"/>
                <a:cs typeface="Times New Roman"/>
              </a:rPr>
              <a:t>if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’ in the definition. What needs to be added on to the necessary conditions above, to make the set of conditions  </a:t>
            </a:r>
            <a:r>
              <a:rPr lang="en-US" altLang="en-US" sz="2200" u="sng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sufficient</a:t>
            </a:r>
            <a:r>
              <a:rPr lang="en-US" altLang="en-US" sz="2200" u="sng" dirty="0">
                <a:latin typeface="Times New Roman"/>
                <a:ea typeface="MS PGothic"/>
                <a:cs typeface="Times New Roman"/>
              </a:rPr>
              <a:t> and </a:t>
            </a:r>
            <a:r>
              <a:rPr lang="en-US" altLang="en-US" sz="2200" u="sng" dirty="0">
                <a:highlight>
                  <a:srgbClr val="00FFFF"/>
                </a:highlight>
                <a:latin typeface="Times New Roman"/>
                <a:ea typeface="MS PGothic"/>
                <a:cs typeface="Times New Roman"/>
              </a:rPr>
              <a:t>necessary</a:t>
            </a: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 for cogency?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200" dirty="0">
                <a:latin typeface="Times New Roman"/>
                <a:ea typeface="MS PGothic"/>
                <a:cs typeface="Times New Roman"/>
              </a:rPr>
              <a:t>To that end, let’s consider the following example.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362741"/>
      </p:ext>
    </p:extLst>
  </p:cSld>
  <p:clrMapOvr>
    <a:masterClrMapping/>
  </p:clrMapOvr>
  <p:transition spd="slow" advTm="2844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614F0-BC17-C2EF-E353-C160E064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C898FEB2-2BFF-4D59-739E-5E5E8352CCFA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Completing the definition of Cogency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861EFD99-8B81-C105-4696-5E774BCD3784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3FE28034-02EA-4013-BDE1-CB49ED3168E2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26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3576FE7-AA7A-370E-97E5-AD32E3B9E9F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960438"/>
            <a:ext cx="8547100" cy="54403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2000" dirty="0">
                <a:highlight>
                  <a:srgbClr val="00FF00"/>
                </a:highlight>
                <a:latin typeface="Times New Roman"/>
                <a:ea typeface="MS PGothic"/>
                <a:cs typeface="Times New Roman"/>
              </a:rPr>
              <a:t>Salesman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: This brand of air-conditioner is cheaper than the others, cools better, uses less energy, is certified by the PSB and is 100% environment-friendly. So, this air-con is a good buy.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As it stands, assuming what the salesman says is true, is the argument for buying the air-con acceptable?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Can you think of any statement that attacks the inference?</a:t>
            </a:r>
          </a:p>
          <a:p>
            <a:pPr marL="0" indent="0" eaLnBrk="1" hangingPunct="1">
              <a:buNone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So, if this statement ____________, is </a:t>
            </a:r>
            <a:r>
              <a:rPr lang="en-US" altLang="en-US" sz="2000" b="1" dirty="0">
                <a:latin typeface="Times New Roman"/>
                <a:ea typeface="MS PGothic"/>
                <a:cs typeface="Times New Roman"/>
              </a:rPr>
              <a:t>true 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and yet not mentioned in the argument, is the argument for buying the air-con good?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So, it follows that there must be an additional requirement for a cogent argument; this additional condition is </a:t>
            </a:r>
            <a:r>
              <a:rPr lang="en-US" altLang="en-US" sz="2000" u="sng" dirty="0">
                <a:latin typeface="Times New Roman"/>
                <a:ea typeface="MS PGothic"/>
                <a:cs typeface="Times New Roman"/>
              </a:rPr>
              <a:t>reliability</a:t>
            </a:r>
            <a:r>
              <a:rPr lang="en-US" altLang="en-US" sz="2000" dirty="0">
                <a:latin typeface="Times New Roman"/>
                <a:ea typeface="MS PGothic"/>
                <a:cs typeface="Times New Roman"/>
              </a:rPr>
              <a:t>.</a:t>
            </a:r>
          </a:p>
          <a:p>
            <a:pPr eaLnBrk="1" hangingPunct="1"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73120D1A-ABAF-3C08-BA34-4E2D6CB493F7}"/>
              </a:ext>
            </a:extLst>
          </p:cNvPr>
          <p:cNvCxnSpPr/>
          <p:nvPr/>
        </p:nvCxnSpPr>
        <p:spPr>
          <a:xfrm rot="16200000" flipH="1">
            <a:off x="3429000" y="4038600"/>
            <a:ext cx="685800" cy="6858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722524"/>
      </p:ext>
    </p:extLst>
  </p:cSld>
  <p:clrMapOvr>
    <a:masterClrMapping/>
  </p:clrMapOvr>
  <p:transition spd="slow" advTm="237132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812005" y="1295400"/>
            <a:ext cx="7239001" cy="4648200"/>
          </a:xfrm>
        </p:spPr>
        <p:txBody>
          <a:bodyPr/>
          <a:lstStyle/>
          <a:p>
            <a:pPr algn="l" eaLnBrk="1" hangingPunct="1">
              <a:spcBef>
                <a:spcPts val="1200"/>
              </a:spcBef>
              <a:spcAft>
                <a:spcPts val="1800"/>
              </a:spcAft>
              <a:buFontTx/>
              <a:buNone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For an argument to be 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reliable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 the premises must NOT leave out any </a:t>
            </a:r>
            <a:r>
              <a:rPr lang="en-US" alt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available information 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that reduces the </a:t>
            </a:r>
            <a:r>
              <a:rPr lang="en-US" alt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likelihood 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of the conclusion.</a:t>
            </a:r>
          </a:p>
          <a:p>
            <a:pPr algn="l" eaLnBrk="1" hangingPunct="1">
              <a:spcBef>
                <a:spcPts val="1200"/>
              </a:spcBef>
              <a:spcAft>
                <a:spcPts val="1800"/>
              </a:spcAft>
              <a:buFontTx/>
              <a:buNone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Information is 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available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 if the </a:t>
            </a:r>
            <a:r>
              <a:rPr lang="en-US" alt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arguer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, or the </a:t>
            </a:r>
            <a:r>
              <a:rPr lang="en-US" alt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audience</a:t>
            </a: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" charset="0"/>
              </a:rPr>
              <a:t> the argument is directed at, has access to it. </a:t>
            </a:r>
          </a:p>
          <a:p>
            <a:pPr marL="1028700" lvl="1" indent="-571500" algn="l" eaLnBrk="1" hangingPunct="1">
              <a:buFontTx/>
              <a:buAutoNum type="romanLcParenBoth"/>
            </a:pPr>
            <a:endParaRPr lang="en-US" altLang="en-US" sz="3000" dirty="0">
              <a:solidFill>
                <a:schemeClr val="tx1">
                  <a:lumMod val="65000"/>
                  <a:lumOff val="35000"/>
                </a:schemeClr>
              </a:solidFill>
              <a:latin typeface="Gill Sans" charset="0"/>
            </a:endParaRPr>
          </a:p>
          <a:p>
            <a:pPr lvl="1" algn="l" eaLnBrk="1" hangingPunct="1"/>
            <a:endParaRPr lang="en-US" altLang="en-US" sz="3000" dirty="0">
              <a:solidFill>
                <a:schemeClr val="tx1">
                  <a:lumMod val="65000"/>
                  <a:lumOff val="35000"/>
                </a:schemeClr>
              </a:solidFill>
              <a:latin typeface="Gill Sans" charset="0"/>
            </a:endParaRPr>
          </a:p>
          <a:p>
            <a:pPr eaLnBrk="1" hangingPunct="1">
              <a:buFontTx/>
              <a:buNone/>
            </a:pPr>
            <a:endParaRPr lang="en-US" altLang="en-US" sz="3000" dirty="0">
              <a:solidFill>
                <a:schemeClr val="tx1">
                  <a:lumMod val="65000"/>
                  <a:lumOff val="35000"/>
                </a:schemeClr>
              </a:solidFill>
              <a:latin typeface="Gill Sans" charset="0"/>
            </a:endParaRPr>
          </a:p>
          <a:p>
            <a:pPr eaLnBrk="1" hangingPunct="1">
              <a:buFontTx/>
              <a:buNone/>
            </a:pPr>
            <a:endParaRPr lang="en-US" altLang="en-US" sz="3000" dirty="0">
              <a:solidFill>
                <a:schemeClr val="tx1">
                  <a:lumMod val="65000"/>
                  <a:lumOff val="35000"/>
                </a:schemeClr>
              </a:solidFill>
              <a:latin typeface="Gill Sans" charset="0"/>
            </a:endParaRPr>
          </a:p>
        </p:txBody>
      </p:sp>
      <p:sp>
        <p:nvSpPr>
          <p:cNvPr id="5" name="Snip and Round Single Corner Rectangle 4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US" altLang="en-US" sz="1300" dirty="0">
                <a:solidFill>
                  <a:srgbClr val="FFFFFF"/>
                </a:solidFill>
                <a:latin typeface="Gill Sans MT" panose="020B0502020104020203" pitchFamily="34" charset="0"/>
              </a:rPr>
              <a:t>27</a:t>
            </a:r>
          </a:p>
        </p:txBody>
      </p:sp>
      <p:sp>
        <p:nvSpPr>
          <p:cNvPr id="7" name="Snip and Round Single Corner Rectangle 6"/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Gill Sans MT"/>
                <a:cs typeface="Gill Sans MT"/>
              </a:rPr>
              <a:t>  What is </a:t>
            </a:r>
            <a:r>
              <a:rPr lang="en-US" sz="3500" b="1" i="1" spc="-150" dirty="0">
                <a:latin typeface="Gill Sans MT"/>
                <a:cs typeface="Gill Sans MT"/>
              </a:rPr>
              <a:t>reliability</a:t>
            </a:r>
            <a:r>
              <a:rPr lang="en-US" sz="3500" b="1" spc="-150" dirty="0">
                <a:latin typeface="Gill Sans MT"/>
                <a:cs typeface="Gill Sans M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587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FF2DF-3532-F54C-F885-2A332DC8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D8EF6749-D68A-E5FC-D139-C10512937457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&amp; Cogency</a:t>
            </a: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338A1E6D-0F93-A8DF-6F34-965404DFC85C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77FDE1A0-91CA-4748-AF9E-98804B6D944B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28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C729F071-7322-D55A-0201-D930013236E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143000"/>
            <a:ext cx="8697913" cy="41148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A cogent argument </a:t>
            </a:r>
            <a:r>
              <a:rPr lang="en-US" altLang="en-US" sz="2400" u="sng" dirty="0">
                <a:latin typeface="Times New Roman"/>
                <a:ea typeface="MS PGothic"/>
                <a:cs typeface="Times New Roman"/>
              </a:rPr>
              <a:t>must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be reliable.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So, an is argument cogent </a:t>
            </a:r>
            <a:r>
              <a:rPr lang="en-US" altLang="en-US" sz="2400" i="1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if and only if</a:t>
            </a:r>
            <a:r>
              <a:rPr lang="en-US" altLang="en-US" sz="2400" i="1" dirty="0"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it has </a:t>
            </a:r>
            <a:r>
              <a:rPr lang="en-US" altLang="en-US" sz="2400" b="1" dirty="0">
                <a:latin typeface="Times New Roman"/>
                <a:ea typeface="MS PGothic"/>
                <a:cs typeface="Times New Roman"/>
              </a:rPr>
              <a:t>true premises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and a </a:t>
            </a:r>
            <a:r>
              <a:rPr lang="en-US" altLang="en-US" sz="2400" b="1" dirty="0">
                <a:latin typeface="Times New Roman"/>
                <a:ea typeface="MS PGothic"/>
                <a:cs typeface="Times New Roman"/>
              </a:rPr>
              <a:t>relatively strong inference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 and </a:t>
            </a:r>
            <a:r>
              <a:rPr lang="en-US" altLang="en-US" sz="2400" b="1" dirty="0">
                <a:latin typeface="Times New Roman"/>
                <a:ea typeface="MS PGothic"/>
                <a:cs typeface="Times New Roman"/>
              </a:rPr>
              <a:t>is reliable</a:t>
            </a: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770593"/>
      </p:ext>
    </p:extLst>
  </p:cSld>
  <p:clrMapOvr>
    <a:masterClrMapping/>
  </p:clrMapOvr>
  <p:transition spd="slow" advTm="81322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87F69049-3EAC-491E-B821-11605C27A269}"/>
              </a:ext>
            </a:extLst>
          </p:cNvPr>
          <p:cNvSpPr/>
          <p:nvPr/>
        </p:nvSpPr>
        <p:spPr>
          <a:xfrm>
            <a:off x="2131" y="52470"/>
            <a:ext cx="8625017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spc="-1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Attacking Arguments in Real Life: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SG" b="1" spc="-1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“Dress Codes for University”</a:t>
            </a:r>
            <a:endParaRPr lang="en-US" b="1" spc="-1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4E73EF9E-2D8B-4B34-A8E2-FBC6DCB47017}"/>
              </a:ext>
            </a:extLst>
          </p:cNvPr>
          <p:cNvSpPr/>
          <p:nvPr/>
        </p:nvSpPr>
        <p:spPr>
          <a:xfrm>
            <a:off x="21624" y="6477000"/>
            <a:ext cx="8817576" cy="319088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fontAlgn="auto" hangingPunct="1">
              <a:spcBef>
                <a:spcPct val="0"/>
              </a:spcBef>
              <a:spcAft>
                <a:spcPts val="0"/>
              </a:spcAft>
              <a:buNone/>
              <a:defRPr/>
            </a:pPr>
            <a:fld id="{BF409DC8-542E-48B3-909B-E37A0AED04D5}" type="slidenum">
              <a:rPr lang="en-US" altLang="en-US" sz="975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fontAlgn="auto" hangingPunct="1"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t>29</a:t>
            </a:fld>
            <a:endParaRPr lang="en-US" altLang="en-US" sz="975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FBE5E38B-1438-4334-8568-041E56A078C0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1624" y="838200"/>
            <a:ext cx="9046176" cy="6248400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Original Argument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Straits Times, Forum Letter, “</a:t>
            </a:r>
            <a:r>
              <a:rPr lang="en-US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Implement dress code for university students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altLang="en-US" sz="1600" b="1" dirty="0">
              <a:solidFill>
                <a:srgbClr val="0099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noticed tertiary students here - male and female alike - attending lectures and tutorial classes wearing slippers, shorts and T-shirts.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does not seem like an appropriate way to dress.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Institutes of tertiary education are places to acquire knowledge.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should respect the sanctity of these places and not treat them like food courts or hawker 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there are no restrictions on how one dresses.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sure their lecturers and tutors have to adhere to a dress code and dress appropriately when carrying out their professional duties.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 not see our MPs and ministers wearing slippers, shorts and T-shirts in Parliament.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some restaurants have a dress code which guests must follow.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about time that the authorities, especially in our universities, introduced some form of dress code for all tertiary students to follow.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already is a dress code, then stern action should be taken to enforce it, as it is not being adhered to.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not suggesting that tertiary students wear a uniform.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Shoes instead of slippers, trousers instead of shorts, and shirts with sleeves would be ideal.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implementing a dress code, we would be demonstrating to the world that we are a disciplined society.</a:t>
            </a:r>
          </a:p>
        </p:txBody>
      </p:sp>
    </p:spTree>
    <p:extLst>
      <p:ext uri="{BB962C8B-B14F-4D97-AF65-F5344CB8AC3E}">
        <p14:creationId xmlns:p14="http://schemas.microsoft.com/office/powerpoint/2010/main" val="3880393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4">
            <a:extLst>
              <a:ext uri="{FF2B5EF4-FFF2-40B4-BE49-F238E27FC236}">
                <a16:creationId xmlns:a16="http://schemas.microsoft.com/office/drawing/2014/main" id="{2F5E250E-E315-4D80-9316-A3A98DAD3C5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28600" y="1066800"/>
            <a:ext cx="8153400" cy="4953000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800" dirty="0">
                <a:highlight>
                  <a:srgbClr val="FFFF00"/>
                </a:highlight>
                <a:latin typeface="Times New Roman"/>
                <a:ea typeface="MS PGothic"/>
                <a:cs typeface="Times New Roman"/>
              </a:rPr>
              <a:t>Rewritten (numbered) article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: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(1)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Institutes of tertiary education are places to acquire knowledge. So,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(2)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these places are sanctified places.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(3)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Students should respect this sanctity.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(4)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MS PGothic"/>
                <a:cs typeface="Times New Roman"/>
              </a:rPr>
              <a:t>Not dressing appropriately disrespects this sanctity.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So,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(5)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students should dress appropriately for lectures and classes.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(6)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But they don’t dress appropriately since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(7)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I see them wearing slippers, shorts and t-shirts to class.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(8)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MS PGothic"/>
                <a:cs typeface="Times New Roman"/>
              </a:rPr>
              <a:t>They won’t dress appropriately unless there is an enforced dress code. 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So,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(9)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there should be an enforced dress code for university students.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In addition,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(10)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the enforcement of a dress code shows to the world that we are a disciplined society and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(11)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MS PGothic"/>
                <a:cs typeface="Times New Roman"/>
              </a:rPr>
              <a:t>there are advantages in demonstrating to the world that we are a disciplined society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.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Further,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(12)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lecturers in universities have to follow some form of dress code.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(13) 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So do MPs and ministers in Parliament since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(14) 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we do not see them dress sloppily.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(15) </a:t>
            </a:r>
            <a:r>
              <a:rPr lang="en-US" alt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MS PGothic"/>
                <a:cs typeface="Times New Roman"/>
              </a:rPr>
              <a:t>If lecturers and MPs and ministers have to adhere to a dress code, students should have to, as well.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(16)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Even some restaurants enforce a dress code on their guests. </a:t>
            </a:r>
            <a:r>
              <a:rPr lang="en-US" altLang="en-US" sz="1800" dirty="0">
                <a:solidFill>
                  <a:srgbClr val="FF0000"/>
                </a:solidFill>
                <a:latin typeface="Times New Roman"/>
                <a:ea typeface="MS PGothic"/>
                <a:cs typeface="Times New Roman"/>
              </a:rPr>
              <a:t>(17)</a:t>
            </a:r>
            <a:r>
              <a:rPr lang="en-US" altLang="en-US" sz="1800" dirty="0">
                <a:latin typeface="Times New Roman"/>
                <a:ea typeface="MS PGothic"/>
                <a:cs typeface="Times New Roman"/>
              </a:rPr>
              <a:t> </a:t>
            </a:r>
            <a:r>
              <a:rPr lang="en-US" alt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/>
                <a:ea typeface="MS PGothic"/>
                <a:cs typeface="Times New Roman"/>
              </a:rPr>
              <a:t>If restaurants do this, university authorities must enforce a dress code on students, too.</a:t>
            </a:r>
          </a:p>
        </p:txBody>
      </p:sp>
      <p:sp>
        <p:nvSpPr>
          <p:cNvPr id="5" name="Snip and Round Single Corner Rectangle 7">
            <a:extLst>
              <a:ext uri="{FF2B5EF4-FFF2-40B4-BE49-F238E27FC236}">
                <a16:creationId xmlns:a16="http://schemas.microsoft.com/office/drawing/2014/main" id="{8AD80D3C-5285-4D8F-ADA2-D5F68E9999FF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F7ADBE3B-3354-4488-B798-46DAE08CFFC7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30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6" name="Snip and Round Single Corner Rectangle 6">
            <a:extLst>
              <a:ext uri="{FF2B5EF4-FFF2-40B4-BE49-F238E27FC236}">
                <a16:creationId xmlns:a16="http://schemas.microsoft.com/office/drawing/2014/main" id="{AC390A26-648A-41B0-A588-3E0C559D051F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What is Under Attack:</a:t>
            </a:r>
          </a:p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– “Dress Codes for University”</a:t>
            </a:r>
          </a:p>
        </p:txBody>
      </p:sp>
    </p:spTree>
    <p:extLst>
      <p:ext uri="{BB962C8B-B14F-4D97-AF65-F5344CB8AC3E}">
        <p14:creationId xmlns:p14="http://schemas.microsoft.com/office/powerpoint/2010/main" val="2075696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4">
            <a:extLst>
              <a:ext uri="{FF2B5EF4-FFF2-40B4-BE49-F238E27FC236}">
                <a16:creationId xmlns:a16="http://schemas.microsoft.com/office/drawing/2014/main" id="{F74E577A-AAF6-460C-B1D0-5C96932E6621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266825" y="1714500"/>
            <a:ext cx="6286500" cy="51435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1650" b="1">
                <a:latin typeface="Times New Roman" panose="02020603050405020304" pitchFamily="18" charset="0"/>
                <a:cs typeface="Times New Roman" panose="02020603050405020304" pitchFamily="18" charset="0"/>
              </a:rPr>
              <a:t>The arrow diagram: </a:t>
            </a:r>
          </a:p>
        </p:txBody>
      </p:sp>
      <p:sp>
        <p:nvSpPr>
          <p:cNvPr id="35845" name="TextBox 1">
            <a:extLst>
              <a:ext uri="{FF2B5EF4-FFF2-40B4-BE49-F238E27FC236}">
                <a16:creationId xmlns:a16="http://schemas.microsoft.com/office/drawing/2014/main" id="{93D74EBC-2FA6-4C31-B5D8-2C3018D2A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9447" y="2196704"/>
            <a:ext cx="514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(1)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B7375DB-BA3F-4B50-B668-A2C99F02568C}"/>
              </a:ext>
            </a:extLst>
          </p:cNvPr>
          <p:cNvCxnSpPr>
            <a:cxnSpLocks/>
          </p:cNvCxnSpPr>
          <p:nvPr/>
        </p:nvCxnSpPr>
        <p:spPr>
          <a:xfrm>
            <a:off x="1546623" y="2541985"/>
            <a:ext cx="5953" cy="4548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47" name="TextBox 8">
            <a:extLst>
              <a:ext uri="{FF2B5EF4-FFF2-40B4-BE49-F238E27FC236}">
                <a16:creationId xmlns:a16="http://schemas.microsoft.com/office/drawing/2014/main" id="{A2CE22D4-6EE1-4C64-B87C-3B6E76DAB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969" y="3028950"/>
            <a:ext cx="1640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(2) + (3) + (4)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55C72F-3428-4924-8947-7FFDF5FB49C5}"/>
              </a:ext>
            </a:extLst>
          </p:cNvPr>
          <p:cNvCxnSpPr/>
          <p:nvPr/>
        </p:nvCxnSpPr>
        <p:spPr>
          <a:xfrm>
            <a:off x="1289448" y="3417094"/>
            <a:ext cx="1510903" cy="1190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5CDE511-6ADE-4E6F-AED0-414D3F908955}"/>
              </a:ext>
            </a:extLst>
          </p:cNvPr>
          <p:cNvCxnSpPr>
            <a:cxnSpLocks/>
          </p:cNvCxnSpPr>
          <p:nvPr/>
        </p:nvCxnSpPr>
        <p:spPr>
          <a:xfrm>
            <a:off x="2343150" y="3429000"/>
            <a:ext cx="5954" cy="453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50" name="TextBox 11">
            <a:extLst>
              <a:ext uri="{FF2B5EF4-FFF2-40B4-BE49-F238E27FC236}">
                <a16:creationId xmlns:a16="http://schemas.microsoft.com/office/drawing/2014/main" id="{91C8114D-DB53-457E-A779-D6FAAE009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797" y="3887391"/>
            <a:ext cx="164187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 dirty="0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(5) + (6) +(8)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C3A527-98CC-4821-84A5-09D4F80DEF4D}"/>
              </a:ext>
            </a:extLst>
          </p:cNvPr>
          <p:cNvCxnSpPr>
            <a:cxnSpLocks/>
          </p:cNvCxnSpPr>
          <p:nvPr/>
        </p:nvCxnSpPr>
        <p:spPr>
          <a:xfrm>
            <a:off x="1905000" y="4270772"/>
            <a:ext cx="1238250" cy="4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52" name="TextBox 14">
            <a:extLst>
              <a:ext uri="{FF2B5EF4-FFF2-40B4-BE49-F238E27FC236}">
                <a16:creationId xmlns:a16="http://schemas.microsoft.com/office/drawing/2014/main" id="{667FF1B2-A994-4712-9F29-9D94C3DD1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1" y="3882629"/>
            <a:ext cx="1640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(10) + (11)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F28D36-5BD2-4F5F-A6D4-795EAE667FAA}"/>
              </a:ext>
            </a:extLst>
          </p:cNvPr>
          <p:cNvCxnSpPr>
            <a:cxnSpLocks/>
          </p:cNvCxnSpPr>
          <p:nvPr/>
        </p:nvCxnSpPr>
        <p:spPr>
          <a:xfrm>
            <a:off x="3498057" y="4270772"/>
            <a:ext cx="8703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54" name="TextBox 16">
            <a:extLst>
              <a:ext uri="{FF2B5EF4-FFF2-40B4-BE49-F238E27FC236}">
                <a16:creationId xmlns:a16="http://schemas.microsoft.com/office/drawing/2014/main" id="{8C8145EB-A18F-4A8B-B783-DFA402552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991" y="3910013"/>
            <a:ext cx="238005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(12) + (13) + (15)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53961F-7F6C-478C-959C-D8769DEF1AFF}"/>
              </a:ext>
            </a:extLst>
          </p:cNvPr>
          <p:cNvCxnSpPr>
            <a:cxnSpLocks/>
          </p:cNvCxnSpPr>
          <p:nvPr/>
        </p:nvCxnSpPr>
        <p:spPr>
          <a:xfrm>
            <a:off x="5232798" y="4298156"/>
            <a:ext cx="16823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56" name="TextBox 19">
            <a:extLst>
              <a:ext uri="{FF2B5EF4-FFF2-40B4-BE49-F238E27FC236}">
                <a16:creationId xmlns:a16="http://schemas.microsoft.com/office/drawing/2014/main" id="{85182E6E-E5BA-424E-99E4-2F5BBC452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2150" y="3071813"/>
            <a:ext cx="6643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(14)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96FC97-58EE-4D34-9426-5158DD3FE223}"/>
              </a:ext>
            </a:extLst>
          </p:cNvPr>
          <p:cNvCxnSpPr>
            <a:cxnSpLocks/>
          </p:cNvCxnSpPr>
          <p:nvPr/>
        </p:nvCxnSpPr>
        <p:spPr>
          <a:xfrm>
            <a:off x="6069806" y="3423048"/>
            <a:ext cx="5954" cy="4536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58" name="TextBox 21">
            <a:extLst>
              <a:ext uri="{FF2B5EF4-FFF2-40B4-BE49-F238E27FC236}">
                <a16:creationId xmlns:a16="http://schemas.microsoft.com/office/drawing/2014/main" id="{926B74B0-697B-49D7-8E83-74ABBD5A0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4763" y="5073254"/>
            <a:ext cx="514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(9)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2B0FEB-833F-4722-8F75-5FFCC7EDCA6A}"/>
              </a:ext>
            </a:extLst>
          </p:cNvPr>
          <p:cNvCxnSpPr>
            <a:cxnSpLocks/>
          </p:cNvCxnSpPr>
          <p:nvPr/>
        </p:nvCxnSpPr>
        <p:spPr>
          <a:xfrm>
            <a:off x="2425303" y="4256485"/>
            <a:ext cx="1489472" cy="795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18B343-00FF-470E-BCE4-D5487C1FE8DB}"/>
              </a:ext>
            </a:extLst>
          </p:cNvPr>
          <p:cNvCxnSpPr/>
          <p:nvPr/>
        </p:nvCxnSpPr>
        <p:spPr>
          <a:xfrm>
            <a:off x="4057650" y="4270773"/>
            <a:ext cx="28575" cy="758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D50F32-E0E7-4D95-BC7C-4D2EB86BB794}"/>
              </a:ext>
            </a:extLst>
          </p:cNvPr>
          <p:cNvCxnSpPr>
            <a:cxnSpLocks/>
          </p:cNvCxnSpPr>
          <p:nvPr/>
        </p:nvCxnSpPr>
        <p:spPr>
          <a:xfrm flipH="1">
            <a:off x="4286250" y="4343400"/>
            <a:ext cx="1714500" cy="685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62" name="TextBox 14">
            <a:extLst>
              <a:ext uri="{FF2B5EF4-FFF2-40B4-BE49-F238E27FC236}">
                <a16:creationId xmlns:a16="http://schemas.microsoft.com/office/drawing/2014/main" id="{766615B8-3371-4E26-AB50-6587E496B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1" y="4510088"/>
            <a:ext cx="1640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(16) + (17)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9145F1D-6A77-4EE3-8DA8-5BCE7808724F}"/>
              </a:ext>
            </a:extLst>
          </p:cNvPr>
          <p:cNvCxnSpPr>
            <a:cxnSpLocks/>
          </p:cNvCxnSpPr>
          <p:nvPr/>
        </p:nvCxnSpPr>
        <p:spPr>
          <a:xfrm>
            <a:off x="5898357" y="4898231"/>
            <a:ext cx="8703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ED7CB26-F055-4BB5-BA13-EDAC47AF4CCF}"/>
              </a:ext>
            </a:extLst>
          </p:cNvPr>
          <p:cNvCxnSpPr>
            <a:cxnSpLocks/>
          </p:cNvCxnSpPr>
          <p:nvPr/>
        </p:nvCxnSpPr>
        <p:spPr>
          <a:xfrm flipH="1">
            <a:off x="4286250" y="4956572"/>
            <a:ext cx="1818085" cy="336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65" name="TextBox 1">
            <a:extLst>
              <a:ext uri="{FF2B5EF4-FFF2-40B4-BE49-F238E27FC236}">
                <a16:creationId xmlns:a16="http://schemas.microsoft.com/office/drawing/2014/main" id="{793F2D18-7301-427F-896E-91D893CC1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6075" y="2540794"/>
            <a:ext cx="514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solidFill>
                  <a:schemeClr val="tx2"/>
                </a:solidFill>
                <a:latin typeface="Times New Roman" panose="02020603050405020304" pitchFamily="18" charset="0"/>
                <a:ea typeface="MS PGothic" panose="020B0600070205080204" pitchFamily="34" charset="-128"/>
              </a:rPr>
              <a:t>(7)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AA2898D-CAF6-4817-A574-80866636B4A0}"/>
              </a:ext>
            </a:extLst>
          </p:cNvPr>
          <p:cNvCxnSpPr>
            <a:cxnSpLocks/>
          </p:cNvCxnSpPr>
          <p:nvPr/>
        </p:nvCxnSpPr>
        <p:spPr>
          <a:xfrm flipH="1">
            <a:off x="2667000" y="2886075"/>
            <a:ext cx="476250" cy="1061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nip and Round Single Corner Rectangle 7">
            <a:extLst>
              <a:ext uri="{FF2B5EF4-FFF2-40B4-BE49-F238E27FC236}">
                <a16:creationId xmlns:a16="http://schemas.microsoft.com/office/drawing/2014/main" id="{2FEF360D-AD10-4CAC-AEEE-F290ED4C3DE4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F7ADBE3B-3354-4488-B798-46DAE08CFFC7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31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33" name="Snip and Round Single Corner Rectangle 6">
            <a:extLst>
              <a:ext uri="{FF2B5EF4-FFF2-40B4-BE49-F238E27FC236}">
                <a16:creationId xmlns:a16="http://schemas.microsoft.com/office/drawing/2014/main" id="{72CFF031-2BA6-465A-8DB3-718424944DB5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What is Under Attack:</a:t>
            </a:r>
          </a:p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– “Dress Codes for University”</a:t>
            </a:r>
          </a:p>
        </p:txBody>
      </p:sp>
    </p:spTree>
    <p:extLst>
      <p:ext uri="{BB962C8B-B14F-4D97-AF65-F5344CB8AC3E}">
        <p14:creationId xmlns:p14="http://schemas.microsoft.com/office/powerpoint/2010/main" val="4219185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B2F4C880-DA1F-45C7-9E26-C2844831B20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266825" y="1771650"/>
            <a:ext cx="6286500" cy="2743200"/>
          </a:xfrm>
        </p:spPr>
        <p:txBody>
          <a:bodyPr rtlCol="0">
            <a:normAutofit fontScale="925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Attacking Statements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consider the attacking statements on this link: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24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https://mothership.sg/2017/12/singapore-university-dress-code/</a:t>
            </a:r>
            <a:endParaRPr lang="en-US" altLang="en-US" sz="24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these statements attack?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404B55B6-D302-4B9E-BADC-5328E37A636C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What is Under Attack:</a:t>
            </a:r>
          </a:p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– “Dress Codes for University”</a:t>
            </a:r>
          </a:p>
        </p:txBody>
      </p:sp>
      <p:sp>
        <p:nvSpPr>
          <p:cNvPr id="6" name="Snip and Round Single Corner Rectangle 7">
            <a:extLst>
              <a:ext uri="{FF2B5EF4-FFF2-40B4-BE49-F238E27FC236}">
                <a16:creationId xmlns:a16="http://schemas.microsoft.com/office/drawing/2014/main" id="{235ACBC0-CF61-4ED2-B881-E6218246FB97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F7ADBE3B-3354-4488-B798-46DAE08CFFC7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32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1933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A02BD070-7261-496A-9FFB-E95B9BFC5BFD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SG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 Diagramming</a:t>
            </a:r>
            <a:endParaRPr lang="en-US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8186E53B-476E-4BDC-90D6-741513794A31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F7ADBE3B-3354-4488-B798-46DAE08CFFC7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33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BDA9A07-93DF-4C61-9980-0DF6A40C361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143000"/>
            <a:ext cx="83820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Deep diagramming refers to drawing an arrow diagram, which shows, both, reasons for and against a conclusion.</a:t>
            </a:r>
          </a:p>
          <a:p>
            <a:pPr marL="0" indent="0" eaLnBrk="1" hangingPunct="1"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The supporting reasons for any conclusion are shown, as usual, as solid arrows. </a:t>
            </a:r>
          </a:p>
          <a:p>
            <a:pPr marL="0" indent="0" eaLnBrk="1" hangingPunct="1"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Attacking reasons (or, ‘attacks’) are indicated by dashed arrows. </a:t>
            </a:r>
          </a:p>
          <a:p>
            <a:pPr marL="0" indent="0" eaLnBrk="1" hangingPunct="1"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2400" dirty="0">
                <a:latin typeface="Times New Roman"/>
                <a:ea typeface="MS PGothic"/>
                <a:cs typeface="Times New Roman"/>
              </a:rPr>
              <a:t>Don’t forget that one could very well have reasons supporting the attacking statement.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069909"/>
      </p:ext>
    </p:extLst>
  </p:cSld>
  <p:clrMapOvr>
    <a:masterClrMapping/>
  </p:clrMapOvr>
  <p:transition spd="slow" advTm="89758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>
            <a:extLst>
              <a:ext uri="{FF2B5EF4-FFF2-40B4-BE49-F238E27FC236}">
                <a16:creationId xmlns:a16="http://schemas.microsoft.com/office/drawing/2014/main" id="{9BCD487D-66FD-4B87-858B-78AB1D8FBD4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835818" y="1211462"/>
            <a:ext cx="6286500" cy="645319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is how a deep diagram might look like.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arguments are there in this deep diagram?</a:t>
            </a:r>
          </a:p>
        </p:txBody>
      </p:sp>
      <p:sp>
        <p:nvSpPr>
          <p:cNvPr id="21509" name="TextBox 1">
            <a:extLst>
              <a:ext uri="{FF2B5EF4-FFF2-40B4-BE49-F238E27FC236}">
                <a16:creationId xmlns:a16="http://schemas.microsoft.com/office/drawing/2014/main" id="{F6567A6F-BA3D-49F7-AA93-5BF6FC6F0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2359819"/>
            <a:ext cx="800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latin typeface="Times New Roman" panose="02020603050405020304" pitchFamily="18" charset="0"/>
                <a:ea typeface="MS PGothic" panose="020B0600070205080204" pitchFamily="34" charset="-128"/>
              </a:rPr>
              <a:t>(6)</a:t>
            </a:r>
          </a:p>
        </p:txBody>
      </p:sp>
      <p:sp>
        <p:nvSpPr>
          <p:cNvPr id="21510" name="TextBox 5">
            <a:extLst>
              <a:ext uri="{FF2B5EF4-FFF2-40B4-BE49-F238E27FC236}">
                <a16:creationId xmlns:a16="http://schemas.microsoft.com/office/drawing/2014/main" id="{DCF3750A-2421-4B46-B15D-F2D970393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3425" y="2125266"/>
            <a:ext cx="800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latin typeface="Times New Roman" panose="02020603050405020304" pitchFamily="18" charset="0"/>
                <a:ea typeface="MS PGothic" panose="020B0600070205080204" pitchFamily="34" charset="-128"/>
              </a:rPr>
              <a:t>(7)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A9D039-B500-4751-A290-21CB3ACFAEB2}"/>
              </a:ext>
            </a:extLst>
          </p:cNvPr>
          <p:cNvCxnSpPr/>
          <p:nvPr/>
        </p:nvCxnSpPr>
        <p:spPr>
          <a:xfrm flipH="1">
            <a:off x="4057650" y="2345532"/>
            <a:ext cx="628650" cy="1262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7DB2D2-A0C8-4274-984D-8B08EA28D4E9}"/>
              </a:ext>
            </a:extLst>
          </p:cNvPr>
          <p:cNvCxnSpPr>
            <a:cxnSpLocks/>
            <a:stCxn id="21509" idx="2"/>
          </p:cNvCxnSpPr>
          <p:nvPr/>
        </p:nvCxnSpPr>
        <p:spPr>
          <a:xfrm>
            <a:off x="3771900" y="2729151"/>
            <a:ext cx="0" cy="339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13" name="TextBox 10">
            <a:extLst>
              <a:ext uri="{FF2B5EF4-FFF2-40B4-BE49-F238E27FC236}">
                <a16:creationId xmlns:a16="http://schemas.microsoft.com/office/drawing/2014/main" id="{F9157FEB-9BD0-4BF1-80A9-1538E9E83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3281" y="3189685"/>
            <a:ext cx="800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latin typeface="Times New Roman" panose="02020603050405020304" pitchFamily="18" charset="0"/>
                <a:ea typeface="MS PGothic" panose="020B0600070205080204" pitchFamily="34" charset="-128"/>
              </a:rPr>
              <a:t>(5)</a:t>
            </a:r>
          </a:p>
        </p:txBody>
      </p:sp>
      <p:sp>
        <p:nvSpPr>
          <p:cNvPr id="21514" name="TextBox 11">
            <a:extLst>
              <a:ext uri="{FF2B5EF4-FFF2-40B4-BE49-F238E27FC236}">
                <a16:creationId xmlns:a16="http://schemas.microsoft.com/office/drawing/2014/main" id="{B74D1962-125A-4814-BF71-3DC0457D6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75" y="2625329"/>
            <a:ext cx="800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latin typeface="Times New Roman" panose="02020603050405020304" pitchFamily="18" charset="0"/>
                <a:ea typeface="MS PGothic" panose="020B0600070205080204" pitchFamily="34" charset="-128"/>
              </a:rPr>
              <a:t>(12)</a:t>
            </a:r>
          </a:p>
        </p:txBody>
      </p:sp>
      <p:sp>
        <p:nvSpPr>
          <p:cNvPr id="21515" name="TextBox 12">
            <a:extLst>
              <a:ext uri="{FF2B5EF4-FFF2-40B4-BE49-F238E27FC236}">
                <a16:creationId xmlns:a16="http://schemas.microsoft.com/office/drawing/2014/main" id="{11324C0A-EF2C-4251-8788-64E96EAC9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05088"/>
            <a:ext cx="800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latin typeface="Times New Roman" panose="02020603050405020304" pitchFamily="18" charset="0"/>
                <a:ea typeface="MS PGothic" panose="020B0600070205080204" pitchFamily="34" charset="-128"/>
              </a:rPr>
              <a:t>(13)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D93A8F7-BEC7-4919-A0CB-D4669E4C3443}"/>
              </a:ext>
            </a:extLst>
          </p:cNvPr>
          <p:cNvCxnSpPr>
            <a:cxnSpLocks/>
          </p:cNvCxnSpPr>
          <p:nvPr/>
        </p:nvCxnSpPr>
        <p:spPr>
          <a:xfrm>
            <a:off x="4772025" y="2972991"/>
            <a:ext cx="257175" cy="456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41CC0B-A273-4979-B0D5-C3C3E5B22799}"/>
              </a:ext>
            </a:extLst>
          </p:cNvPr>
          <p:cNvCxnSpPr>
            <a:cxnSpLocks/>
          </p:cNvCxnSpPr>
          <p:nvPr/>
        </p:nvCxnSpPr>
        <p:spPr>
          <a:xfrm flipH="1">
            <a:off x="5172075" y="2950369"/>
            <a:ext cx="314325" cy="4786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18" name="TextBox 17">
            <a:extLst>
              <a:ext uri="{FF2B5EF4-FFF2-40B4-BE49-F238E27FC236}">
                <a16:creationId xmlns:a16="http://schemas.microsoft.com/office/drawing/2014/main" id="{D45A0494-7EB9-4A87-815C-CEE2E2337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3446860"/>
            <a:ext cx="800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latin typeface="Times New Roman" panose="02020603050405020304" pitchFamily="18" charset="0"/>
                <a:ea typeface="MS PGothic" panose="020B0600070205080204" pitchFamily="34" charset="-128"/>
              </a:rPr>
              <a:t>(11)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971F55-6200-442B-B843-C0C3842A5265}"/>
              </a:ext>
            </a:extLst>
          </p:cNvPr>
          <p:cNvCxnSpPr>
            <a:cxnSpLocks/>
          </p:cNvCxnSpPr>
          <p:nvPr/>
        </p:nvCxnSpPr>
        <p:spPr>
          <a:xfrm flipH="1">
            <a:off x="3618310" y="3536156"/>
            <a:ext cx="153590" cy="363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A799B4-40D6-42A5-A368-8879C99E927B}"/>
              </a:ext>
            </a:extLst>
          </p:cNvPr>
          <p:cNvCxnSpPr>
            <a:cxnSpLocks/>
          </p:cNvCxnSpPr>
          <p:nvPr/>
        </p:nvCxnSpPr>
        <p:spPr>
          <a:xfrm flipH="1">
            <a:off x="3986212" y="3631406"/>
            <a:ext cx="78581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21" name="TextBox 23">
            <a:extLst>
              <a:ext uri="{FF2B5EF4-FFF2-40B4-BE49-F238E27FC236}">
                <a16:creationId xmlns:a16="http://schemas.microsoft.com/office/drawing/2014/main" id="{C153B4D6-FEFC-4C56-B3FC-B5CA26882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3932635"/>
            <a:ext cx="1257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 u="sng">
                <a:latin typeface="Times New Roman" panose="02020603050405020304" pitchFamily="18" charset="0"/>
                <a:ea typeface="MS PGothic" panose="020B0600070205080204" pitchFamily="34" charset="-128"/>
              </a:rPr>
              <a:t>(2) + (3)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3F20E0-091C-4731-9017-A0B1D0B781A4}"/>
              </a:ext>
            </a:extLst>
          </p:cNvPr>
          <p:cNvCxnSpPr>
            <a:cxnSpLocks/>
          </p:cNvCxnSpPr>
          <p:nvPr/>
        </p:nvCxnSpPr>
        <p:spPr>
          <a:xfrm>
            <a:off x="3271838" y="3550444"/>
            <a:ext cx="175022" cy="363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23" name="TextBox 27">
            <a:extLst>
              <a:ext uri="{FF2B5EF4-FFF2-40B4-BE49-F238E27FC236}">
                <a16:creationId xmlns:a16="http://schemas.microsoft.com/office/drawing/2014/main" id="{3F65E17E-2534-4DDB-9CD3-106DF8D99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360" y="3203972"/>
            <a:ext cx="800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latin typeface="Times New Roman" panose="02020603050405020304" pitchFamily="18" charset="0"/>
                <a:ea typeface="MS PGothic" panose="020B0600070205080204" pitchFamily="34" charset="-128"/>
              </a:rPr>
              <a:t>(4)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3DDD1A-2A44-4792-A9CC-6308DDCC0D91}"/>
              </a:ext>
            </a:extLst>
          </p:cNvPr>
          <p:cNvCxnSpPr>
            <a:cxnSpLocks/>
          </p:cNvCxnSpPr>
          <p:nvPr/>
        </p:nvCxnSpPr>
        <p:spPr>
          <a:xfrm>
            <a:off x="3253979" y="4335067"/>
            <a:ext cx="0" cy="363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25" name="TextBox 31">
            <a:extLst>
              <a:ext uri="{FF2B5EF4-FFF2-40B4-BE49-F238E27FC236}">
                <a16:creationId xmlns:a16="http://schemas.microsoft.com/office/drawing/2014/main" id="{66E41157-C318-42F0-8E1B-608E62E32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360" y="4818460"/>
            <a:ext cx="800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latin typeface="Times New Roman" panose="02020603050405020304" pitchFamily="18" charset="0"/>
                <a:ea typeface="MS PGothic" panose="020B0600070205080204" pitchFamily="34" charset="-128"/>
              </a:rPr>
              <a:t>(1)</a:t>
            </a:r>
          </a:p>
        </p:txBody>
      </p:sp>
      <p:sp>
        <p:nvSpPr>
          <p:cNvPr id="21526" name="TextBox 32">
            <a:extLst>
              <a:ext uri="{FF2B5EF4-FFF2-40B4-BE49-F238E27FC236}">
                <a16:creationId xmlns:a16="http://schemas.microsoft.com/office/drawing/2014/main" id="{EDE159D4-D6B1-4FE0-927D-7AFE11E1B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647" y="3952875"/>
            <a:ext cx="12573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 u="sng">
                <a:latin typeface="Times New Roman" panose="02020603050405020304" pitchFamily="18" charset="0"/>
                <a:ea typeface="MS PGothic" panose="020B0600070205080204" pitchFamily="34" charset="-128"/>
              </a:rPr>
              <a:t>(9) + (10)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BBCA0D5-B947-48B5-8C86-677B4D163167}"/>
              </a:ext>
            </a:extLst>
          </p:cNvPr>
          <p:cNvCxnSpPr>
            <a:cxnSpLocks/>
          </p:cNvCxnSpPr>
          <p:nvPr/>
        </p:nvCxnSpPr>
        <p:spPr>
          <a:xfrm>
            <a:off x="4657725" y="4356497"/>
            <a:ext cx="0" cy="361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28" name="TextBox 34">
            <a:extLst>
              <a:ext uri="{FF2B5EF4-FFF2-40B4-BE49-F238E27FC236}">
                <a16:creationId xmlns:a16="http://schemas.microsoft.com/office/drawing/2014/main" id="{F742D09D-43EC-4DDA-8234-BB2425C88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2679" y="4794647"/>
            <a:ext cx="8001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SG" altLang="en-US" sz="1800" b="1">
                <a:latin typeface="Times New Roman" panose="02020603050405020304" pitchFamily="18" charset="0"/>
                <a:ea typeface="MS PGothic" panose="020B0600070205080204" pitchFamily="34" charset="-128"/>
              </a:rPr>
              <a:t>(8)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9BBBD94-A02F-4330-9DF3-482A60524593}"/>
              </a:ext>
            </a:extLst>
          </p:cNvPr>
          <p:cNvCxnSpPr>
            <a:cxnSpLocks/>
          </p:cNvCxnSpPr>
          <p:nvPr/>
        </p:nvCxnSpPr>
        <p:spPr>
          <a:xfrm flipH="1">
            <a:off x="3586162" y="5029200"/>
            <a:ext cx="78581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nip and Round Single Corner Rectangle 6">
            <a:extLst>
              <a:ext uri="{FF2B5EF4-FFF2-40B4-BE49-F238E27FC236}">
                <a16:creationId xmlns:a16="http://schemas.microsoft.com/office/drawing/2014/main" id="{CA71C0E8-FC8C-40B3-8F3A-EBD5D571D525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possible deep diagram</a:t>
            </a:r>
          </a:p>
        </p:txBody>
      </p:sp>
      <p:sp>
        <p:nvSpPr>
          <p:cNvPr id="29" name="Snip and Round Single Corner Rectangle 7">
            <a:extLst>
              <a:ext uri="{FF2B5EF4-FFF2-40B4-BE49-F238E27FC236}">
                <a16:creationId xmlns:a16="http://schemas.microsoft.com/office/drawing/2014/main" id="{2A90AE78-42FE-4355-B521-508607B2D47B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F7ADBE3B-3354-4488-B798-46DAE08CFFC7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34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A02BD070-7261-496A-9FFB-E95B9BFC5BFD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SG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 Diagramming</a:t>
            </a:r>
            <a:endParaRPr lang="en-US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8186E53B-476E-4BDC-90D6-741513794A31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F7ADBE3B-3354-4488-B798-46DAE08CFFC7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35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BDA9A07-93DF-4C61-9980-0DF6A40C361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143000"/>
            <a:ext cx="8382000" cy="4876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diagramming refers to drawing an arrow diagram, which shows, both, reasons for and against a conclusion.</a:t>
            </a: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Char char="§"/>
              <a:defRPr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consider how this is done with the following example: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Sovan:</a:t>
            </a:r>
          </a:p>
          <a:p>
            <a:pPr marL="457200" indent="-457200" eaLnBrk="1" hangingPunct="1">
              <a:buFontTx/>
              <a:buAutoNum type="arabicParenBoth"/>
              <a:defRPr/>
            </a:pP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If I buy a car, I’ll be able to drive to Malaysia and travel around.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I have always wanted to visit the Malaysian National Park and to view one of the last remaining pristine jungle environments in Asia. </a:t>
            </a:r>
            <a:r>
              <a:rPr lang="en-US" altLang="zh-CN" sz="1900" dirty="0">
                <a:highlight>
                  <a:srgbClr val="00FF00"/>
                </a:highligh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So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perhaps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it is a good decision to buy a car.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19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Emma:</a:t>
            </a:r>
            <a:endParaRPr lang="en-US" altLang="zh-CN" sz="19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But Sovan,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if you buy a car, you won’t be able to do any travelling </a:t>
            </a:r>
            <a:r>
              <a:rPr lang="en-US" altLang="zh-CN" sz="1900" dirty="0">
                <a:highlight>
                  <a:srgbClr val="00FF00"/>
                </a:highligh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because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you’ll need a second job to make the repayments </a:t>
            </a:r>
            <a:r>
              <a:rPr lang="en-US" altLang="zh-CN" sz="1900" dirty="0">
                <a:highlight>
                  <a:srgbClr val="00FF00"/>
                </a:highligh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since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buying a car is so expensive in Singapore. Besides,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(7)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you could always hire a car to drive around Malaysia, and anyway,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(8) 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it </a:t>
            </a:r>
            <a:r>
              <a:rPr lang="en-US" altLang="zh-CN" sz="1900"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it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is not even a decision for you to make  </a:t>
            </a:r>
            <a:r>
              <a:rPr lang="en-US" altLang="zh-CN" sz="1900" dirty="0">
                <a:highlight>
                  <a:srgbClr val="00FF00"/>
                </a:highligh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because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(9)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you are a foreigner and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(10)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foreigners are not allowed to buy cars in Singapore.</a:t>
            </a: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 advTm="89758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DB753636-F051-4F28-A580-1D0CBE32023B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SG" sz="35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 Diagramming</a:t>
            </a:r>
            <a:endParaRPr lang="en-US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B30424BD-DE8C-4001-AF48-7AD19097253A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586A71FA-560D-4B6C-B48D-D6FB52D7B4EB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36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26FC763F-BB65-4EDE-A320-64B8B7D0865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5100" y="1143000"/>
            <a:ext cx="8382000" cy="4876800"/>
          </a:xfrm>
        </p:spPr>
        <p:txBody>
          <a:bodyPr/>
          <a:lstStyle/>
          <a:p>
            <a:pPr marL="457200" lvl="1" indent="0" eaLnBrk="1" hangingPunct="1">
              <a:buFont typeface="Arial" panose="020B0604020202020204" pitchFamily="34" charset="0"/>
              <a:buNone/>
              <a:defRPr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Sovan: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 If I buy a car, I’ll be able to drive to Malaysia and travel around.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I have always wanted to visit the Malaysian National Park and to view one of the last remaining pristine jungle environments in Asia. </a:t>
            </a:r>
            <a:r>
              <a:rPr lang="en-US" altLang="zh-CN" sz="1900" dirty="0">
                <a:highlight>
                  <a:srgbClr val="00FF00"/>
                </a:highlight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So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perhaps </a:t>
            </a:r>
            <a:r>
              <a:rPr lang="en-US" altLang="zh-CN" sz="19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sz="19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it is a good decision to buy a car.</a:t>
            </a:r>
          </a:p>
          <a:p>
            <a:pPr marL="0" indent="0" eaLnBrk="1" hangingPunct="1">
              <a:buFont typeface="Arial" panose="020B0604020202020204" pitchFamily="34" charset="0"/>
              <a:buNone/>
              <a:defRPr/>
            </a:pPr>
            <a:endParaRPr lang="en-US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3" name="TextBox 1">
            <a:extLst>
              <a:ext uri="{FF2B5EF4-FFF2-40B4-BE49-F238E27FC236}">
                <a16:creationId xmlns:a16="http://schemas.microsoft.com/office/drawing/2014/main" id="{6B7A7C8C-763D-4E15-8AD6-52EDAE334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270500"/>
            <a:ext cx="3505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(3) </a:t>
            </a:r>
            <a:r>
              <a:rPr lang="en-US" altLang="en-US" sz="2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 is a good decision to buy a car.</a:t>
            </a:r>
            <a:endParaRPr lang="en-GB" altLang="en-US" sz="20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48134" name="TextBox 2">
            <a:extLst>
              <a:ext uri="{FF2B5EF4-FFF2-40B4-BE49-F238E27FC236}">
                <a16:creationId xmlns:a16="http://schemas.microsoft.com/office/drawing/2014/main" id="{AD7CF969-F255-42A6-9E25-E95816513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2981325"/>
            <a:ext cx="3505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 If I buy a car, I’ll be able to drive to Malaysia and travel around.</a:t>
            </a:r>
            <a:endParaRPr lang="en-GB" altLang="en-US"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135" name="TextBox 3">
            <a:extLst>
              <a:ext uri="{FF2B5EF4-FFF2-40B4-BE49-F238E27FC236}">
                <a16:creationId xmlns:a16="http://schemas.microsoft.com/office/drawing/2014/main" id="{B5F436FE-E739-46A6-97A5-DE62EBD1A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981325"/>
            <a:ext cx="39751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(2) I have always wanted to visit the Malaysian National Park and to view one of the last remaining pristine jungle environments in Asia.</a:t>
            </a:r>
            <a:endParaRPr lang="en-GB" altLang="en-US"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Plus Sign 4">
            <a:extLst>
              <a:ext uri="{FF2B5EF4-FFF2-40B4-BE49-F238E27FC236}">
                <a16:creationId xmlns:a16="http://schemas.microsoft.com/office/drawing/2014/main" id="{848D2656-0273-4F38-BC63-9D6A769A8027}"/>
              </a:ext>
            </a:extLst>
          </p:cNvPr>
          <p:cNvSpPr/>
          <p:nvPr/>
        </p:nvSpPr>
        <p:spPr>
          <a:xfrm>
            <a:off x="3868897" y="3347721"/>
            <a:ext cx="577849" cy="615951"/>
          </a:xfrm>
          <a:prstGeom prst="mathPlu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5538A4-9A47-4895-95C1-E416653086E5}"/>
              </a:ext>
            </a:extLst>
          </p:cNvPr>
          <p:cNvCxnSpPr/>
          <p:nvPr/>
        </p:nvCxnSpPr>
        <p:spPr>
          <a:xfrm>
            <a:off x="381000" y="4660900"/>
            <a:ext cx="807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BBD19D-F745-4C96-8793-8BCA89907D4D}"/>
              </a:ext>
            </a:extLst>
          </p:cNvPr>
          <p:cNvCxnSpPr/>
          <p:nvPr/>
        </p:nvCxnSpPr>
        <p:spPr>
          <a:xfrm>
            <a:off x="4083050" y="4648200"/>
            <a:ext cx="0" cy="622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50095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40EB29FE-B3E1-42A6-AFD7-0F579DA90DD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52400" y="762000"/>
            <a:ext cx="8763000" cy="54864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Zero-emission vehicles won’t sell because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only electric cars qualify as zero-emission vehicles and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electric cars won't sell. One reason is that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they are very expensive. Another is that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charging them takes long and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recharging facilities are not widely available. </a:t>
            </a:r>
            <a:r>
              <a:rPr lang="en-US" altLang="zh-C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However,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(7)</a:t>
            </a:r>
            <a:r>
              <a:rPr lang="en-US" altLang="zh-C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new generation batteries don’t have to be charged as often. Moreover,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(8)</a:t>
            </a:r>
            <a:r>
              <a:rPr lang="en-US" altLang="zh-C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people are concerned with the state of the environment and so,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(9)</a:t>
            </a:r>
            <a:r>
              <a:rPr lang="en-US" altLang="zh-C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people are more eager to switch to vehicles that do not emit greenhouse gases.</a:t>
            </a:r>
          </a:p>
          <a:p>
            <a:pPr eaLnBrk="1" hangingPunct="1">
              <a:buFontTx/>
              <a:buAutoNum type="arabicParenBoth"/>
              <a:defRPr/>
            </a:pP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deep diagram look like?</a:t>
            </a:r>
            <a:endParaRPr lang="en-US" altLang="zh-CN" sz="24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nip and Round Single Corner Rectangle 2">
            <a:extLst>
              <a:ext uri="{FF2B5EF4-FFF2-40B4-BE49-F238E27FC236}">
                <a16:creationId xmlns:a16="http://schemas.microsoft.com/office/drawing/2014/main" id="{942CDAB2-0DEC-4D29-85CE-4CB482A1641E}"/>
              </a:ext>
            </a:extLst>
          </p:cNvPr>
          <p:cNvSpPr/>
          <p:nvPr/>
        </p:nvSpPr>
        <p:spPr>
          <a:xfrm>
            <a:off x="21264" y="6477000"/>
            <a:ext cx="8894135" cy="3810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6B2C58F9-504A-4AF3-8F33-5E5B7A96DA2B}" type="slidenum">
              <a:rPr lang="en-US" altLang="en-US" sz="975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37</a:t>
            </a:fld>
            <a:endParaRPr lang="en-US" altLang="en-US" sz="975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sp>
        <p:nvSpPr>
          <p:cNvPr id="5" name="Snip and Round Single Corner Rectangle 4">
            <a:extLst>
              <a:ext uri="{FF2B5EF4-FFF2-40B4-BE49-F238E27FC236}">
                <a16:creationId xmlns:a16="http://schemas.microsoft.com/office/drawing/2014/main" id="{3402E82F-3C94-4962-85E1-5CFF7C0183F5}"/>
              </a:ext>
            </a:extLst>
          </p:cNvPr>
          <p:cNvSpPr/>
          <p:nvPr/>
        </p:nvSpPr>
        <p:spPr>
          <a:xfrm>
            <a:off x="0" y="-17610"/>
            <a:ext cx="8915400" cy="645319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2625" b="1" spc="-1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SG" sz="2625" b="1" spc="-11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 Diagramming: Exercise</a:t>
            </a:r>
            <a:endParaRPr lang="en-US" sz="2625" b="1" spc="-11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and Round Single Corner Rectangle 7"/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389438" algn="l"/>
              </a:tabLs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defRPr/>
            </a:pPr>
            <a:fld id="{BEC5F600-3274-41AF-A800-D88D59D5F7D4}" type="slidenum">
              <a:rPr lang="en-US" altLang="en-US" sz="1300" smtClean="0">
                <a:solidFill>
                  <a:srgbClr val="FFFFFF"/>
                </a:solidFill>
                <a:cs typeface="Times New Roman" panose="02020603050405020304" pitchFamily="18" charset="0"/>
              </a:rPr>
              <a:pPr algn="r" eaLnBrk="1" hangingPunct="1">
                <a:defRPr/>
              </a:pPr>
              <a:t>38</a:t>
            </a:fld>
            <a:endParaRPr lang="en-US" altLang="en-US" sz="130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Snip and Round Single Corner Rectangle 6">
            <a:extLst>
              <a:ext uri="{FF2B5EF4-FFF2-40B4-BE49-F238E27FC236}">
                <a16:creationId xmlns:a16="http://schemas.microsoft.com/office/drawing/2014/main" id="{EF859881-A258-4231-B4C5-C4AE7858D245}"/>
              </a:ext>
            </a:extLst>
          </p:cNvPr>
          <p:cNvSpPr/>
          <p:nvPr/>
        </p:nvSpPr>
        <p:spPr>
          <a:xfrm>
            <a:off x="0" y="95250"/>
            <a:ext cx="86868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sz="3200" b="1" spc="-150">
                <a:latin typeface="Times New Roman" panose="02020603050405020304" pitchFamily="18" charset="0"/>
                <a:cs typeface="Times New Roman" panose="02020603050405020304" pitchFamily="18" charset="0"/>
              </a:rPr>
              <a:t>Summative Exercise: </a:t>
            </a:r>
            <a:r>
              <a:rPr lang="en-GB" sz="32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riders?</a:t>
            </a:r>
          </a:p>
        </p:txBody>
      </p:sp>
      <p:pic>
        <p:nvPicPr>
          <p:cNvPr id="3" name="Online Media 2" title="PM Lee Hsien Loong, Pritam Singh's exchange on 'free rider' voters">
            <a:hlinkClick r:id="" action="ppaction://media"/>
            <a:extLst>
              <a:ext uri="{FF2B5EF4-FFF2-40B4-BE49-F238E27FC236}">
                <a16:creationId xmlns:a16="http://schemas.microsoft.com/office/drawing/2014/main" id="{FB994ABE-6159-41E8-AB75-A9E7B639F60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1765" y="990600"/>
            <a:ext cx="8719481" cy="5410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432AA4-ADD1-4E45-8A20-087C25B8D8EF}"/>
              </a:ext>
            </a:extLst>
          </p:cNvPr>
          <p:cNvSpPr txBox="1"/>
          <p:nvPr/>
        </p:nvSpPr>
        <p:spPr>
          <a:xfrm>
            <a:off x="111026" y="5733256"/>
            <a:ext cx="9325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12, 18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67FD78-9E0B-4382-A072-58C9A82F14BA}"/>
              </a:ext>
            </a:extLst>
          </p:cNvPr>
          <p:cNvSpPr txBox="1"/>
          <p:nvPr/>
        </p:nvSpPr>
        <p:spPr>
          <a:xfrm>
            <a:off x="2286000" y="4289921"/>
            <a:ext cx="4572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Pritam Singh and the opposition attacking in LHL’s argument about the opposition campaign strategy? How does the deep diagram look like?</a:t>
            </a:r>
          </a:p>
        </p:txBody>
      </p:sp>
    </p:spTree>
    <p:extLst>
      <p:ext uri="{BB962C8B-B14F-4D97-AF65-F5344CB8AC3E}">
        <p14:creationId xmlns:p14="http://schemas.microsoft.com/office/powerpoint/2010/main" val="120951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818179B-ABC2-4D84-BB5F-D1F6976CE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16" y="1107281"/>
            <a:ext cx="7522369" cy="46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290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Box 14">
            <a:extLst>
              <a:ext uri="{FF2B5EF4-FFF2-40B4-BE49-F238E27FC236}">
                <a16:creationId xmlns:a16="http://schemas.microsoft.com/office/drawing/2014/main" id="{34F48FCA-E435-47E8-9D7A-4D33DB09A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9" y="1554957"/>
            <a:ext cx="65151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18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LHL: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1800" b="1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125" name="Rectangle 2">
            <a:extLst>
              <a:ext uri="{FF2B5EF4-FFF2-40B4-BE49-F238E27FC236}">
                <a16:creationId xmlns:a16="http://schemas.microsoft.com/office/drawing/2014/main" id="{30466189-9E80-414A-BF98-7F9E5E5EE9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54411" y="1920479"/>
            <a:ext cx="2553440" cy="971550"/>
          </a:xfrm>
        </p:spPr>
        <p:txBody>
          <a:bodyPr/>
          <a:lstStyle/>
          <a:p>
            <a:pPr algn="l" eaLnBrk="1" hangingPunct="1"/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people vote for the opposition while wanting the PAP to govern, they are free riding on others who vote for the PAP.</a:t>
            </a:r>
          </a:p>
        </p:txBody>
      </p:sp>
      <p:sp>
        <p:nvSpPr>
          <p:cNvPr id="5126" name="TextBox 5">
            <a:extLst>
              <a:ext uri="{FF2B5EF4-FFF2-40B4-BE49-F238E27FC236}">
                <a16:creationId xmlns:a16="http://schemas.microsoft.com/office/drawing/2014/main" id="{D9EAF972-D6FF-4F5B-A56D-8C089E32A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809" y="1964532"/>
            <a:ext cx="232859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If enough people free ride, then society might end up voting in a government it didn’t want.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D35678-E4EA-4796-AF90-11D2E13CB786}"/>
              </a:ext>
            </a:extLst>
          </p:cNvPr>
          <p:cNvSpPr txBox="1"/>
          <p:nvPr/>
        </p:nvSpPr>
        <p:spPr bwMode="auto">
          <a:xfrm>
            <a:off x="2645881" y="2168738"/>
            <a:ext cx="457200" cy="4385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25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latin typeface="Gill Sans"/>
                <a:ea typeface="ＭＳ Ｐゴシック" charset="0"/>
                <a:cs typeface="Gill Sans"/>
              </a:rPr>
              <a:t>+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ECE44D-BCA2-4A33-BF3C-6D7A4E1FF7D7}"/>
              </a:ext>
            </a:extLst>
          </p:cNvPr>
          <p:cNvCxnSpPr/>
          <p:nvPr/>
        </p:nvCxnSpPr>
        <p:spPr bwMode="auto">
          <a:xfrm>
            <a:off x="1540669" y="2796709"/>
            <a:ext cx="5829300" cy="0"/>
          </a:xfrm>
          <a:prstGeom prst="line">
            <a:avLst/>
          </a:prstGeom>
          <a:ln w="28575" cmpd="sng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29" name="Rectangle 5">
            <a:extLst>
              <a:ext uri="{FF2B5EF4-FFF2-40B4-BE49-F238E27FC236}">
                <a16:creationId xmlns:a16="http://schemas.microsoft.com/office/drawing/2014/main" id="{5D0892ED-94A5-415A-92F4-8BE321C65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2758232"/>
            <a:ext cx="88225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300" dirty="0">
                <a:solidFill>
                  <a:srgbClr val="7F7F7F"/>
                </a:solidFill>
                <a:latin typeface="Gill Sans Light"/>
                <a:ea typeface="MS PGothic" panose="020B0600070205080204" pitchFamily="34" charset="-128"/>
                <a:sym typeface="Symbol" panose="05050102010706020507" pitchFamily="18" charset="2"/>
              </a:rPr>
              <a:t></a:t>
            </a:r>
            <a:endParaRPr lang="en-US" altLang="en-US" sz="3300" dirty="0">
              <a:solidFill>
                <a:srgbClr val="7F7F7F"/>
              </a:solidFill>
              <a:latin typeface="Gill Sans Light"/>
              <a:ea typeface="MS PGothic" panose="020B0600070205080204" pitchFamily="34" charset="-128"/>
            </a:endParaRPr>
          </a:p>
        </p:txBody>
      </p:sp>
      <p:sp>
        <p:nvSpPr>
          <p:cNvPr id="5130" name="TextBox 12">
            <a:extLst>
              <a:ext uri="{FF2B5EF4-FFF2-40B4-BE49-F238E27FC236}">
                <a16:creationId xmlns:a16="http://schemas.microsoft.com/office/drawing/2014/main" id="{22C0F99E-1594-450C-ACC1-8EFB7E833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644" y="3214077"/>
            <a:ext cx="349938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It is wrong to encourage people to do something that will cause the electoral system to fail.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E3B42-B6EB-4BE6-8524-369B50E3B713}"/>
              </a:ext>
            </a:extLst>
          </p:cNvPr>
          <p:cNvSpPr txBox="1"/>
          <p:nvPr/>
        </p:nvSpPr>
        <p:spPr bwMode="auto">
          <a:xfrm>
            <a:off x="4238030" y="3241694"/>
            <a:ext cx="457200" cy="4385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25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latin typeface="Gill Sans"/>
                <a:ea typeface="ＭＳ Ｐゴシック" charset="0"/>
                <a:cs typeface="Gill Sans"/>
              </a:rPr>
              <a:t>+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FD30EC8-EB5F-4861-8CD3-0D338EC5B68E}"/>
              </a:ext>
            </a:extLst>
          </p:cNvPr>
          <p:cNvCxnSpPr/>
          <p:nvPr/>
        </p:nvCxnSpPr>
        <p:spPr bwMode="auto">
          <a:xfrm>
            <a:off x="1494061" y="3859894"/>
            <a:ext cx="5829300" cy="0"/>
          </a:xfrm>
          <a:prstGeom prst="line">
            <a:avLst/>
          </a:prstGeom>
          <a:ln w="28575" cmpd="sng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3" name="Rectangle 32">
            <a:extLst>
              <a:ext uri="{FF2B5EF4-FFF2-40B4-BE49-F238E27FC236}">
                <a16:creationId xmlns:a16="http://schemas.microsoft.com/office/drawing/2014/main" id="{56D0516D-BD51-437C-8B09-0182EF376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1037" y="3853949"/>
            <a:ext cx="88344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300" dirty="0">
                <a:solidFill>
                  <a:srgbClr val="7F7F7F"/>
                </a:solidFill>
                <a:latin typeface="Gill Sans Light"/>
                <a:ea typeface="MS PGothic" panose="020B0600070205080204" pitchFamily="34" charset="-128"/>
                <a:sym typeface="Symbol" panose="05050102010706020507" pitchFamily="18" charset="2"/>
              </a:rPr>
              <a:t></a:t>
            </a:r>
            <a:endParaRPr lang="en-US" altLang="en-US" sz="3300" dirty="0">
              <a:solidFill>
                <a:srgbClr val="7F7F7F"/>
              </a:solidFill>
              <a:latin typeface="Gill Sans Light"/>
              <a:ea typeface="MS PGothic" panose="020B0600070205080204" pitchFamily="34" charset="-128"/>
            </a:endParaRPr>
          </a:p>
        </p:txBody>
      </p:sp>
      <p:sp>
        <p:nvSpPr>
          <p:cNvPr id="40974" name="TextBox 17">
            <a:extLst>
              <a:ext uri="{FF2B5EF4-FFF2-40B4-BE49-F238E27FC236}">
                <a16:creationId xmlns:a16="http://schemas.microsoft.com/office/drawing/2014/main" id="{722963E7-B40F-459A-979C-AAF3B5309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797" y="5157788"/>
            <a:ext cx="2611364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650" dirty="0">
                <a:solidFill>
                  <a:schemeClr val="accent4">
                    <a:lumMod val="75000"/>
                  </a:schemeClr>
                </a:solidFill>
                <a:cs typeface="Times New Roman" panose="02020603050405020304" pitchFamily="18" charset="0"/>
              </a:rPr>
              <a:t>WP was wrong to encourage people to free ride.</a:t>
            </a:r>
            <a:endParaRPr lang="en-SG" altLang="en-US" sz="1650" dirty="0">
              <a:solidFill>
                <a:schemeClr val="accent4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5135" name="TextBox 18">
            <a:extLst>
              <a:ext uri="{FF2B5EF4-FFF2-40B4-BE49-F238E27FC236}">
                <a16:creationId xmlns:a16="http://schemas.microsoft.com/office/drawing/2014/main" id="{3DC67EFF-1CA4-458A-8961-377100C2C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078" y="3242833"/>
            <a:ext cx="28420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If enough people free ride, then the electoral system will fail.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136" name="TextBox 19">
            <a:extLst>
              <a:ext uri="{FF2B5EF4-FFF2-40B4-BE49-F238E27FC236}">
                <a16:creationId xmlns:a16="http://schemas.microsoft.com/office/drawing/2014/main" id="{1F64637A-43B7-4051-98DF-C2B85C480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403" y="1983582"/>
            <a:ext cx="2553440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If society votes in a government it doesn’t want, then the electoral system fails.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259CF7-722C-461C-9FE8-491E31B09885}"/>
              </a:ext>
            </a:extLst>
          </p:cNvPr>
          <p:cNvSpPr txBox="1"/>
          <p:nvPr/>
        </p:nvSpPr>
        <p:spPr bwMode="auto">
          <a:xfrm>
            <a:off x="5380476" y="2183940"/>
            <a:ext cx="457200" cy="4385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25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latin typeface="Gill Sans"/>
                <a:ea typeface="ＭＳ Ｐゴシック" charset="0"/>
                <a:cs typeface="Gill Sans"/>
              </a:rPr>
              <a:t>+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AF1F29EB-41D0-45E7-9598-260C736DB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803" y="4299381"/>
            <a:ext cx="349938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It is wrong to encourage people to free ride.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4C70D3-5111-4F54-B93E-A83AAE939980}"/>
              </a:ext>
            </a:extLst>
          </p:cNvPr>
          <p:cNvSpPr txBox="1"/>
          <p:nvPr/>
        </p:nvSpPr>
        <p:spPr bwMode="auto">
          <a:xfrm>
            <a:off x="4370189" y="4326999"/>
            <a:ext cx="457200" cy="4385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25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latin typeface="Gill Sans"/>
                <a:ea typeface="ＭＳ Ｐゴシック" charset="0"/>
                <a:cs typeface="Gill Sans"/>
              </a:rPr>
              <a:t>+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0951E3-279E-4D80-9B45-2938C2DBF345}"/>
              </a:ext>
            </a:extLst>
          </p:cNvPr>
          <p:cNvCxnSpPr/>
          <p:nvPr/>
        </p:nvCxnSpPr>
        <p:spPr bwMode="auto">
          <a:xfrm>
            <a:off x="1657350" y="4742498"/>
            <a:ext cx="5829300" cy="0"/>
          </a:xfrm>
          <a:prstGeom prst="line">
            <a:avLst/>
          </a:prstGeom>
          <a:ln w="28575" cmpd="sng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2">
            <a:extLst>
              <a:ext uri="{FF2B5EF4-FFF2-40B4-BE49-F238E27FC236}">
                <a16:creationId xmlns:a16="http://schemas.microsoft.com/office/drawing/2014/main" id="{961975C4-E1AE-4C92-B021-E27225B72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6989" y="4705503"/>
            <a:ext cx="88344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300" dirty="0">
                <a:solidFill>
                  <a:srgbClr val="7F7F7F"/>
                </a:solidFill>
                <a:latin typeface="Gill Sans Light"/>
                <a:ea typeface="MS PGothic" panose="020B0600070205080204" pitchFamily="34" charset="-128"/>
                <a:sym typeface="Symbol" panose="05050102010706020507" pitchFamily="18" charset="2"/>
              </a:rPr>
              <a:t></a:t>
            </a:r>
            <a:endParaRPr lang="en-US" altLang="en-US" sz="3300" dirty="0">
              <a:solidFill>
                <a:srgbClr val="7F7F7F"/>
              </a:solidFill>
              <a:latin typeface="Gill Sans Light"/>
              <a:ea typeface="MS PGothic" panose="020B0600070205080204" pitchFamily="34" charset="-128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EC167E3D-43F7-4DCC-BBE4-DAE3F1CE4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8238" y="4328137"/>
            <a:ext cx="284202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WP encouraged people to free ride.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D2422969-8AD5-488B-9A88-0072F6391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22" y="1089422"/>
            <a:ext cx="7422356" cy="467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580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TextBox 14">
            <a:extLst>
              <a:ext uri="{FF2B5EF4-FFF2-40B4-BE49-F238E27FC236}">
                <a16:creationId xmlns:a16="http://schemas.microsoft.com/office/drawing/2014/main" id="{34F48FCA-E435-47E8-9D7A-4D33DB09A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7769" y="1554957"/>
            <a:ext cx="65151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altLang="en-US" sz="1800" b="1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PS: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altLang="en-US" sz="1800" b="1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5125" name="Rectangle 2">
            <a:extLst>
              <a:ext uri="{FF2B5EF4-FFF2-40B4-BE49-F238E27FC236}">
                <a16:creationId xmlns:a16="http://schemas.microsoft.com/office/drawing/2014/main" id="{30466189-9E80-414A-BF98-7F9E5E5EE9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28516" y="2863799"/>
            <a:ext cx="2553440" cy="484746"/>
          </a:xfrm>
        </p:spPr>
        <p:txBody>
          <a:bodyPr/>
          <a:lstStyle/>
          <a:p>
            <a:pPr algn="l" eaLnBrk="1" hangingPunct="1"/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Opposition voters </a:t>
            </a:r>
            <a:r>
              <a:rPr lang="en-US" alt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realise</a:t>
            </a:r>
            <a:r>
              <a:rPr lang="en-US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an opposition is good for Singapore.</a:t>
            </a:r>
          </a:p>
        </p:txBody>
      </p:sp>
      <p:sp>
        <p:nvSpPr>
          <p:cNvPr id="5126" name="TextBox 5">
            <a:extLst>
              <a:ext uri="{FF2B5EF4-FFF2-40B4-BE49-F238E27FC236}">
                <a16:creationId xmlns:a16="http://schemas.microsoft.com/office/drawing/2014/main" id="{D9EAF972-D6FF-4F5B-A56D-8C089E32A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8101" y="1711258"/>
            <a:ext cx="232859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The opposition is effective in managing its town councils.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0974" name="TextBox 17">
            <a:extLst>
              <a:ext uri="{FF2B5EF4-FFF2-40B4-BE49-F238E27FC236}">
                <a16:creationId xmlns:a16="http://schemas.microsoft.com/office/drawing/2014/main" id="{722963E7-B40F-459A-979C-AAF3B5309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797" y="5157788"/>
            <a:ext cx="2611364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hlink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650" dirty="0">
                <a:solidFill>
                  <a:schemeClr val="accent4">
                    <a:lumMod val="75000"/>
                  </a:schemeClr>
                </a:solidFill>
                <a:cs typeface="Times New Roman" panose="02020603050405020304" pitchFamily="18" charset="0"/>
              </a:rPr>
              <a:t>Opposition voters are not free riders.</a:t>
            </a:r>
            <a:endParaRPr lang="en-SG" altLang="en-US" sz="1650" dirty="0">
              <a:solidFill>
                <a:schemeClr val="accent4">
                  <a:lumMod val="7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5135" name="TextBox 18">
            <a:extLst>
              <a:ext uri="{FF2B5EF4-FFF2-40B4-BE49-F238E27FC236}">
                <a16:creationId xmlns:a16="http://schemas.microsoft.com/office/drawing/2014/main" id="{3DC67EFF-1CA4-458A-8961-377100C2C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175" y="2849878"/>
            <a:ext cx="28420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Opposition voters </a:t>
            </a:r>
            <a:r>
              <a:rPr lang="en-US" altLang="en-US" sz="1350" dirty="0" err="1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realise</a:t>
            </a: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 that the opposition does its work effectively.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AF1F29EB-41D0-45E7-9598-260C736DB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244" y="3966675"/>
            <a:ext cx="349938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Opposition voters have at least one positive reason for voting for the opposition.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4C70D3-5111-4F54-B93E-A83AAE939980}"/>
              </a:ext>
            </a:extLst>
          </p:cNvPr>
          <p:cNvSpPr txBox="1"/>
          <p:nvPr/>
        </p:nvSpPr>
        <p:spPr bwMode="auto">
          <a:xfrm>
            <a:off x="4321454" y="3948033"/>
            <a:ext cx="457200" cy="4385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25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latin typeface="Gill Sans"/>
                <a:ea typeface="ＭＳ Ｐゴシック" charset="0"/>
                <a:cs typeface="Gill Sans"/>
              </a:rPr>
              <a:t>+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0951E3-279E-4D80-9B45-2938C2DBF345}"/>
              </a:ext>
            </a:extLst>
          </p:cNvPr>
          <p:cNvCxnSpPr/>
          <p:nvPr/>
        </p:nvCxnSpPr>
        <p:spPr bwMode="auto">
          <a:xfrm>
            <a:off x="1657350" y="4742498"/>
            <a:ext cx="5829300" cy="0"/>
          </a:xfrm>
          <a:prstGeom prst="line">
            <a:avLst/>
          </a:prstGeom>
          <a:ln w="28575" cmpd="sng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32">
            <a:extLst>
              <a:ext uri="{FF2B5EF4-FFF2-40B4-BE49-F238E27FC236}">
                <a16:creationId xmlns:a16="http://schemas.microsoft.com/office/drawing/2014/main" id="{961975C4-E1AE-4C92-B021-E27225B72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6989" y="4705503"/>
            <a:ext cx="883444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3300" dirty="0">
                <a:solidFill>
                  <a:srgbClr val="7F7F7F"/>
                </a:solidFill>
                <a:latin typeface="Gill Sans Light"/>
                <a:ea typeface="MS PGothic" panose="020B0600070205080204" pitchFamily="34" charset="-128"/>
                <a:sym typeface="Symbol" panose="05050102010706020507" pitchFamily="18" charset="2"/>
              </a:rPr>
              <a:t></a:t>
            </a:r>
            <a:endParaRPr lang="en-US" altLang="en-US" sz="3300" dirty="0">
              <a:solidFill>
                <a:srgbClr val="7F7F7F"/>
              </a:solidFill>
              <a:latin typeface="Gill Sans Light"/>
              <a:ea typeface="MS PGothic" panose="020B0600070205080204" pitchFamily="34" charset="-128"/>
            </a:endParaRP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EC167E3D-43F7-4DCC-BBE4-DAE3F1CE4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127" y="4030129"/>
            <a:ext cx="2842022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350" dirty="0"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If opposition voters have positive reasons for voting for the opposition, they are not free riders.</a:t>
            </a:r>
            <a:endParaRPr lang="en-SG" altLang="en-US" sz="1350" dirty="0"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5F6F3A-CE02-9D94-1743-32D0AF01E2B2}"/>
              </a:ext>
            </a:extLst>
          </p:cNvPr>
          <p:cNvCxnSpPr/>
          <p:nvPr/>
        </p:nvCxnSpPr>
        <p:spPr>
          <a:xfrm flipH="1">
            <a:off x="3124200" y="3348545"/>
            <a:ext cx="1447800" cy="461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036D5B-1CAB-3F85-B31B-0E6E2D1F10A5}"/>
              </a:ext>
            </a:extLst>
          </p:cNvPr>
          <p:cNvCxnSpPr>
            <a:cxnSpLocks/>
          </p:cNvCxnSpPr>
          <p:nvPr/>
        </p:nvCxnSpPr>
        <p:spPr>
          <a:xfrm>
            <a:off x="2338297" y="3426882"/>
            <a:ext cx="0" cy="536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8B4561-8D3E-5472-AEEA-8CBE7EC9D21F}"/>
              </a:ext>
            </a:extLst>
          </p:cNvPr>
          <p:cNvCxnSpPr>
            <a:cxnSpLocks/>
          </p:cNvCxnSpPr>
          <p:nvPr/>
        </p:nvCxnSpPr>
        <p:spPr>
          <a:xfrm>
            <a:off x="5574333" y="2190932"/>
            <a:ext cx="0" cy="628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3870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52D1A71E-351E-4F86-8E0B-55E5F5EA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78" y="1728788"/>
            <a:ext cx="7665244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4396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and Round Single Corner Rectangle 6">
            <a:extLst>
              <a:ext uri="{FF2B5EF4-FFF2-40B4-BE49-F238E27FC236}">
                <a16:creationId xmlns:a16="http://schemas.microsoft.com/office/drawing/2014/main" id="{09B51FBC-B7C1-4CA4-A1D4-A3556D5525DD}"/>
              </a:ext>
            </a:extLst>
          </p:cNvPr>
          <p:cNvSpPr/>
          <p:nvPr/>
        </p:nvSpPr>
        <p:spPr>
          <a:xfrm>
            <a:off x="0" y="95250"/>
            <a:ext cx="8712200" cy="860425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sz="3600" b="1" spc="-113" dirty="0">
                <a:latin typeface="Gill Sans MT"/>
                <a:cs typeface="Gill Sans MT"/>
              </a:rPr>
              <a:t> Course text</a:t>
            </a:r>
            <a:endParaRPr lang="en-US" sz="3500" b="1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nip and Round Single Corner Rectangle 7">
            <a:extLst>
              <a:ext uri="{FF2B5EF4-FFF2-40B4-BE49-F238E27FC236}">
                <a16:creationId xmlns:a16="http://schemas.microsoft.com/office/drawing/2014/main" id="{4D0991B1-FEA9-40BF-A612-B3AFBC9BBBCA}"/>
              </a:ext>
            </a:extLst>
          </p:cNvPr>
          <p:cNvSpPr/>
          <p:nvPr/>
        </p:nvSpPr>
        <p:spPr>
          <a:xfrm>
            <a:off x="0" y="6477000"/>
            <a:ext cx="8863013" cy="32385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099CC"/>
          </a:solidFill>
          <a:ln w="571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4389438" algn="l"/>
              </a:tabLs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4389438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  <a:defRPr/>
            </a:pPr>
            <a:fld id="{F5BE72DF-057E-4E57-ABA5-D22C55900361}" type="slidenum">
              <a:rPr lang="en-US" altLang="en-US" sz="1300" smtClean="0">
                <a:solidFill>
                  <a:srgbClr val="FFFFFF"/>
                </a:solidFill>
                <a:latin typeface="Gill Sans MT" panose="020B0502020104020203" pitchFamily="34" charset="0"/>
              </a:rPr>
              <a:pPr algn="r" eaLnBrk="1" hangingPunct="1">
                <a:spcBef>
                  <a:spcPct val="0"/>
                </a:spcBef>
                <a:buFontTx/>
                <a:buNone/>
                <a:defRPr/>
              </a:pPr>
              <a:t>44</a:t>
            </a:fld>
            <a:endParaRPr lang="en-US" altLang="en-US" sz="1300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  <p:pic>
        <p:nvPicPr>
          <p:cNvPr id="5" name="Picture 9">
            <a:extLst>
              <a:ext uri="{FF2B5EF4-FFF2-40B4-BE49-F238E27FC236}">
                <a16:creationId xmlns:a16="http://schemas.microsoft.com/office/drawing/2014/main" id="{A211B031-AF14-4CD2-B22F-A1E27BF98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522" y="1406129"/>
            <a:ext cx="280035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EBBAF5E7-62D5-4829-B1C6-62DAB335B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1771650"/>
            <a:ext cx="26289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MS PGothic" panose="020B0600070205080204" pitchFamily="34" charset="-128"/>
              </a:rPr>
              <a:t>Read this week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MS PGothic" panose="020B0600070205080204" pitchFamily="34" charset="-128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MS PGothic" panose="020B0600070205080204" pitchFamily="34" charset="-128"/>
              </a:rPr>
              <a:t>4 (Diagramming)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MS PGothic" panose="020B0600070205080204" pitchFamily="34" charset="-128"/>
              </a:rPr>
              <a:t>1.8, 1.9, 1.10 (Soundness &amp; Cogency)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MS PGothic" panose="020B0600070205080204" pitchFamily="34" charset="-128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MS PGothic" panose="020B0600070205080204" pitchFamily="34" charset="-128"/>
              </a:rPr>
              <a:t>Website Exercises 4.0, 4.2.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GB" altLang="en-US" sz="240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087058"/>
      </p:ext>
    </p:extLst>
  </p:cSld>
  <p:clrMapOvr>
    <a:masterClrMapping/>
  </p:clrMapOvr>
  <p:transition spd="slow" advTm="275863"/>
</p:sld>
</file>

<file path=ppt/theme/theme1.xml><?xml version="1.0" encoding="utf-8"?>
<a:theme xmlns:a="http://schemas.openxmlformats.org/drawingml/2006/main" name="CTRW">
  <a:themeElements>
    <a:clrScheme name="Sky">
      <a:dk1>
        <a:sysClr val="windowText" lastClr="000000"/>
      </a:dk1>
      <a:lt1>
        <a:sysClr val="window" lastClr="FFFFFF"/>
      </a:lt1>
      <a:dk2>
        <a:srgbClr val="1782BF"/>
      </a:dk2>
      <a:lt2>
        <a:srgbClr val="62BCE9"/>
      </a:lt2>
      <a:accent1>
        <a:srgbClr val="073779"/>
      </a:accent1>
      <a:accent2>
        <a:srgbClr val="8FD9FB"/>
      </a:accent2>
      <a:accent3>
        <a:srgbClr val="FFCC00"/>
      </a:accent3>
      <a:accent4>
        <a:srgbClr val="EB6615"/>
      </a:accent4>
      <a:accent5>
        <a:srgbClr val="C76402"/>
      </a:accent5>
      <a:accent6>
        <a:srgbClr val="B523B4"/>
      </a:accent6>
      <a:hlink>
        <a:srgbClr val="FFDE26"/>
      </a:hlink>
      <a:folHlink>
        <a:srgbClr val="DEBE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TRW" id="{5D3E3672-706A-F840-A11D-C9F26D06E133}" vid="{F9229B5D-C7BD-F14A-A0FA-0D95866AA2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CTRW</Template>
  <TotalTime>19503</TotalTime>
  <Words>4172</Words>
  <Application>Microsoft Office PowerPoint</Application>
  <PresentationFormat>On-screen Show (4:3)</PresentationFormat>
  <Paragraphs>456</Paragraphs>
  <Slides>44</Slides>
  <Notes>38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MS PGothic</vt:lpstr>
      <vt:lpstr>Arial</vt:lpstr>
      <vt:lpstr>Calibri</vt:lpstr>
      <vt:lpstr>Gill Sans</vt:lpstr>
      <vt:lpstr>Gill Sans Light</vt:lpstr>
      <vt:lpstr>Gill Sans MT</vt:lpstr>
      <vt:lpstr>Times New Roman</vt:lpstr>
      <vt:lpstr>Wingdings</vt:lpstr>
      <vt:lpstr>CTRW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philo</dc:creator>
  <cp:lastModifiedBy>sovan patra</cp:lastModifiedBy>
  <cp:revision>535</cp:revision>
  <dcterms:created xsi:type="dcterms:W3CDTF">2011-01-03T13:28:58Z</dcterms:created>
  <dcterms:modified xsi:type="dcterms:W3CDTF">2026-02-03T10:19:04Z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2024-01-30T03:30:38Z</vt:lpwstr>
  </property>
  <property fmtid="{D5CDD505-2E9C-101B-9397-08002B2CF9AE}" pid="4" name="MSIP_Label_6951d41b-6b8e-4636-984f-012bff14ba18_Method">
    <vt:lpwstr>Standard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fb726c0f-2704-46e7-a808-71428bd4a57b</vt:lpwstr>
  </property>
  <property fmtid="{D5CDD505-2E9C-101B-9397-08002B2CF9AE}" pid="8" name="MSIP_Label_6951d41b-6b8e-4636-984f-012bff14ba18_ContentBits">
    <vt:lpwstr>1</vt:lpwstr>
  </property>
</Properties>
</file>